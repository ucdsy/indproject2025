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58368" y="621792"/>
            <a:ext cx="22402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26B6FF"/>
                </a:solidFill>
                <a:latin typeface="Microsoft YaHei"/>
              </a:rPr>
              <a:t>重点项目验收答辩</a:t>
            </a:r>
          </a:p>
        </p:txBody>
      </p:sp>
      <p:sp>
        <p:nvSpPr>
          <p:cNvPr id="4" name="Rectangle 3"/>
          <p:cNvSpPr/>
          <p:nvPr/>
        </p:nvSpPr>
        <p:spPr>
          <a:xfrm>
            <a:off x="658368" y="969264"/>
            <a:ext cx="1572768"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298448"/>
            <a:ext cx="7955279" cy="9144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000" b="1">
                <a:solidFill>
                  <a:srgbClr val="FFFFFF"/>
                </a:solidFill>
                <a:latin typeface="Microsoft YaHei"/>
              </a:rPr>
              <a:t>面向互联网基础资源的大模型多智能体协作与可信认知标识技术研究</a:t>
            </a:r>
          </a:p>
        </p:txBody>
      </p:sp>
      <p:sp>
        <p:nvSpPr>
          <p:cNvPr id="6" name="Rectangle 5"/>
          <p:cNvSpPr/>
          <p:nvPr/>
        </p:nvSpPr>
        <p:spPr>
          <a:xfrm>
            <a:off x="685800" y="2496312"/>
            <a:ext cx="594360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80" b="0">
                <a:solidFill>
                  <a:srgbClr val="CFE4FF"/>
                </a:solidFill>
                <a:latin typeface="Microsoft YaHei"/>
              </a:rPr>
              <a:t>以智能体能力命名与语义路由为典型验证场景</a:t>
            </a:r>
          </a:p>
        </p:txBody>
      </p:sp>
      <p:sp>
        <p:nvSpPr>
          <p:cNvPr id="7" name="Rounded Rectangle 6"/>
          <p:cNvSpPr/>
          <p:nvPr/>
        </p:nvSpPr>
        <p:spPr>
          <a:xfrm>
            <a:off x="713232"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563</a:t>
            </a:r>
          </a:p>
        </p:txBody>
      </p:sp>
      <p:sp>
        <p:nvSpPr>
          <p:cNvPr id="9" name="Rectangle 8"/>
          <p:cNvSpPr/>
          <p:nvPr/>
        </p:nvSpPr>
        <p:spPr>
          <a:xfrm>
            <a:off x="786384"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冻结样本</a:t>
            </a:r>
          </a:p>
        </p:txBody>
      </p:sp>
      <p:sp>
        <p:nvSpPr>
          <p:cNvPr id="10" name="Rounded Rectangle 9"/>
          <p:cNvSpPr/>
          <p:nvPr/>
        </p:nvSpPr>
        <p:spPr>
          <a:xfrm>
            <a:off x="2706624"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79776"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50/45</a:t>
            </a:r>
          </a:p>
        </p:txBody>
      </p:sp>
      <p:sp>
        <p:nvSpPr>
          <p:cNvPr id="12" name="Rectangle 11"/>
          <p:cNvSpPr/>
          <p:nvPr/>
        </p:nvSpPr>
        <p:spPr>
          <a:xfrm>
            <a:off x="2779776"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能力节点/主标签</a:t>
            </a:r>
          </a:p>
        </p:txBody>
      </p:sp>
      <p:sp>
        <p:nvSpPr>
          <p:cNvPr id="13" name="Rounded Rectangle 12"/>
          <p:cNvSpPr/>
          <p:nvPr/>
        </p:nvSpPr>
        <p:spPr>
          <a:xfrm>
            <a:off x="4700016"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73168"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820" b="1">
                <a:solidFill>
                  <a:srgbClr val="FFFFFF"/>
                </a:solidFill>
                <a:latin typeface="Arial"/>
              </a:rPr>
              <a:t>88.50%</a:t>
            </a:r>
          </a:p>
        </p:txBody>
      </p:sp>
      <p:sp>
        <p:nvSpPr>
          <p:cNvPr id="15" name="Rectangle 14"/>
          <p:cNvSpPr/>
          <p:nvPr/>
        </p:nvSpPr>
        <p:spPr>
          <a:xfrm>
            <a:off x="4773168"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默认协作准确率</a:t>
            </a:r>
          </a:p>
        </p:txBody>
      </p:sp>
      <p:sp>
        <p:nvSpPr>
          <p:cNvPr id="16" name="Rounded Rectangle 15"/>
          <p:cNvSpPr/>
          <p:nvPr/>
        </p:nvSpPr>
        <p:spPr>
          <a:xfrm>
            <a:off x="6693408"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66560"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820" b="1">
                <a:solidFill>
                  <a:srgbClr val="FFFFFF"/>
                </a:solidFill>
                <a:latin typeface="Arial"/>
              </a:rPr>
              <a:t>92.92%</a:t>
            </a:r>
          </a:p>
        </p:txBody>
      </p:sp>
      <p:sp>
        <p:nvSpPr>
          <p:cNvPr id="18" name="Rectangle 17"/>
          <p:cNvSpPr/>
          <p:nvPr/>
        </p:nvSpPr>
        <p:spPr>
          <a:xfrm>
            <a:off x="6766560"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扩展配置准确率</a:t>
            </a:r>
          </a:p>
        </p:txBody>
      </p:sp>
      <p:sp>
        <p:nvSpPr>
          <p:cNvPr id="19" name="Rectangle 18"/>
          <p:cNvSpPr/>
          <p:nvPr/>
        </p:nvSpPr>
        <p:spPr>
          <a:xfrm>
            <a:off x="676656" y="6053328"/>
            <a:ext cx="676656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D2E6FF"/>
                </a:solidFill>
                <a:latin typeface="Microsoft YaHei"/>
              </a:rPr>
              <a:t>承研处所：技术发展所    项目负责人：邓斯宇    起止时间：2025年5月-2026年4月</a:t>
            </a:r>
          </a:p>
        </p:txBody>
      </p:sp>
      <p:sp>
        <p:nvSpPr>
          <p:cNvPr id="20" name="Rectangle 19"/>
          <p:cNvSpPr/>
          <p:nvPr/>
        </p:nvSpPr>
        <p:spPr>
          <a:xfrm>
            <a:off x="10588752" y="347472"/>
            <a:ext cx="10058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300" b="1">
                <a:solidFill>
                  <a:srgbClr val="FFFFFF"/>
                </a:solidFill>
                <a:latin typeface="Arial"/>
              </a:rPr>
              <a:t>CNNIC</a:t>
            </a:r>
          </a:p>
        </p:txBody>
      </p:sp>
      <p:sp>
        <p:nvSpPr>
          <p:cNvPr id="21" name="Rectangle 20"/>
          <p:cNvSpPr/>
          <p:nvPr/>
        </p:nvSpPr>
        <p:spPr>
          <a:xfrm>
            <a:off x="9966960" y="640080"/>
            <a:ext cx="1627632"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D2E6FF"/>
                </a:solidFill>
                <a:latin typeface="Microsoft YaHei"/>
              </a:rPr>
              <a:t>中国互联网络信息中心</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02</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项目背景：智能体服务规模化接入后，能力调用需要可信基础支撑</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不是做泛泛 Agent 应用，而是解决能力如何组织、如何选择、如何复核、如何留痕的问题。</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13232" y="1417320"/>
            <a:ext cx="2121408" cy="1115568"/>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77824" y="1627632"/>
            <a:ext cx="384048"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0B63CE"/>
                </a:solidFill>
                <a:latin typeface="Arial"/>
              </a:rPr>
              <a:t>01</a:t>
            </a:r>
          </a:p>
        </p:txBody>
      </p:sp>
      <p:sp>
        <p:nvSpPr>
          <p:cNvPr id="12" name="Rectangle 11"/>
          <p:cNvSpPr/>
          <p:nvPr/>
        </p:nvSpPr>
        <p:spPr>
          <a:xfrm>
            <a:off x="1335024" y="1609344"/>
            <a:ext cx="11430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40" b="1">
                <a:solidFill>
                  <a:srgbClr val="102033"/>
                </a:solidFill>
                <a:latin typeface="Microsoft YaHei"/>
              </a:rPr>
              <a:t>智能体服务增多</a:t>
            </a:r>
          </a:p>
        </p:txBody>
      </p:sp>
      <p:sp>
        <p:nvSpPr>
          <p:cNvPr id="13" name="Rectangle 12"/>
          <p:cNvSpPr/>
          <p:nvPr/>
        </p:nvSpPr>
        <p:spPr>
          <a:xfrm>
            <a:off x="914400" y="2029968"/>
            <a:ext cx="1627632"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工具调用和服务发现对象变复杂</a:t>
            </a:r>
          </a:p>
        </p:txBody>
      </p:sp>
      <p:sp>
        <p:nvSpPr>
          <p:cNvPr id="14" name="Rectangle 13"/>
          <p:cNvSpPr/>
          <p:nvPr/>
        </p:nvSpPr>
        <p:spPr>
          <a:xfrm>
            <a:off x="2944368" y="1847088"/>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15" name="Rounded Rectangle 14"/>
          <p:cNvSpPr/>
          <p:nvPr/>
        </p:nvSpPr>
        <p:spPr>
          <a:xfrm>
            <a:off x="3474720" y="1417320"/>
            <a:ext cx="2121408" cy="1115568"/>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39312" y="1627632"/>
            <a:ext cx="384048"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0E8A57"/>
                </a:solidFill>
                <a:latin typeface="Arial"/>
              </a:rPr>
              <a:t>02</a:t>
            </a:r>
          </a:p>
        </p:txBody>
      </p:sp>
      <p:sp>
        <p:nvSpPr>
          <p:cNvPr id="17" name="Rectangle 16"/>
          <p:cNvSpPr/>
          <p:nvPr/>
        </p:nvSpPr>
        <p:spPr>
          <a:xfrm>
            <a:off x="4096511" y="1609344"/>
            <a:ext cx="11430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40" b="1">
                <a:solidFill>
                  <a:srgbClr val="102033"/>
                </a:solidFill>
                <a:latin typeface="Microsoft YaHei"/>
              </a:rPr>
              <a:t>用户请求自然语言化</a:t>
            </a:r>
          </a:p>
        </p:txBody>
      </p:sp>
      <p:sp>
        <p:nvSpPr>
          <p:cNvPr id="18" name="Rectangle 17"/>
          <p:cNvSpPr/>
          <p:nvPr/>
        </p:nvSpPr>
        <p:spPr>
          <a:xfrm>
            <a:off x="3675887" y="2029968"/>
            <a:ext cx="1627632"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主任务、次要任务和风险线索混在一起</a:t>
            </a:r>
          </a:p>
        </p:txBody>
      </p:sp>
      <p:sp>
        <p:nvSpPr>
          <p:cNvPr id="19" name="Rectangle 18"/>
          <p:cNvSpPr/>
          <p:nvPr/>
        </p:nvSpPr>
        <p:spPr>
          <a:xfrm>
            <a:off x="5705856" y="1847088"/>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20" name="Rounded Rectangle 19"/>
          <p:cNvSpPr/>
          <p:nvPr/>
        </p:nvSpPr>
        <p:spPr>
          <a:xfrm>
            <a:off x="6236208" y="1417320"/>
            <a:ext cx="2121408" cy="1115568"/>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0" y="1627632"/>
            <a:ext cx="384048"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E97132"/>
                </a:solidFill>
                <a:latin typeface="Arial"/>
              </a:rPr>
              <a:t>03</a:t>
            </a:r>
          </a:p>
        </p:txBody>
      </p:sp>
      <p:sp>
        <p:nvSpPr>
          <p:cNvPr id="22" name="Rectangle 21"/>
          <p:cNvSpPr/>
          <p:nvPr/>
        </p:nvSpPr>
        <p:spPr>
          <a:xfrm>
            <a:off x="6858000" y="1609344"/>
            <a:ext cx="11430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40" b="1">
                <a:solidFill>
                  <a:srgbClr val="102033"/>
                </a:solidFill>
                <a:latin typeface="Microsoft YaHei"/>
              </a:rPr>
              <a:t>能力错选风险上升</a:t>
            </a:r>
          </a:p>
        </p:txBody>
      </p:sp>
      <p:sp>
        <p:nvSpPr>
          <p:cNvPr id="23" name="Rectangle 22"/>
          <p:cNvSpPr/>
          <p:nvPr/>
        </p:nvSpPr>
        <p:spPr>
          <a:xfrm>
            <a:off x="6437376" y="2029968"/>
            <a:ext cx="1627632"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主能力错派、相关能力遗漏、风险任务误派发</a:t>
            </a:r>
          </a:p>
        </p:txBody>
      </p:sp>
      <p:sp>
        <p:nvSpPr>
          <p:cNvPr id="24" name="Rectangle 23"/>
          <p:cNvSpPr/>
          <p:nvPr/>
        </p:nvSpPr>
        <p:spPr>
          <a:xfrm>
            <a:off x="8467344" y="1847088"/>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25" name="Rounded Rectangle 24"/>
          <p:cNvSpPr/>
          <p:nvPr/>
        </p:nvSpPr>
        <p:spPr>
          <a:xfrm>
            <a:off x="8997696" y="1417320"/>
            <a:ext cx="2121408" cy="1115568"/>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62288" y="1627632"/>
            <a:ext cx="384048"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6B49C8"/>
                </a:solidFill>
                <a:latin typeface="Arial"/>
              </a:rPr>
              <a:t>04</a:t>
            </a:r>
          </a:p>
        </p:txBody>
      </p:sp>
      <p:sp>
        <p:nvSpPr>
          <p:cNvPr id="27" name="Rectangle 26"/>
          <p:cNvSpPr/>
          <p:nvPr/>
        </p:nvSpPr>
        <p:spPr>
          <a:xfrm>
            <a:off x="9619488" y="1609344"/>
            <a:ext cx="11430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40" b="1">
                <a:solidFill>
                  <a:srgbClr val="102033"/>
                </a:solidFill>
                <a:latin typeface="Microsoft YaHei"/>
              </a:rPr>
              <a:t>过程需要核验</a:t>
            </a:r>
          </a:p>
        </p:txBody>
      </p:sp>
      <p:sp>
        <p:nvSpPr>
          <p:cNvPr id="28" name="Rectangle 27"/>
          <p:cNvSpPr/>
          <p:nvPr/>
        </p:nvSpPr>
        <p:spPr>
          <a:xfrm>
            <a:off x="9198864" y="2029968"/>
            <a:ext cx="1627632"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候选、判断、复核和执行落点必须可追溯</a:t>
            </a:r>
          </a:p>
        </p:txBody>
      </p:sp>
      <p:sp>
        <p:nvSpPr>
          <p:cNvPr id="29" name="Rounded Rectangle 28"/>
          <p:cNvSpPr/>
          <p:nvPr/>
        </p:nvSpPr>
        <p:spPr>
          <a:xfrm>
            <a:off x="841248" y="3246120"/>
            <a:ext cx="4480560" cy="1499616"/>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15568" y="3547872"/>
            <a:ext cx="1188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问题与风险</a:t>
            </a:r>
          </a:p>
        </p:txBody>
      </p:sp>
      <p:sp>
        <p:nvSpPr>
          <p:cNvPr id="31" name="Oval 30"/>
          <p:cNvSpPr/>
          <p:nvPr/>
        </p:nvSpPr>
        <p:spPr>
          <a:xfrm>
            <a:off x="1143000" y="396849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307592" y="3913632"/>
            <a:ext cx="33832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Microsoft YaHei"/>
              </a:rPr>
              <a:t>主能力错选：词面命中但任务中心偏移</a:t>
            </a:r>
          </a:p>
        </p:txBody>
      </p:sp>
      <p:sp>
        <p:nvSpPr>
          <p:cNvPr id="33" name="Oval 32"/>
          <p:cNvSpPr/>
          <p:nvPr/>
        </p:nvSpPr>
        <p:spPr>
          <a:xfrm>
            <a:off x="1143000" y="4224528"/>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307592" y="4169664"/>
            <a:ext cx="33832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Microsoft YaHei"/>
              </a:rPr>
              <a:t>相关能力遗漏：次要诉求没有被识别</a:t>
            </a:r>
          </a:p>
        </p:txBody>
      </p:sp>
      <p:sp>
        <p:nvSpPr>
          <p:cNvPr id="35" name="Oval 34"/>
          <p:cNvSpPr/>
          <p:nvPr/>
        </p:nvSpPr>
        <p:spPr>
          <a:xfrm>
            <a:off x="1143000" y="4480559"/>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307592" y="4425696"/>
            <a:ext cx="33832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Microsoft YaHei"/>
              </a:rPr>
              <a:t>风险任务误派发：治理边界缺少复核</a:t>
            </a:r>
          </a:p>
        </p:txBody>
      </p:sp>
      <p:sp>
        <p:nvSpPr>
          <p:cNvPr id="37" name="Oval 36"/>
          <p:cNvSpPr/>
          <p:nvPr/>
        </p:nvSpPr>
        <p:spPr>
          <a:xfrm>
            <a:off x="1143000" y="4736592"/>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307592" y="4681728"/>
            <a:ext cx="33832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Microsoft YaHei"/>
              </a:rPr>
              <a:t>过程不可追溯：无法解释为何选这个 Agent</a:t>
            </a:r>
          </a:p>
        </p:txBody>
      </p:sp>
      <p:sp>
        <p:nvSpPr>
          <p:cNvPr id="39" name="Rounded Rectangle 38"/>
          <p:cNvSpPr/>
          <p:nvPr/>
        </p:nvSpPr>
        <p:spPr>
          <a:xfrm>
            <a:off x="5806440" y="3246120"/>
            <a:ext cx="4480560" cy="1499616"/>
          </a:xfrm>
          <a:prstGeom prst="roundRect">
            <a:avLst/>
          </a:prstGeom>
          <a:solidFill>
            <a:srgbClr val="FFFF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08192" y="3547872"/>
            <a:ext cx="10972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Microsoft YaHei"/>
              </a:rPr>
              <a:t>项目切入点</a:t>
            </a:r>
          </a:p>
        </p:txBody>
      </p:sp>
      <p:sp>
        <p:nvSpPr>
          <p:cNvPr id="41" name="Rectangle 40"/>
          <p:cNvSpPr/>
          <p:nvPr/>
        </p:nvSpPr>
        <p:spPr>
          <a:xfrm>
            <a:off x="6144768" y="3950208"/>
            <a:ext cx="340156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102033"/>
                </a:solidFill>
                <a:latin typeface="Microsoft YaHei"/>
              </a:rPr>
              <a:t>围绕互联网基础资源场景中的智能体能力组织与可信调用入口，构建“多智能体协作 + 可信认知标识”的验证框架。</a:t>
            </a:r>
          </a:p>
        </p:txBody>
      </p:sp>
      <p:sp>
        <p:nvSpPr>
          <p:cNvPr id="42" name="Rectangle 4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4" name="Rectangle 4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03</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任务书要求与完成总览：原型、算法、数据、论文报告和专利材料均已形成</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把任务书要求前置，让专家先看到验收闭环，再进入技术细节。</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658368" y="1133856"/>
            <a:ext cx="2743200" cy="38404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19" y="1234440"/>
            <a:ext cx="2596896"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30" b="1">
                <a:solidFill>
                  <a:srgbClr val="FFFFFF"/>
                </a:solidFill>
                <a:latin typeface="Microsoft YaHei"/>
              </a:rPr>
              <a:t>任务书要求</a:t>
            </a:r>
          </a:p>
        </p:txBody>
      </p:sp>
      <p:sp>
        <p:nvSpPr>
          <p:cNvPr id="12" name="Rectangle 11"/>
          <p:cNvSpPr/>
          <p:nvPr/>
        </p:nvSpPr>
        <p:spPr>
          <a:xfrm>
            <a:off x="3401568" y="1133856"/>
            <a:ext cx="1325880" cy="38404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4720" y="1234440"/>
            <a:ext cx="1179576"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30" b="1">
                <a:solidFill>
                  <a:srgbClr val="FFFFFF"/>
                </a:solidFill>
                <a:latin typeface="Microsoft YaHei"/>
              </a:rPr>
              <a:t>完成情况</a:t>
            </a:r>
          </a:p>
        </p:txBody>
      </p:sp>
      <p:sp>
        <p:nvSpPr>
          <p:cNvPr id="14" name="Rectangle 13"/>
          <p:cNvSpPr/>
          <p:nvPr/>
        </p:nvSpPr>
        <p:spPr>
          <a:xfrm>
            <a:off x="4727448" y="1133856"/>
            <a:ext cx="6629400" cy="38404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1234440"/>
            <a:ext cx="6483096"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30" b="1">
                <a:solidFill>
                  <a:srgbClr val="FFFFFF"/>
                </a:solidFill>
                <a:latin typeface="Microsoft YaHei"/>
              </a:rPr>
              <a:t>验收证明</a:t>
            </a:r>
          </a:p>
        </p:txBody>
      </p:sp>
      <p:sp>
        <p:nvSpPr>
          <p:cNvPr id="16" name="Rectangle 15"/>
          <p:cNvSpPr/>
          <p:nvPr/>
        </p:nvSpPr>
        <p:spPr>
          <a:xfrm>
            <a:off x="658368" y="1517904"/>
            <a:ext cx="2743200" cy="6126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 y="1700784"/>
            <a:ext cx="25237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102033"/>
                </a:solidFill>
                <a:latin typeface="Microsoft YaHei"/>
              </a:rPr>
              <a:t>多智能体协作原型</a:t>
            </a:r>
          </a:p>
        </p:txBody>
      </p:sp>
      <p:sp>
        <p:nvSpPr>
          <p:cNvPr id="18" name="Rectangle 17"/>
          <p:cNvSpPr/>
          <p:nvPr/>
        </p:nvSpPr>
        <p:spPr>
          <a:xfrm>
            <a:off x="3401568" y="1517904"/>
            <a:ext cx="1325880" cy="6126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511296" y="1700784"/>
            <a:ext cx="110642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0E8A57"/>
                </a:solidFill>
                <a:latin typeface="Microsoft YaHei"/>
              </a:rPr>
              <a:t>已完成</a:t>
            </a:r>
          </a:p>
        </p:txBody>
      </p:sp>
      <p:sp>
        <p:nvSpPr>
          <p:cNvPr id="20" name="Rectangle 19"/>
          <p:cNvSpPr/>
          <p:nvPr/>
        </p:nvSpPr>
        <p:spPr>
          <a:xfrm>
            <a:off x="4727448" y="1517904"/>
            <a:ext cx="6629400" cy="6126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37176" y="1700784"/>
            <a:ext cx="64099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能力目录、候选组织、协作复核、过程回放和实例映射</a:t>
            </a:r>
          </a:p>
        </p:txBody>
      </p:sp>
      <p:sp>
        <p:nvSpPr>
          <p:cNvPr id="22" name="Rectangle 21"/>
          <p:cNvSpPr/>
          <p:nvPr/>
        </p:nvSpPr>
        <p:spPr>
          <a:xfrm>
            <a:off x="658368" y="2130552"/>
            <a:ext cx="2743200" cy="6126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8096" y="2313432"/>
            <a:ext cx="25237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102033"/>
                </a:solidFill>
                <a:latin typeface="Microsoft YaHei"/>
              </a:rPr>
              <a:t>协作与共识算法</a:t>
            </a:r>
          </a:p>
        </p:txBody>
      </p:sp>
      <p:sp>
        <p:nvSpPr>
          <p:cNvPr id="24" name="Rectangle 23"/>
          <p:cNvSpPr/>
          <p:nvPr/>
        </p:nvSpPr>
        <p:spPr>
          <a:xfrm>
            <a:off x="3401568" y="2130552"/>
            <a:ext cx="1325880" cy="6126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511296" y="2313432"/>
            <a:ext cx="110642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0E8A57"/>
                </a:solidFill>
                <a:latin typeface="Microsoft YaHei"/>
              </a:rPr>
              <a:t>已完成</a:t>
            </a:r>
          </a:p>
        </p:txBody>
      </p:sp>
      <p:sp>
        <p:nvSpPr>
          <p:cNvPr id="26" name="Rectangle 25"/>
          <p:cNvSpPr/>
          <p:nvPr/>
        </p:nvSpPr>
        <p:spPr>
          <a:xfrm>
            <a:off x="4727448" y="2130552"/>
            <a:ext cx="6629400" cy="6126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37176" y="2313432"/>
            <a:ext cx="64099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结构化语义判别、四角色复核、显式授权改判</a:t>
            </a:r>
          </a:p>
        </p:txBody>
      </p:sp>
      <p:sp>
        <p:nvSpPr>
          <p:cNvPr id="28" name="Rectangle 27"/>
          <p:cNvSpPr/>
          <p:nvPr/>
        </p:nvSpPr>
        <p:spPr>
          <a:xfrm>
            <a:off x="658368" y="2743200"/>
            <a:ext cx="2743200" cy="6126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68096" y="2926080"/>
            <a:ext cx="25237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102033"/>
                </a:solidFill>
                <a:latin typeface="Microsoft YaHei"/>
              </a:rPr>
              <a:t>真实标签反馈验证</a:t>
            </a:r>
          </a:p>
        </p:txBody>
      </p:sp>
      <p:sp>
        <p:nvSpPr>
          <p:cNvPr id="30" name="Rectangle 29"/>
          <p:cNvSpPr/>
          <p:nvPr/>
        </p:nvSpPr>
        <p:spPr>
          <a:xfrm>
            <a:off x="3401568" y="2743200"/>
            <a:ext cx="1325880" cy="6126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11296" y="2926080"/>
            <a:ext cx="110642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0E8A57"/>
                </a:solidFill>
                <a:latin typeface="Microsoft YaHei"/>
              </a:rPr>
              <a:t>已完成</a:t>
            </a:r>
          </a:p>
        </p:txBody>
      </p:sp>
      <p:sp>
        <p:nvSpPr>
          <p:cNvPr id="32" name="Rectangle 31"/>
          <p:cNvSpPr/>
          <p:nvPr/>
        </p:nvSpPr>
        <p:spPr>
          <a:xfrm>
            <a:off x="4727448" y="2743200"/>
            <a:ext cx="6629400" cy="6126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837176" y="2926080"/>
            <a:ext cx="64099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563 样本、450/113 冻结划分、主结果与消融实验</a:t>
            </a:r>
          </a:p>
        </p:txBody>
      </p:sp>
      <p:sp>
        <p:nvSpPr>
          <p:cNvPr id="34" name="Rectangle 33"/>
          <p:cNvSpPr/>
          <p:nvPr/>
        </p:nvSpPr>
        <p:spPr>
          <a:xfrm>
            <a:off x="658368" y="3355848"/>
            <a:ext cx="2743200" cy="6126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68096" y="3538728"/>
            <a:ext cx="25237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102033"/>
                </a:solidFill>
                <a:latin typeface="Microsoft YaHei"/>
              </a:rPr>
              <a:t>论文报告与成果材料</a:t>
            </a:r>
          </a:p>
        </p:txBody>
      </p:sp>
      <p:sp>
        <p:nvSpPr>
          <p:cNvPr id="36" name="Rectangle 35"/>
          <p:cNvSpPr/>
          <p:nvPr/>
        </p:nvSpPr>
        <p:spPr>
          <a:xfrm>
            <a:off x="3401568" y="3355848"/>
            <a:ext cx="1325880" cy="6126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511296" y="3538728"/>
            <a:ext cx="110642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0E8A57"/>
                </a:solidFill>
                <a:latin typeface="Microsoft YaHei"/>
              </a:rPr>
              <a:t>已完成</a:t>
            </a:r>
          </a:p>
        </p:txBody>
      </p:sp>
      <p:sp>
        <p:nvSpPr>
          <p:cNvPr id="38" name="Rectangle 37"/>
          <p:cNvSpPr/>
          <p:nvPr/>
        </p:nvSpPr>
        <p:spPr>
          <a:xfrm>
            <a:off x="4727448" y="3355848"/>
            <a:ext cx="6629400" cy="6126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837176" y="3538728"/>
            <a:ext cx="64099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技术报告、论文投稿稿、成果汇编、答辩材料</a:t>
            </a:r>
          </a:p>
        </p:txBody>
      </p:sp>
      <p:sp>
        <p:nvSpPr>
          <p:cNvPr id="40" name="Rectangle 39"/>
          <p:cNvSpPr/>
          <p:nvPr/>
        </p:nvSpPr>
        <p:spPr>
          <a:xfrm>
            <a:off x="658368" y="3968496"/>
            <a:ext cx="2743200" cy="6126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6" y="4151376"/>
            <a:ext cx="25237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102033"/>
                </a:solidFill>
                <a:latin typeface="Microsoft YaHei"/>
              </a:rPr>
              <a:t>发明专利</a:t>
            </a:r>
          </a:p>
        </p:txBody>
      </p:sp>
      <p:sp>
        <p:nvSpPr>
          <p:cNvPr id="42" name="Rectangle 41"/>
          <p:cNvSpPr/>
          <p:nvPr/>
        </p:nvSpPr>
        <p:spPr>
          <a:xfrm>
            <a:off x="3401568" y="3968496"/>
            <a:ext cx="1325880" cy="6126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511296" y="4151376"/>
            <a:ext cx="110642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E97132"/>
                </a:solidFill>
                <a:latin typeface="Microsoft YaHei"/>
              </a:rPr>
              <a:t>材料已形成</a:t>
            </a:r>
          </a:p>
        </p:txBody>
      </p:sp>
      <p:sp>
        <p:nvSpPr>
          <p:cNvPr id="44" name="Rectangle 43"/>
          <p:cNvSpPr/>
          <p:nvPr/>
        </p:nvSpPr>
        <p:spPr>
          <a:xfrm>
            <a:off x="4727448" y="3968496"/>
            <a:ext cx="6629400" cy="6126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837176" y="4151376"/>
            <a:ext cx="64099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交底书、权利要求、说明书摘要和附图；受理证明按流程补充</a:t>
            </a:r>
          </a:p>
        </p:txBody>
      </p:sp>
      <p:sp>
        <p:nvSpPr>
          <p:cNvPr id="46" name="Rounded Rectangle 45"/>
          <p:cNvSpPr/>
          <p:nvPr/>
        </p:nvSpPr>
        <p:spPr>
          <a:xfrm>
            <a:off x="868680" y="4956048"/>
            <a:ext cx="9829800" cy="621792"/>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 y="5193792"/>
            <a:ext cx="914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80" b="1">
                <a:solidFill>
                  <a:srgbClr val="0B63CE"/>
                </a:solidFill>
                <a:latin typeface="Microsoft YaHei"/>
              </a:rPr>
              <a:t>验收判断</a:t>
            </a:r>
          </a:p>
        </p:txBody>
      </p:sp>
      <p:sp>
        <p:nvSpPr>
          <p:cNvPr id="48" name="Rectangle 47"/>
          <p:cNvSpPr/>
          <p:nvPr/>
        </p:nvSpPr>
        <p:spPr>
          <a:xfrm>
            <a:off x="2148840" y="5193792"/>
            <a:ext cx="6903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20" b="1">
                <a:solidFill>
                  <a:srgbClr val="102033"/>
                </a:solidFill>
                <a:latin typeface="Microsoft YaHei"/>
              </a:rPr>
              <a:t>任务完成不是只交材料，而是形成“技术路线—系统原型—冻结实验—成果材料”的可核验证据链。</a:t>
            </a:r>
          </a:p>
        </p:txBody>
      </p:sp>
      <p:sp>
        <p:nvSpPr>
          <p:cNvPr id="49" name="Rectangle 48"/>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51" name="Rectangle 50"/>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04</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研究定位：语义路由是典型验证场景，不是项目主题偏移</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主动回答“是不是只做分类任务”的质疑，说明项目主线如何落到可评测链路。</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502920" y="1417320"/>
            <a:ext cx="1444752" cy="969264"/>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7512" y="1664208"/>
            <a:ext cx="9601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19" b="1">
                <a:solidFill>
                  <a:srgbClr val="0B63CE"/>
                </a:solidFill>
                <a:latin typeface="Microsoft YaHei"/>
              </a:rPr>
              <a:t>能力命名</a:t>
            </a:r>
          </a:p>
        </p:txBody>
      </p:sp>
      <p:sp>
        <p:nvSpPr>
          <p:cNvPr id="12" name="Rectangle 11"/>
          <p:cNvSpPr/>
          <p:nvPr/>
        </p:nvSpPr>
        <p:spPr>
          <a:xfrm>
            <a:off x="667512" y="2039112"/>
            <a:ext cx="9601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能力对象如何组织</a:t>
            </a:r>
          </a:p>
        </p:txBody>
      </p:sp>
      <p:sp>
        <p:nvSpPr>
          <p:cNvPr id="13" name="Rectangle 12"/>
          <p:cNvSpPr/>
          <p:nvPr/>
        </p:nvSpPr>
        <p:spPr>
          <a:xfrm>
            <a:off x="2039112" y="1810512"/>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14" name="Rounded Rectangle 13"/>
          <p:cNvSpPr/>
          <p:nvPr/>
        </p:nvSpPr>
        <p:spPr>
          <a:xfrm>
            <a:off x="2377439" y="1417320"/>
            <a:ext cx="1444752" cy="969264"/>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664208"/>
            <a:ext cx="9601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19" b="1">
                <a:solidFill>
                  <a:srgbClr val="0E8A57"/>
                </a:solidFill>
                <a:latin typeface="Microsoft YaHei"/>
              </a:rPr>
              <a:t>候选选择</a:t>
            </a:r>
          </a:p>
        </p:txBody>
      </p:sp>
      <p:sp>
        <p:nvSpPr>
          <p:cNvPr id="16" name="Rectangle 15"/>
          <p:cNvSpPr/>
          <p:nvPr/>
        </p:nvSpPr>
        <p:spPr>
          <a:xfrm>
            <a:off x="2542032" y="2039112"/>
            <a:ext cx="9601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请求如何进入固定候选</a:t>
            </a:r>
          </a:p>
        </p:txBody>
      </p:sp>
      <p:sp>
        <p:nvSpPr>
          <p:cNvPr id="17" name="Rectangle 16"/>
          <p:cNvSpPr/>
          <p:nvPr/>
        </p:nvSpPr>
        <p:spPr>
          <a:xfrm>
            <a:off x="3913631" y="1810512"/>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18" name="Rounded Rectangle 17"/>
          <p:cNvSpPr/>
          <p:nvPr/>
        </p:nvSpPr>
        <p:spPr>
          <a:xfrm>
            <a:off x="4251959" y="1417320"/>
            <a:ext cx="1444752" cy="969264"/>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6551" y="1664208"/>
            <a:ext cx="9601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19" b="1">
                <a:solidFill>
                  <a:srgbClr val="E97132"/>
                </a:solidFill>
                <a:latin typeface="Microsoft YaHei"/>
              </a:rPr>
              <a:t>结构化判别</a:t>
            </a:r>
          </a:p>
        </p:txBody>
      </p:sp>
      <p:sp>
        <p:nvSpPr>
          <p:cNvPr id="20" name="Rectangle 19"/>
          <p:cNvSpPr/>
          <p:nvPr/>
        </p:nvSpPr>
        <p:spPr>
          <a:xfrm>
            <a:off x="4416551" y="2039112"/>
            <a:ext cx="9601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主能力和相关能力如何给出</a:t>
            </a:r>
          </a:p>
        </p:txBody>
      </p:sp>
      <p:sp>
        <p:nvSpPr>
          <p:cNvPr id="21" name="Rectangle 20"/>
          <p:cNvSpPr/>
          <p:nvPr/>
        </p:nvSpPr>
        <p:spPr>
          <a:xfrm>
            <a:off x="5788151" y="1810512"/>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22" name="Rounded Rectangle 21"/>
          <p:cNvSpPr/>
          <p:nvPr/>
        </p:nvSpPr>
        <p:spPr>
          <a:xfrm>
            <a:off x="6126479" y="1417320"/>
            <a:ext cx="1444752" cy="969264"/>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91071" y="1664208"/>
            <a:ext cx="9601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19" b="1">
                <a:solidFill>
                  <a:srgbClr val="6B49C8"/>
                </a:solidFill>
                <a:latin typeface="Microsoft YaHei"/>
              </a:rPr>
              <a:t>协作复核</a:t>
            </a:r>
          </a:p>
        </p:txBody>
      </p:sp>
      <p:sp>
        <p:nvSpPr>
          <p:cNvPr id="24" name="Rectangle 23"/>
          <p:cNvSpPr/>
          <p:nvPr/>
        </p:nvSpPr>
        <p:spPr>
          <a:xfrm>
            <a:off x="6291071" y="2039112"/>
            <a:ext cx="9601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复杂边界样本如何受控改判</a:t>
            </a:r>
          </a:p>
        </p:txBody>
      </p:sp>
      <p:sp>
        <p:nvSpPr>
          <p:cNvPr id="25" name="Rectangle 24"/>
          <p:cNvSpPr/>
          <p:nvPr/>
        </p:nvSpPr>
        <p:spPr>
          <a:xfrm>
            <a:off x="7662671" y="1810512"/>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26" name="Rounded Rectangle 25"/>
          <p:cNvSpPr/>
          <p:nvPr/>
        </p:nvSpPr>
        <p:spPr>
          <a:xfrm>
            <a:off x="8001000" y="1417320"/>
            <a:ext cx="1444752" cy="969264"/>
          </a:xfrm>
          <a:prstGeom prst="roundRect">
            <a:avLst/>
          </a:prstGeom>
          <a:solidFill>
            <a:srgbClr val="FFFFFF"/>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65592" y="1664208"/>
            <a:ext cx="9601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19" b="1">
                <a:solidFill>
                  <a:srgbClr val="B93232"/>
                </a:solidFill>
                <a:latin typeface="Microsoft YaHei"/>
              </a:rPr>
              <a:t>过程留痕</a:t>
            </a:r>
          </a:p>
        </p:txBody>
      </p:sp>
      <p:sp>
        <p:nvSpPr>
          <p:cNvPr id="28" name="Rectangle 27"/>
          <p:cNvSpPr/>
          <p:nvPr/>
        </p:nvSpPr>
        <p:spPr>
          <a:xfrm>
            <a:off x="8165592" y="2039112"/>
            <a:ext cx="9601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判断过程如何核验</a:t>
            </a:r>
          </a:p>
        </p:txBody>
      </p:sp>
      <p:sp>
        <p:nvSpPr>
          <p:cNvPr id="29" name="Rectangle 28"/>
          <p:cNvSpPr/>
          <p:nvPr/>
        </p:nvSpPr>
        <p:spPr>
          <a:xfrm>
            <a:off x="9537192" y="1810512"/>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30" name="Rounded Rectangle 29"/>
          <p:cNvSpPr/>
          <p:nvPr/>
        </p:nvSpPr>
        <p:spPr>
          <a:xfrm>
            <a:off x="9875520" y="1417320"/>
            <a:ext cx="1444752" cy="969264"/>
          </a:xfrm>
          <a:prstGeom prst="roundRect">
            <a:avLst/>
          </a:prstGeom>
          <a:solidFill>
            <a:srgbClr val="FFFFFF"/>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40112" y="1664208"/>
            <a:ext cx="9601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19" b="1">
                <a:solidFill>
                  <a:srgbClr val="1E83E6"/>
                </a:solidFill>
                <a:latin typeface="Microsoft YaHei"/>
              </a:rPr>
              <a:t>实例映射</a:t>
            </a:r>
          </a:p>
        </p:txBody>
      </p:sp>
      <p:sp>
        <p:nvSpPr>
          <p:cNvPr id="32" name="Rectangle 31"/>
          <p:cNvSpPr/>
          <p:nvPr/>
        </p:nvSpPr>
        <p:spPr>
          <a:xfrm>
            <a:off x="10040112" y="2039112"/>
            <a:ext cx="9601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哪个 Agent 承接执行</a:t>
            </a:r>
          </a:p>
        </p:txBody>
      </p:sp>
      <p:sp>
        <p:nvSpPr>
          <p:cNvPr id="33" name="Rounded Rectangle 32"/>
          <p:cNvSpPr/>
          <p:nvPr/>
        </p:nvSpPr>
        <p:spPr>
          <a:xfrm>
            <a:off x="868680" y="3127248"/>
            <a:ext cx="9966960" cy="82296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43000" y="3401568"/>
            <a:ext cx="640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26B6FF"/>
                </a:solidFill>
                <a:latin typeface="Microsoft YaHei"/>
              </a:rPr>
              <a:t>主线</a:t>
            </a:r>
          </a:p>
        </p:txBody>
      </p:sp>
      <p:sp>
        <p:nvSpPr>
          <p:cNvPr id="35" name="Rectangle 34"/>
          <p:cNvSpPr/>
          <p:nvPr/>
        </p:nvSpPr>
        <p:spPr>
          <a:xfrm>
            <a:off x="1874519" y="3374136"/>
            <a:ext cx="7086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FFFFFF"/>
                </a:solidFill>
                <a:latin typeface="Microsoft YaHei"/>
              </a:rPr>
              <a:t>项目主线是“大模型多智能体协作与可信认知标识”；语义路由承担场景验证和原型评测作用。</a:t>
            </a:r>
          </a:p>
        </p:txBody>
      </p:sp>
      <p:sp>
        <p:nvSpPr>
          <p:cNvPr id="36" name="Rounded Rectangle 35"/>
          <p:cNvSpPr/>
          <p:nvPr/>
        </p:nvSpPr>
        <p:spPr>
          <a:xfrm>
            <a:off x="868680" y="4370832"/>
            <a:ext cx="9966960" cy="566928"/>
          </a:xfrm>
          <a:prstGeom prst="roundRect">
            <a:avLst/>
          </a:prstGeom>
          <a:solidFill>
            <a:srgbClr val="FFF8E8"/>
          </a:solidFill>
          <a:ln w="12700">
            <a:solidFill>
              <a:srgbClr val="F2D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143000" y="4572000"/>
            <a:ext cx="59436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60" b="1">
                <a:solidFill>
                  <a:srgbClr val="E97132"/>
                </a:solidFill>
                <a:latin typeface="Microsoft YaHei"/>
              </a:rPr>
              <a:t>边界</a:t>
            </a:r>
          </a:p>
        </p:txBody>
      </p:sp>
      <p:sp>
        <p:nvSpPr>
          <p:cNvPr id="38" name="Rectangle 37"/>
          <p:cNvSpPr/>
          <p:nvPr/>
        </p:nvSpPr>
        <p:spPr>
          <a:xfrm>
            <a:off x="1847088" y="4562856"/>
            <a:ext cx="7498079"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102033"/>
                </a:solidFill>
                <a:latin typeface="Microsoft YaHei"/>
              </a:rPr>
              <a:t>“命名、地址、发现、路由”限定在智能体能力目录和实例映射范围内，不涉及现网域名注册、权威解析或递归解析。</a:t>
            </a:r>
          </a:p>
        </p:txBody>
      </p:sp>
      <p:sp>
        <p:nvSpPr>
          <p:cNvPr id="39" name="Rectangle 38"/>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1" name="Rectangle 40"/>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05</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总体技术路线：能力组织、结构化判断、协作复核、可信留痕形成闭环</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一张图说明从请求输入到执行衔接的完整链路，也是整套答辩的核心图。</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457200" y="1143000"/>
            <a:ext cx="1508760" cy="713232"/>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5216" y="1298448"/>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1">
                <a:solidFill>
                  <a:srgbClr val="0B63CE"/>
                </a:solidFill>
                <a:latin typeface="Microsoft YaHei"/>
              </a:rPr>
              <a:t>请求输入</a:t>
            </a:r>
          </a:p>
        </p:txBody>
      </p:sp>
      <p:sp>
        <p:nvSpPr>
          <p:cNvPr id="12" name="Rectangle 11"/>
          <p:cNvSpPr/>
          <p:nvPr/>
        </p:nvSpPr>
        <p:spPr>
          <a:xfrm>
            <a:off x="594360" y="1572768"/>
            <a:ext cx="98755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0">
                <a:solidFill>
                  <a:srgbClr val="53657A"/>
                </a:solidFill>
                <a:latin typeface="Arial"/>
              </a:rPr>
              <a:t>query / context</a:t>
            </a:r>
          </a:p>
        </p:txBody>
      </p:sp>
      <p:sp>
        <p:nvSpPr>
          <p:cNvPr id="13" name="Rectangle 12"/>
          <p:cNvSpPr/>
          <p:nvPr/>
        </p:nvSpPr>
        <p:spPr>
          <a:xfrm>
            <a:off x="2029967" y="1417320"/>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14" name="Rounded Rectangle 13"/>
          <p:cNvSpPr/>
          <p:nvPr/>
        </p:nvSpPr>
        <p:spPr>
          <a:xfrm>
            <a:off x="2331720" y="1143000"/>
            <a:ext cx="1508760" cy="71323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59736" y="1298448"/>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1">
                <a:solidFill>
                  <a:srgbClr val="0E8A57"/>
                </a:solidFill>
                <a:latin typeface="Microsoft YaHei"/>
              </a:rPr>
              <a:t>能力命名与候选组织</a:t>
            </a:r>
          </a:p>
        </p:txBody>
      </p:sp>
      <p:sp>
        <p:nvSpPr>
          <p:cNvPr id="16" name="Rectangle 15"/>
          <p:cNvSpPr/>
          <p:nvPr/>
        </p:nvSpPr>
        <p:spPr>
          <a:xfrm>
            <a:off x="2468879" y="1572768"/>
            <a:ext cx="98755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0">
                <a:solidFill>
                  <a:srgbClr val="53657A"/>
                </a:solidFill>
                <a:latin typeface="Arial"/>
              </a:rPr>
              <a:t>N, C(x)</a:t>
            </a:r>
          </a:p>
        </p:txBody>
      </p:sp>
      <p:sp>
        <p:nvSpPr>
          <p:cNvPr id="17" name="Rectangle 16"/>
          <p:cNvSpPr/>
          <p:nvPr/>
        </p:nvSpPr>
        <p:spPr>
          <a:xfrm>
            <a:off x="3904487" y="1417320"/>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18" name="Rounded Rectangle 17"/>
          <p:cNvSpPr/>
          <p:nvPr/>
        </p:nvSpPr>
        <p:spPr>
          <a:xfrm>
            <a:off x="4206240" y="1143000"/>
            <a:ext cx="1508760" cy="71323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34255" y="1298448"/>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1">
                <a:solidFill>
                  <a:srgbClr val="E97132"/>
                </a:solidFill>
                <a:latin typeface="Microsoft YaHei"/>
              </a:rPr>
              <a:t>单智能体结构化判别</a:t>
            </a:r>
          </a:p>
        </p:txBody>
      </p:sp>
      <p:sp>
        <p:nvSpPr>
          <p:cNvPr id="20" name="Rectangle 19"/>
          <p:cNvSpPr/>
          <p:nvPr/>
        </p:nvSpPr>
        <p:spPr>
          <a:xfrm>
            <a:off x="4343400" y="1572768"/>
            <a:ext cx="98755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0">
                <a:solidFill>
                  <a:srgbClr val="53657A"/>
                </a:solidFill>
                <a:latin typeface="Arial"/>
              </a:rPr>
              <a:t>ŷ, R̂, score</a:t>
            </a:r>
          </a:p>
        </p:txBody>
      </p:sp>
      <p:sp>
        <p:nvSpPr>
          <p:cNvPr id="21" name="Rectangle 20"/>
          <p:cNvSpPr/>
          <p:nvPr/>
        </p:nvSpPr>
        <p:spPr>
          <a:xfrm>
            <a:off x="5779007" y="1417320"/>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22" name="Rounded Rectangle 21"/>
          <p:cNvSpPr/>
          <p:nvPr/>
        </p:nvSpPr>
        <p:spPr>
          <a:xfrm>
            <a:off x="6080759" y="1143000"/>
            <a:ext cx="1508760" cy="713232"/>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8775" y="1298448"/>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1">
                <a:solidFill>
                  <a:srgbClr val="6B49C8"/>
                </a:solidFill>
                <a:latin typeface="Microsoft YaHei"/>
              </a:rPr>
              <a:t>协作触发判断</a:t>
            </a:r>
          </a:p>
        </p:txBody>
      </p:sp>
      <p:sp>
        <p:nvSpPr>
          <p:cNvPr id="24" name="Rectangle 23"/>
          <p:cNvSpPr/>
          <p:nvPr/>
        </p:nvSpPr>
        <p:spPr>
          <a:xfrm>
            <a:off x="6217920" y="1572768"/>
            <a:ext cx="98755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0">
                <a:solidFill>
                  <a:srgbClr val="53657A"/>
                </a:solidFill>
                <a:latin typeface="Arial"/>
              </a:rPr>
              <a:t>low confidence / risk</a:t>
            </a:r>
          </a:p>
        </p:txBody>
      </p:sp>
      <p:sp>
        <p:nvSpPr>
          <p:cNvPr id="25" name="Rectangle 24"/>
          <p:cNvSpPr/>
          <p:nvPr/>
        </p:nvSpPr>
        <p:spPr>
          <a:xfrm>
            <a:off x="7653527" y="1417320"/>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26" name="Rounded Rectangle 25"/>
          <p:cNvSpPr/>
          <p:nvPr/>
        </p:nvSpPr>
        <p:spPr>
          <a:xfrm>
            <a:off x="7955279" y="1143000"/>
            <a:ext cx="1508760" cy="713232"/>
          </a:xfrm>
          <a:prstGeom prst="roundRect">
            <a:avLst/>
          </a:prstGeom>
          <a:solidFill>
            <a:srgbClr val="FFFFFF"/>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83296" y="1298448"/>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1">
                <a:solidFill>
                  <a:srgbClr val="B93232"/>
                </a:solidFill>
                <a:latin typeface="Microsoft YaHei"/>
              </a:rPr>
              <a:t>职责化复核 + 授权</a:t>
            </a:r>
          </a:p>
        </p:txBody>
      </p:sp>
      <p:sp>
        <p:nvSpPr>
          <p:cNvPr id="28" name="Rectangle 27"/>
          <p:cNvSpPr/>
          <p:nvPr/>
        </p:nvSpPr>
        <p:spPr>
          <a:xfrm>
            <a:off x="8092440" y="1572768"/>
            <a:ext cx="98755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0">
                <a:solidFill>
                  <a:srgbClr val="53657A"/>
                </a:solidFill>
                <a:latin typeface="Arial"/>
              </a:rPr>
              <a:t>votes / gate</a:t>
            </a:r>
          </a:p>
        </p:txBody>
      </p:sp>
      <p:sp>
        <p:nvSpPr>
          <p:cNvPr id="29" name="Rectangle 28"/>
          <p:cNvSpPr/>
          <p:nvPr/>
        </p:nvSpPr>
        <p:spPr>
          <a:xfrm>
            <a:off x="9528048" y="1417320"/>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30" name="Rounded Rectangle 29"/>
          <p:cNvSpPr/>
          <p:nvPr/>
        </p:nvSpPr>
        <p:spPr>
          <a:xfrm>
            <a:off x="9829800" y="1143000"/>
            <a:ext cx="1508760" cy="713232"/>
          </a:xfrm>
          <a:prstGeom prst="roundRect">
            <a:avLst/>
          </a:prstGeom>
          <a:solidFill>
            <a:srgbClr val="FFFFFF"/>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7816" y="1298448"/>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1">
                <a:solidFill>
                  <a:srgbClr val="1E83E6"/>
                </a:solidFill>
                <a:latin typeface="Microsoft YaHei"/>
              </a:rPr>
              <a:t>地址输出与执行衔接</a:t>
            </a:r>
          </a:p>
        </p:txBody>
      </p:sp>
      <p:sp>
        <p:nvSpPr>
          <p:cNvPr id="32" name="Rectangle 31"/>
          <p:cNvSpPr/>
          <p:nvPr/>
        </p:nvSpPr>
        <p:spPr>
          <a:xfrm>
            <a:off x="9966960" y="1572768"/>
            <a:ext cx="98755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0">
                <a:solidFill>
                  <a:srgbClr val="53657A"/>
                </a:solidFill>
                <a:latin typeface="Arial"/>
              </a:rPr>
              <a:t>ability / instance</a:t>
            </a:r>
          </a:p>
        </p:txBody>
      </p:sp>
      <p:sp>
        <p:nvSpPr>
          <p:cNvPr id="33" name="Rounded Rectangle 32"/>
          <p:cNvSpPr/>
          <p:nvPr/>
        </p:nvSpPr>
        <p:spPr>
          <a:xfrm>
            <a:off x="777240" y="2139696"/>
            <a:ext cx="9966960" cy="384048"/>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60704" y="2267712"/>
            <a:ext cx="91440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0B63CE"/>
                </a:solidFill>
                <a:latin typeface="Microsoft YaHei"/>
              </a:rPr>
              <a:t>可信轨迹</a:t>
            </a:r>
          </a:p>
        </p:txBody>
      </p:sp>
      <p:sp>
        <p:nvSpPr>
          <p:cNvPr id="35" name="Rectangle 34"/>
          <p:cNvSpPr/>
          <p:nvPr/>
        </p:nvSpPr>
        <p:spPr>
          <a:xfrm>
            <a:off x="2148840" y="2276856"/>
            <a:ext cx="804672"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102033"/>
                </a:solidFill>
                <a:latin typeface="Microsoft YaHei"/>
              </a:rPr>
              <a:t>候选快照</a:t>
            </a:r>
          </a:p>
        </p:txBody>
      </p:sp>
      <p:sp>
        <p:nvSpPr>
          <p:cNvPr id="36" name="Rectangle 35"/>
          <p:cNvSpPr/>
          <p:nvPr/>
        </p:nvSpPr>
        <p:spPr>
          <a:xfrm>
            <a:off x="3383280" y="2276856"/>
            <a:ext cx="804672"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102033"/>
                </a:solidFill>
                <a:latin typeface="Microsoft YaHei"/>
              </a:rPr>
              <a:t>规则分数</a:t>
            </a:r>
          </a:p>
        </p:txBody>
      </p:sp>
      <p:sp>
        <p:nvSpPr>
          <p:cNvPr id="37" name="Rectangle 36"/>
          <p:cNvSpPr/>
          <p:nvPr/>
        </p:nvSpPr>
        <p:spPr>
          <a:xfrm>
            <a:off x="4617720" y="2276856"/>
            <a:ext cx="804672"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102033"/>
                </a:solidFill>
                <a:latin typeface="Microsoft YaHei"/>
              </a:rPr>
              <a:t>结构化裁决</a:t>
            </a:r>
          </a:p>
        </p:txBody>
      </p:sp>
      <p:sp>
        <p:nvSpPr>
          <p:cNvPr id="38" name="Rectangle 37"/>
          <p:cNvSpPr/>
          <p:nvPr/>
        </p:nvSpPr>
        <p:spPr>
          <a:xfrm>
            <a:off x="5852160" y="2276856"/>
            <a:ext cx="804672"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102033"/>
                </a:solidFill>
                <a:latin typeface="Microsoft YaHei"/>
              </a:rPr>
              <a:t>角色提案</a:t>
            </a:r>
          </a:p>
        </p:txBody>
      </p:sp>
      <p:sp>
        <p:nvSpPr>
          <p:cNvPr id="39" name="Rectangle 38"/>
          <p:cNvSpPr/>
          <p:nvPr/>
        </p:nvSpPr>
        <p:spPr>
          <a:xfrm>
            <a:off x="7086600" y="2276856"/>
            <a:ext cx="804672"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102033"/>
                </a:solidFill>
                <a:latin typeface="Microsoft YaHei"/>
              </a:rPr>
              <a:t>授权判断</a:t>
            </a:r>
          </a:p>
        </p:txBody>
      </p:sp>
      <p:sp>
        <p:nvSpPr>
          <p:cNvPr id="40" name="Rectangle 39"/>
          <p:cNvSpPr/>
          <p:nvPr/>
        </p:nvSpPr>
        <p:spPr>
          <a:xfrm>
            <a:off x="8321040" y="2276856"/>
            <a:ext cx="804672"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102033"/>
                </a:solidFill>
                <a:latin typeface="Microsoft YaHei"/>
              </a:rPr>
              <a:t>最终输出</a:t>
            </a:r>
          </a:p>
        </p:txBody>
      </p:sp>
      <p:pic>
        <p:nvPicPr>
          <p:cNvPr id="41" name="Picture 40" descr="fig1_framework.png"/>
          <p:cNvPicPr>
            <a:picLocks noChangeAspect="1"/>
          </p:cNvPicPr>
          <p:nvPr/>
        </p:nvPicPr>
        <p:blipFill>
          <a:blip r:embed="rId3"/>
          <a:stretch>
            <a:fillRect/>
          </a:stretch>
        </p:blipFill>
        <p:spPr>
          <a:xfrm>
            <a:off x="960120" y="2615184"/>
            <a:ext cx="9601200" cy="3456432"/>
          </a:xfrm>
          <a:prstGeom prst="rect">
            <a:avLst/>
          </a:prstGeom>
        </p:spPr>
      </p:pic>
      <p:sp>
        <p:nvSpPr>
          <p:cNvPr id="42" name="Rectangle 4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4" name="Rectangle 4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06</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攻关难点：固定候选内的复杂语义决策必须可控、可复核、可追溯</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重点项目的技术难点不在“能不能调用模型”，而在复杂请求边界下如何稳定做出受控裁决。</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804672" y="1298448"/>
            <a:ext cx="4343400" cy="950976"/>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05840" y="1527048"/>
            <a:ext cx="914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80" b="1">
                <a:solidFill>
                  <a:srgbClr val="0B63CE"/>
                </a:solidFill>
                <a:latin typeface="Microsoft YaHei"/>
              </a:rPr>
              <a:t>候选固定</a:t>
            </a:r>
          </a:p>
        </p:txBody>
      </p:sp>
      <p:sp>
        <p:nvSpPr>
          <p:cNvPr id="12" name="Rectangle 11"/>
          <p:cNvSpPr/>
          <p:nvPr/>
        </p:nvSpPr>
        <p:spPr>
          <a:xfrm>
            <a:off x="2039112" y="1481328"/>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53657A"/>
                </a:solidFill>
                <a:latin typeface="Microsoft YaHei"/>
              </a:rPr>
              <a:t>不能生成候选外能力地址，必须在既有能力空间内稳定比较。</a:t>
            </a:r>
          </a:p>
        </p:txBody>
      </p:sp>
      <p:sp>
        <p:nvSpPr>
          <p:cNvPr id="13" name="Rounded Rectangle 12"/>
          <p:cNvSpPr/>
          <p:nvPr/>
        </p:nvSpPr>
        <p:spPr>
          <a:xfrm>
            <a:off x="6035040" y="1298448"/>
            <a:ext cx="4343400" cy="950976"/>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36207" y="1527048"/>
            <a:ext cx="914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80" b="1">
                <a:solidFill>
                  <a:srgbClr val="0E8A57"/>
                </a:solidFill>
                <a:latin typeface="Microsoft YaHei"/>
              </a:rPr>
              <a:t>语义复合</a:t>
            </a:r>
          </a:p>
        </p:txBody>
      </p:sp>
      <p:sp>
        <p:nvSpPr>
          <p:cNvPr id="15" name="Rectangle 14"/>
          <p:cNvSpPr/>
          <p:nvPr/>
        </p:nvSpPr>
        <p:spPr>
          <a:xfrm>
            <a:off x="7269479" y="1481328"/>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53657A"/>
                </a:solidFill>
                <a:latin typeface="Microsoft YaHei"/>
              </a:rPr>
              <a:t>一个请求常同时包含主任务、辅助诉求、约束条件和背景词。</a:t>
            </a:r>
          </a:p>
        </p:txBody>
      </p:sp>
      <p:sp>
        <p:nvSpPr>
          <p:cNvPr id="16" name="Rounded Rectangle 15"/>
          <p:cNvSpPr/>
          <p:nvPr/>
        </p:nvSpPr>
        <p:spPr>
          <a:xfrm>
            <a:off x="804672" y="2560320"/>
            <a:ext cx="4343400" cy="950976"/>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5840" y="2788920"/>
            <a:ext cx="914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80" b="1">
                <a:solidFill>
                  <a:srgbClr val="E97132"/>
                </a:solidFill>
                <a:latin typeface="Microsoft YaHei"/>
              </a:rPr>
              <a:t>层级冲突</a:t>
            </a:r>
          </a:p>
        </p:txBody>
      </p:sp>
      <p:sp>
        <p:nvSpPr>
          <p:cNvPr id="18" name="Rectangle 17"/>
          <p:cNvSpPr/>
          <p:nvPr/>
        </p:nvSpPr>
        <p:spPr>
          <a:xfrm>
            <a:off x="2039112" y="2743200"/>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53657A"/>
                </a:solidFill>
                <a:latin typeface="Microsoft YaHei"/>
              </a:rPr>
              <a:t>父子节点、相邻域和实例能力粒度容易互相竞争。</a:t>
            </a:r>
          </a:p>
        </p:txBody>
      </p:sp>
      <p:sp>
        <p:nvSpPr>
          <p:cNvPr id="19" name="Rounded Rectangle 18"/>
          <p:cNvSpPr/>
          <p:nvPr/>
        </p:nvSpPr>
        <p:spPr>
          <a:xfrm>
            <a:off x="6035040" y="2560320"/>
            <a:ext cx="4343400" cy="950976"/>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6207" y="2788920"/>
            <a:ext cx="914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80" b="1">
                <a:solidFill>
                  <a:srgbClr val="6B49C8"/>
                </a:solidFill>
                <a:latin typeface="Microsoft YaHei"/>
              </a:rPr>
              <a:t>复核受控</a:t>
            </a:r>
          </a:p>
        </p:txBody>
      </p:sp>
      <p:sp>
        <p:nvSpPr>
          <p:cNvPr id="21" name="Rectangle 20"/>
          <p:cNvSpPr/>
          <p:nvPr/>
        </p:nvSpPr>
        <p:spPr>
          <a:xfrm>
            <a:off x="7269479" y="2743200"/>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53657A"/>
                </a:solidFill>
                <a:latin typeface="Microsoft YaHei"/>
              </a:rPr>
              <a:t>多智能体不能越讨论越乱，改判必须有门槛和记录。</a:t>
            </a:r>
          </a:p>
        </p:txBody>
      </p:sp>
      <p:sp>
        <p:nvSpPr>
          <p:cNvPr id="22" name="Rounded Rectangle 21"/>
          <p:cNvSpPr/>
          <p:nvPr/>
        </p:nvSpPr>
        <p:spPr>
          <a:xfrm>
            <a:off x="914400" y="4370832"/>
            <a:ext cx="9738360" cy="694944"/>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88720" y="4608576"/>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26B6FF"/>
                </a:solidFill>
                <a:latin typeface="Microsoft YaHei"/>
              </a:rPr>
              <a:t>攻关抓手</a:t>
            </a:r>
          </a:p>
        </p:txBody>
      </p:sp>
      <p:sp>
        <p:nvSpPr>
          <p:cNvPr id="24" name="Rectangle 23"/>
          <p:cNvSpPr/>
          <p:nvPr/>
        </p:nvSpPr>
        <p:spPr>
          <a:xfrm>
            <a:off x="2304288" y="4590288"/>
            <a:ext cx="722376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20" b="1">
                <a:solidFill>
                  <a:srgbClr val="FFFFFF"/>
                </a:solidFill>
                <a:latin typeface="Microsoft YaHei"/>
              </a:rPr>
              <a:t>用能力命名空间约束边界，用结构化裁决压缩不确定性，用职责化复核处理冲突，用可信轨迹支撑回放核验。</a:t>
            </a:r>
          </a:p>
        </p:txBody>
      </p:sp>
      <p:sp>
        <p:nvSpPr>
          <p:cNvPr id="25" name="Rectangle 24"/>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7" name="Rectangle 26"/>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06</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关键技术一：能力命名空间与候选边界是可评测基础</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不是简单调 API，而是构建受限、可复核、可评测的能力空间。</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822960" y="1298448"/>
            <a:ext cx="96012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800" b="1">
                <a:solidFill>
                  <a:srgbClr val="0B63CE"/>
                </a:solidFill>
                <a:latin typeface="Arial"/>
              </a:rPr>
              <a:t>50</a:t>
            </a:r>
          </a:p>
        </p:txBody>
      </p:sp>
      <p:sp>
        <p:nvSpPr>
          <p:cNvPr id="11" name="Rectangle 10"/>
          <p:cNvSpPr/>
          <p:nvPr/>
        </p:nvSpPr>
        <p:spPr>
          <a:xfrm>
            <a:off x="868680" y="1737360"/>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能力节点</a:t>
            </a:r>
          </a:p>
        </p:txBody>
      </p:sp>
      <p:sp>
        <p:nvSpPr>
          <p:cNvPr id="12" name="Rectangle 11"/>
          <p:cNvSpPr/>
          <p:nvPr/>
        </p:nvSpPr>
        <p:spPr>
          <a:xfrm>
            <a:off x="2286000" y="1298448"/>
            <a:ext cx="96012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800" b="1">
                <a:solidFill>
                  <a:srgbClr val="0E8A57"/>
                </a:solidFill>
                <a:latin typeface="Arial"/>
              </a:rPr>
              <a:t>45</a:t>
            </a:r>
          </a:p>
        </p:txBody>
      </p:sp>
      <p:sp>
        <p:nvSpPr>
          <p:cNvPr id="13" name="Rectangle 12"/>
          <p:cNvSpPr/>
          <p:nvPr/>
        </p:nvSpPr>
        <p:spPr>
          <a:xfrm>
            <a:off x="2331720" y="1737360"/>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主标签</a:t>
            </a:r>
          </a:p>
        </p:txBody>
      </p:sp>
      <p:sp>
        <p:nvSpPr>
          <p:cNvPr id="14" name="Rectangle 13"/>
          <p:cNvSpPr/>
          <p:nvPr/>
        </p:nvSpPr>
        <p:spPr>
          <a:xfrm>
            <a:off x="3749040" y="1298448"/>
            <a:ext cx="96012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800" b="1">
                <a:solidFill>
                  <a:srgbClr val="E97132"/>
                </a:solidFill>
                <a:latin typeface="Arial"/>
              </a:rPr>
              <a:t>563</a:t>
            </a:r>
          </a:p>
        </p:txBody>
      </p:sp>
      <p:sp>
        <p:nvSpPr>
          <p:cNvPr id="15" name="Rectangle 14"/>
          <p:cNvSpPr/>
          <p:nvPr/>
        </p:nvSpPr>
        <p:spPr>
          <a:xfrm>
            <a:off x="3794760" y="1737360"/>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评测样本</a:t>
            </a:r>
          </a:p>
        </p:txBody>
      </p:sp>
      <p:sp>
        <p:nvSpPr>
          <p:cNvPr id="16" name="Rounded Rectangle 15"/>
          <p:cNvSpPr/>
          <p:nvPr/>
        </p:nvSpPr>
        <p:spPr>
          <a:xfrm>
            <a:off x="5486400" y="1170432"/>
            <a:ext cx="4023360" cy="420624"/>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50992" y="1289304"/>
            <a:ext cx="114300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1">
                <a:solidFill>
                  <a:srgbClr val="0B63CE"/>
                </a:solidFill>
                <a:latin typeface="Microsoft YaHei"/>
              </a:rPr>
              <a:t>一级能力域</a:t>
            </a:r>
          </a:p>
        </p:txBody>
      </p:sp>
      <p:sp>
        <p:nvSpPr>
          <p:cNvPr id="18" name="Rectangle 17"/>
          <p:cNvSpPr/>
          <p:nvPr/>
        </p:nvSpPr>
        <p:spPr>
          <a:xfrm>
            <a:off x="6912864" y="1289304"/>
            <a:ext cx="2084831"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53657A"/>
                </a:solidFill>
                <a:latin typeface="Arial"/>
              </a:rPr>
              <a:t>travel / security / productivity</a:t>
            </a:r>
          </a:p>
        </p:txBody>
      </p:sp>
      <p:sp>
        <p:nvSpPr>
          <p:cNvPr id="19" name="Rounded Rectangle 18"/>
          <p:cNvSpPr/>
          <p:nvPr/>
        </p:nvSpPr>
        <p:spPr>
          <a:xfrm>
            <a:off x="5486400" y="1828800"/>
            <a:ext cx="4023360" cy="420624"/>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50992" y="1947672"/>
            <a:ext cx="114300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1">
                <a:solidFill>
                  <a:srgbClr val="0E8A57"/>
                </a:solidFill>
                <a:latin typeface="Microsoft YaHei"/>
              </a:rPr>
              <a:t>二级能力域</a:t>
            </a:r>
          </a:p>
        </p:txBody>
      </p:sp>
      <p:sp>
        <p:nvSpPr>
          <p:cNvPr id="21" name="Rectangle 20"/>
          <p:cNvSpPr/>
          <p:nvPr/>
        </p:nvSpPr>
        <p:spPr>
          <a:xfrm>
            <a:off x="6912864" y="1947672"/>
            <a:ext cx="2084831"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53657A"/>
                </a:solidFill>
                <a:latin typeface="Arial"/>
              </a:rPr>
              <a:t>hotel / activity / docs</a:t>
            </a:r>
          </a:p>
        </p:txBody>
      </p:sp>
      <p:sp>
        <p:nvSpPr>
          <p:cNvPr id="22" name="Rounded Rectangle 21"/>
          <p:cNvSpPr/>
          <p:nvPr/>
        </p:nvSpPr>
        <p:spPr>
          <a:xfrm>
            <a:off x="5486400" y="2487168"/>
            <a:ext cx="4023360" cy="420624"/>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50992" y="2606039"/>
            <a:ext cx="114300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1">
                <a:solidFill>
                  <a:srgbClr val="E97132"/>
                </a:solidFill>
                <a:latin typeface="Microsoft YaHei"/>
              </a:rPr>
              <a:t>能力逻辑地址</a:t>
            </a:r>
          </a:p>
        </p:txBody>
      </p:sp>
      <p:sp>
        <p:nvSpPr>
          <p:cNvPr id="24" name="Rectangle 23"/>
          <p:cNvSpPr/>
          <p:nvPr/>
        </p:nvSpPr>
        <p:spPr>
          <a:xfrm>
            <a:off x="6912864" y="2606039"/>
            <a:ext cx="2084831"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53657A"/>
                </a:solidFill>
                <a:latin typeface="Arial"/>
              </a:rPr>
              <a:t>activity.travel.cn</a:t>
            </a:r>
          </a:p>
        </p:txBody>
      </p:sp>
      <p:sp>
        <p:nvSpPr>
          <p:cNvPr id="25" name="Rounded Rectangle 24"/>
          <p:cNvSpPr/>
          <p:nvPr/>
        </p:nvSpPr>
        <p:spPr>
          <a:xfrm>
            <a:off x="5486400" y="3145536"/>
            <a:ext cx="4023360" cy="420624"/>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50992" y="3264408"/>
            <a:ext cx="114300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1">
                <a:solidFill>
                  <a:srgbClr val="6B49C8"/>
                </a:solidFill>
                <a:latin typeface="Microsoft YaHei"/>
              </a:rPr>
              <a:t>实例逻辑地址</a:t>
            </a:r>
          </a:p>
        </p:txBody>
      </p:sp>
      <p:sp>
        <p:nvSpPr>
          <p:cNvPr id="27" name="Rectangle 26"/>
          <p:cNvSpPr/>
          <p:nvPr/>
        </p:nvSpPr>
        <p:spPr>
          <a:xfrm>
            <a:off x="6912864" y="3264408"/>
            <a:ext cx="2084831"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53657A"/>
                </a:solidFill>
                <a:latin typeface="Arial"/>
              </a:rPr>
              <a:t>agent endpoint</a:t>
            </a:r>
          </a:p>
        </p:txBody>
      </p:sp>
      <p:sp>
        <p:nvSpPr>
          <p:cNvPr id="28" name="Rounded Rectangle 27"/>
          <p:cNvSpPr/>
          <p:nvPr/>
        </p:nvSpPr>
        <p:spPr>
          <a:xfrm>
            <a:off x="868680" y="2971800"/>
            <a:ext cx="4023360" cy="141732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43000" y="3246120"/>
            <a:ext cx="10972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FFFFFF"/>
                </a:solidFill>
                <a:latin typeface="Microsoft YaHei"/>
              </a:rPr>
              <a:t>技术约束</a:t>
            </a:r>
          </a:p>
        </p:txBody>
      </p:sp>
      <p:sp>
        <p:nvSpPr>
          <p:cNvPr id="30" name="Oval 29"/>
          <p:cNvSpPr/>
          <p:nvPr/>
        </p:nvSpPr>
        <p:spPr>
          <a:xfrm>
            <a:off x="1170432" y="3657600"/>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35024" y="3602736"/>
            <a:ext cx="2926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D2E6FF"/>
                </a:solidFill>
                <a:latin typeface="Microsoft YaHei"/>
              </a:rPr>
              <a:t>候选集合冻结，后续裁决不得发明候选外标签</a:t>
            </a:r>
          </a:p>
        </p:txBody>
      </p:sp>
      <p:sp>
        <p:nvSpPr>
          <p:cNvPr id="32" name="Oval 31"/>
          <p:cNvSpPr/>
          <p:nvPr/>
        </p:nvSpPr>
        <p:spPr>
          <a:xfrm>
            <a:off x="1170432" y="3950207"/>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335024" y="3895344"/>
            <a:ext cx="2926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D2E6FF"/>
                </a:solidFill>
                <a:latin typeface="Microsoft YaHei"/>
              </a:rPr>
              <a:t>能力地址表示哪类能力承接请求</a:t>
            </a:r>
          </a:p>
        </p:txBody>
      </p:sp>
      <p:sp>
        <p:nvSpPr>
          <p:cNvPr id="34" name="Oval 33"/>
          <p:cNvSpPr/>
          <p:nvPr/>
        </p:nvSpPr>
        <p:spPr>
          <a:xfrm>
            <a:off x="1170432" y="424281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335024" y="4187952"/>
            <a:ext cx="2926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D2E6FF"/>
                </a:solidFill>
                <a:latin typeface="Microsoft YaHei"/>
              </a:rPr>
              <a:t>实例地址表示最终哪个具体 Agent 执行</a:t>
            </a:r>
          </a:p>
        </p:txBody>
      </p:sp>
      <p:sp>
        <p:nvSpPr>
          <p:cNvPr id="36" name="Rounded Rectangle 35"/>
          <p:cNvSpPr/>
          <p:nvPr/>
        </p:nvSpPr>
        <p:spPr>
          <a:xfrm>
            <a:off x="5486400" y="4160520"/>
            <a:ext cx="4069080" cy="731520"/>
          </a:xfrm>
          <a:prstGeom prst="roundRect">
            <a:avLst/>
          </a:prstGeom>
          <a:solidFill>
            <a:srgbClr val="FFF8E8"/>
          </a:solidFill>
          <a:ln w="12700">
            <a:solidFill>
              <a:srgbClr val="F2D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742432" y="4407408"/>
            <a:ext cx="5029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80" b="1">
                <a:solidFill>
                  <a:srgbClr val="E97132"/>
                </a:solidFill>
                <a:latin typeface="Microsoft YaHei"/>
              </a:rPr>
              <a:t>边界</a:t>
            </a:r>
          </a:p>
        </p:txBody>
      </p:sp>
      <p:sp>
        <p:nvSpPr>
          <p:cNvPr id="38" name="Rectangle 37"/>
          <p:cNvSpPr/>
          <p:nvPr/>
        </p:nvSpPr>
        <p:spPr>
          <a:xfrm>
            <a:off x="6355080" y="4407408"/>
            <a:ext cx="26334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102033"/>
                </a:solidFill>
                <a:latin typeface="Microsoft YaHei"/>
              </a:rPr>
              <a:t>能力目录和逻辑地址是原型内部实验对象，不是现网 DNS 资源。</a:t>
            </a:r>
          </a:p>
        </p:txBody>
      </p:sp>
      <p:sp>
        <p:nvSpPr>
          <p:cNvPr id="39" name="Rectangle 38"/>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1" name="Rectangle 40"/>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06</a:t>
            </a:r>
          </a:p>
        </p:txBody>
      </p:sp>
      <p:sp>
        <p:nvSpPr>
          <p:cNvPr id="42" name="Rectangle 41"/>
          <p:cNvSpPr/>
          <p:nvPr/>
        </p:nvSpPr>
        <p:spPr>
          <a:xfrm>
            <a:off x="10991088" y="6437376"/>
            <a:ext cx="694944" cy="256032"/>
          </a:xfrm>
          <a:prstGeom prst="rect">
            <a:avLst/>
          </a:prstGeom>
          <a:solidFill>
            <a:srgbClr val="EDF6FF"/>
          </a:solidFill>
          <a:ln w="11430">
            <a:solidFill>
              <a:srgbClr val="EDF6FF"/>
            </a:solid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 b="0">
                <a:solidFill>
                  <a:srgbClr val="102033"/>
                </a:solidFill>
                <a:latin typeface="Microsoft YaHei"/>
              </a:rPr>
              <a:t/>
            </a:r>
          </a:p>
        </p:txBody>
      </p:sp>
      <p:sp>
        <p:nvSpPr>
          <p:cNvPr id="43" name="Rectangle 42"/>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07</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关键技术二：结构化语义路由把模型判断约束在候选集合内</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核心不是让模型自由生成，而是让模型输出可比较、可升级、可复核的候选级裁决。</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49808" y="1261872"/>
            <a:ext cx="4251960" cy="2423160"/>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51560" y="1572768"/>
            <a:ext cx="9144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B93232"/>
                </a:solidFill>
                <a:latin typeface="Microsoft YaHei"/>
              </a:rPr>
              <a:t>规则路由</a:t>
            </a:r>
          </a:p>
        </p:txBody>
      </p:sp>
      <p:sp>
        <p:nvSpPr>
          <p:cNvPr id="12" name="Oval 11"/>
          <p:cNvSpPr/>
          <p:nvPr/>
        </p:nvSpPr>
        <p:spPr>
          <a:xfrm>
            <a:off x="1078992" y="2011680"/>
            <a:ext cx="68580" cy="68580"/>
          </a:xfrm>
          <a:prstGeom prst="ellipse">
            <a:avLst/>
          </a:prstGeom>
          <a:solidFill>
            <a:srgbClr val="B9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43584" y="1956816"/>
            <a:ext cx="3017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关键词 / 别名 / 描述相似度</a:t>
            </a:r>
          </a:p>
        </p:txBody>
      </p:sp>
      <p:sp>
        <p:nvSpPr>
          <p:cNvPr id="14" name="Oval 13"/>
          <p:cNvSpPr/>
          <p:nvPr/>
        </p:nvSpPr>
        <p:spPr>
          <a:xfrm>
            <a:off x="1078992" y="2340864"/>
            <a:ext cx="68580" cy="68580"/>
          </a:xfrm>
          <a:prstGeom prst="ellipse">
            <a:avLst/>
          </a:prstGeom>
          <a:solidFill>
            <a:srgbClr val="B9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43584" y="2286000"/>
            <a:ext cx="3017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层级信号和上下文命中</a:t>
            </a:r>
          </a:p>
        </p:txBody>
      </p:sp>
      <p:sp>
        <p:nvSpPr>
          <p:cNvPr id="16" name="Oval 15"/>
          <p:cNvSpPr/>
          <p:nvPr/>
        </p:nvSpPr>
        <p:spPr>
          <a:xfrm>
            <a:off x="1078992" y="2670048"/>
            <a:ext cx="68580" cy="68580"/>
          </a:xfrm>
          <a:prstGeom prst="ellipse">
            <a:avLst/>
          </a:prstGeom>
          <a:solidFill>
            <a:srgbClr val="B9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43584" y="2615184"/>
            <a:ext cx="3017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问题：容易被表面词误拉偏</a:t>
            </a:r>
          </a:p>
        </p:txBody>
      </p:sp>
      <p:sp>
        <p:nvSpPr>
          <p:cNvPr id="18" name="Rounded Rectangle 17"/>
          <p:cNvSpPr/>
          <p:nvPr/>
        </p:nvSpPr>
        <p:spPr>
          <a:xfrm>
            <a:off x="5650992" y="1261872"/>
            <a:ext cx="4251960" cy="2423160"/>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61888" y="1572768"/>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Microsoft YaHei"/>
              </a:rPr>
              <a:t>结构化语义路由</a:t>
            </a:r>
          </a:p>
        </p:txBody>
      </p:sp>
      <p:sp>
        <p:nvSpPr>
          <p:cNvPr id="20" name="Oval 19"/>
          <p:cNvSpPr/>
          <p:nvPr/>
        </p:nvSpPr>
        <p:spPr>
          <a:xfrm>
            <a:off x="5989320" y="2011680"/>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53912" y="1956816"/>
            <a:ext cx="32004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主任务摘要 / 相关能力</a:t>
            </a:r>
          </a:p>
        </p:txBody>
      </p:sp>
      <p:sp>
        <p:nvSpPr>
          <p:cNvPr id="22" name="Oval 21"/>
          <p:cNvSpPr/>
          <p:nvPr/>
        </p:nvSpPr>
        <p:spPr>
          <a:xfrm>
            <a:off x="5989320" y="2340864"/>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53912" y="2286000"/>
            <a:ext cx="32004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置信度 / 风险提示 / 竞争候选说明</a:t>
            </a:r>
          </a:p>
        </p:txBody>
      </p:sp>
      <p:sp>
        <p:nvSpPr>
          <p:cNvPr id="24" name="Oval 23"/>
          <p:cNvSpPr/>
          <p:nvPr/>
        </p:nvSpPr>
        <p:spPr>
          <a:xfrm>
            <a:off x="5989320" y="2670048"/>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53912" y="2615184"/>
            <a:ext cx="32004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约束：只能从候选集合中选择</a:t>
            </a:r>
          </a:p>
        </p:txBody>
      </p:sp>
      <p:sp>
        <p:nvSpPr>
          <p:cNvPr id="26" name="Rounded Rectangle 25"/>
          <p:cNvSpPr/>
          <p:nvPr/>
        </p:nvSpPr>
        <p:spPr>
          <a:xfrm>
            <a:off x="914400" y="4434840"/>
            <a:ext cx="9098280" cy="658368"/>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88720" y="4645152"/>
            <a:ext cx="548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26B6FF"/>
                </a:solidFill>
                <a:latin typeface="Microsoft YaHei"/>
              </a:rPr>
              <a:t>结果</a:t>
            </a:r>
          </a:p>
        </p:txBody>
      </p:sp>
      <p:sp>
        <p:nvSpPr>
          <p:cNvPr id="28" name="Rectangle 27"/>
          <p:cNvSpPr/>
          <p:nvPr/>
        </p:nvSpPr>
        <p:spPr>
          <a:xfrm>
            <a:off x="1874519" y="4636008"/>
            <a:ext cx="70408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10" b="1">
                <a:solidFill>
                  <a:srgbClr val="FFFFFF"/>
                </a:solidFill>
                <a:latin typeface="Microsoft YaHei"/>
              </a:rPr>
              <a:t>规则路由主准确率 78.76%，结构化语义路由提升至 87.61%；主要收益来自候选内主任务比较能力。</a:t>
            </a:r>
          </a:p>
        </p:txBody>
      </p:sp>
      <p:sp>
        <p:nvSpPr>
          <p:cNvPr id="29" name="Rectangle 28"/>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1" name="Rectangle 30"/>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07</a:t>
            </a:r>
          </a:p>
        </p:txBody>
      </p:sp>
      <p:sp>
        <p:nvSpPr>
          <p:cNvPr id="32" name="Rectangle 31"/>
          <p:cNvSpPr/>
          <p:nvPr/>
        </p:nvSpPr>
        <p:spPr>
          <a:xfrm>
            <a:off x="10991088" y="6437376"/>
            <a:ext cx="694944" cy="256032"/>
          </a:xfrm>
          <a:prstGeom prst="rect">
            <a:avLst/>
          </a:prstGeom>
          <a:solidFill>
            <a:srgbClr val="EDF6FF"/>
          </a:solidFill>
          <a:ln w="11430">
            <a:solidFill>
              <a:srgbClr val="EDF6FF"/>
            </a:solid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 b="0">
                <a:solidFill>
                  <a:srgbClr val="102033"/>
                </a:solidFill>
                <a:latin typeface="Microsoft YaHei"/>
              </a:rPr>
              <a:t/>
            </a:r>
          </a:p>
        </p:txBody>
      </p:sp>
      <p:sp>
        <p:nvSpPr>
          <p:cNvPr id="33" name="Rectangle 32"/>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08</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关键技术三：职责化多智能体复核把“讨论”变成受控改判</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协作触发和最终改判分开；只有满足票数、证据强度、共识增益和风险确认条件才允许改判。</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86384" y="1261872"/>
            <a:ext cx="3154680" cy="786384"/>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87552" y="1444751"/>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60" b="1">
                <a:solidFill>
                  <a:srgbClr val="0B63CE"/>
                </a:solidFill>
                <a:latin typeface="Microsoft YaHei"/>
              </a:rPr>
              <a:t>任务匹配</a:t>
            </a:r>
          </a:p>
        </p:txBody>
      </p:sp>
      <p:sp>
        <p:nvSpPr>
          <p:cNvPr id="12" name="Rectangle 11"/>
          <p:cNvSpPr/>
          <p:nvPr/>
        </p:nvSpPr>
        <p:spPr>
          <a:xfrm>
            <a:off x="1993392" y="1444751"/>
            <a:ext cx="157276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0">
                <a:solidFill>
                  <a:srgbClr val="53657A"/>
                </a:solidFill>
                <a:latin typeface="Microsoft YaHei"/>
              </a:rPr>
              <a:t>谁最能承接主任务</a:t>
            </a:r>
          </a:p>
        </p:txBody>
      </p:sp>
      <p:sp>
        <p:nvSpPr>
          <p:cNvPr id="13" name="Rounded Rectangle 12"/>
          <p:cNvSpPr/>
          <p:nvPr/>
        </p:nvSpPr>
        <p:spPr>
          <a:xfrm>
            <a:off x="4535424" y="1261872"/>
            <a:ext cx="3154680" cy="786384"/>
          </a:xfrm>
          <a:prstGeom prst="roundRect">
            <a:avLst/>
          </a:prstGeom>
          <a:solidFill>
            <a:srgbClr val="FFFFFF"/>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36592" y="1444751"/>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60" b="1">
                <a:solidFill>
                  <a:srgbClr val="B93232"/>
                </a:solidFill>
                <a:latin typeface="Microsoft YaHei"/>
              </a:rPr>
              <a:t>治理风险</a:t>
            </a:r>
          </a:p>
        </p:txBody>
      </p:sp>
      <p:sp>
        <p:nvSpPr>
          <p:cNvPr id="15" name="Rectangle 14"/>
          <p:cNvSpPr/>
          <p:nvPr/>
        </p:nvSpPr>
        <p:spPr>
          <a:xfrm>
            <a:off x="5742432" y="1444751"/>
            <a:ext cx="157276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0">
                <a:solidFill>
                  <a:srgbClr val="53657A"/>
                </a:solidFill>
                <a:latin typeface="Microsoft YaHei"/>
              </a:rPr>
              <a:t>审查高风险、跨域、敏感改判</a:t>
            </a:r>
          </a:p>
        </p:txBody>
      </p:sp>
      <p:sp>
        <p:nvSpPr>
          <p:cNvPr id="16" name="Rounded Rectangle 15"/>
          <p:cNvSpPr/>
          <p:nvPr/>
        </p:nvSpPr>
        <p:spPr>
          <a:xfrm>
            <a:off x="786384" y="2286000"/>
            <a:ext cx="3154680" cy="786384"/>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87552" y="246888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60" b="1">
                <a:solidFill>
                  <a:srgbClr val="0E8A57"/>
                </a:solidFill>
                <a:latin typeface="Microsoft YaHei"/>
              </a:rPr>
              <a:t>层级解析</a:t>
            </a:r>
          </a:p>
        </p:txBody>
      </p:sp>
      <p:sp>
        <p:nvSpPr>
          <p:cNvPr id="18" name="Rectangle 17"/>
          <p:cNvSpPr/>
          <p:nvPr/>
        </p:nvSpPr>
        <p:spPr>
          <a:xfrm>
            <a:off x="1993392" y="2468880"/>
            <a:ext cx="157276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0">
                <a:solidFill>
                  <a:srgbClr val="53657A"/>
                </a:solidFill>
                <a:latin typeface="Microsoft YaHei"/>
              </a:rPr>
              <a:t>处理父子节点和粒度冲突</a:t>
            </a:r>
          </a:p>
        </p:txBody>
      </p:sp>
      <p:sp>
        <p:nvSpPr>
          <p:cNvPr id="19" name="Rounded Rectangle 18"/>
          <p:cNvSpPr/>
          <p:nvPr/>
        </p:nvSpPr>
        <p:spPr>
          <a:xfrm>
            <a:off x="4535424" y="2286000"/>
            <a:ext cx="3154680" cy="786384"/>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36592" y="246888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60" b="1">
                <a:solidFill>
                  <a:srgbClr val="E97132"/>
                </a:solidFill>
                <a:latin typeface="Microsoft YaHei"/>
              </a:rPr>
              <a:t>用户偏好</a:t>
            </a:r>
          </a:p>
        </p:txBody>
      </p:sp>
      <p:sp>
        <p:nvSpPr>
          <p:cNvPr id="21" name="Rectangle 20"/>
          <p:cNvSpPr/>
          <p:nvPr/>
        </p:nvSpPr>
        <p:spPr>
          <a:xfrm>
            <a:off x="5742432" y="2468880"/>
            <a:ext cx="157276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0">
                <a:solidFill>
                  <a:srgbClr val="53657A"/>
                </a:solidFill>
                <a:latin typeface="Microsoft YaHei"/>
              </a:rPr>
              <a:t>区分主次意图和辅助诉求</a:t>
            </a:r>
          </a:p>
        </p:txBody>
      </p:sp>
      <p:sp>
        <p:nvSpPr>
          <p:cNvPr id="22" name="Rounded Rectangle 21"/>
          <p:cNvSpPr/>
          <p:nvPr/>
        </p:nvSpPr>
        <p:spPr>
          <a:xfrm>
            <a:off x="8183879" y="1417320"/>
            <a:ext cx="2240280" cy="1874519"/>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58200" y="1700784"/>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FFFFFF"/>
                </a:solidFill>
                <a:latin typeface="Microsoft YaHei"/>
              </a:rPr>
              <a:t>显式授权改判</a:t>
            </a:r>
          </a:p>
        </p:txBody>
      </p:sp>
      <p:sp>
        <p:nvSpPr>
          <p:cNvPr id="24" name="Oval 23"/>
          <p:cNvSpPr/>
          <p:nvPr/>
        </p:nvSpPr>
        <p:spPr>
          <a:xfrm>
            <a:off x="8485632" y="213969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50224" y="2084831"/>
            <a:ext cx="1417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70" b="0">
                <a:solidFill>
                  <a:srgbClr val="D2E6FF"/>
                </a:solidFill>
                <a:latin typeface="Microsoft YaHei"/>
              </a:rPr>
              <a:t>≥3 票支持</a:t>
            </a:r>
          </a:p>
        </p:txBody>
      </p:sp>
      <p:sp>
        <p:nvSpPr>
          <p:cNvPr id="26" name="Oval 25"/>
          <p:cNvSpPr/>
          <p:nvPr/>
        </p:nvSpPr>
        <p:spPr>
          <a:xfrm>
            <a:off x="8485632" y="2377440"/>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50224" y="2322576"/>
            <a:ext cx="1417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70" b="0">
                <a:solidFill>
                  <a:srgbClr val="D2E6FF"/>
                </a:solidFill>
                <a:latin typeface="Microsoft YaHei"/>
              </a:rPr>
              <a:t>共识分数增益 ≥0.08</a:t>
            </a:r>
          </a:p>
        </p:txBody>
      </p:sp>
      <p:sp>
        <p:nvSpPr>
          <p:cNvPr id="28" name="Oval 27"/>
          <p:cNvSpPr/>
          <p:nvPr/>
        </p:nvSpPr>
        <p:spPr>
          <a:xfrm>
            <a:off x="8485632" y="2615184"/>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50224" y="2560320"/>
            <a:ext cx="1417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70" b="0">
                <a:solidFill>
                  <a:srgbClr val="D2E6FF"/>
                </a:solidFill>
                <a:latin typeface="Microsoft YaHei"/>
              </a:rPr>
              <a:t>显式主任务证据 ≥0.55</a:t>
            </a:r>
          </a:p>
        </p:txBody>
      </p:sp>
      <p:sp>
        <p:nvSpPr>
          <p:cNvPr id="30" name="Oval 29"/>
          <p:cNvSpPr/>
          <p:nvPr/>
        </p:nvSpPr>
        <p:spPr>
          <a:xfrm>
            <a:off x="8485632" y="2852927"/>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650224" y="2798063"/>
            <a:ext cx="1417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70" b="0">
                <a:solidFill>
                  <a:srgbClr val="D2E6FF"/>
                </a:solidFill>
                <a:latin typeface="Microsoft YaHei"/>
              </a:rPr>
              <a:t>高风险/跨域需额外确认</a:t>
            </a:r>
          </a:p>
        </p:txBody>
      </p:sp>
      <p:pic>
        <p:nvPicPr>
          <p:cNvPr id="32" name="Picture 31" descr="fig2_review_flow.png"/>
          <p:cNvPicPr>
            <a:picLocks noChangeAspect="1"/>
          </p:cNvPicPr>
          <p:nvPr/>
        </p:nvPicPr>
        <p:blipFill>
          <a:blip r:embed="rId3"/>
          <a:stretch>
            <a:fillRect/>
          </a:stretch>
        </p:blipFill>
        <p:spPr>
          <a:xfrm>
            <a:off x="914400" y="3886200"/>
            <a:ext cx="9646920" cy="1444752"/>
          </a:xfrm>
          <a:prstGeom prst="rect">
            <a:avLst/>
          </a:prstGeom>
        </p:spPr>
      </p:pic>
      <p:sp>
        <p:nvSpPr>
          <p:cNvPr id="33" name="Rectangle 3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5" name="Rectangle 3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08</a:t>
            </a:r>
          </a:p>
        </p:txBody>
      </p:sp>
      <p:sp>
        <p:nvSpPr>
          <p:cNvPr id="36" name="Rectangle 35"/>
          <p:cNvSpPr/>
          <p:nvPr/>
        </p:nvSpPr>
        <p:spPr>
          <a:xfrm>
            <a:off x="10991088" y="6437376"/>
            <a:ext cx="694944" cy="256032"/>
          </a:xfrm>
          <a:prstGeom prst="rect">
            <a:avLst/>
          </a:prstGeom>
          <a:solidFill>
            <a:srgbClr val="EDF6FF"/>
          </a:solidFill>
          <a:ln w="11430">
            <a:solidFill>
              <a:srgbClr val="EDF6FF"/>
            </a:solid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 b="0">
                <a:solidFill>
                  <a:srgbClr val="102033"/>
                </a:solidFill>
                <a:latin typeface="Microsoft YaHei"/>
              </a:rPr>
              <a:t/>
            </a:r>
          </a:p>
        </p:txBody>
      </p:sp>
      <p:sp>
        <p:nvSpPr>
          <p:cNvPr id="37" name="Rectangle 36"/>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09</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关键技术四：可信认知标识落到过程记录对象</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可信不是空泛概念，而是可记录、可回放、可解释、可核验。</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58368" y="1234440"/>
            <a:ext cx="2057400" cy="658368"/>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 y="1399032"/>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输入请求</a:t>
            </a:r>
          </a:p>
        </p:txBody>
      </p:sp>
      <p:sp>
        <p:nvSpPr>
          <p:cNvPr id="12" name="Rectangle 11"/>
          <p:cNvSpPr/>
          <p:nvPr/>
        </p:nvSpPr>
        <p:spPr>
          <a:xfrm>
            <a:off x="1664208" y="1417320"/>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query</a:t>
            </a:r>
          </a:p>
        </p:txBody>
      </p:sp>
      <p:sp>
        <p:nvSpPr>
          <p:cNvPr id="13" name="Rounded Rectangle 12"/>
          <p:cNvSpPr/>
          <p:nvPr/>
        </p:nvSpPr>
        <p:spPr>
          <a:xfrm>
            <a:off x="3355848" y="1234440"/>
            <a:ext cx="2057400" cy="658368"/>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2152" y="1399032"/>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候选集合</a:t>
            </a:r>
          </a:p>
        </p:txBody>
      </p:sp>
      <p:sp>
        <p:nvSpPr>
          <p:cNvPr id="15" name="Rectangle 14"/>
          <p:cNvSpPr/>
          <p:nvPr/>
        </p:nvSpPr>
        <p:spPr>
          <a:xfrm>
            <a:off x="4361688" y="1417320"/>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C(x)</a:t>
            </a:r>
          </a:p>
        </p:txBody>
      </p:sp>
      <p:sp>
        <p:nvSpPr>
          <p:cNvPr id="16" name="Rounded Rectangle 15"/>
          <p:cNvSpPr/>
          <p:nvPr/>
        </p:nvSpPr>
        <p:spPr>
          <a:xfrm>
            <a:off x="6053328" y="1234440"/>
            <a:ext cx="2057400" cy="658368"/>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399032"/>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规则初判</a:t>
            </a:r>
          </a:p>
        </p:txBody>
      </p:sp>
      <p:sp>
        <p:nvSpPr>
          <p:cNvPr id="18" name="Rectangle 17"/>
          <p:cNvSpPr/>
          <p:nvPr/>
        </p:nvSpPr>
        <p:spPr>
          <a:xfrm>
            <a:off x="7059168" y="1417320"/>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rule score</a:t>
            </a:r>
          </a:p>
        </p:txBody>
      </p:sp>
      <p:sp>
        <p:nvSpPr>
          <p:cNvPr id="19" name="Rounded Rectangle 18"/>
          <p:cNvSpPr/>
          <p:nvPr/>
        </p:nvSpPr>
        <p:spPr>
          <a:xfrm>
            <a:off x="8750808" y="1234440"/>
            <a:ext cx="2057400" cy="658368"/>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97112" y="1399032"/>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结构化裁决</a:t>
            </a:r>
          </a:p>
        </p:txBody>
      </p:sp>
      <p:sp>
        <p:nvSpPr>
          <p:cNvPr id="21" name="Rectangle 20"/>
          <p:cNvSpPr/>
          <p:nvPr/>
        </p:nvSpPr>
        <p:spPr>
          <a:xfrm>
            <a:off x="9756648" y="1417320"/>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decision packet</a:t>
            </a:r>
          </a:p>
        </p:txBody>
      </p:sp>
      <p:sp>
        <p:nvSpPr>
          <p:cNvPr id="22" name="Rounded Rectangle 21"/>
          <p:cNvSpPr/>
          <p:nvPr/>
        </p:nvSpPr>
        <p:spPr>
          <a:xfrm>
            <a:off x="658368" y="2221992"/>
            <a:ext cx="2057400" cy="658368"/>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 y="2386584"/>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角色提案</a:t>
            </a:r>
          </a:p>
        </p:txBody>
      </p:sp>
      <p:sp>
        <p:nvSpPr>
          <p:cNvPr id="24" name="Rectangle 23"/>
          <p:cNvSpPr/>
          <p:nvPr/>
        </p:nvSpPr>
        <p:spPr>
          <a:xfrm>
            <a:off x="1664208" y="2404872"/>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agent votes</a:t>
            </a:r>
          </a:p>
        </p:txBody>
      </p:sp>
      <p:sp>
        <p:nvSpPr>
          <p:cNvPr id="25" name="Rounded Rectangle 24"/>
          <p:cNvSpPr/>
          <p:nvPr/>
        </p:nvSpPr>
        <p:spPr>
          <a:xfrm>
            <a:off x="3355848" y="2221992"/>
            <a:ext cx="2057400" cy="658368"/>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502152" y="2386584"/>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授权判断</a:t>
            </a:r>
          </a:p>
        </p:txBody>
      </p:sp>
      <p:sp>
        <p:nvSpPr>
          <p:cNvPr id="27" name="Rectangle 26"/>
          <p:cNvSpPr/>
          <p:nvPr/>
        </p:nvSpPr>
        <p:spPr>
          <a:xfrm>
            <a:off x="4361688" y="2404872"/>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trust gate</a:t>
            </a:r>
          </a:p>
        </p:txBody>
      </p:sp>
      <p:sp>
        <p:nvSpPr>
          <p:cNvPr id="28" name="Rounded Rectangle 27"/>
          <p:cNvSpPr/>
          <p:nvPr/>
        </p:nvSpPr>
        <p:spPr>
          <a:xfrm>
            <a:off x="6053328" y="2221992"/>
            <a:ext cx="2057400" cy="658368"/>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99632" y="2386584"/>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最终能力地址</a:t>
            </a:r>
          </a:p>
        </p:txBody>
      </p:sp>
      <p:sp>
        <p:nvSpPr>
          <p:cNvPr id="30" name="Rectangle 29"/>
          <p:cNvSpPr/>
          <p:nvPr/>
        </p:nvSpPr>
        <p:spPr>
          <a:xfrm>
            <a:off x="7059168" y="2404872"/>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ability addr</a:t>
            </a:r>
          </a:p>
        </p:txBody>
      </p:sp>
      <p:sp>
        <p:nvSpPr>
          <p:cNvPr id="31" name="Rounded Rectangle 30"/>
          <p:cNvSpPr/>
          <p:nvPr/>
        </p:nvSpPr>
        <p:spPr>
          <a:xfrm>
            <a:off x="8750808" y="2221992"/>
            <a:ext cx="2057400" cy="658368"/>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97112" y="2386584"/>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实例映射</a:t>
            </a:r>
          </a:p>
        </p:txBody>
      </p:sp>
      <p:sp>
        <p:nvSpPr>
          <p:cNvPr id="33" name="Rectangle 32"/>
          <p:cNvSpPr/>
          <p:nvPr/>
        </p:nvSpPr>
        <p:spPr>
          <a:xfrm>
            <a:off x="9756648" y="2404872"/>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agent endpoint</a:t>
            </a:r>
          </a:p>
        </p:txBody>
      </p:sp>
      <p:sp>
        <p:nvSpPr>
          <p:cNvPr id="34" name="Rounded Rectangle 33"/>
          <p:cNvSpPr/>
          <p:nvPr/>
        </p:nvSpPr>
        <p:spPr>
          <a:xfrm>
            <a:off x="841248" y="3822191"/>
            <a:ext cx="9875520" cy="96012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15568" y="4133087"/>
            <a:ext cx="10972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26B6FF"/>
                </a:solidFill>
                <a:latin typeface="Microsoft YaHei"/>
              </a:rPr>
              <a:t>复盘能力</a:t>
            </a:r>
          </a:p>
        </p:txBody>
      </p:sp>
      <p:sp>
        <p:nvSpPr>
          <p:cNvPr id="36" name="Rectangle 35"/>
          <p:cNvSpPr/>
          <p:nvPr/>
        </p:nvSpPr>
        <p:spPr>
          <a:xfrm>
            <a:off x="2304288" y="4114800"/>
            <a:ext cx="73609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40" b="1">
                <a:solidFill>
                  <a:srgbClr val="FFFFFF"/>
                </a:solidFill>
                <a:latin typeface="Microsoft YaHei"/>
              </a:rPr>
              <a:t>每条请求可还原：候选集合如何形成、初判为何选择、协作角色提出哪些支持或阻止信号、控制器为何允许或拒绝改判。</a:t>
            </a:r>
          </a:p>
        </p:txBody>
      </p:sp>
      <p:sp>
        <p:nvSpPr>
          <p:cNvPr id="37" name="Rectangle 36"/>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9" name="Rectangle 38"/>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09</a:t>
            </a:r>
          </a:p>
        </p:txBody>
      </p:sp>
      <p:sp>
        <p:nvSpPr>
          <p:cNvPr id="40" name="Rectangle 39"/>
          <p:cNvSpPr/>
          <p:nvPr/>
        </p:nvSpPr>
        <p:spPr>
          <a:xfrm>
            <a:off x="10991088" y="6437376"/>
            <a:ext cx="694944" cy="256032"/>
          </a:xfrm>
          <a:prstGeom prst="rect">
            <a:avLst/>
          </a:prstGeom>
          <a:solidFill>
            <a:srgbClr val="EDF6FF"/>
          </a:solidFill>
          <a:ln w="11430">
            <a:solidFill>
              <a:srgbClr val="EDF6FF"/>
            </a:solid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 b="0">
                <a:solidFill>
                  <a:srgbClr val="102033"/>
                </a:solidFill>
                <a:latin typeface="Microsoft YaHei"/>
              </a:rPr>
              <a:t/>
            </a:r>
          </a:p>
        </p:txBody>
      </p:sp>
      <p:sp>
        <p:nvSpPr>
          <p:cNvPr id="41" name="Rectangle 40"/>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10</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实验设计与数据资产：冻结协议支撑项目验收与论文复现</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评委需要看到不是演示几个样例，而是有稳定样本、固定配置和可复现实验口径。</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822960" y="1389888"/>
            <a:ext cx="1600200" cy="82296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32688" y="1572768"/>
            <a:ext cx="13258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100" b="1">
                <a:solidFill>
                  <a:srgbClr val="0B63CE"/>
                </a:solidFill>
                <a:latin typeface="Arial"/>
              </a:rPr>
              <a:t>563</a:t>
            </a:r>
          </a:p>
        </p:txBody>
      </p:sp>
      <p:sp>
        <p:nvSpPr>
          <p:cNvPr id="12" name="Rectangle 11"/>
          <p:cNvSpPr/>
          <p:nvPr/>
        </p:nvSpPr>
        <p:spPr>
          <a:xfrm>
            <a:off x="932688" y="1920240"/>
            <a:ext cx="132588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40" b="0">
                <a:solidFill>
                  <a:srgbClr val="53657A"/>
                </a:solidFill>
                <a:latin typeface="Microsoft YaHei"/>
              </a:rPr>
              <a:t>样本总量</a:t>
            </a:r>
          </a:p>
        </p:txBody>
      </p:sp>
      <p:sp>
        <p:nvSpPr>
          <p:cNvPr id="13" name="Rounded Rectangle 12"/>
          <p:cNvSpPr/>
          <p:nvPr/>
        </p:nvSpPr>
        <p:spPr>
          <a:xfrm>
            <a:off x="2926079" y="1389888"/>
            <a:ext cx="1600200" cy="82296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35808" y="1572768"/>
            <a:ext cx="13258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100" b="1">
                <a:solidFill>
                  <a:srgbClr val="0E8A57"/>
                </a:solidFill>
                <a:latin typeface="Arial"/>
              </a:rPr>
              <a:t>450</a:t>
            </a:r>
          </a:p>
        </p:txBody>
      </p:sp>
      <p:sp>
        <p:nvSpPr>
          <p:cNvPr id="15" name="Rectangle 14"/>
          <p:cNvSpPr/>
          <p:nvPr/>
        </p:nvSpPr>
        <p:spPr>
          <a:xfrm>
            <a:off x="3035808" y="1920240"/>
            <a:ext cx="132588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40" b="0">
                <a:solidFill>
                  <a:srgbClr val="53657A"/>
                </a:solidFill>
                <a:latin typeface="Microsoft YaHei"/>
              </a:rPr>
              <a:t>train</a:t>
            </a:r>
          </a:p>
        </p:txBody>
      </p:sp>
      <p:sp>
        <p:nvSpPr>
          <p:cNvPr id="16" name="Rounded Rectangle 15"/>
          <p:cNvSpPr/>
          <p:nvPr/>
        </p:nvSpPr>
        <p:spPr>
          <a:xfrm>
            <a:off x="5029200" y="1389888"/>
            <a:ext cx="1600200" cy="82296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38928" y="1572768"/>
            <a:ext cx="13258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100" b="1">
                <a:solidFill>
                  <a:srgbClr val="E97132"/>
                </a:solidFill>
                <a:latin typeface="Arial"/>
              </a:rPr>
              <a:t>113</a:t>
            </a:r>
          </a:p>
        </p:txBody>
      </p:sp>
      <p:sp>
        <p:nvSpPr>
          <p:cNvPr id="18" name="Rectangle 17"/>
          <p:cNvSpPr/>
          <p:nvPr/>
        </p:nvSpPr>
        <p:spPr>
          <a:xfrm>
            <a:off x="5138928" y="1920240"/>
            <a:ext cx="132588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40" b="0">
                <a:solidFill>
                  <a:srgbClr val="53657A"/>
                </a:solidFill>
                <a:latin typeface="Microsoft YaHei"/>
              </a:rPr>
              <a:t>test</a:t>
            </a:r>
          </a:p>
        </p:txBody>
      </p:sp>
      <p:sp>
        <p:nvSpPr>
          <p:cNvPr id="19" name="Rounded Rectangle 18"/>
          <p:cNvSpPr/>
          <p:nvPr/>
        </p:nvSpPr>
        <p:spPr>
          <a:xfrm>
            <a:off x="7132320" y="1389888"/>
            <a:ext cx="1600200" cy="822960"/>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42048" y="1572768"/>
            <a:ext cx="13258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100" b="1">
                <a:solidFill>
                  <a:srgbClr val="6B49C8"/>
                </a:solidFill>
                <a:latin typeface="Arial"/>
              </a:rPr>
              <a:t>97.35%</a:t>
            </a:r>
          </a:p>
        </p:txBody>
      </p:sp>
      <p:sp>
        <p:nvSpPr>
          <p:cNvPr id="21" name="Rectangle 20"/>
          <p:cNvSpPr/>
          <p:nvPr/>
        </p:nvSpPr>
        <p:spPr>
          <a:xfrm>
            <a:off x="7242048" y="1920240"/>
            <a:ext cx="132588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40" b="0">
                <a:solidFill>
                  <a:srgbClr val="53657A"/>
                </a:solidFill>
                <a:latin typeface="Microsoft YaHei"/>
              </a:rPr>
              <a:t>top-8 gold 覆盖</a:t>
            </a:r>
          </a:p>
        </p:txBody>
      </p:sp>
      <p:sp>
        <p:nvSpPr>
          <p:cNvPr id="22" name="Rounded Rectangle 21"/>
          <p:cNvSpPr/>
          <p:nvPr/>
        </p:nvSpPr>
        <p:spPr>
          <a:xfrm>
            <a:off x="822960" y="2788920"/>
            <a:ext cx="4526280" cy="14173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15568" y="3072384"/>
            <a:ext cx="9144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评价指标</a:t>
            </a:r>
          </a:p>
        </p:txBody>
      </p:sp>
      <p:sp>
        <p:nvSpPr>
          <p:cNvPr id="24" name="Oval 23"/>
          <p:cNvSpPr/>
          <p:nvPr/>
        </p:nvSpPr>
        <p:spPr>
          <a:xfrm>
            <a:off x="1143000" y="3493008"/>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307592" y="3438144"/>
            <a:ext cx="2926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主标签准确率</a:t>
            </a:r>
          </a:p>
        </p:txBody>
      </p:sp>
      <p:sp>
        <p:nvSpPr>
          <p:cNvPr id="26" name="Oval 25"/>
          <p:cNvSpPr/>
          <p:nvPr/>
        </p:nvSpPr>
        <p:spPr>
          <a:xfrm>
            <a:off x="1143000" y="3749039"/>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307592" y="3694176"/>
            <a:ext cx="2926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可接受准确率</a:t>
            </a:r>
          </a:p>
        </p:txBody>
      </p:sp>
      <p:sp>
        <p:nvSpPr>
          <p:cNvPr id="28" name="Oval 27"/>
          <p:cNvSpPr/>
          <p:nvPr/>
        </p:nvSpPr>
        <p:spPr>
          <a:xfrm>
            <a:off x="1143000" y="4005072"/>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07592" y="3950208"/>
            <a:ext cx="2926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相关能力召回/精确率</a:t>
            </a:r>
          </a:p>
        </p:txBody>
      </p:sp>
      <p:sp>
        <p:nvSpPr>
          <p:cNvPr id="30" name="Oval 29"/>
          <p:cNvSpPr/>
          <p:nvPr/>
        </p:nvSpPr>
        <p:spPr>
          <a:xfrm>
            <a:off x="1143000" y="4261103"/>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07592" y="4206240"/>
            <a:ext cx="2926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改判 / 纠错 / 误改</a:t>
            </a:r>
          </a:p>
        </p:txBody>
      </p:sp>
      <p:sp>
        <p:nvSpPr>
          <p:cNvPr id="32" name="Rounded Rectangle 31"/>
          <p:cNvSpPr/>
          <p:nvPr/>
        </p:nvSpPr>
        <p:spPr>
          <a:xfrm>
            <a:off x="5742432" y="2788920"/>
            <a:ext cx="4526280" cy="14173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35040" y="3072384"/>
            <a:ext cx="9144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E97132"/>
                </a:solidFill>
                <a:latin typeface="Microsoft YaHei"/>
              </a:rPr>
              <a:t>困难样本</a:t>
            </a:r>
          </a:p>
        </p:txBody>
      </p:sp>
      <p:sp>
        <p:nvSpPr>
          <p:cNvPr id="34" name="Oval 33"/>
          <p:cNvSpPr/>
          <p:nvPr/>
        </p:nvSpPr>
        <p:spPr>
          <a:xfrm>
            <a:off x="6062472" y="3511296"/>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27064" y="3456432"/>
            <a:ext cx="1188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层级竞争</a:t>
            </a:r>
          </a:p>
        </p:txBody>
      </p:sp>
      <p:sp>
        <p:nvSpPr>
          <p:cNvPr id="36" name="Oval 35"/>
          <p:cNvSpPr/>
          <p:nvPr/>
        </p:nvSpPr>
        <p:spPr>
          <a:xfrm>
            <a:off x="7662671" y="3511296"/>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827263" y="3456432"/>
            <a:ext cx="1188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跨域重叠</a:t>
            </a:r>
          </a:p>
        </p:txBody>
      </p:sp>
      <p:sp>
        <p:nvSpPr>
          <p:cNvPr id="38" name="Oval 37"/>
          <p:cNvSpPr/>
          <p:nvPr/>
        </p:nvSpPr>
        <p:spPr>
          <a:xfrm>
            <a:off x="6062472" y="3803903"/>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27064" y="3749039"/>
            <a:ext cx="1188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主次意图拆分</a:t>
            </a:r>
          </a:p>
        </p:txBody>
      </p:sp>
      <p:sp>
        <p:nvSpPr>
          <p:cNvPr id="40" name="Oval 39"/>
          <p:cNvSpPr/>
          <p:nvPr/>
        </p:nvSpPr>
        <p:spPr>
          <a:xfrm>
            <a:off x="7662671" y="3803903"/>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827263" y="3749039"/>
            <a:ext cx="1188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高风险治理</a:t>
            </a:r>
          </a:p>
        </p:txBody>
      </p:sp>
      <p:sp>
        <p:nvSpPr>
          <p:cNvPr id="42" name="Rectangle 4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4" name="Rectangle 4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10</a:t>
            </a:r>
          </a:p>
        </p:txBody>
      </p:sp>
      <p:sp>
        <p:nvSpPr>
          <p:cNvPr id="45" name="Rectangle 44"/>
          <p:cNvSpPr/>
          <p:nvPr/>
        </p:nvSpPr>
        <p:spPr>
          <a:xfrm>
            <a:off x="10991088" y="6437376"/>
            <a:ext cx="694944" cy="256032"/>
          </a:xfrm>
          <a:prstGeom prst="rect">
            <a:avLst/>
          </a:prstGeom>
          <a:solidFill>
            <a:srgbClr val="EDF6FF"/>
          </a:solidFill>
          <a:ln w="11430">
            <a:solidFill>
              <a:srgbClr val="EDF6FF"/>
            </a:solid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 b="0">
                <a:solidFill>
                  <a:srgbClr val="102033"/>
                </a:solidFill>
                <a:latin typeface="Microsoft YaHei"/>
              </a:rPr>
              <a:t/>
            </a:r>
          </a:p>
        </p:txBody>
      </p:sp>
      <p:sp>
        <p:nvSpPr>
          <p:cNvPr id="46" name="Rectangle 45"/>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11</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核心实验结果：结构化语义路由与协作复核显著提升复杂请求匹配准确率</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一页讲清 78.76% → 87.61% → 88.50% → 92.92%。</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58368" y="1115568"/>
            <a:ext cx="7223760" cy="425196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1_pooled_test_waterfall.png"/>
          <p:cNvPicPr>
            <a:picLocks noChangeAspect="1"/>
          </p:cNvPicPr>
          <p:nvPr/>
        </p:nvPicPr>
        <p:blipFill>
          <a:blip r:embed="rId3"/>
          <a:stretch>
            <a:fillRect/>
          </a:stretch>
        </p:blipFill>
        <p:spPr>
          <a:xfrm>
            <a:off x="914400" y="1389888"/>
            <a:ext cx="6656832" cy="3611880"/>
          </a:xfrm>
          <a:prstGeom prst="rect">
            <a:avLst/>
          </a:prstGeom>
        </p:spPr>
      </p:pic>
      <p:sp>
        <p:nvSpPr>
          <p:cNvPr id="12" name="Rounded Rectangle 11"/>
          <p:cNvSpPr/>
          <p:nvPr/>
        </p:nvSpPr>
        <p:spPr>
          <a:xfrm>
            <a:off x="8183879" y="1170432"/>
            <a:ext cx="2560320" cy="658368"/>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412480" y="1325880"/>
            <a:ext cx="10972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50" b="1">
                <a:solidFill>
                  <a:srgbClr val="53657A"/>
                </a:solidFill>
                <a:latin typeface="Arial"/>
              </a:rPr>
              <a:t>78.76%</a:t>
            </a:r>
          </a:p>
        </p:txBody>
      </p:sp>
      <p:sp>
        <p:nvSpPr>
          <p:cNvPr id="14" name="Rectangle 13"/>
          <p:cNvSpPr/>
          <p:nvPr/>
        </p:nvSpPr>
        <p:spPr>
          <a:xfrm>
            <a:off x="9528048" y="1353312"/>
            <a:ext cx="96012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Microsoft YaHei"/>
              </a:rPr>
              <a:t>规则路由基线</a:t>
            </a:r>
          </a:p>
        </p:txBody>
      </p:sp>
      <p:sp>
        <p:nvSpPr>
          <p:cNvPr id="15" name="Rounded Rectangle 14"/>
          <p:cNvSpPr/>
          <p:nvPr/>
        </p:nvSpPr>
        <p:spPr>
          <a:xfrm>
            <a:off x="8183879" y="2084832"/>
            <a:ext cx="2560320" cy="658368"/>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240280"/>
            <a:ext cx="10972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50" b="1">
                <a:solidFill>
                  <a:srgbClr val="0B63CE"/>
                </a:solidFill>
                <a:latin typeface="Arial"/>
              </a:rPr>
              <a:t>87.61%</a:t>
            </a:r>
          </a:p>
        </p:txBody>
      </p:sp>
      <p:sp>
        <p:nvSpPr>
          <p:cNvPr id="17" name="Rectangle 16"/>
          <p:cNvSpPr/>
          <p:nvPr/>
        </p:nvSpPr>
        <p:spPr>
          <a:xfrm>
            <a:off x="9528048" y="2267712"/>
            <a:ext cx="96012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Microsoft YaHei"/>
              </a:rPr>
              <a:t>结构化语义路由</a:t>
            </a:r>
          </a:p>
        </p:txBody>
      </p:sp>
      <p:sp>
        <p:nvSpPr>
          <p:cNvPr id="18" name="Rounded Rectangle 17"/>
          <p:cNvSpPr/>
          <p:nvPr/>
        </p:nvSpPr>
        <p:spPr>
          <a:xfrm>
            <a:off x="8183879" y="2999232"/>
            <a:ext cx="2560320" cy="658368"/>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12480" y="3154680"/>
            <a:ext cx="10972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50" b="1">
                <a:solidFill>
                  <a:srgbClr val="E97132"/>
                </a:solidFill>
                <a:latin typeface="Arial"/>
              </a:rPr>
              <a:t>88.50%</a:t>
            </a:r>
          </a:p>
        </p:txBody>
      </p:sp>
      <p:sp>
        <p:nvSpPr>
          <p:cNvPr id="20" name="Rectangle 19"/>
          <p:cNvSpPr/>
          <p:nvPr/>
        </p:nvSpPr>
        <p:spPr>
          <a:xfrm>
            <a:off x="9528048" y="3182112"/>
            <a:ext cx="96012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Microsoft YaHei"/>
              </a:rPr>
              <a:t>默认协作复核</a:t>
            </a:r>
          </a:p>
        </p:txBody>
      </p:sp>
      <p:sp>
        <p:nvSpPr>
          <p:cNvPr id="21" name="Rounded Rectangle 20"/>
          <p:cNvSpPr/>
          <p:nvPr/>
        </p:nvSpPr>
        <p:spPr>
          <a:xfrm>
            <a:off x="8183879" y="3913632"/>
            <a:ext cx="2560320" cy="658368"/>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0" y="4069080"/>
            <a:ext cx="10972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50" b="1">
                <a:solidFill>
                  <a:srgbClr val="B93232"/>
                </a:solidFill>
                <a:latin typeface="Arial"/>
              </a:rPr>
              <a:t>92.92%</a:t>
            </a:r>
          </a:p>
        </p:txBody>
      </p:sp>
      <p:sp>
        <p:nvSpPr>
          <p:cNvPr id="23" name="Rectangle 22"/>
          <p:cNvSpPr/>
          <p:nvPr/>
        </p:nvSpPr>
        <p:spPr>
          <a:xfrm>
            <a:off x="9528048" y="4096512"/>
            <a:ext cx="96012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Microsoft YaHei"/>
              </a:rPr>
              <a:t>扩展协作配置</a:t>
            </a:r>
          </a:p>
        </p:txBody>
      </p:sp>
      <p:sp>
        <p:nvSpPr>
          <p:cNvPr id="24" name="Rectangle 23"/>
          <p:cNvSpPr/>
          <p:nvPr/>
        </p:nvSpPr>
        <p:spPr>
          <a:xfrm>
            <a:off x="841248" y="5650992"/>
            <a:ext cx="93268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80" b="1">
                <a:solidFill>
                  <a:srgbClr val="102033"/>
                </a:solidFill>
                <a:latin typeface="Microsoft YaHei"/>
              </a:rPr>
              <a:t>结论：结构化语义判别提供主要增益；职责化协作复核集中处理边界冲突，扩展配置 5 次改写全部有效修正、0 次误改。</a:t>
            </a:r>
          </a:p>
        </p:txBody>
      </p:sp>
      <p:sp>
        <p:nvSpPr>
          <p:cNvPr id="25" name="Rectangle 24"/>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7" name="Rectangle 26"/>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11</a:t>
            </a:r>
          </a:p>
        </p:txBody>
      </p:sp>
      <p:sp>
        <p:nvSpPr>
          <p:cNvPr id="28" name="Rectangle 27"/>
          <p:cNvSpPr/>
          <p:nvPr/>
        </p:nvSpPr>
        <p:spPr>
          <a:xfrm>
            <a:off x="10991088" y="6437376"/>
            <a:ext cx="694944" cy="256032"/>
          </a:xfrm>
          <a:prstGeom prst="rect">
            <a:avLst/>
          </a:prstGeom>
          <a:solidFill>
            <a:srgbClr val="EDF6FF"/>
          </a:solidFill>
          <a:ln w="11430">
            <a:solidFill>
              <a:srgbClr val="EDF6FF"/>
            </a:solid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 b="0">
                <a:solidFill>
                  <a:srgbClr val="102033"/>
                </a:solidFill>
                <a:latin typeface="Microsoft YaHei"/>
              </a:rPr>
              <a:t/>
            </a:r>
          </a:p>
        </p:txBody>
      </p:sp>
      <p:sp>
        <p:nvSpPr>
          <p:cNvPr id="29" name="Rectangle 28"/>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12</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协作复核有效性：角色分工带来复杂样本受控净修正</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不重复主结果，用消融和案例证明多智能体不是堆角色。</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58368" y="1152144"/>
            <a:ext cx="5074920" cy="315468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20" y="1417320"/>
            <a:ext cx="164592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102033"/>
                </a:solidFill>
                <a:latin typeface="Microsoft YaHei"/>
              </a:rPr>
              <a:t>配对消融测试准确率</a:t>
            </a:r>
          </a:p>
        </p:txBody>
      </p:sp>
      <p:sp>
        <p:nvSpPr>
          <p:cNvPr id="12" name="Rectangle 11"/>
          <p:cNvSpPr/>
          <p:nvPr/>
        </p:nvSpPr>
        <p:spPr>
          <a:xfrm>
            <a:off x="1280160" y="3586733"/>
            <a:ext cx="493776" cy="390906"/>
          </a:xfrm>
          <a:prstGeom prst="rect">
            <a:avLst/>
          </a:prstGeom>
          <a:solidFill>
            <a:srgbClr val="0B63CE"/>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43000" y="3385565"/>
            <a:ext cx="7772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60" b="1">
                <a:solidFill>
                  <a:srgbClr val="0B63CE"/>
                </a:solidFill>
                <a:latin typeface="Arial"/>
              </a:rPr>
              <a:t>0.8625</a:t>
            </a:r>
          </a:p>
        </p:txBody>
      </p:sp>
      <p:sp>
        <p:nvSpPr>
          <p:cNvPr id="14" name="Rectangle 13"/>
          <p:cNvSpPr/>
          <p:nvPr/>
        </p:nvSpPr>
        <p:spPr>
          <a:xfrm>
            <a:off x="987551" y="4133087"/>
            <a:ext cx="10058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40" b="0">
                <a:solidFill>
                  <a:srgbClr val="53657A"/>
                </a:solidFill>
                <a:latin typeface="Microsoft YaHei"/>
              </a:rPr>
              <a:t>单角色</a:t>
            </a:r>
          </a:p>
        </p:txBody>
      </p:sp>
      <p:sp>
        <p:nvSpPr>
          <p:cNvPr id="15" name="Rectangle 14"/>
          <p:cNvSpPr/>
          <p:nvPr/>
        </p:nvSpPr>
        <p:spPr>
          <a:xfrm>
            <a:off x="2514600" y="3586733"/>
            <a:ext cx="493776" cy="390906"/>
          </a:xfrm>
          <a:prstGeom prst="rect">
            <a:avLst/>
          </a:prstGeom>
          <a:solidFill>
            <a:srgbClr val="6B49C8"/>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77440" y="3385565"/>
            <a:ext cx="7772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60" b="1">
                <a:solidFill>
                  <a:srgbClr val="6B49C8"/>
                </a:solidFill>
                <a:latin typeface="Arial"/>
              </a:rPr>
              <a:t>0.8625</a:t>
            </a:r>
          </a:p>
        </p:txBody>
      </p:sp>
      <p:sp>
        <p:nvSpPr>
          <p:cNvPr id="17" name="Rectangle 16"/>
          <p:cNvSpPr/>
          <p:nvPr/>
        </p:nvSpPr>
        <p:spPr>
          <a:xfrm>
            <a:off x="2221992" y="4133087"/>
            <a:ext cx="10058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40" b="0">
                <a:solidFill>
                  <a:srgbClr val="53657A"/>
                </a:solidFill>
                <a:latin typeface="Microsoft YaHei"/>
              </a:rPr>
              <a:t>同质复核</a:t>
            </a:r>
          </a:p>
        </p:txBody>
      </p:sp>
      <p:sp>
        <p:nvSpPr>
          <p:cNvPr id="18" name="Rectangle 17"/>
          <p:cNvSpPr/>
          <p:nvPr/>
        </p:nvSpPr>
        <p:spPr>
          <a:xfrm>
            <a:off x="3749039" y="2500883"/>
            <a:ext cx="493776" cy="1476756"/>
          </a:xfrm>
          <a:prstGeom prst="rect">
            <a:avLst/>
          </a:prstGeom>
          <a:solidFill>
            <a:srgbClr val="E97132"/>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11879" y="2299715"/>
            <a:ext cx="7772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60" b="1">
                <a:solidFill>
                  <a:srgbClr val="E97132"/>
                </a:solidFill>
                <a:latin typeface="Arial"/>
              </a:rPr>
              <a:t>0.9250</a:t>
            </a:r>
          </a:p>
        </p:txBody>
      </p:sp>
      <p:sp>
        <p:nvSpPr>
          <p:cNvPr id="20" name="Rectangle 19"/>
          <p:cNvSpPr/>
          <p:nvPr/>
        </p:nvSpPr>
        <p:spPr>
          <a:xfrm>
            <a:off x="3456432" y="4133087"/>
            <a:ext cx="10058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40" b="0">
                <a:solidFill>
                  <a:srgbClr val="53657A"/>
                </a:solidFill>
                <a:latin typeface="Microsoft YaHei"/>
              </a:rPr>
              <a:t>职责化协作</a:t>
            </a:r>
          </a:p>
        </p:txBody>
      </p:sp>
      <p:sp>
        <p:nvSpPr>
          <p:cNvPr id="21" name="Rounded Rectangle 20"/>
          <p:cNvSpPr/>
          <p:nvPr/>
        </p:nvSpPr>
        <p:spPr>
          <a:xfrm>
            <a:off x="6144768" y="1152144"/>
            <a:ext cx="4526280" cy="315468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46520" y="1417320"/>
            <a:ext cx="9144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0E8A57"/>
                </a:solidFill>
                <a:latin typeface="Microsoft YaHei"/>
              </a:rPr>
              <a:t>典型案例</a:t>
            </a:r>
          </a:p>
        </p:txBody>
      </p:sp>
      <p:sp>
        <p:nvSpPr>
          <p:cNvPr id="23" name="Rectangle 22"/>
          <p:cNvSpPr/>
          <p:nvPr/>
        </p:nvSpPr>
        <p:spPr>
          <a:xfrm>
            <a:off x="6446520" y="1783080"/>
            <a:ext cx="32461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Microsoft YaHei"/>
              </a:rPr>
              <a:t>请求语义：请把驻场培训周内容压缩成一页领导评审材料，先搭材料骨架。</a:t>
            </a:r>
          </a:p>
        </p:txBody>
      </p:sp>
      <p:sp>
        <p:nvSpPr>
          <p:cNvPr id="24" name="Rectangle 23"/>
          <p:cNvSpPr/>
          <p:nvPr/>
        </p:nvSpPr>
        <p:spPr>
          <a:xfrm>
            <a:off x="6446520" y="2395728"/>
            <a:ext cx="96012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Microsoft YaHei"/>
              </a:rPr>
              <a:t>单智能体误判</a:t>
            </a:r>
          </a:p>
        </p:txBody>
      </p:sp>
      <p:sp>
        <p:nvSpPr>
          <p:cNvPr id="25" name="Rectangle 24"/>
          <p:cNvSpPr/>
          <p:nvPr/>
        </p:nvSpPr>
        <p:spPr>
          <a:xfrm>
            <a:off x="7388352" y="2377440"/>
            <a:ext cx="137160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B93232"/>
                </a:solidFill>
                <a:latin typeface="Arial"/>
              </a:rPr>
              <a:t>course.education.cn</a:t>
            </a:r>
          </a:p>
        </p:txBody>
      </p:sp>
      <p:sp>
        <p:nvSpPr>
          <p:cNvPr id="26" name="Rectangle 25"/>
          <p:cNvSpPr/>
          <p:nvPr/>
        </p:nvSpPr>
        <p:spPr>
          <a:xfrm>
            <a:off x="6446520" y="2761488"/>
            <a:ext cx="749808"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Microsoft YaHei"/>
              </a:rPr>
              <a:t>协作修正</a:t>
            </a:r>
          </a:p>
        </p:txBody>
      </p:sp>
      <p:sp>
        <p:nvSpPr>
          <p:cNvPr id="27" name="Rectangle 26"/>
          <p:cNvSpPr/>
          <p:nvPr/>
        </p:nvSpPr>
        <p:spPr>
          <a:xfrm>
            <a:off x="7388352" y="2743200"/>
            <a:ext cx="137160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0E8A57"/>
                </a:solidFill>
                <a:latin typeface="Arial"/>
              </a:rPr>
              <a:t>docs.productivity.cn</a:t>
            </a:r>
          </a:p>
        </p:txBody>
      </p:sp>
      <p:sp>
        <p:nvSpPr>
          <p:cNvPr id="28" name="Rectangle 27"/>
          <p:cNvSpPr/>
          <p:nvPr/>
        </p:nvSpPr>
        <p:spPr>
          <a:xfrm>
            <a:off x="6446520" y="3182112"/>
            <a:ext cx="327355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0">
                <a:solidFill>
                  <a:srgbClr val="53657A"/>
                </a:solidFill>
                <a:latin typeface="Microsoft YaHei"/>
              </a:rPr>
              <a:t>修正依据：培训是背景词，主动作是搭骨架、压材料、梳结构。</a:t>
            </a:r>
          </a:p>
        </p:txBody>
      </p:sp>
      <p:sp>
        <p:nvSpPr>
          <p:cNvPr id="29" name="Rounded Rectangle 28"/>
          <p:cNvSpPr/>
          <p:nvPr/>
        </p:nvSpPr>
        <p:spPr>
          <a:xfrm>
            <a:off x="914400" y="4800600"/>
            <a:ext cx="9509760" cy="566928"/>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70432" y="5010912"/>
            <a:ext cx="84582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80" b="1">
                <a:solidFill>
                  <a:srgbClr val="102033"/>
                </a:solidFill>
                <a:latin typeface="Microsoft YaHei"/>
              </a:rPr>
              <a:t>结论：单角色/同质复核测试侧没有超过基线；职责化协作复核提升 6.25 个百分点，测试侧改判/纠错/误改为 5/5/0。</a:t>
            </a:r>
          </a:p>
        </p:txBody>
      </p:sp>
      <p:sp>
        <p:nvSpPr>
          <p:cNvPr id="31" name="Rectangle 30"/>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3" name="Rectangle 32"/>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12</a:t>
            </a:r>
          </a:p>
        </p:txBody>
      </p:sp>
      <p:sp>
        <p:nvSpPr>
          <p:cNvPr id="34" name="Rectangle 33"/>
          <p:cNvSpPr/>
          <p:nvPr/>
        </p:nvSpPr>
        <p:spPr>
          <a:xfrm>
            <a:off x="10991088" y="6437376"/>
            <a:ext cx="694944" cy="256032"/>
          </a:xfrm>
          <a:prstGeom prst="rect">
            <a:avLst/>
          </a:prstGeom>
          <a:solidFill>
            <a:srgbClr val="EDF6FF"/>
          </a:solidFill>
          <a:ln w="11430">
            <a:solidFill>
              <a:srgbClr val="EDF6FF"/>
            </a:solid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 b="0">
                <a:solidFill>
                  <a:srgbClr val="102033"/>
                </a:solidFill>
                <a:latin typeface="Microsoft YaHei"/>
              </a:rPr>
              <a:t/>
            </a:r>
          </a:p>
        </p:txBody>
      </p:sp>
      <p:sp>
        <p:nvSpPr>
          <p:cNvPr id="35" name="Rectangle 3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14</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典型案例：复核将“培训背景词”从主任务中剥离，完成受控纠错</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只保留一个强案例，用流程说明误判、触发、角色意见、授权门槛和最终改判。</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475488" y="1481328"/>
            <a:ext cx="1828800" cy="1408176"/>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737360"/>
            <a:ext cx="10972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60" b="1">
                <a:solidFill>
                  <a:srgbClr val="0B63CE"/>
                </a:solidFill>
                <a:latin typeface="Microsoft YaHei"/>
              </a:rPr>
              <a:t>输入请求</a:t>
            </a:r>
          </a:p>
        </p:txBody>
      </p:sp>
      <p:sp>
        <p:nvSpPr>
          <p:cNvPr id="12" name="Rectangle 11"/>
          <p:cNvSpPr/>
          <p:nvPr/>
        </p:nvSpPr>
        <p:spPr>
          <a:xfrm>
            <a:off x="621792" y="2121408"/>
            <a:ext cx="1298448"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19" b="0">
                <a:solidFill>
                  <a:srgbClr val="53657A"/>
                </a:solidFill>
                <a:latin typeface="Microsoft YaHei"/>
              </a:rPr>
              <a:t>请把驻场培训周内容压缩成一页领导评审材料，先搭材料骨架。</a:t>
            </a:r>
          </a:p>
        </p:txBody>
      </p:sp>
      <p:sp>
        <p:nvSpPr>
          <p:cNvPr id="13" name="Rectangle 12"/>
          <p:cNvSpPr/>
          <p:nvPr/>
        </p:nvSpPr>
        <p:spPr>
          <a:xfrm>
            <a:off x="2368296" y="2029968"/>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14" name="Rounded Rectangle 13"/>
          <p:cNvSpPr/>
          <p:nvPr/>
        </p:nvSpPr>
        <p:spPr>
          <a:xfrm>
            <a:off x="2715768" y="1481328"/>
            <a:ext cx="1828800" cy="1408176"/>
          </a:xfrm>
          <a:prstGeom prst="roundRect">
            <a:avLst/>
          </a:prstGeom>
          <a:solidFill>
            <a:srgbClr val="FFFFFF"/>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80360" y="1737360"/>
            <a:ext cx="10972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60" b="1">
                <a:solidFill>
                  <a:srgbClr val="B93232"/>
                </a:solidFill>
                <a:latin typeface="Microsoft YaHei"/>
              </a:rPr>
              <a:t>单智能体误判</a:t>
            </a:r>
          </a:p>
        </p:txBody>
      </p:sp>
      <p:sp>
        <p:nvSpPr>
          <p:cNvPr id="16" name="Rectangle 15"/>
          <p:cNvSpPr/>
          <p:nvPr/>
        </p:nvSpPr>
        <p:spPr>
          <a:xfrm>
            <a:off x="2862072" y="2121408"/>
            <a:ext cx="1298448"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19" b="0">
                <a:solidFill>
                  <a:srgbClr val="53657A"/>
                </a:solidFill>
                <a:latin typeface="Microsoft YaHei"/>
              </a:rPr>
              <a:t>course.education.cn
把“培训周”误当主任务</a:t>
            </a:r>
          </a:p>
        </p:txBody>
      </p:sp>
      <p:sp>
        <p:nvSpPr>
          <p:cNvPr id="17" name="Rectangle 16"/>
          <p:cNvSpPr/>
          <p:nvPr/>
        </p:nvSpPr>
        <p:spPr>
          <a:xfrm>
            <a:off x="4608576" y="2029968"/>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18" name="Rounded Rectangle 17"/>
          <p:cNvSpPr/>
          <p:nvPr/>
        </p:nvSpPr>
        <p:spPr>
          <a:xfrm>
            <a:off x="4956048" y="1481328"/>
            <a:ext cx="1828800" cy="1408176"/>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20640" y="1737360"/>
            <a:ext cx="10972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60" b="1">
                <a:solidFill>
                  <a:srgbClr val="E97132"/>
                </a:solidFill>
                <a:latin typeface="Microsoft YaHei"/>
              </a:rPr>
              <a:t>触发复核</a:t>
            </a:r>
          </a:p>
        </p:txBody>
      </p:sp>
      <p:sp>
        <p:nvSpPr>
          <p:cNvPr id="20" name="Rectangle 19"/>
          <p:cNvSpPr/>
          <p:nvPr/>
        </p:nvSpPr>
        <p:spPr>
          <a:xfrm>
            <a:off x="5102352" y="2121408"/>
            <a:ext cx="1298448"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19" b="0">
                <a:solidFill>
                  <a:srgbClr val="53657A"/>
                </a:solidFill>
                <a:latin typeface="Microsoft YaHei"/>
              </a:rPr>
              <a:t>低置信 + 主动作冲突
进入职责化复核</a:t>
            </a:r>
          </a:p>
        </p:txBody>
      </p:sp>
      <p:sp>
        <p:nvSpPr>
          <p:cNvPr id="21" name="Rectangle 20"/>
          <p:cNvSpPr/>
          <p:nvPr/>
        </p:nvSpPr>
        <p:spPr>
          <a:xfrm>
            <a:off x="6848856" y="2029968"/>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22" name="Rounded Rectangle 21"/>
          <p:cNvSpPr/>
          <p:nvPr/>
        </p:nvSpPr>
        <p:spPr>
          <a:xfrm>
            <a:off x="7196328" y="1481328"/>
            <a:ext cx="1828800" cy="1408176"/>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60920" y="1737360"/>
            <a:ext cx="10972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60" b="1">
                <a:solidFill>
                  <a:srgbClr val="6B49C8"/>
                </a:solidFill>
                <a:latin typeface="Microsoft YaHei"/>
              </a:rPr>
              <a:t>四角色意见</a:t>
            </a:r>
          </a:p>
        </p:txBody>
      </p:sp>
      <p:sp>
        <p:nvSpPr>
          <p:cNvPr id="24" name="Rectangle 23"/>
          <p:cNvSpPr/>
          <p:nvPr/>
        </p:nvSpPr>
        <p:spPr>
          <a:xfrm>
            <a:off x="7342632" y="2121408"/>
            <a:ext cx="1298448"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19" b="0">
                <a:solidFill>
                  <a:srgbClr val="53657A"/>
                </a:solidFill>
                <a:latin typeface="Microsoft YaHei"/>
              </a:rPr>
              <a:t>任务匹配/层级解析支持文档处理
风险角色未发现阻断项</a:t>
            </a:r>
          </a:p>
        </p:txBody>
      </p:sp>
      <p:sp>
        <p:nvSpPr>
          <p:cNvPr id="25" name="Rectangle 24"/>
          <p:cNvSpPr/>
          <p:nvPr/>
        </p:nvSpPr>
        <p:spPr>
          <a:xfrm>
            <a:off x="9089136" y="2029968"/>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26" name="Rounded Rectangle 25"/>
          <p:cNvSpPr/>
          <p:nvPr/>
        </p:nvSpPr>
        <p:spPr>
          <a:xfrm>
            <a:off x="9436608" y="1481328"/>
            <a:ext cx="1828800" cy="1408176"/>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01200" y="1737360"/>
            <a:ext cx="10972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60" b="1">
                <a:solidFill>
                  <a:srgbClr val="0E8A57"/>
                </a:solidFill>
                <a:latin typeface="Microsoft YaHei"/>
              </a:rPr>
              <a:t>授权改判</a:t>
            </a:r>
          </a:p>
        </p:txBody>
      </p:sp>
      <p:sp>
        <p:nvSpPr>
          <p:cNvPr id="28" name="Rectangle 27"/>
          <p:cNvSpPr/>
          <p:nvPr/>
        </p:nvSpPr>
        <p:spPr>
          <a:xfrm>
            <a:off x="9582912" y="2121408"/>
            <a:ext cx="1298448"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19" b="0">
                <a:solidFill>
                  <a:srgbClr val="53657A"/>
                </a:solidFill>
                <a:latin typeface="Microsoft YaHei"/>
              </a:rPr>
              <a:t>满足票数、证据强度和共识增益
改为 docs.productivity.cn</a:t>
            </a:r>
          </a:p>
        </p:txBody>
      </p:sp>
      <p:sp>
        <p:nvSpPr>
          <p:cNvPr id="29" name="Rounded Rectangle 28"/>
          <p:cNvSpPr/>
          <p:nvPr/>
        </p:nvSpPr>
        <p:spPr>
          <a:xfrm>
            <a:off x="868680" y="3977639"/>
            <a:ext cx="9966960" cy="841248"/>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43000" y="4261104"/>
            <a:ext cx="914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0B63CE"/>
                </a:solidFill>
                <a:latin typeface="Microsoft YaHei"/>
              </a:rPr>
              <a:t>技术含义</a:t>
            </a:r>
          </a:p>
        </p:txBody>
      </p:sp>
      <p:sp>
        <p:nvSpPr>
          <p:cNvPr id="31" name="Rectangle 30"/>
          <p:cNvSpPr/>
          <p:nvPr/>
        </p:nvSpPr>
        <p:spPr>
          <a:xfrm>
            <a:off x="2148840" y="4224528"/>
            <a:ext cx="76809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40" b="1">
                <a:solidFill>
                  <a:srgbClr val="102033"/>
                </a:solidFill>
                <a:latin typeface="Microsoft YaHei"/>
              </a:rPr>
              <a:t>协作不是增加口径，而是拆分背景词、主动作、材料产出证据和候选竞争关系，再用授权门槛控制改判风险。</a:t>
            </a:r>
          </a:p>
        </p:txBody>
      </p:sp>
      <p:sp>
        <p:nvSpPr>
          <p:cNvPr id="32" name="Rectangle 31"/>
          <p:cNvSpPr/>
          <p:nvPr/>
        </p:nvSpPr>
        <p:spPr>
          <a:xfrm>
            <a:off x="1005840" y="5285232"/>
            <a:ext cx="22860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60" b="1">
                <a:solidFill>
                  <a:srgbClr val="0E8A57"/>
                </a:solidFill>
                <a:latin typeface="Microsoft YaHei"/>
              </a:rPr>
              <a:t>测试侧改判/纠错/误改：5/5/0</a:t>
            </a:r>
          </a:p>
        </p:txBody>
      </p:sp>
      <p:sp>
        <p:nvSpPr>
          <p:cNvPr id="33" name="Rectangle 3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5" name="Rectangle 3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15</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原型系统已覆盖请求输入、候选组织、协作复核、过程记录和执行映射</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验收现场重点展示系统能跑、能看、能回放，而不是展示代码模块清单。</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pic>
        <p:nvPicPr>
          <p:cNvPr id="10" name="Picture 9" descr="agentdnsdemo_risk_flow_adjusted.png"/>
          <p:cNvPicPr>
            <a:picLocks noChangeAspect="1"/>
          </p:cNvPicPr>
          <p:nvPr/>
        </p:nvPicPr>
        <p:blipFill>
          <a:blip r:embed="rId3"/>
          <a:stretch>
            <a:fillRect/>
          </a:stretch>
        </p:blipFill>
        <p:spPr>
          <a:xfrm>
            <a:off x="621792" y="1133856"/>
            <a:ext cx="6537960" cy="3803904"/>
          </a:xfrm>
          <a:prstGeom prst="rect">
            <a:avLst/>
          </a:prstGeom>
        </p:spPr>
      </p:pic>
      <p:sp>
        <p:nvSpPr>
          <p:cNvPr id="11" name="Rounded Rectangle 10"/>
          <p:cNvSpPr/>
          <p:nvPr/>
        </p:nvSpPr>
        <p:spPr>
          <a:xfrm>
            <a:off x="7452360" y="1133856"/>
            <a:ext cx="3246120" cy="3803904"/>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54112" y="1444752"/>
            <a:ext cx="10972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演示证据</a:t>
            </a:r>
          </a:p>
        </p:txBody>
      </p:sp>
      <p:sp>
        <p:nvSpPr>
          <p:cNvPr id="13" name="Oval 12"/>
          <p:cNvSpPr/>
          <p:nvPr/>
        </p:nvSpPr>
        <p:spPr>
          <a:xfrm>
            <a:off x="7772400" y="1929384"/>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36992" y="1874519"/>
            <a:ext cx="21945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D2E6FF"/>
                </a:solidFill>
                <a:latin typeface="Microsoft YaHei"/>
              </a:rPr>
              <a:t>自然语言请求输入</a:t>
            </a:r>
          </a:p>
        </p:txBody>
      </p:sp>
      <p:sp>
        <p:nvSpPr>
          <p:cNvPr id="15" name="Oval 14"/>
          <p:cNvSpPr/>
          <p:nvPr/>
        </p:nvSpPr>
        <p:spPr>
          <a:xfrm>
            <a:off x="7772400" y="2240279"/>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36992" y="2185415"/>
            <a:ext cx="21945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D2E6FF"/>
                </a:solidFill>
                <a:latin typeface="Microsoft YaHei"/>
              </a:rPr>
              <a:t>候选能力召回与高亮</a:t>
            </a:r>
          </a:p>
        </p:txBody>
      </p:sp>
      <p:sp>
        <p:nvSpPr>
          <p:cNvPr id="17" name="Oval 16"/>
          <p:cNvSpPr/>
          <p:nvPr/>
        </p:nvSpPr>
        <p:spPr>
          <a:xfrm>
            <a:off x="7772400" y="255117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36992" y="2496312"/>
            <a:ext cx="21945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D2E6FF"/>
                </a:solidFill>
                <a:latin typeface="Microsoft YaHei"/>
              </a:rPr>
              <a:t>结构化裁决与协作复核</a:t>
            </a:r>
          </a:p>
        </p:txBody>
      </p:sp>
      <p:sp>
        <p:nvSpPr>
          <p:cNvPr id="19" name="Oval 18"/>
          <p:cNvSpPr/>
          <p:nvPr/>
        </p:nvSpPr>
        <p:spPr>
          <a:xfrm>
            <a:off x="7772400" y="2862072"/>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36992" y="2807208"/>
            <a:ext cx="21945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D2E6FF"/>
                </a:solidFill>
                <a:latin typeface="Microsoft YaHei"/>
              </a:rPr>
              <a:t>主能力/相关能力输出</a:t>
            </a:r>
          </a:p>
        </p:txBody>
      </p:sp>
      <p:sp>
        <p:nvSpPr>
          <p:cNvPr id="21" name="Oval 20"/>
          <p:cNvSpPr/>
          <p:nvPr/>
        </p:nvSpPr>
        <p:spPr>
          <a:xfrm>
            <a:off x="7772400" y="3172968"/>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36992" y="3118104"/>
            <a:ext cx="21945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D2E6FF"/>
                </a:solidFill>
                <a:latin typeface="Microsoft YaHei"/>
              </a:rPr>
              <a:t>候选 Agent 排序</a:t>
            </a:r>
          </a:p>
        </p:txBody>
      </p:sp>
      <p:sp>
        <p:nvSpPr>
          <p:cNvPr id="23" name="Oval 22"/>
          <p:cNvSpPr/>
          <p:nvPr/>
        </p:nvSpPr>
        <p:spPr>
          <a:xfrm>
            <a:off x="7772400" y="3483864"/>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36992" y="3429000"/>
            <a:ext cx="21945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D2E6FF"/>
                </a:solidFill>
                <a:latin typeface="Microsoft YaHei"/>
              </a:rPr>
              <a:t>执行状态与过程记录回放</a:t>
            </a:r>
          </a:p>
        </p:txBody>
      </p:sp>
      <p:sp>
        <p:nvSpPr>
          <p:cNvPr id="25" name="Rectangle 24"/>
          <p:cNvSpPr/>
          <p:nvPr/>
        </p:nvSpPr>
        <p:spPr>
          <a:xfrm>
            <a:off x="822960" y="5486400"/>
            <a:ext cx="89611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1">
                <a:solidFill>
                  <a:srgbClr val="102033"/>
                </a:solidFill>
                <a:latin typeface="Microsoft YaHei"/>
              </a:rPr>
              <a:t>原型价值：把方法链路固化为可演示系统，支撑专家现场核验技术路线是否真正落地。</a:t>
            </a:r>
          </a:p>
        </p:txBody>
      </p:sp>
      <p:sp>
        <p:nvSpPr>
          <p:cNvPr id="26" name="Rectangle 25"/>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8" name="Rectangle 27"/>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16</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成果产出与验收材料包：五类成果支撑项目结题</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材料表述统一为已形成、可提交、可核验；专利正式受理证明按流程补充。</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pic>
        <p:nvPicPr>
          <p:cNvPr id="10" name="Picture 9" descr="evidence_wall.png"/>
          <p:cNvPicPr>
            <a:picLocks noChangeAspect="1"/>
          </p:cNvPicPr>
          <p:nvPr/>
        </p:nvPicPr>
        <p:blipFill>
          <a:blip r:embed="rId3"/>
          <a:stretch>
            <a:fillRect/>
          </a:stretch>
        </p:blipFill>
        <p:spPr>
          <a:xfrm>
            <a:off x="621792" y="1078992"/>
            <a:ext cx="7040880" cy="3657600"/>
          </a:xfrm>
          <a:prstGeom prst="rect">
            <a:avLst/>
          </a:prstGeom>
        </p:spPr>
      </p:pic>
      <p:sp>
        <p:nvSpPr>
          <p:cNvPr id="11" name="Rounded Rectangle 10"/>
          <p:cNvSpPr/>
          <p:nvPr/>
        </p:nvSpPr>
        <p:spPr>
          <a:xfrm>
            <a:off x="7955279" y="1078992"/>
            <a:ext cx="3017520" cy="365760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47888" y="1389888"/>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0B63CE"/>
                </a:solidFill>
                <a:latin typeface="Microsoft YaHei"/>
              </a:rPr>
              <a:t>原型系统</a:t>
            </a:r>
          </a:p>
        </p:txBody>
      </p:sp>
      <p:sp>
        <p:nvSpPr>
          <p:cNvPr id="13" name="Rectangle 12"/>
          <p:cNvSpPr/>
          <p:nvPr/>
        </p:nvSpPr>
        <p:spPr>
          <a:xfrm>
            <a:off x="9189720" y="1389888"/>
            <a:ext cx="13258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70" b="0">
                <a:solidFill>
                  <a:srgbClr val="53657A"/>
                </a:solidFill>
                <a:latin typeface="Microsoft YaHei"/>
              </a:rPr>
              <a:t>能力命名与语义路由控制台</a:t>
            </a:r>
          </a:p>
        </p:txBody>
      </p:sp>
      <p:sp>
        <p:nvSpPr>
          <p:cNvPr id="14" name="Rectangle 13"/>
          <p:cNvSpPr/>
          <p:nvPr/>
        </p:nvSpPr>
        <p:spPr>
          <a:xfrm>
            <a:off x="8247888" y="1993392"/>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0E8A57"/>
                </a:solidFill>
                <a:latin typeface="Microsoft YaHei"/>
              </a:rPr>
              <a:t>报告/论文</a:t>
            </a:r>
          </a:p>
        </p:txBody>
      </p:sp>
      <p:sp>
        <p:nvSpPr>
          <p:cNvPr id="15" name="Rectangle 14"/>
          <p:cNvSpPr/>
          <p:nvPr/>
        </p:nvSpPr>
        <p:spPr>
          <a:xfrm>
            <a:off x="9189720" y="1993392"/>
            <a:ext cx="13258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70" b="0">
                <a:solidFill>
                  <a:srgbClr val="53657A"/>
                </a:solidFill>
                <a:latin typeface="Microsoft YaHei"/>
              </a:rPr>
              <a:t>技术报告、论文投稿稿</a:t>
            </a:r>
          </a:p>
        </p:txBody>
      </p:sp>
      <p:sp>
        <p:nvSpPr>
          <p:cNvPr id="16" name="Rectangle 15"/>
          <p:cNvSpPr/>
          <p:nvPr/>
        </p:nvSpPr>
        <p:spPr>
          <a:xfrm>
            <a:off x="8247888" y="2596896"/>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E97132"/>
                </a:solidFill>
                <a:latin typeface="Microsoft YaHei"/>
              </a:rPr>
              <a:t>专利材料</a:t>
            </a:r>
          </a:p>
        </p:txBody>
      </p:sp>
      <p:sp>
        <p:nvSpPr>
          <p:cNvPr id="17" name="Rectangle 16"/>
          <p:cNvSpPr/>
          <p:nvPr/>
        </p:nvSpPr>
        <p:spPr>
          <a:xfrm>
            <a:off x="9189720" y="2596896"/>
            <a:ext cx="13258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70" b="0">
                <a:solidFill>
                  <a:srgbClr val="53657A"/>
                </a:solidFill>
                <a:latin typeface="Microsoft YaHei"/>
              </a:rPr>
              <a:t>申请材料已形成，受理证明待补</a:t>
            </a:r>
          </a:p>
        </p:txBody>
      </p:sp>
      <p:sp>
        <p:nvSpPr>
          <p:cNvPr id="18" name="Rectangle 17"/>
          <p:cNvSpPr/>
          <p:nvPr/>
        </p:nvSpPr>
        <p:spPr>
          <a:xfrm>
            <a:off x="8247888" y="3200400"/>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6B49C8"/>
                </a:solidFill>
                <a:latin typeface="Microsoft YaHei"/>
              </a:rPr>
              <a:t>数据实验资产</a:t>
            </a:r>
          </a:p>
        </p:txBody>
      </p:sp>
      <p:sp>
        <p:nvSpPr>
          <p:cNvPr id="19" name="Rectangle 18"/>
          <p:cNvSpPr/>
          <p:nvPr/>
        </p:nvSpPr>
        <p:spPr>
          <a:xfrm>
            <a:off x="9189720" y="3200400"/>
            <a:ext cx="13258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70" b="0">
                <a:solidFill>
                  <a:srgbClr val="53657A"/>
                </a:solidFill>
                <a:latin typeface="Microsoft YaHei"/>
              </a:rPr>
              <a:t>样本、脚本、图表、消融记录</a:t>
            </a:r>
          </a:p>
        </p:txBody>
      </p:sp>
      <p:sp>
        <p:nvSpPr>
          <p:cNvPr id="20" name="Rectangle 19"/>
          <p:cNvSpPr/>
          <p:nvPr/>
        </p:nvSpPr>
        <p:spPr>
          <a:xfrm>
            <a:off x="8247888" y="3803904"/>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B93232"/>
                </a:solidFill>
                <a:latin typeface="Microsoft YaHei"/>
              </a:rPr>
              <a:t>成果汇编/宣传</a:t>
            </a:r>
          </a:p>
        </p:txBody>
      </p:sp>
      <p:sp>
        <p:nvSpPr>
          <p:cNvPr id="21" name="Rectangle 20"/>
          <p:cNvSpPr/>
          <p:nvPr/>
        </p:nvSpPr>
        <p:spPr>
          <a:xfrm>
            <a:off x="9189720" y="3803904"/>
            <a:ext cx="13258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70" b="0">
                <a:solidFill>
                  <a:srgbClr val="53657A"/>
                </a:solidFill>
                <a:latin typeface="Microsoft YaHei"/>
              </a:rPr>
              <a:t>成果汇编、宣传稿、答辩材料</a:t>
            </a:r>
          </a:p>
        </p:txBody>
      </p:sp>
      <p:sp>
        <p:nvSpPr>
          <p:cNvPr id="22" name="Rounded Rectangle 21"/>
          <p:cNvSpPr/>
          <p:nvPr/>
        </p:nvSpPr>
        <p:spPr>
          <a:xfrm>
            <a:off x="868680" y="5230368"/>
            <a:ext cx="9875520" cy="530352"/>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15568" y="5431536"/>
            <a:ext cx="8229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20" b="1">
                <a:solidFill>
                  <a:srgbClr val="102033"/>
                </a:solidFill>
                <a:latin typeface="Microsoft YaHei"/>
              </a:rPr>
              <a:t>验收材料包建议按“原型系统、算法方法、数据实验、论文报告、知识产权、展示证明”六类归档。</a:t>
            </a:r>
          </a:p>
        </p:txBody>
      </p:sp>
      <p:sp>
        <p:nvSpPr>
          <p:cNvPr id="24" name="Rectangle 23"/>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6" name="Rectangle 25"/>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17</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成果边界清晰，具备后续工程化扩展基础</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提前回答外推性、运行成本、真实系统联调和可信强度追问，但不把边界写成弱项。</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804672" y="1234440"/>
            <a:ext cx="4343400" cy="91440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05840" y="1463040"/>
            <a:ext cx="84124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80" b="1">
                <a:solidFill>
                  <a:srgbClr val="0B63CE"/>
                </a:solidFill>
                <a:latin typeface="Microsoft YaHei"/>
              </a:rPr>
              <a:t>验证范围</a:t>
            </a:r>
          </a:p>
        </p:txBody>
      </p:sp>
      <p:sp>
        <p:nvSpPr>
          <p:cNvPr id="12" name="Rectangle 11"/>
          <p:cNvSpPr/>
          <p:nvPr/>
        </p:nvSpPr>
        <p:spPr>
          <a:xfrm>
            <a:off x="1975104" y="1408176"/>
            <a:ext cx="26517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当前验证建立在冻结样本与诊断池上，后续扩展跨命名空间独立样本。</a:t>
            </a:r>
          </a:p>
        </p:txBody>
      </p:sp>
      <p:sp>
        <p:nvSpPr>
          <p:cNvPr id="13" name="Rounded Rectangle 12"/>
          <p:cNvSpPr/>
          <p:nvPr/>
        </p:nvSpPr>
        <p:spPr>
          <a:xfrm>
            <a:off x="6035040" y="1234440"/>
            <a:ext cx="4343400" cy="91440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36207" y="1463040"/>
            <a:ext cx="84124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80" b="1">
                <a:solidFill>
                  <a:srgbClr val="0E8A57"/>
                </a:solidFill>
                <a:latin typeface="Microsoft YaHei"/>
              </a:rPr>
              <a:t>在线指标</a:t>
            </a:r>
          </a:p>
        </p:txBody>
      </p:sp>
      <p:sp>
        <p:nvSpPr>
          <p:cNvPr id="15" name="Rectangle 14"/>
          <p:cNvSpPr/>
          <p:nvPr/>
        </p:nvSpPr>
        <p:spPr>
          <a:xfrm>
            <a:off x="7205472" y="1408176"/>
            <a:ext cx="26517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已记录触发率与修正收益，后续补充 token、时延、成本和失败恢复。</a:t>
            </a:r>
          </a:p>
        </p:txBody>
      </p:sp>
      <p:sp>
        <p:nvSpPr>
          <p:cNvPr id="16" name="Rounded Rectangle 15"/>
          <p:cNvSpPr/>
          <p:nvPr/>
        </p:nvSpPr>
        <p:spPr>
          <a:xfrm>
            <a:off x="804672" y="2459736"/>
            <a:ext cx="4343400" cy="91440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5840" y="2688336"/>
            <a:ext cx="84124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80" b="1">
                <a:solidFill>
                  <a:srgbClr val="E97132"/>
                </a:solidFill>
                <a:latin typeface="Microsoft YaHei"/>
              </a:rPr>
              <a:t>业务联动</a:t>
            </a:r>
          </a:p>
        </p:txBody>
      </p:sp>
      <p:sp>
        <p:nvSpPr>
          <p:cNvPr id="18" name="Rectangle 17"/>
          <p:cNvSpPr/>
          <p:nvPr/>
        </p:nvSpPr>
        <p:spPr>
          <a:xfrm>
            <a:off x="1975104" y="2633472"/>
            <a:ext cx="26517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当前为演示原型，后续推进与真实业务系统、服务发现接口联调。</a:t>
            </a:r>
          </a:p>
        </p:txBody>
      </p:sp>
      <p:sp>
        <p:nvSpPr>
          <p:cNvPr id="19" name="Rounded Rectangle 18"/>
          <p:cNvSpPr/>
          <p:nvPr/>
        </p:nvSpPr>
        <p:spPr>
          <a:xfrm>
            <a:off x="6035040" y="2459736"/>
            <a:ext cx="4343400" cy="914400"/>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6207" y="2688336"/>
            <a:ext cx="84124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80" b="1">
                <a:solidFill>
                  <a:srgbClr val="6B49C8"/>
                </a:solidFill>
                <a:latin typeface="Microsoft YaHei"/>
              </a:rPr>
              <a:t>可信机制</a:t>
            </a:r>
          </a:p>
        </p:txBody>
      </p:sp>
      <p:sp>
        <p:nvSpPr>
          <p:cNvPr id="21" name="Rectangle 20"/>
          <p:cNvSpPr/>
          <p:nvPr/>
        </p:nvSpPr>
        <p:spPr>
          <a:xfrm>
            <a:off x="7205472" y="2633472"/>
            <a:ext cx="26517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当前实现工程审计与可回放，后续可加入 hash-chain 与篡改检测。</a:t>
            </a:r>
          </a:p>
        </p:txBody>
      </p:sp>
      <p:sp>
        <p:nvSpPr>
          <p:cNvPr id="22" name="Rounded Rectangle 21"/>
          <p:cNvSpPr/>
          <p:nvPr/>
        </p:nvSpPr>
        <p:spPr>
          <a:xfrm>
            <a:off x="914400" y="4370832"/>
            <a:ext cx="9738360" cy="694944"/>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88720" y="4608576"/>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26B6FF"/>
                </a:solidFill>
                <a:latin typeface="Microsoft YaHei"/>
              </a:rPr>
              <a:t>后续重点</a:t>
            </a:r>
          </a:p>
        </p:txBody>
      </p:sp>
      <p:sp>
        <p:nvSpPr>
          <p:cNvPr id="24" name="Rectangle 23"/>
          <p:cNvSpPr/>
          <p:nvPr/>
        </p:nvSpPr>
        <p:spPr>
          <a:xfrm>
            <a:off x="2304288" y="4590288"/>
            <a:ext cx="676656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40" b="1">
                <a:solidFill>
                  <a:srgbClr val="FFFFFF"/>
                </a:solidFill>
                <a:latin typeface="Microsoft YaHei"/>
              </a:rPr>
              <a:t>扩大验证范围、完善质量/成本/时延日志、推动演示端联调、凝练标准化接口与业务试点。</a:t>
            </a:r>
          </a:p>
        </p:txBody>
      </p:sp>
      <p:sp>
        <p:nvSpPr>
          <p:cNvPr id="25" name="Rectangle 24"/>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7" name="Rectangle 26"/>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94944" y="841248"/>
            <a:ext cx="123444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000" b="1">
                <a:solidFill>
                  <a:srgbClr val="FFFFFF"/>
                </a:solidFill>
                <a:latin typeface="Microsoft YaHei"/>
              </a:rPr>
              <a:t>总结</a:t>
            </a:r>
          </a:p>
        </p:txBody>
      </p:sp>
      <p:sp>
        <p:nvSpPr>
          <p:cNvPr id="4" name="Rectangle 3"/>
          <p:cNvSpPr/>
          <p:nvPr/>
        </p:nvSpPr>
        <p:spPr>
          <a:xfrm>
            <a:off x="713232" y="1371600"/>
            <a:ext cx="1371600"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7824" y="1920240"/>
            <a:ext cx="310896" cy="310896"/>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2002536"/>
            <a:ext cx="310896"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00" b="1">
                <a:solidFill>
                  <a:srgbClr val="061A46"/>
                </a:solidFill>
                <a:latin typeface="Arial"/>
              </a:rPr>
              <a:t>1</a:t>
            </a:r>
          </a:p>
        </p:txBody>
      </p:sp>
      <p:sp>
        <p:nvSpPr>
          <p:cNvPr id="7" name="Rectangle 6"/>
          <p:cNvSpPr/>
          <p:nvPr/>
        </p:nvSpPr>
        <p:spPr>
          <a:xfrm>
            <a:off x="1371600" y="1920240"/>
            <a:ext cx="1691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80" b="1">
                <a:solidFill>
                  <a:srgbClr val="FFFFFF"/>
                </a:solidFill>
                <a:latin typeface="Microsoft YaHei"/>
              </a:rPr>
              <a:t>完成任务书验收指标</a:t>
            </a:r>
          </a:p>
        </p:txBody>
      </p:sp>
      <p:sp>
        <p:nvSpPr>
          <p:cNvPr id="8" name="Rectangle 7"/>
          <p:cNvSpPr/>
          <p:nvPr/>
        </p:nvSpPr>
        <p:spPr>
          <a:xfrm>
            <a:off x="3246120" y="1938528"/>
            <a:ext cx="5852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D2E6FF"/>
                </a:solidFill>
                <a:latin typeface="Microsoft YaHei"/>
              </a:rPr>
              <a:t>原型、算法、数据实验、论文报告、专利申请材料和成果展示材料均已形成。</a:t>
            </a:r>
          </a:p>
        </p:txBody>
      </p:sp>
      <p:sp>
        <p:nvSpPr>
          <p:cNvPr id="9" name="Oval 8"/>
          <p:cNvSpPr/>
          <p:nvPr/>
        </p:nvSpPr>
        <p:spPr>
          <a:xfrm>
            <a:off x="877824" y="2706624"/>
            <a:ext cx="310896" cy="310896"/>
          </a:xfrm>
          <a:prstGeom prst="ellipse">
            <a:avLst/>
          </a:prstGeom>
          <a:solidFill>
            <a:srgbClr val="F4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77824" y="2788920"/>
            <a:ext cx="310896"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00" b="1">
                <a:solidFill>
                  <a:srgbClr val="061A46"/>
                </a:solidFill>
                <a:latin typeface="Arial"/>
              </a:rPr>
              <a:t>2</a:t>
            </a:r>
          </a:p>
        </p:txBody>
      </p:sp>
      <p:sp>
        <p:nvSpPr>
          <p:cNvPr id="11" name="Rectangle 10"/>
          <p:cNvSpPr/>
          <p:nvPr/>
        </p:nvSpPr>
        <p:spPr>
          <a:xfrm>
            <a:off x="1371600" y="2706624"/>
            <a:ext cx="1691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80" b="1">
                <a:solidFill>
                  <a:srgbClr val="FFFFFF"/>
                </a:solidFill>
                <a:latin typeface="Microsoft YaHei"/>
              </a:rPr>
              <a:t>形成技术闭环</a:t>
            </a:r>
          </a:p>
        </p:txBody>
      </p:sp>
      <p:sp>
        <p:nvSpPr>
          <p:cNvPr id="12" name="Rectangle 11"/>
          <p:cNvSpPr/>
          <p:nvPr/>
        </p:nvSpPr>
        <p:spPr>
          <a:xfrm>
            <a:off x="3246120" y="2724912"/>
            <a:ext cx="5852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D2E6FF"/>
                </a:solidFill>
                <a:latin typeface="Microsoft YaHei"/>
              </a:rPr>
              <a:t>能力命名—语义路由—协作复核—可信留痕—执行映射贯通。</a:t>
            </a:r>
          </a:p>
        </p:txBody>
      </p:sp>
      <p:sp>
        <p:nvSpPr>
          <p:cNvPr id="13" name="Oval 12"/>
          <p:cNvSpPr/>
          <p:nvPr/>
        </p:nvSpPr>
        <p:spPr>
          <a:xfrm>
            <a:off x="877824" y="3493008"/>
            <a:ext cx="310896" cy="310896"/>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77824" y="3575304"/>
            <a:ext cx="310896"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00" b="1">
                <a:solidFill>
                  <a:srgbClr val="061A46"/>
                </a:solidFill>
                <a:latin typeface="Arial"/>
              </a:rPr>
              <a:t>3</a:t>
            </a:r>
          </a:p>
        </p:txBody>
      </p:sp>
      <p:sp>
        <p:nvSpPr>
          <p:cNvPr id="15" name="Rectangle 14"/>
          <p:cNvSpPr/>
          <p:nvPr/>
        </p:nvSpPr>
        <p:spPr>
          <a:xfrm>
            <a:off x="1371600" y="3493008"/>
            <a:ext cx="1691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80" b="1">
                <a:solidFill>
                  <a:srgbClr val="FFFFFF"/>
                </a:solidFill>
                <a:latin typeface="Microsoft YaHei"/>
              </a:rPr>
              <a:t>支撑后续深化</a:t>
            </a:r>
          </a:p>
        </p:txBody>
      </p:sp>
      <p:sp>
        <p:nvSpPr>
          <p:cNvPr id="16" name="Rectangle 15"/>
          <p:cNvSpPr/>
          <p:nvPr/>
        </p:nvSpPr>
        <p:spPr>
          <a:xfrm>
            <a:off x="3246120" y="3511296"/>
            <a:ext cx="5852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D2E6FF"/>
                </a:solidFill>
                <a:latin typeface="Microsoft YaHei"/>
              </a:rPr>
              <a:t>可面向 AgentDNS、智能体标识、服务发现与治理审计继续扩展。</a:t>
            </a:r>
          </a:p>
        </p:txBody>
      </p:sp>
      <p:sp>
        <p:nvSpPr>
          <p:cNvPr id="17" name="Rounded Rectangle 16"/>
          <p:cNvSpPr/>
          <p:nvPr/>
        </p:nvSpPr>
        <p:spPr>
          <a:xfrm>
            <a:off x="749808" y="4956048"/>
            <a:ext cx="8183879" cy="566928"/>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5157216"/>
            <a:ext cx="68580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60" b="1">
                <a:solidFill>
                  <a:srgbClr val="FFFFFF"/>
                </a:solidFill>
                <a:latin typeface="Microsoft YaHei"/>
              </a:rPr>
              <a:t>答辩主线：任务完成有对照，技术攻关有机制，实验结果有数据，成果交付有材料。</a:t>
            </a:r>
          </a:p>
        </p:txBody>
      </p:sp>
      <p:sp>
        <p:nvSpPr>
          <p:cNvPr id="19" name="Rectangle 18"/>
          <p:cNvSpPr/>
          <p:nvPr/>
        </p:nvSpPr>
        <p:spPr>
          <a:xfrm>
            <a:off x="713232" y="5897880"/>
            <a:ext cx="3474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谢谢，请各位专家批评指正</a:t>
            </a:r>
          </a:p>
        </p:txBody>
      </p:sp>
      <p:sp>
        <p:nvSpPr>
          <p:cNvPr id="20" name="Rectangle 19"/>
          <p:cNvSpPr/>
          <p:nvPr/>
        </p:nvSpPr>
        <p:spPr>
          <a:xfrm>
            <a:off x="10588752" y="347472"/>
            <a:ext cx="10058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300" b="1">
                <a:solidFill>
                  <a:srgbClr val="FFFFFF"/>
                </a:solidFill>
                <a:latin typeface="Arial"/>
              </a:rPr>
              <a:t>CNNIC</a:t>
            </a:r>
          </a:p>
        </p:txBody>
      </p:sp>
      <p:sp>
        <p:nvSpPr>
          <p:cNvPr id="21" name="Rectangle 20"/>
          <p:cNvSpPr/>
          <p:nvPr/>
        </p:nvSpPr>
        <p:spPr>
          <a:xfrm>
            <a:off x="9966960" y="640080"/>
            <a:ext cx="1627632"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D2E6FF"/>
                </a:solidFill>
                <a:latin typeface="Microsoft YaHei"/>
              </a:rPr>
              <a:t>中国互联网络信息中心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