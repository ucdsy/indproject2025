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Lst>
  <p:sldSz cx="12191999"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5.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6.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7.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8.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cover_bg_deep.png"/>
          <p:cNvPicPr>
            <a:picLocks noChangeAspect="1"/>
          </p:cNvPicPr>
          <p:nvPr/>
        </p:nvPicPr>
        <p:blipFill>
          <a:blip r:embed="rId2"/>
          <a:stretch>
            <a:fillRect/>
          </a:stretch>
        </p:blipFill>
        <p:spPr>
          <a:xfrm>
            <a:off x="0" y="0"/>
            <a:ext cx="12191999" cy="6858000"/>
          </a:xfrm>
          <a:prstGeom prst="rect">
            <a:avLst/>
          </a:prstGeom>
        </p:spPr>
      </p:pic>
      <p:sp>
        <p:nvSpPr>
          <p:cNvPr id="3" name="Rectangle 2"/>
          <p:cNvSpPr/>
          <p:nvPr/>
        </p:nvSpPr>
        <p:spPr>
          <a:xfrm>
            <a:off x="658368" y="621792"/>
            <a:ext cx="2971800" cy="25603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600" b="1">
                <a:solidFill>
                  <a:srgbClr val="26B6FF"/>
                </a:solidFill>
                <a:latin typeface="Microsoft YaHei"/>
              </a:rPr>
              <a:t>重点项目验收答辩｜论文更新版</a:t>
            </a:r>
          </a:p>
        </p:txBody>
      </p:sp>
      <p:sp>
        <p:nvSpPr>
          <p:cNvPr id="4" name="Rectangle 3"/>
          <p:cNvSpPr/>
          <p:nvPr/>
        </p:nvSpPr>
        <p:spPr>
          <a:xfrm>
            <a:off x="658368" y="969264"/>
            <a:ext cx="1572768" cy="38100"/>
          </a:xfrm>
          <a:prstGeom prst="rect">
            <a:avLst/>
          </a:prstGeom>
          <a:solidFill>
            <a:srgbClr val="26B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658368" y="1353312"/>
            <a:ext cx="7406640" cy="84124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3200" b="1">
                <a:solidFill>
                  <a:srgbClr val="FFFFFF"/>
                </a:solidFill>
                <a:latin typeface="Microsoft YaHei"/>
              </a:rPr>
              <a:t>面向受限能力命名空间的可信语义路由与职责化协作复核</a:t>
            </a:r>
          </a:p>
        </p:txBody>
      </p:sp>
      <p:sp>
        <p:nvSpPr>
          <p:cNvPr id="6" name="Rectangle 5"/>
          <p:cNvSpPr/>
          <p:nvPr/>
        </p:nvSpPr>
        <p:spPr>
          <a:xfrm>
            <a:off x="685800" y="2487168"/>
            <a:ext cx="7223760" cy="32004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650" b="0">
                <a:solidFill>
                  <a:srgbClr val="CFE4FF"/>
                </a:solidFill>
                <a:latin typeface="Microsoft YaHei"/>
              </a:rPr>
              <a:t>把智能体服务调用入口从“能找候选”推进到“候选内可判别、可复核、可审计”</a:t>
            </a:r>
          </a:p>
        </p:txBody>
      </p:sp>
      <p:sp>
        <p:nvSpPr>
          <p:cNvPr id="7" name="Rounded Rectangle 6"/>
          <p:cNvSpPr/>
          <p:nvPr/>
        </p:nvSpPr>
        <p:spPr>
          <a:xfrm>
            <a:off x="713232" y="3886200"/>
            <a:ext cx="1700784" cy="694944"/>
          </a:xfrm>
          <a:prstGeom prst="roundRect">
            <a:avLst/>
          </a:prstGeom>
          <a:solidFill>
            <a:srgbClr val="0B3C7C"/>
          </a:solidFill>
          <a:ln w="12700">
            <a:solidFill>
              <a:srgbClr val="4C96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86384" y="3995928"/>
            <a:ext cx="1554480" cy="25603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ctr"/>
            <a:r>
              <a:rPr sz="2000" b="1">
                <a:solidFill>
                  <a:srgbClr val="FFFFFF"/>
                </a:solidFill>
                <a:latin typeface="Arial"/>
              </a:rPr>
              <a:t>563</a:t>
            </a:r>
          </a:p>
        </p:txBody>
      </p:sp>
      <p:sp>
        <p:nvSpPr>
          <p:cNvPr id="9" name="Rectangle 8"/>
          <p:cNvSpPr/>
          <p:nvPr/>
        </p:nvSpPr>
        <p:spPr>
          <a:xfrm>
            <a:off x="786384" y="4315968"/>
            <a:ext cx="1554480"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ctr"/>
            <a:r>
              <a:rPr sz="860" b="0">
                <a:solidFill>
                  <a:srgbClr val="D2E6FF"/>
                </a:solidFill>
                <a:latin typeface="Microsoft YaHei"/>
              </a:rPr>
              <a:t>真实样本冻结集</a:t>
            </a:r>
          </a:p>
        </p:txBody>
      </p:sp>
      <p:sp>
        <p:nvSpPr>
          <p:cNvPr id="10" name="Rounded Rectangle 9"/>
          <p:cNvSpPr/>
          <p:nvPr/>
        </p:nvSpPr>
        <p:spPr>
          <a:xfrm>
            <a:off x="2706624" y="3886200"/>
            <a:ext cx="1700784" cy="694944"/>
          </a:xfrm>
          <a:prstGeom prst="roundRect">
            <a:avLst/>
          </a:prstGeom>
          <a:solidFill>
            <a:srgbClr val="0B3C7C"/>
          </a:solidFill>
          <a:ln w="12700">
            <a:solidFill>
              <a:srgbClr val="4C96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2779776" y="3995928"/>
            <a:ext cx="1554480" cy="25603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ctr"/>
            <a:r>
              <a:rPr sz="1739" b="1">
                <a:solidFill>
                  <a:srgbClr val="FFFFFF"/>
                </a:solidFill>
                <a:latin typeface="Arial"/>
              </a:rPr>
              <a:t>78.76→92.92%</a:t>
            </a:r>
          </a:p>
        </p:txBody>
      </p:sp>
      <p:sp>
        <p:nvSpPr>
          <p:cNvPr id="12" name="Rectangle 11"/>
          <p:cNvSpPr/>
          <p:nvPr/>
        </p:nvSpPr>
        <p:spPr>
          <a:xfrm>
            <a:off x="2779776" y="4315968"/>
            <a:ext cx="1554480"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ctr"/>
            <a:r>
              <a:rPr sz="860" b="0">
                <a:solidFill>
                  <a:srgbClr val="D2E6FF"/>
                </a:solidFill>
                <a:latin typeface="Microsoft YaHei"/>
              </a:rPr>
              <a:t>测试集主准确率</a:t>
            </a:r>
          </a:p>
        </p:txBody>
      </p:sp>
      <p:sp>
        <p:nvSpPr>
          <p:cNvPr id="13" name="Rounded Rectangle 12"/>
          <p:cNvSpPr/>
          <p:nvPr/>
        </p:nvSpPr>
        <p:spPr>
          <a:xfrm>
            <a:off x="4700016" y="3886200"/>
            <a:ext cx="1700784" cy="694944"/>
          </a:xfrm>
          <a:prstGeom prst="roundRect">
            <a:avLst/>
          </a:prstGeom>
          <a:solidFill>
            <a:srgbClr val="0B3C7C"/>
          </a:solidFill>
          <a:ln w="12700">
            <a:solidFill>
              <a:srgbClr val="4C96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773168" y="3995928"/>
            <a:ext cx="1554480" cy="25603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ctr"/>
            <a:r>
              <a:rPr sz="2000" b="1">
                <a:solidFill>
                  <a:srgbClr val="FFFFFF"/>
                </a:solidFill>
                <a:latin typeface="Arial"/>
              </a:rPr>
              <a:t>44.25%</a:t>
            </a:r>
          </a:p>
        </p:txBody>
      </p:sp>
      <p:sp>
        <p:nvSpPr>
          <p:cNvPr id="15" name="Rectangle 14"/>
          <p:cNvSpPr/>
          <p:nvPr/>
        </p:nvSpPr>
        <p:spPr>
          <a:xfrm>
            <a:off x="4773168" y="4315968"/>
            <a:ext cx="1554480"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ctr"/>
            <a:r>
              <a:rPr sz="860" b="0">
                <a:solidFill>
                  <a:srgbClr val="D2E6FF"/>
                </a:solidFill>
                <a:latin typeface="Microsoft YaHei"/>
              </a:rPr>
              <a:t>默认协作触发率</a:t>
            </a:r>
          </a:p>
        </p:txBody>
      </p:sp>
      <p:sp>
        <p:nvSpPr>
          <p:cNvPr id="16" name="Rounded Rectangle 15"/>
          <p:cNvSpPr/>
          <p:nvPr/>
        </p:nvSpPr>
        <p:spPr>
          <a:xfrm>
            <a:off x="6693408" y="3886200"/>
            <a:ext cx="1700784" cy="694944"/>
          </a:xfrm>
          <a:prstGeom prst="roundRect">
            <a:avLst/>
          </a:prstGeom>
          <a:solidFill>
            <a:srgbClr val="0B3C7C"/>
          </a:solidFill>
          <a:ln w="12700">
            <a:solidFill>
              <a:srgbClr val="4C96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766560" y="3995928"/>
            <a:ext cx="1554480" cy="25603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ctr"/>
            <a:r>
              <a:rPr sz="2000" b="1">
                <a:solidFill>
                  <a:srgbClr val="FFFFFF"/>
                </a:solidFill>
                <a:latin typeface="Arial"/>
              </a:rPr>
              <a:t>5/5/0</a:t>
            </a:r>
          </a:p>
        </p:txBody>
      </p:sp>
      <p:sp>
        <p:nvSpPr>
          <p:cNvPr id="18" name="Rectangle 17"/>
          <p:cNvSpPr/>
          <p:nvPr/>
        </p:nvSpPr>
        <p:spPr>
          <a:xfrm>
            <a:off x="6766560" y="4315968"/>
            <a:ext cx="1554480"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ctr"/>
            <a:r>
              <a:rPr sz="860" b="0">
                <a:solidFill>
                  <a:srgbClr val="D2E6FF"/>
                </a:solidFill>
                <a:latin typeface="Microsoft YaHei"/>
              </a:rPr>
              <a:t>改写/修正/回归</a:t>
            </a:r>
          </a:p>
        </p:txBody>
      </p:sp>
      <p:sp>
        <p:nvSpPr>
          <p:cNvPr id="19" name="Rectangle 18"/>
          <p:cNvSpPr/>
          <p:nvPr/>
        </p:nvSpPr>
        <p:spPr>
          <a:xfrm>
            <a:off x="676656" y="6053328"/>
            <a:ext cx="6766560" cy="22860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100" b="0">
                <a:solidFill>
                  <a:srgbClr val="D2E6FF"/>
                </a:solidFill>
                <a:latin typeface="Microsoft YaHei"/>
              </a:rPr>
              <a:t>承研处所：技术发展所    项目负责人：邓斯宇    起止时间：2025年5月-2026年4月</a:t>
            </a:r>
          </a:p>
        </p:txBody>
      </p:sp>
      <p:sp>
        <p:nvSpPr>
          <p:cNvPr id="20" name="Rectangle 19"/>
          <p:cNvSpPr/>
          <p:nvPr/>
        </p:nvSpPr>
        <p:spPr>
          <a:xfrm>
            <a:off x="10588752" y="347472"/>
            <a:ext cx="1005840" cy="27432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r"/>
            <a:r>
              <a:rPr sz="2300" b="1">
                <a:solidFill>
                  <a:srgbClr val="FFFFFF"/>
                </a:solidFill>
                <a:latin typeface="Arial"/>
              </a:rPr>
              <a:t>CNNIC</a:t>
            </a:r>
          </a:p>
        </p:txBody>
      </p:sp>
      <p:sp>
        <p:nvSpPr>
          <p:cNvPr id="21" name="Rectangle 20"/>
          <p:cNvSpPr/>
          <p:nvPr/>
        </p:nvSpPr>
        <p:spPr>
          <a:xfrm>
            <a:off x="9966960" y="640080"/>
            <a:ext cx="1627632"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r"/>
            <a:r>
              <a:rPr sz="850" b="0">
                <a:solidFill>
                  <a:srgbClr val="D2E6FF"/>
                </a:solidFill>
                <a:latin typeface="Microsoft YaHei"/>
              </a:rPr>
              <a:t>中国互联网络信息中心</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light_texture.png"/>
          <p:cNvPicPr>
            <a:picLocks noChangeAspect="1"/>
          </p:cNvPicPr>
          <p:nvPr/>
        </p:nvPicPr>
        <p:blipFill>
          <a:blip r:embed="rId2"/>
          <a:stretch>
            <a:fillRect/>
          </a:stretch>
        </p:blipFill>
        <p:spPr>
          <a:xfrm>
            <a:off x="0" y="0"/>
            <a:ext cx="12191999" cy="6858000"/>
          </a:xfrm>
          <a:prstGeom prst="rect">
            <a:avLst/>
          </a:prstGeom>
        </p:spPr>
      </p:pic>
      <p:sp>
        <p:nvSpPr>
          <p:cNvPr id="3" name="Rectangle 2"/>
          <p:cNvSpPr/>
          <p:nvPr/>
        </p:nvSpPr>
        <p:spPr>
          <a:xfrm>
            <a:off x="0" y="0"/>
            <a:ext cx="12191999" cy="109728"/>
          </a:xfrm>
          <a:prstGeom prst="rect">
            <a:avLst/>
          </a:prstGeom>
          <a:solidFill>
            <a:srgbClr val="082B6D"/>
          </a:solidFill>
          <a:ln w="12700">
            <a:solidFill>
              <a:srgbClr val="082B6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9728"/>
            <a:ext cx="12191999" cy="32004"/>
          </a:xfrm>
          <a:prstGeom prst="rect">
            <a:avLst/>
          </a:prstGeom>
          <a:solidFill>
            <a:srgbClr val="1E83E6"/>
          </a:solidFill>
          <a:ln w="12700">
            <a:solidFill>
              <a:srgbClr val="1E83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475488" y="283464"/>
            <a:ext cx="676656" cy="237744"/>
          </a:xfrm>
          <a:prstGeom prst="roundRect">
            <a:avLst/>
          </a:prstGeom>
          <a:solidFill>
            <a:srgbClr val="E7F1FF"/>
          </a:solidFill>
          <a:ln w="11430">
            <a:solidFill>
              <a:srgbClr val="C8DBEF"/>
            </a:solidFill>
          </a:ln>
        </p:spPr>
        <p:style>
          <a:lnRef idx="1">
            <a:schemeClr val="accent1"/>
          </a:lnRef>
          <a:fillRef idx="3">
            <a:schemeClr val="accent1"/>
          </a:fillRef>
          <a:effectRef idx="2">
            <a:schemeClr val="accent1"/>
          </a:effectRef>
          <a:fontRef idx="minor">
            <a:schemeClr val="lt1"/>
          </a:fontRef>
        </p:style>
        <p:txBody>
          <a:bodyPr rtlCol="0" anchor="ctr" lIns="36576" rIns="36576" tIns="18288" bIns="18288"/>
          <a:lstStyle/>
          <a:p>
            <a:pPr algn="ctr"/>
            <a:r>
              <a:rPr sz="1200" b="1">
                <a:solidFill>
                  <a:srgbClr val="0B63CE"/>
                </a:solidFill>
                <a:latin typeface="Microsoft YaHei"/>
              </a:rPr>
              <a:t>01</a:t>
            </a:r>
          </a:p>
        </p:txBody>
      </p:sp>
      <p:sp>
        <p:nvSpPr>
          <p:cNvPr id="6" name="Rectangle 5"/>
          <p:cNvSpPr/>
          <p:nvPr/>
        </p:nvSpPr>
        <p:spPr>
          <a:xfrm>
            <a:off x="1298448" y="237744"/>
            <a:ext cx="8412480" cy="38404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2200" b="1">
                <a:solidFill>
                  <a:srgbClr val="102033"/>
                </a:solidFill>
                <a:latin typeface="Microsoft YaHei"/>
              </a:rPr>
              <a:t>论文主线：发现之后、执行之前，还有一个候选内语义判别层</a:t>
            </a:r>
          </a:p>
        </p:txBody>
      </p:sp>
      <p:sp>
        <p:nvSpPr>
          <p:cNvPr id="7" name="Rectangle 6"/>
          <p:cNvSpPr/>
          <p:nvPr/>
        </p:nvSpPr>
        <p:spPr>
          <a:xfrm>
            <a:off x="1298448" y="621792"/>
            <a:ext cx="8595360" cy="237744"/>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080" b="0">
                <a:solidFill>
                  <a:srgbClr val="53657A"/>
                </a:solidFill>
                <a:latin typeface="Microsoft YaHei"/>
              </a:rPr>
              <a:t>新版论文把项目创新落在智能体服务调用入口：受限能力命名空间内的可复核路由。</a:t>
            </a:r>
          </a:p>
        </p:txBody>
      </p:sp>
      <p:sp>
        <p:nvSpPr>
          <p:cNvPr id="8" name="Rectangle 7"/>
          <p:cNvSpPr/>
          <p:nvPr/>
        </p:nvSpPr>
        <p:spPr>
          <a:xfrm>
            <a:off x="10698480" y="256032"/>
            <a:ext cx="1005840" cy="25603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r"/>
            <a:r>
              <a:rPr sz="2100" b="1">
                <a:solidFill>
                  <a:srgbClr val="0B63CE"/>
                </a:solidFill>
                <a:latin typeface="Arial"/>
              </a:rPr>
              <a:t>CNNIC</a:t>
            </a:r>
          </a:p>
        </p:txBody>
      </p:sp>
      <p:sp>
        <p:nvSpPr>
          <p:cNvPr id="9" name="Rectangle 8"/>
          <p:cNvSpPr/>
          <p:nvPr/>
        </p:nvSpPr>
        <p:spPr>
          <a:xfrm>
            <a:off x="10012680" y="530352"/>
            <a:ext cx="1691640"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r"/>
            <a:r>
              <a:rPr sz="850" b="0">
                <a:solidFill>
                  <a:srgbClr val="53657A"/>
                </a:solidFill>
                <a:latin typeface="Microsoft YaHei"/>
              </a:rPr>
              <a:t>中国互联网络信息中心</a:t>
            </a:r>
          </a:p>
        </p:txBody>
      </p:sp>
      <p:sp>
        <p:nvSpPr>
          <p:cNvPr id="10" name="Rectangle 9"/>
          <p:cNvSpPr/>
          <p:nvPr/>
        </p:nvSpPr>
        <p:spPr>
          <a:xfrm>
            <a:off x="658368" y="1078992"/>
            <a:ext cx="1371600" cy="27432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800" b="1">
                <a:solidFill>
                  <a:srgbClr val="0B63CE"/>
                </a:solidFill>
                <a:latin typeface="Microsoft YaHei"/>
              </a:rPr>
              <a:t>核心判断</a:t>
            </a:r>
          </a:p>
        </p:txBody>
      </p:sp>
      <p:sp>
        <p:nvSpPr>
          <p:cNvPr id="11" name="Rectangle 10"/>
          <p:cNvSpPr/>
          <p:nvPr/>
        </p:nvSpPr>
        <p:spPr>
          <a:xfrm>
            <a:off x="658368" y="1444752"/>
            <a:ext cx="9281160" cy="38404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800" b="1">
                <a:solidFill>
                  <a:srgbClr val="102033"/>
                </a:solidFill>
                <a:latin typeface="Microsoft YaHei"/>
              </a:rPr>
              <a:t>能力发现给出候选边界，工具执行依赖能力入口；真正难的是在固定候选集合内部完成主能力、相关能力与层级回落的稳定判别。</a:t>
            </a:r>
          </a:p>
        </p:txBody>
      </p:sp>
      <p:sp>
        <p:nvSpPr>
          <p:cNvPr id="12" name="Rounded Rectangle 11"/>
          <p:cNvSpPr/>
          <p:nvPr/>
        </p:nvSpPr>
        <p:spPr>
          <a:xfrm>
            <a:off x="713232" y="2212848"/>
            <a:ext cx="2331720" cy="1152144"/>
          </a:xfrm>
          <a:prstGeom prst="roundRect">
            <a:avLst/>
          </a:prstGeom>
          <a:solidFill>
            <a:srgbClr val="FFFFFF"/>
          </a:solidFill>
          <a:ln w="12700">
            <a:solidFill>
              <a:srgbClr val="0B63C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77824" y="2414016"/>
            <a:ext cx="804672" cy="219456"/>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600" b="1">
                <a:solidFill>
                  <a:srgbClr val="0B63CE"/>
                </a:solidFill>
                <a:latin typeface="Arial"/>
              </a:rPr>
              <a:t>C(x)</a:t>
            </a:r>
          </a:p>
        </p:txBody>
      </p:sp>
      <p:sp>
        <p:nvSpPr>
          <p:cNvPr id="14" name="Rectangle 13"/>
          <p:cNvSpPr/>
          <p:nvPr/>
        </p:nvSpPr>
        <p:spPr>
          <a:xfrm>
            <a:off x="1645920" y="2395728"/>
            <a:ext cx="1051560" cy="20116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320" b="1">
                <a:solidFill>
                  <a:srgbClr val="102033"/>
                </a:solidFill>
                <a:latin typeface="Microsoft YaHei"/>
              </a:rPr>
              <a:t>发现 / 注册</a:t>
            </a:r>
          </a:p>
        </p:txBody>
      </p:sp>
      <p:sp>
        <p:nvSpPr>
          <p:cNvPr id="15" name="Rectangle 14"/>
          <p:cNvSpPr/>
          <p:nvPr/>
        </p:nvSpPr>
        <p:spPr>
          <a:xfrm>
            <a:off x="896112" y="2834640"/>
            <a:ext cx="1783080" cy="237744"/>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950" b="0">
                <a:solidFill>
                  <a:srgbClr val="53657A"/>
                </a:solidFill>
                <a:latin typeface="Microsoft YaHei"/>
              </a:rPr>
              <a:t>形成候选能力集合</a:t>
            </a:r>
          </a:p>
        </p:txBody>
      </p:sp>
      <p:sp>
        <p:nvSpPr>
          <p:cNvPr id="16" name="Rectangle 15"/>
          <p:cNvSpPr/>
          <p:nvPr/>
        </p:nvSpPr>
        <p:spPr>
          <a:xfrm>
            <a:off x="3108960" y="2788920"/>
            <a:ext cx="310896" cy="25400"/>
          </a:xfrm>
          <a:prstGeom prst="rect">
            <a:avLst/>
          </a:prstGeom>
          <a:solidFill>
            <a:srgbClr val="1E83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3502152" y="2212848"/>
            <a:ext cx="2331720" cy="1152144"/>
          </a:xfrm>
          <a:prstGeom prst="roundRect">
            <a:avLst/>
          </a:prstGeom>
          <a:solidFill>
            <a:srgbClr val="FFFFFF"/>
          </a:solidFill>
          <a:ln w="12700">
            <a:solidFill>
              <a:srgbClr val="0E8A5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3666744" y="2414016"/>
            <a:ext cx="804672" cy="219456"/>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250" b="1">
                <a:solidFill>
                  <a:srgbClr val="0E8A57"/>
                </a:solidFill>
                <a:latin typeface="Arial"/>
              </a:rPr>
              <a:t>ŷ, R̂</a:t>
            </a:r>
          </a:p>
        </p:txBody>
      </p:sp>
      <p:sp>
        <p:nvSpPr>
          <p:cNvPr id="19" name="Rectangle 18"/>
          <p:cNvSpPr/>
          <p:nvPr/>
        </p:nvSpPr>
        <p:spPr>
          <a:xfrm>
            <a:off x="4434840" y="2395728"/>
            <a:ext cx="1051560" cy="20116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320" b="1">
                <a:solidFill>
                  <a:srgbClr val="102033"/>
                </a:solidFill>
                <a:latin typeface="Microsoft YaHei"/>
              </a:rPr>
              <a:t>语义路由</a:t>
            </a:r>
          </a:p>
        </p:txBody>
      </p:sp>
      <p:sp>
        <p:nvSpPr>
          <p:cNvPr id="20" name="Rectangle 19"/>
          <p:cNvSpPr/>
          <p:nvPr/>
        </p:nvSpPr>
        <p:spPr>
          <a:xfrm>
            <a:off x="3685032" y="2834640"/>
            <a:ext cx="1783080" cy="237744"/>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950" b="0">
                <a:solidFill>
                  <a:srgbClr val="53657A"/>
                </a:solidFill>
                <a:latin typeface="Microsoft YaHei"/>
              </a:rPr>
              <a:t>主能力 + 相关能力 + 可接受回落</a:t>
            </a:r>
          </a:p>
        </p:txBody>
      </p:sp>
      <p:sp>
        <p:nvSpPr>
          <p:cNvPr id="21" name="Rectangle 20"/>
          <p:cNvSpPr/>
          <p:nvPr/>
        </p:nvSpPr>
        <p:spPr>
          <a:xfrm>
            <a:off x="5897880" y="2788920"/>
            <a:ext cx="310896" cy="25400"/>
          </a:xfrm>
          <a:prstGeom prst="rect">
            <a:avLst/>
          </a:prstGeom>
          <a:solidFill>
            <a:srgbClr val="1E83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6291072" y="2212848"/>
            <a:ext cx="2331720" cy="1152144"/>
          </a:xfrm>
          <a:prstGeom prst="roundRect">
            <a:avLst/>
          </a:prstGeom>
          <a:solidFill>
            <a:srgbClr val="FFFFFF"/>
          </a:solidFill>
          <a:ln w="12700">
            <a:solidFill>
              <a:srgbClr val="E9713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455664" y="2414016"/>
            <a:ext cx="804672" cy="219456"/>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250" b="1">
                <a:solidFill>
                  <a:srgbClr val="E97132"/>
                </a:solidFill>
                <a:latin typeface="Arial"/>
              </a:rPr>
              <a:t>Stage B</a:t>
            </a:r>
          </a:p>
        </p:txBody>
      </p:sp>
      <p:sp>
        <p:nvSpPr>
          <p:cNvPr id="24" name="Rectangle 23"/>
          <p:cNvSpPr/>
          <p:nvPr/>
        </p:nvSpPr>
        <p:spPr>
          <a:xfrm>
            <a:off x="7223760" y="2395728"/>
            <a:ext cx="1051560" cy="20116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320" b="1">
                <a:solidFill>
                  <a:srgbClr val="102033"/>
                </a:solidFill>
                <a:latin typeface="Microsoft YaHei"/>
              </a:rPr>
              <a:t>协作复核</a:t>
            </a:r>
          </a:p>
        </p:txBody>
      </p:sp>
      <p:sp>
        <p:nvSpPr>
          <p:cNvPr id="25" name="Rectangle 24"/>
          <p:cNvSpPr/>
          <p:nvPr/>
        </p:nvSpPr>
        <p:spPr>
          <a:xfrm>
            <a:off x="6473952" y="2834640"/>
            <a:ext cx="1783080" cy="237744"/>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950" b="0">
                <a:solidFill>
                  <a:srgbClr val="53657A"/>
                </a:solidFill>
                <a:latin typeface="Microsoft YaHei"/>
              </a:rPr>
              <a:t>低置信 / 高风险 / 多意图样本</a:t>
            </a:r>
          </a:p>
        </p:txBody>
      </p:sp>
      <p:sp>
        <p:nvSpPr>
          <p:cNvPr id="26" name="Rectangle 25"/>
          <p:cNvSpPr/>
          <p:nvPr/>
        </p:nvSpPr>
        <p:spPr>
          <a:xfrm>
            <a:off x="8686800" y="2788920"/>
            <a:ext cx="310896" cy="25400"/>
          </a:xfrm>
          <a:prstGeom prst="rect">
            <a:avLst/>
          </a:prstGeom>
          <a:solidFill>
            <a:srgbClr val="1E83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9079991" y="2212848"/>
            <a:ext cx="2331720" cy="1152144"/>
          </a:xfrm>
          <a:prstGeom prst="roundRect">
            <a:avLst/>
          </a:prstGeom>
          <a:solidFill>
            <a:srgbClr val="FFFFFF"/>
          </a:solidFill>
          <a:ln w="12700">
            <a:solidFill>
              <a:srgbClr val="6B49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9244583" y="2414016"/>
            <a:ext cx="804672" cy="219456"/>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600" b="1">
                <a:solidFill>
                  <a:srgbClr val="6B49C8"/>
                </a:solidFill>
                <a:latin typeface="Arial"/>
              </a:rPr>
              <a:t>â</a:t>
            </a:r>
          </a:p>
        </p:txBody>
      </p:sp>
      <p:sp>
        <p:nvSpPr>
          <p:cNvPr id="29" name="Rectangle 28"/>
          <p:cNvSpPr/>
          <p:nvPr/>
        </p:nvSpPr>
        <p:spPr>
          <a:xfrm>
            <a:off x="10012679" y="2395728"/>
            <a:ext cx="1051560" cy="20116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320" b="1">
                <a:solidFill>
                  <a:srgbClr val="102033"/>
                </a:solidFill>
                <a:latin typeface="Microsoft YaHei"/>
              </a:rPr>
              <a:t>执行落点</a:t>
            </a:r>
          </a:p>
        </p:txBody>
      </p:sp>
      <p:sp>
        <p:nvSpPr>
          <p:cNvPr id="30" name="Rectangle 29"/>
          <p:cNvSpPr/>
          <p:nvPr/>
        </p:nvSpPr>
        <p:spPr>
          <a:xfrm>
            <a:off x="9262871" y="2834640"/>
            <a:ext cx="1783080" cy="237744"/>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950" b="0">
                <a:solidFill>
                  <a:srgbClr val="53657A"/>
                </a:solidFill>
                <a:latin typeface="Microsoft YaHei"/>
              </a:rPr>
              <a:t>能力地址精确映射到 agent 实例</a:t>
            </a:r>
          </a:p>
        </p:txBody>
      </p:sp>
      <p:sp>
        <p:nvSpPr>
          <p:cNvPr id="31" name="Rounded Rectangle 30"/>
          <p:cNvSpPr/>
          <p:nvPr/>
        </p:nvSpPr>
        <p:spPr>
          <a:xfrm>
            <a:off x="749808" y="3886200"/>
            <a:ext cx="4663440" cy="621792"/>
          </a:xfrm>
          <a:prstGeom prst="roundRect">
            <a:avLst/>
          </a:prstGeom>
          <a:solidFill>
            <a:srgbClr val="F8FBFF"/>
          </a:solidFill>
          <a:ln w="12700">
            <a:solidFill>
              <a:srgbClr val="0B63C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914400" y="4050791"/>
            <a:ext cx="1051560"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220" b="1">
                <a:solidFill>
                  <a:srgbClr val="0B63CE"/>
                </a:solidFill>
                <a:latin typeface="Microsoft YaHei"/>
              </a:rPr>
              <a:t>候选内约束</a:t>
            </a:r>
          </a:p>
        </p:txBody>
      </p:sp>
      <p:sp>
        <p:nvSpPr>
          <p:cNvPr id="33" name="Rectangle 32"/>
          <p:cNvSpPr/>
          <p:nvPr/>
        </p:nvSpPr>
        <p:spPr>
          <a:xfrm>
            <a:off x="2075688" y="4023360"/>
            <a:ext cx="2971800" cy="219456"/>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950" b="0">
                <a:solidFill>
                  <a:srgbClr val="53657A"/>
                </a:solidFill>
                <a:latin typeface="Microsoft YaHei"/>
              </a:rPr>
              <a:t>所有主能力和相关能力输出必须来自当前候选集合，避免候选外发明。</a:t>
            </a:r>
          </a:p>
        </p:txBody>
      </p:sp>
      <p:sp>
        <p:nvSpPr>
          <p:cNvPr id="34" name="Rounded Rectangle 33"/>
          <p:cNvSpPr/>
          <p:nvPr/>
        </p:nvSpPr>
        <p:spPr>
          <a:xfrm>
            <a:off x="6144768" y="3886200"/>
            <a:ext cx="4663440" cy="621792"/>
          </a:xfrm>
          <a:prstGeom prst="roundRect">
            <a:avLst/>
          </a:prstGeom>
          <a:solidFill>
            <a:srgbClr val="F8FBFF"/>
          </a:solidFill>
          <a:ln w="12700">
            <a:solidFill>
              <a:srgbClr val="0E8A5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6309360" y="4050791"/>
            <a:ext cx="1051560"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220" b="1">
                <a:solidFill>
                  <a:srgbClr val="0E8A57"/>
                </a:solidFill>
                <a:latin typeface="Microsoft YaHei"/>
              </a:rPr>
              <a:t>结构化证据</a:t>
            </a:r>
          </a:p>
        </p:txBody>
      </p:sp>
      <p:sp>
        <p:nvSpPr>
          <p:cNvPr id="36" name="Rectangle 35"/>
          <p:cNvSpPr/>
          <p:nvPr/>
        </p:nvSpPr>
        <p:spPr>
          <a:xfrm>
            <a:off x="7470648" y="4023360"/>
            <a:ext cx="2971800" cy="219456"/>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950" b="0">
                <a:solidFill>
                  <a:srgbClr val="53657A"/>
                </a:solidFill>
                <a:latin typeface="Microsoft YaHei"/>
              </a:rPr>
              <a:t>LLM 不是自由回答，而是输出 decision packet、置信、margin、冲突摘要。</a:t>
            </a:r>
          </a:p>
        </p:txBody>
      </p:sp>
      <p:sp>
        <p:nvSpPr>
          <p:cNvPr id="37" name="Rounded Rectangle 36"/>
          <p:cNvSpPr/>
          <p:nvPr/>
        </p:nvSpPr>
        <p:spPr>
          <a:xfrm>
            <a:off x="749808" y="4727448"/>
            <a:ext cx="4663440" cy="621792"/>
          </a:xfrm>
          <a:prstGeom prst="roundRect">
            <a:avLst/>
          </a:prstGeom>
          <a:solidFill>
            <a:srgbClr val="F8FBFF"/>
          </a:solidFill>
          <a:ln w="12700">
            <a:solidFill>
              <a:srgbClr val="E9713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914400" y="4892040"/>
            <a:ext cx="1051560"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220" b="1">
                <a:solidFill>
                  <a:srgbClr val="E97132"/>
                </a:solidFill>
                <a:latin typeface="Microsoft YaHei"/>
              </a:rPr>
              <a:t>授权改判</a:t>
            </a:r>
          </a:p>
        </p:txBody>
      </p:sp>
      <p:sp>
        <p:nvSpPr>
          <p:cNvPr id="39" name="Rectangle 38"/>
          <p:cNvSpPr/>
          <p:nvPr/>
        </p:nvSpPr>
        <p:spPr>
          <a:xfrm>
            <a:off x="2075688" y="4864608"/>
            <a:ext cx="2971800" cy="219456"/>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950" b="0">
                <a:solidFill>
                  <a:srgbClr val="53657A"/>
                </a:solidFill>
                <a:latin typeface="Microsoft YaHei"/>
              </a:rPr>
              <a:t>多角色复核只有满足票数、分数增益和显式证据门槛时才允许改判。</a:t>
            </a:r>
          </a:p>
        </p:txBody>
      </p:sp>
      <p:sp>
        <p:nvSpPr>
          <p:cNvPr id="40" name="Rounded Rectangle 39"/>
          <p:cNvSpPr/>
          <p:nvPr/>
        </p:nvSpPr>
        <p:spPr>
          <a:xfrm>
            <a:off x="6144768" y="4727448"/>
            <a:ext cx="4663440" cy="621792"/>
          </a:xfrm>
          <a:prstGeom prst="roundRect">
            <a:avLst/>
          </a:prstGeom>
          <a:solidFill>
            <a:srgbClr val="F8FBFF"/>
          </a:solidFill>
          <a:ln w="12700">
            <a:solidFill>
              <a:srgbClr val="6B49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6309360" y="4892040"/>
            <a:ext cx="1051560"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220" b="1">
                <a:solidFill>
                  <a:srgbClr val="6B49C8"/>
                </a:solidFill>
                <a:latin typeface="Microsoft YaHei"/>
              </a:rPr>
              <a:t>过程轨迹</a:t>
            </a:r>
          </a:p>
        </p:txBody>
      </p:sp>
      <p:sp>
        <p:nvSpPr>
          <p:cNvPr id="42" name="Rectangle 41"/>
          <p:cNvSpPr/>
          <p:nvPr/>
        </p:nvSpPr>
        <p:spPr>
          <a:xfrm>
            <a:off x="7470648" y="4864608"/>
            <a:ext cx="2971800" cy="219456"/>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950" b="0">
                <a:solidFill>
                  <a:srgbClr val="53657A"/>
                </a:solidFill>
                <a:latin typeface="Microsoft YaHei"/>
              </a:rPr>
              <a:t>候选快照、直接路由、升级原因、角色提案和最终落点进入统一 trace。</a:t>
            </a:r>
          </a:p>
        </p:txBody>
      </p:sp>
      <p:sp>
        <p:nvSpPr>
          <p:cNvPr id="43" name="Rectangle 42"/>
          <p:cNvSpPr/>
          <p:nvPr/>
        </p:nvSpPr>
        <p:spPr>
          <a:xfrm>
            <a:off x="475488" y="6473952"/>
            <a:ext cx="8595360" cy="10160"/>
          </a:xfrm>
          <a:prstGeom prst="rect">
            <a:avLst/>
          </a:prstGeom>
          <a:solidFill>
            <a:srgbClr val="C8DB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475488" y="6537960"/>
            <a:ext cx="5486400"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750" b="0">
                <a:solidFill>
                  <a:srgbClr val="53657A"/>
                </a:solidFill>
                <a:latin typeface="Microsoft YaHei"/>
              </a:rPr>
              <a:t>面向互联网基础资源的大模型多智能体协作与可信认知标识技术研究</a:t>
            </a:r>
          </a:p>
        </p:txBody>
      </p:sp>
      <p:sp>
        <p:nvSpPr>
          <p:cNvPr id="45" name="Rectangle 44"/>
          <p:cNvSpPr/>
          <p:nvPr/>
        </p:nvSpPr>
        <p:spPr>
          <a:xfrm>
            <a:off x="11155680" y="6501384"/>
            <a:ext cx="384048"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r"/>
            <a:r>
              <a:rPr sz="800" b="0">
                <a:solidFill>
                  <a:srgbClr val="53657A"/>
                </a:solidFill>
                <a:latin typeface="Arial"/>
              </a:rPr>
              <a:t>02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cover_bg_deep.png"/>
          <p:cNvPicPr>
            <a:picLocks noChangeAspect="1"/>
          </p:cNvPicPr>
          <p:nvPr/>
        </p:nvPicPr>
        <p:blipFill>
          <a:blip r:embed="rId2"/>
          <a:stretch>
            <a:fillRect/>
          </a:stretch>
        </p:blipFill>
        <p:spPr>
          <a:xfrm>
            <a:off x="0" y="0"/>
            <a:ext cx="12191999" cy="6858000"/>
          </a:xfrm>
          <a:prstGeom prst="rect">
            <a:avLst/>
          </a:prstGeom>
        </p:spPr>
      </p:pic>
      <p:sp>
        <p:nvSpPr>
          <p:cNvPr id="3" name="Rectangle 2"/>
          <p:cNvSpPr/>
          <p:nvPr/>
        </p:nvSpPr>
        <p:spPr>
          <a:xfrm>
            <a:off x="658368" y="658368"/>
            <a:ext cx="2011680" cy="43891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3000" b="1">
                <a:solidFill>
                  <a:srgbClr val="FFFFFF"/>
                </a:solidFill>
                <a:latin typeface="Microsoft YaHei"/>
              </a:rPr>
              <a:t>答辩提纲</a:t>
            </a:r>
          </a:p>
        </p:txBody>
      </p:sp>
      <p:sp>
        <p:nvSpPr>
          <p:cNvPr id="4" name="Rectangle 3"/>
          <p:cNvSpPr/>
          <p:nvPr/>
        </p:nvSpPr>
        <p:spPr>
          <a:xfrm>
            <a:off x="676656" y="1207008"/>
            <a:ext cx="1463040" cy="38100"/>
          </a:xfrm>
          <a:prstGeom prst="rect">
            <a:avLst/>
          </a:prstGeom>
          <a:solidFill>
            <a:srgbClr val="26B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914400" y="1600200"/>
            <a:ext cx="310896" cy="310896"/>
          </a:xfrm>
          <a:prstGeom prst="ellipse">
            <a:avLst/>
          </a:prstGeom>
          <a:solidFill>
            <a:srgbClr val="26B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914400" y="1655064"/>
            <a:ext cx="310896"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lIns="36576" rIns="36576" tIns="18288" bIns="18288"/>
          <a:lstStyle/>
          <a:p>
            <a:pPr algn="ctr"/>
            <a:r>
              <a:rPr sz="900" b="1">
                <a:solidFill>
                  <a:srgbClr val="061A46"/>
                </a:solidFill>
                <a:latin typeface="Microsoft YaHei"/>
              </a:rPr>
              <a:t>一</a:t>
            </a:r>
          </a:p>
        </p:txBody>
      </p:sp>
      <p:sp>
        <p:nvSpPr>
          <p:cNvPr id="7" name="Rectangle 6"/>
          <p:cNvSpPr/>
          <p:nvPr/>
        </p:nvSpPr>
        <p:spPr>
          <a:xfrm>
            <a:off x="1444752" y="1572768"/>
            <a:ext cx="1920240" cy="25603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700" b="1">
                <a:solidFill>
                  <a:srgbClr val="FFFFFF"/>
                </a:solidFill>
                <a:latin typeface="Microsoft YaHei"/>
              </a:rPr>
              <a:t>问题定位</a:t>
            </a:r>
          </a:p>
        </p:txBody>
      </p:sp>
      <p:sp>
        <p:nvSpPr>
          <p:cNvPr id="8" name="Rectangle 7"/>
          <p:cNvSpPr/>
          <p:nvPr/>
        </p:nvSpPr>
        <p:spPr>
          <a:xfrm>
            <a:off x="3383280" y="1600200"/>
            <a:ext cx="5303520" cy="219456"/>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150" b="0">
                <a:solidFill>
                  <a:srgbClr val="D2E6FF"/>
                </a:solidFill>
                <a:latin typeface="Microsoft YaHei"/>
              </a:rPr>
              <a:t>能力发现与工具执行之间的接口层难题</a:t>
            </a:r>
          </a:p>
        </p:txBody>
      </p:sp>
      <p:sp>
        <p:nvSpPr>
          <p:cNvPr id="9" name="Oval 8"/>
          <p:cNvSpPr/>
          <p:nvPr/>
        </p:nvSpPr>
        <p:spPr>
          <a:xfrm>
            <a:off x="914400" y="2404872"/>
            <a:ext cx="310896" cy="310896"/>
          </a:xfrm>
          <a:prstGeom prst="ellipse">
            <a:avLst/>
          </a:prstGeom>
          <a:solidFill>
            <a:srgbClr val="F4B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914400" y="2459736"/>
            <a:ext cx="310896"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lIns="36576" rIns="36576" tIns="18288" bIns="18288"/>
          <a:lstStyle/>
          <a:p>
            <a:pPr algn="ctr"/>
            <a:r>
              <a:rPr sz="900" b="1">
                <a:solidFill>
                  <a:srgbClr val="061A46"/>
                </a:solidFill>
                <a:latin typeface="Microsoft YaHei"/>
              </a:rPr>
              <a:t>二</a:t>
            </a:r>
          </a:p>
        </p:txBody>
      </p:sp>
      <p:sp>
        <p:nvSpPr>
          <p:cNvPr id="11" name="Rectangle 10"/>
          <p:cNvSpPr/>
          <p:nvPr/>
        </p:nvSpPr>
        <p:spPr>
          <a:xfrm>
            <a:off x="1444752" y="2377440"/>
            <a:ext cx="1920240" cy="25603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700" b="1">
                <a:solidFill>
                  <a:srgbClr val="FFFFFF"/>
                </a:solidFill>
                <a:latin typeface="Microsoft YaHei"/>
              </a:rPr>
              <a:t>算法路线</a:t>
            </a:r>
          </a:p>
        </p:txBody>
      </p:sp>
      <p:sp>
        <p:nvSpPr>
          <p:cNvPr id="12" name="Rectangle 11"/>
          <p:cNvSpPr/>
          <p:nvPr/>
        </p:nvSpPr>
        <p:spPr>
          <a:xfrm>
            <a:off x="3383280" y="2404872"/>
            <a:ext cx="5303520" cy="219456"/>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150" b="0">
                <a:solidFill>
                  <a:srgbClr val="D2E6FF"/>
                </a:solidFill>
                <a:latin typeface="Microsoft YaHei"/>
              </a:rPr>
              <a:t>候选内判别、结构化裁决、职责化复核</a:t>
            </a:r>
          </a:p>
        </p:txBody>
      </p:sp>
      <p:sp>
        <p:nvSpPr>
          <p:cNvPr id="13" name="Oval 12"/>
          <p:cNvSpPr/>
          <p:nvPr/>
        </p:nvSpPr>
        <p:spPr>
          <a:xfrm>
            <a:off x="914400" y="3209544"/>
            <a:ext cx="310896" cy="310896"/>
          </a:xfrm>
          <a:prstGeom prst="ellipse">
            <a:avLst/>
          </a:prstGeom>
          <a:solidFill>
            <a:srgbClr val="0E8A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914400" y="3264408"/>
            <a:ext cx="310896"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lIns="36576" rIns="36576" tIns="18288" bIns="18288"/>
          <a:lstStyle/>
          <a:p>
            <a:pPr algn="ctr"/>
            <a:r>
              <a:rPr sz="900" b="1">
                <a:solidFill>
                  <a:srgbClr val="061A46"/>
                </a:solidFill>
                <a:latin typeface="Microsoft YaHei"/>
              </a:rPr>
              <a:t>三</a:t>
            </a:r>
          </a:p>
        </p:txBody>
      </p:sp>
      <p:sp>
        <p:nvSpPr>
          <p:cNvPr id="15" name="Rectangle 14"/>
          <p:cNvSpPr/>
          <p:nvPr/>
        </p:nvSpPr>
        <p:spPr>
          <a:xfrm>
            <a:off x="1444752" y="3182112"/>
            <a:ext cx="1920240" cy="25603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700" b="1">
                <a:solidFill>
                  <a:srgbClr val="FFFFFF"/>
                </a:solidFill>
                <a:latin typeface="Microsoft YaHei"/>
              </a:rPr>
              <a:t>工程实现</a:t>
            </a:r>
          </a:p>
        </p:txBody>
      </p:sp>
      <p:sp>
        <p:nvSpPr>
          <p:cNvPr id="16" name="Rectangle 15"/>
          <p:cNvSpPr/>
          <p:nvPr/>
        </p:nvSpPr>
        <p:spPr>
          <a:xfrm>
            <a:off x="3383280" y="3209544"/>
            <a:ext cx="5303520" cy="219456"/>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150" b="0">
                <a:solidFill>
                  <a:srgbClr val="D2E6FF"/>
                </a:solidFill>
                <a:latin typeface="Microsoft YaHei"/>
              </a:rPr>
              <a:t>Stage R/A/B/C、trace contract 与执行落点</a:t>
            </a:r>
          </a:p>
        </p:txBody>
      </p:sp>
      <p:sp>
        <p:nvSpPr>
          <p:cNvPr id="17" name="Oval 16"/>
          <p:cNvSpPr/>
          <p:nvPr/>
        </p:nvSpPr>
        <p:spPr>
          <a:xfrm>
            <a:off x="914400" y="4014216"/>
            <a:ext cx="310896" cy="310896"/>
          </a:xfrm>
          <a:prstGeom prst="ellipse">
            <a:avLst/>
          </a:prstGeom>
          <a:solidFill>
            <a:srgbClr val="6B49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914400" y="4069080"/>
            <a:ext cx="310896"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lIns="36576" rIns="36576" tIns="18288" bIns="18288"/>
          <a:lstStyle/>
          <a:p>
            <a:pPr algn="ctr"/>
            <a:r>
              <a:rPr sz="900" b="1">
                <a:solidFill>
                  <a:srgbClr val="061A46"/>
                </a:solidFill>
                <a:latin typeface="Microsoft YaHei"/>
              </a:rPr>
              <a:t>四</a:t>
            </a:r>
          </a:p>
        </p:txBody>
      </p:sp>
      <p:sp>
        <p:nvSpPr>
          <p:cNvPr id="19" name="Rectangle 18"/>
          <p:cNvSpPr/>
          <p:nvPr/>
        </p:nvSpPr>
        <p:spPr>
          <a:xfrm>
            <a:off x="1444752" y="3986784"/>
            <a:ext cx="1920240" cy="25603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700" b="1">
                <a:solidFill>
                  <a:srgbClr val="FFFFFF"/>
                </a:solidFill>
                <a:latin typeface="Microsoft YaHei"/>
              </a:rPr>
              <a:t>实验验证</a:t>
            </a:r>
          </a:p>
        </p:txBody>
      </p:sp>
      <p:sp>
        <p:nvSpPr>
          <p:cNvPr id="20" name="Rectangle 19"/>
          <p:cNvSpPr/>
          <p:nvPr/>
        </p:nvSpPr>
        <p:spPr>
          <a:xfrm>
            <a:off x="3383280" y="4014216"/>
            <a:ext cx="5303520" cy="219456"/>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150" b="0">
                <a:solidFill>
                  <a:srgbClr val="D2E6FF"/>
                </a:solidFill>
                <a:latin typeface="Microsoft YaHei"/>
              </a:rPr>
              <a:t>563 样本、冻结协议、累计稳定性与消融</a:t>
            </a:r>
          </a:p>
        </p:txBody>
      </p:sp>
      <p:sp>
        <p:nvSpPr>
          <p:cNvPr id="21" name="Oval 20"/>
          <p:cNvSpPr/>
          <p:nvPr/>
        </p:nvSpPr>
        <p:spPr>
          <a:xfrm>
            <a:off x="914400" y="4818888"/>
            <a:ext cx="310896" cy="310896"/>
          </a:xfrm>
          <a:prstGeom prst="ellipse">
            <a:avLst/>
          </a:prstGeom>
          <a:solidFill>
            <a:srgbClr val="1E83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914400" y="4873751"/>
            <a:ext cx="310896"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lIns="36576" rIns="36576" tIns="18288" bIns="18288"/>
          <a:lstStyle/>
          <a:p>
            <a:pPr algn="ctr"/>
            <a:r>
              <a:rPr sz="900" b="1">
                <a:solidFill>
                  <a:srgbClr val="061A46"/>
                </a:solidFill>
                <a:latin typeface="Microsoft YaHei"/>
              </a:rPr>
              <a:t>五</a:t>
            </a:r>
          </a:p>
        </p:txBody>
      </p:sp>
      <p:sp>
        <p:nvSpPr>
          <p:cNvPr id="23" name="Rectangle 22"/>
          <p:cNvSpPr/>
          <p:nvPr/>
        </p:nvSpPr>
        <p:spPr>
          <a:xfrm>
            <a:off x="1444752" y="4791455"/>
            <a:ext cx="1920240" cy="25603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700" b="1">
                <a:solidFill>
                  <a:srgbClr val="FFFFFF"/>
                </a:solidFill>
                <a:latin typeface="Microsoft YaHei"/>
              </a:rPr>
              <a:t>成果验收</a:t>
            </a:r>
          </a:p>
        </p:txBody>
      </p:sp>
      <p:sp>
        <p:nvSpPr>
          <p:cNvPr id="24" name="Rectangle 23"/>
          <p:cNvSpPr/>
          <p:nvPr/>
        </p:nvSpPr>
        <p:spPr>
          <a:xfrm>
            <a:off x="3383280" y="4818888"/>
            <a:ext cx="5303520" cy="219456"/>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150" b="0">
                <a:solidFill>
                  <a:srgbClr val="D2E6FF"/>
                </a:solidFill>
                <a:latin typeface="Microsoft YaHei"/>
              </a:rPr>
              <a:t>报告、论文、专利、宣传与后续工作</a:t>
            </a:r>
          </a:p>
        </p:txBody>
      </p:sp>
      <p:sp>
        <p:nvSpPr>
          <p:cNvPr id="25" name="Rectangle 24"/>
          <p:cNvSpPr/>
          <p:nvPr/>
        </p:nvSpPr>
        <p:spPr>
          <a:xfrm>
            <a:off x="713232" y="5961888"/>
            <a:ext cx="8046720" cy="27432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400" b="1">
                <a:solidFill>
                  <a:srgbClr val="D2E6FF"/>
                </a:solidFill>
                <a:latin typeface="Microsoft YaHei"/>
              </a:rPr>
              <a:t>主线：以最新论文为骨架，把“最难点”讲成问题定义、算法约束、实验结论和工程证据。</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light_texture.png"/>
          <p:cNvPicPr>
            <a:picLocks noChangeAspect="1"/>
          </p:cNvPicPr>
          <p:nvPr/>
        </p:nvPicPr>
        <p:blipFill>
          <a:blip r:embed="rId2"/>
          <a:stretch>
            <a:fillRect/>
          </a:stretch>
        </p:blipFill>
        <p:spPr>
          <a:xfrm>
            <a:off x="0" y="0"/>
            <a:ext cx="12191999" cy="6858000"/>
          </a:xfrm>
          <a:prstGeom prst="rect">
            <a:avLst/>
          </a:prstGeom>
        </p:spPr>
      </p:pic>
      <p:sp>
        <p:nvSpPr>
          <p:cNvPr id="3" name="Rectangle 2"/>
          <p:cNvSpPr/>
          <p:nvPr/>
        </p:nvSpPr>
        <p:spPr>
          <a:xfrm>
            <a:off x="0" y="0"/>
            <a:ext cx="12191999" cy="109728"/>
          </a:xfrm>
          <a:prstGeom prst="rect">
            <a:avLst/>
          </a:prstGeom>
          <a:solidFill>
            <a:srgbClr val="082B6D"/>
          </a:solidFill>
          <a:ln w="12700">
            <a:solidFill>
              <a:srgbClr val="082B6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9728"/>
            <a:ext cx="12191999" cy="32004"/>
          </a:xfrm>
          <a:prstGeom prst="rect">
            <a:avLst/>
          </a:prstGeom>
          <a:solidFill>
            <a:srgbClr val="1E83E6"/>
          </a:solidFill>
          <a:ln w="12700">
            <a:solidFill>
              <a:srgbClr val="1E83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475488" y="283464"/>
            <a:ext cx="676656" cy="237744"/>
          </a:xfrm>
          <a:prstGeom prst="roundRect">
            <a:avLst/>
          </a:prstGeom>
          <a:solidFill>
            <a:srgbClr val="E7F1FF"/>
          </a:solidFill>
          <a:ln w="11430">
            <a:solidFill>
              <a:srgbClr val="C8DBEF"/>
            </a:solidFill>
          </a:ln>
        </p:spPr>
        <p:style>
          <a:lnRef idx="1">
            <a:schemeClr val="accent1"/>
          </a:lnRef>
          <a:fillRef idx="3">
            <a:schemeClr val="accent1"/>
          </a:fillRef>
          <a:effectRef idx="2">
            <a:schemeClr val="accent1"/>
          </a:effectRef>
          <a:fontRef idx="minor">
            <a:schemeClr val="lt1"/>
          </a:fontRef>
        </p:style>
        <p:txBody>
          <a:bodyPr rtlCol="0" anchor="ctr" lIns="36576" rIns="36576" tIns="18288" bIns="18288"/>
          <a:lstStyle/>
          <a:p>
            <a:pPr algn="ctr"/>
            <a:r>
              <a:rPr sz="1200" b="1">
                <a:solidFill>
                  <a:srgbClr val="0B63CE"/>
                </a:solidFill>
                <a:latin typeface="Microsoft YaHei"/>
              </a:rPr>
              <a:t>02</a:t>
            </a:r>
          </a:p>
        </p:txBody>
      </p:sp>
      <p:sp>
        <p:nvSpPr>
          <p:cNvPr id="6" name="Rectangle 5"/>
          <p:cNvSpPr/>
          <p:nvPr/>
        </p:nvSpPr>
        <p:spPr>
          <a:xfrm>
            <a:off x="1298448" y="237744"/>
            <a:ext cx="8412480" cy="38404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2200" b="1">
                <a:solidFill>
                  <a:srgbClr val="102033"/>
                </a:solidFill>
                <a:latin typeface="Microsoft YaHei"/>
              </a:rPr>
              <a:t>攻关难点：不是做一次分类，而是把可控候选决策做成系统能力</a:t>
            </a:r>
          </a:p>
        </p:txBody>
      </p:sp>
      <p:sp>
        <p:nvSpPr>
          <p:cNvPr id="7" name="Rectangle 6"/>
          <p:cNvSpPr/>
          <p:nvPr/>
        </p:nvSpPr>
        <p:spPr>
          <a:xfrm>
            <a:off x="1298448" y="621792"/>
            <a:ext cx="8595360" cy="237744"/>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080" b="0">
                <a:solidFill>
                  <a:srgbClr val="53657A"/>
                </a:solidFill>
                <a:latin typeface="Microsoft YaHei"/>
              </a:rPr>
              <a:t>论文更新后，技术难点已经清晰收敛到固定能力集合内的主能力选择、相关能力识别和受控复核。</a:t>
            </a:r>
          </a:p>
        </p:txBody>
      </p:sp>
      <p:sp>
        <p:nvSpPr>
          <p:cNvPr id="8" name="Rectangle 7"/>
          <p:cNvSpPr/>
          <p:nvPr/>
        </p:nvSpPr>
        <p:spPr>
          <a:xfrm>
            <a:off x="10698480" y="256032"/>
            <a:ext cx="1005840" cy="25603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r"/>
            <a:r>
              <a:rPr sz="2100" b="1">
                <a:solidFill>
                  <a:srgbClr val="0B63CE"/>
                </a:solidFill>
                <a:latin typeface="Arial"/>
              </a:rPr>
              <a:t>CNNIC</a:t>
            </a:r>
          </a:p>
        </p:txBody>
      </p:sp>
      <p:sp>
        <p:nvSpPr>
          <p:cNvPr id="9" name="Rectangle 8"/>
          <p:cNvSpPr/>
          <p:nvPr/>
        </p:nvSpPr>
        <p:spPr>
          <a:xfrm>
            <a:off x="10012680" y="530352"/>
            <a:ext cx="1691640"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r"/>
            <a:r>
              <a:rPr sz="850" b="0">
                <a:solidFill>
                  <a:srgbClr val="53657A"/>
                </a:solidFill>
                <a:latin typeface="Microsoft YaHei"/>
              </a:rPr>
              <a:t>中国互联网络信息中心</a:t>
            </a:r>
          </a:p>
        </p:txBody>
      </p:sp>
      <p:sp>
        <p:nvSpPr>
          <p:cNvPr id="10" name="Rectangle 9"/>
          <p:cNvSpPr/>
          <p:nvPr/>
        </p:nvSpPr>
        <p:spPr>
          <a:xfrm>
            <a:off x="658368" y="1115568"/>
            <a:ext cx="1828800" cy="27432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800" b="1">
                <a:solidFill>
                  <a:srgbClr val="0B63CE"/>
                </a:solidFill>
                <a:latin typeface="Microsoft YaHei"/>
              </a:rPr>
              <a:t>四个硬约束</a:t>
            </a:r>
          </a:p>
        </p:txBody>
      </p:sp>
      <p:sp>
        <p:nvSpPr>
          <p:cNvPr id="11" name="Rounded Rectangle 10"/>
          <p:cNvSpPr/>
          <p:nvPr/>
        </p:nvSpPr>
        <p:spPr>
          <a:xfrm>
            <a:off x="713232" y="1627632"/>
            <a:ext cx="4800600" cy="1024128"/>
          </a:xfrm>
          <a:prstGeom prst="roundRect">
            <a:avLst/>
          </a:prstGeom>
          <a:solidFill>
            <a:srgbClr val="FFFFFF"/>
          </a:solidFill>
          <a:ln w="12700">
            <a:solidFill>
              <a:srgbClr val="0B63C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932688" y="1810512"/>
            <a:ext cx="475488" cy="25603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700" b="1">
                <a:solidFill>
                  <a:srgbClr val="0B63CE"/>
                </a:solidFill>
                <a:latin typeface="Arial"/>
              </a:rPr>
              <a:t>01</a:t>
            </a:r>
          </a:p>
        </p:txBody>
      </p:sp>
      <p:sp>
        <p:nvSpPr>
          <p:cNvPr id="13" name="Rectangle 12"/>
          <p:cNvSpPr/>
          <p:nvPr/>
        </p:nvSpPr>
        <p:spPr>
          <a:xfrm>
            <a:off x="1517904" y="1801368"/>
            <a:ext cx="1920240" cy="22860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600" b="1">
                <a:solidFill>
                  <a:srgbClr val="102033"/>
                </a:solidFill>
                <a:latin typeface="Microsoft YaHei"/>
              </a:rPr>
              <a:t>候选固定</a:t>
            </a:r>
          </a:p>
        </p:txBody>
      </p:sp>
      <p:sp>
        <p:nvSpPr>
          <p:cNvPr id="14" name="Rectangle 13"/>
          <p:cNvSpPr/>
          <p:nvPr/>
        </p:nvSpPr>
        <p:spPr>
          <a:xfrm>
            <a:off x="1517904" y="2157984"/>
            <a:ext cx="3456432" cy="29260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060" b="0">
                <a:solidFill>
                  <a:srgbClr val="53657A"/>
                </a:solidFill>
                <a:latin typeface="Microsoft YaHei"/>
              </a:rPr>
              <a:t>平台已经给出能力目录，算法不能自由生成候选外地址，必须在候选内稳定比较。</a:t>
            </a:r>
          </a:p>
        </p:txBody>
      </p:sp>
      <p:sp>
        <p:nvSpPr>
          <p:cNvPr id="15" name="Rounded Rectangle 14"/>
          <p:cNvSpPr/>
          <p:nvPr/>
        </p:nvSpPr>
        <p:spPr>
          <a:xfrm>
            <a:off x="6272784" y="1627632"/>
            <a:ext cx="4800600" cy="1024128"/>
          </a:xfrm>
          <a:prstGeom prst="roundRect">
            <a:avLst/>
          </a:prstGeom>
          <a:solidFill>
            <a:srgbClr val="FFFFFF"/>
          </a:solidFill>
          <a:ln w="12700">
            <a:solidFill>
              <a:srgbClr val="E9713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492240" y="1810512"/>
            <a:ext cx="475488" cy="25603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700" b="1">
                <a:solidFill>
                  <a:srgbClr val="E97132"/>
                </a:solidFill>
                <a:latin typeface="Arial"/>
              </a:rPr>
              <a:t>02</a:t>
            </a:r>
          </a:p>
        </p:txBody>
      </p:sp>
      <p:sp>
        <p:nvSpPr>
          <p:cNvPr id="17" name="Rectangle 16"/>
          <p:cNvSpPr/>
          <p:nvPr/>
        </p:nvSpPr>
        <p:spPr>
          <a:xfrm>
            <a:off x="7077456" y="1801368"/>
            <a:ext cx="1920240" cy="22860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600" b="1">
                <a:solidFill>
                  <a:srgbClr val="102033"/>
                </a:solidFill>
                <a:latin typeface="Microsoft YaHei"/>
              </a:rPr>
              <a:t>语义复合</a:t>
            </a:r>
          </a:p>
        </p:txBody>
      </p:sp>
      <p:sp>
        <p:nvSpPr>
          <p:cNvPr id="18" name="Rectangle 17"/>
          <p:cNvSpPr/>
          <p:nvPr/>
        </p:nvSpPr>
        <p:spPr>
          <a:xfrm>
            <a:off x="7077456" y="2157984"/>
            <a:ext cx="3456432" cy="29260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060" b="0">
                <a:solidFill>
                  <a:srgbClr val="53657A"/>
                </a:solidFill>
                <a:latin typeface="Microsoft YaHei"/>
              </a:rPr>
              <a:t>请求包含主任务、次要诉求、场景线索和治理约束，单一关键词规则容易误判。</a:t>
            </a:r>
          </a:p>
        </p:txBody>
      </p:sp>
      <p:sp>
        <p:nvSpPr>
          <p:cNvPr id="19" name="Rounded Rectangle 18"/>
          <p:cNvSpPr/>
          <p:nvPr/>
        </p:nvSpPr>
        <p:spPr>
          <a:xfrm>
            <a:off x="713232" y="2980944"/>
            <a:ext cx="4800600" cy="1024128"/>
          </a:xfrm>
          <a:prstGeom prst="roundRect">
            <a:avLst/>
          </a:prstGeom>
          <a:solidFill>
            <a:srgbClr val="FFFFFF"/>
          </a:solidFill>
          <a:ln w="12700">
            <a:solidFill>
              <a:srgbClr val="0E8A5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932688" y="3163824"/>
            <a:ext cx="475488" cy="25603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700" b="1">
                <a:solidFill>
                  <a:srgbClr val="0E8A57"/>
                </a:solidFill>
                <a:latin typeface="Arial"/>
              </a:rPr>
              <a:t>03</a:t>
            </a:r>
          </a:p>
        </p:txBody>
      </p:sp>
      <p:sp>
        <p:nvSpPr>
          <p:cNvPr id="21" name="Rectangle 20"/>
          <p:cNvSpPr/>
          <p:nvPr/>
        </p:nvSpPr>
        <p:spPr>
          <a:xfrm>
            <a:off x="1517904" y="3154679"/>
            <a:ext cx="1920240" cy="22860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600" b="1">
                <a:solidFill>
                  <a:srgbClr val="102033"/>
                </a:solidFill>
                <a:latin typeface="Microsoft YaHei"/>
              </a:rPr>
              <a:t>层级冲突</a:t>
            </a:r>
          </a:p>
        </p:txBody>
      </p:sp>
      <p:sp>
        <p:nvSpPr>
          <p:cNvPr id="22" name="Rectangle 21"/>
          <p:cNvSpPr/>
          <p:nvPr/>
        </p:nvSpPr>
        <p:spPr>
          <a:xfrm>
            <a:off x="1517904" y="3511296"/>
            <a:ext cx="3456432" cy="29260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060" b="0">
                <a:solidFill>
                  <a:srgbClr val="53657A"/>
                </a:solidFill>
                <a:latin typeface="Microsoft YaHei"/>
              </a:rPr>
              <a:t>父子节点、同层竞争和可接受回落并存，需要区分合理回落与粒度错误。</a:t>
            </a:r>
          </a:p>
        </p:txBody>
      </p:sp>
      <p:sp>
        <p:nvSpPr>
          <p:cNvPr id="23" name="Rounded Rectangle 22"/>
          <p:cNvSpPr/>
          <p:nvPr/>
        </p:nvSpPr>
        <p:spPr>
          <a:xfrm>
            <a:off x="6272784" y="2980944"/>
            <a:ext cx="4800600" cy="1024128"/>
          </a:xfrm>
          <a:prstGeom prst="roundRect">
            <a:avLst/>
          </a:prstGeom>
          <a:solidFill>
            <a:srgbClr val="FFFFFF"/>
          </a:solidFill>
          <a:ln w="12700">
            <a:solidFill>
              <a:srgbClr val="6B49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492240" y="3163824"/>
            <a:ext cx="475488" cy="25603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700" b="1">
                <a:solidFill>
                  <a:srgbClr val="6B49C8"/>
                </a:solidFill>
                <a:latin typeface="Arial"/>
              </a:rPr>
              <a:t>04</a:t>
            </a:r>
          </a:p>
        </p:txBody>
      </p:sp>
      <p:sp>
        <p:nvSpPr>
          <p:cNvPr id="25" name="Rectangle 24"/>
          <p:cNvSpPr/>
          <p:nvPr/>
        </p:nvSpPr>
        <p:spPr>
          <a:xfrm>
            <a:off x="7077456" y="3154679"/>
            <a:ext cx="1920240" cy="22860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600" b="1">
                <a:solidFill>
                  <a:srgbClr val="102033"/>
                </a:solidFill>
                <a:latin typeface="Microsoft YaHei"/>
              </a:rPr>
              <a:t>复核受控</a:t>
            </a:r>
          </a:p>
        </p:txBody>
      </p:sp>
      <p:sp>
        <p:nvSpPr>
          <p:cNvPr id="26" name="Rectangle 25"/>
          <p:cNvSpPr/>
          <p:nvPr/>
        </p:nvSpPr>
        <p:spPr>
          <a:xfrm>
            <a:off x="7077456" y="3511296"/>
            <a:ext cx="3456432" cy="29260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060" b="0">
                <a:solidFill>
                  <a:srgbClr val="53657A"/>
                </a:solidFill>
                <a:latin typeface="Microsoft YaHei"/>
              </a:rPr>
              <a:t>多智能体不能无边界讨论，必须有触发条件、职责视图和改判授权门槛。</a:t>
            </a:r>
          </a:p>
        </p:txBody>
      </p:sp>
      <p:sp>
        <p:nvSpPr>
          <p:cNvPr id="27" name="Rounded Rectangle 26"/>
          <p:cNvSpPr/>
          <p:nvPr/>
        </p:nvSpPr>
        <p:spPr>
          <a:xfrm>
            <a:off x="822960" y="4572000"/>
            <a:ext cx="10241280" cy="987552"/>
          </a:xfrm>
          <a:prstGeom prst="roundRect">
            <a:avLst/>
          </a:prstGeom>
          <a:solidFill>
            <a:srgbClr val="071A46"/>
          </a:solidFill>
          <a:ln w="12700">
            <a:solidFill>
              <a:srgbClr val="1E83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1143000" y="4846320"/>
            <a:ext cx="1280160" cy="25603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600" b="1">
                <a:solidFill>
                  <a:srgbClr val="26B6FF"/>
                </a:solidFill>
                <a:latin typeface="Microsoft YaHei"/>
              </a:rPr>
              <a:t>攻关抓手</a:t>
            </a:r>
          </a:p>
        </p:txBody>
      </p:sp>
      <p:sp>
        <p:nvSpPr>
          <p:cNvPr id="29" name="Rectangle 28"/>
          <p:cNvSpPr/>
          <p:nvPr/>
        </p:nvSpPr>
        <p:spPr>
          <a:xfrm>
            <a:off x="2487168" y="4754880"/>
            <a:ext cx="7635240" cy="329184"/>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700" b="1">
                <a:solidFill>
                  <a:srgbClr val="FFFFFF"/>
                </a:solidFill>
                <a:latin typeface="Microsoft YaHei"/>
              </a:rPr>
              <a:t>把“自然语言请求到能力地址”定义为受限能力命名空间下的语义路由问题。</a:t>
            </a:r>
          </a:p>
        </p:txBody>
      </p:sp>
      <p:sp>
        <p:nvSpPr>
          <p:cNvPr id="30" name="Rectangle 29"/>
          <p:cNvSpPr/>
          <p:nvPr/>
        </p:nvSpPr>
        <p:spPr>
          <a:xfrm>
            <a:off x="2496312" y="5193792"/>
            <a:ext cx="7452360" cy="219456"/>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130" b="0">
                <a:solidFill>
                  <a:srgbClr val="D2E6FF"/>
                </a:solidFill>
                <a:latin typeface="Microsoft YaHei"/>
              </a:rPr>
              <a:t>项目难度在于同时保证候选边界、语义判别、协作纠错、执行落点和过程审计五件事成立。</a:t>
            </a:r>
          </a:p>
        </p:txBody>
      </p:sp>
      <p:sp>
        <p:nvSpPr>
          <p:cNvPr id="31" name="Rectangle 30"/>
          <p:cNvSpPr/>
          <p:nvPr/>
        </p:nvSpPr>
        <p:spPr>
          <a:xfrm>
            <a:off x="475488" y="6473952"/>
            <a:ext cx="8595360" cy="10160"/>
          </a:xfrm>
          <a:prstGeom prst="rect">
            <a:avLst/>
          </a:prstGeom>
          <a:solidFill>
            <a:srgbClr val="C8DB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475488" y="6537960"/>
            <a:ext cx="5486400"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750" b="0">
                <a:solidFill>
                  <a:srgbClr val="53657A"/>
                </a:solidFill>
                <a:latin typeface="Microsoft YaHei"/>
              </a:rPr>
              <a:t>面向互联网基础资源的大模型多智能体协作与可信认知标识技术研究</a:t>
            </a:r>
          </a:p>
        </p:txBody>
      </p:sp>
      <p:sp>
        <p:nvSpPr>
          <p:cNvPr id="33" name="Rectangle 32"/>
          <p:cNvSpPr/>
          <p:nvPr/>
        </p:nvSpPr>
        <p:spPr>
          <a:xfrm>
            <a:off x="11155680" y="6501384"/>
            <a:ext cx="384048"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r"/>
            <a:r>
              <a:rPr sz="800" b="0">
                <a:solidFill>
                  <a:srgbClr val="53657A"/>
                </a:solidFill>
                <a:latin typeface="Arial"/>
              </a:rPr>
              <a:t>04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light_texture.png"/>
          <p:cNvPicPr>
            <a:picLocks noChangeAspect="1"/>
          </p:cNvPicPr>
          <p:nvPr/>
        </p:nvPicPr>
        <p:blipFill>
          <a:blip r:embed="rId2"/>
          <a:stretch>
            <a:fillRect/>
          </a:stretch>
        </p:blipFill>
        <p:spPr>
          <a:xfrm>
            <a:off x="0" y="0"/>
            <a:ext cx="12191999" cy="6858000"/>
          </a:xfrm>
          <a:prstGeom prst="rect">
            <a:avLst/>
          </a:prstGeom>
        </p:spPr>
      </p:pic>
      <p:sp>
        <p:nvSpPr>
          <p:cNvPr id="3" name="Rectangle 2"/>
          <p:cNvSpPr/>
          <p:nvPr/>
        </p:nvSpPr>
        <p:spPr>
          <a:xfrm>
            <a:off x="0" y="0"/>
            <a:ext cx="12191999" cy="109728"/>
          </a:xfrm>
          <a:prstGeom prst="rect">
            <a:avLst/>
          </a:prstGeom>
          <a:solidFill>
            <a:srgbClr val="082B6D"/>
          </a:solidFill>
          <a:ln w="12700">
            <a:solidFill>
              <a:srgbClr val="082B6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9728"/>
            <a:ext cx="12191999" cy="32004"/>
          </a:xfrm>
          <a:prstGeom prst="rect">
            <a:avLst/>
          </a:prstGeom>
          <a:solidFill>
            <a:srgbClr val="1E83E6"/>
          </a:solidFill>
          <a:ln w="12700">
            <a:solidFill>
              <a:srgbClr val="1E83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475488" y="283464"/>
            <a:ext cx="676656" cy="237744"/>
          </a:xfrm>
          <a:prstGeom prst="roundRect">
            <a:avLst/>
          </a:prstGeom>
          <a:solidFill>
            <a:srgbClr val="E7F1FF"/>
          </a:solidFill>
          <a:ln w="11430">
            <a:solidFill>
              <a:srgbClr val="C8DBEF"/>
            </a:solidFill>
          </a:ln>
        </p:spPr>
        <p:style>
          <a:lnRef idx="1">
            <a:schemeClr val="accent1"/>
          </a:lnRef>
          <a:fillRef idx="3">
            <a:schemeClr val="accent1"/>
          </a:fillRef>
          <a:effectRef idx="2">
            <a:schemeClr val="accent1"/>
          </a:effectRef>
          <a:fontRef idx="minor">
            <a:schemeClr val="lt1"/>
          </a:fontRef>
        </p:style>
        <p:txBody>
          <a:bodyPr rtlCol="0" anchor="ctr" lIns="36576" rIns="36576" tIns="18288" bIns="18288"/>
          <a:lstStyle/>
          <a:p>
            <a:pPr algn="ctr"/>
            <a:r>
              <a:rPr sz="1200" b="1">
                <a:solidFill>
                  <a:srgbClr val="0B63CE"/>
                </a:solidFill>
                <a:latin typeface="Microsoft YaHei"/>
              </a:rPr>
              <a:t>03</a:t>
            </a:r>
          </a:p>
        </p:txBody>
      </p:sp>
      <p:sp>
        <p:nvSpPr>
          <p:cNvPr id="6" name="Rectangle 5"/>
          <p:cNvSpPr/>
          <p:nvPr/>
        </p:nvSpPr>
        <p:spPr>
          <a:xfrm>
            <a:off x="1298448" y="237744"/>
            <a:ext cx="8412480" cy="38404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2200" b="1">
                <a:solidFill>
                  <a:srgbClr val="102033"/>
                </a:solidFill>
                <a:latin typeface="Microsoft YaHei"/>
              </a:rPr>
              <a:t>任务书到攻关闭环：每个考核点都对应技术难题和突破证据</a:t>
            </a:r>
          </a:p>
        </p:txBody>
      </p:sp>
      <p:sp>
        <p:nvSpPr>
          <p:cNvPr id="7" name="Rectangle 6"/>
          <p:cNvSpPr/>
          <p:nvPr/>
        </p:nvSpPr>
        <p:spPr>
          <a:xfrm>
            <a:off x="1298448" y="621792"/>
            <a:ext cx="8595360" cy="237744"/>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080" b="0">
                <a:solidFill>
                  <a:srgbClr val="53657A"/>
                </a:solidFill>
                <a:latin typeface="Microsoft YaHei"/>
              </a:rPr>
              <a:t>重点项目验收不只看材料是否齐备，更要看任务书要求如何转化为可验证的攻关成果。</a:t>
            </a:r>
          </a:p>
        </p:txBody>
      </p:sp>
      <p:sp>
        <p:nvSpPr>
          <p:cNvPr id="8" name="Rectangle 7"/>
          <p:cNvSpPr/>
          <p:nvPr/>
        </p:nvSpPr>
        <p:spPr>
          <a:xfrm>
            <a:off x="10698480" y="256032"/>
            <a:ext cx="1005840" cy="25603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r"/>
            <a:r>
              <a:rPr sz="2100" b="1">
                <a:solidFill>
                  <a:srgbClr val="0B63CE"/>
                </a:solidFill>
                <a:latin typeface="Arial"/>
              </a:rPr>
              <a:t>CNNIC</a:t>
            </a:r>
          </a:p>
        </p:txBody>
      </p:sp>
      <p:sp>
        <p:nvSpPr>
          <p:cNvPr id="9" name="Rectangle 8"/>
          <p:cNvSpPr/>
          <p:nvPr/>
        </p:nvSpPr>
        <p:spPr>
          <a:xfrm>
            <a:off x="10012680" y="530352"/>
            <a:ext cx="1691640"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r"/>
            <a:r>
              <a:rPr sz="850" b="0">
                <a:solidFill>
                  <a:srgbClr val="53657A"/>
                </a:solidFill>
                <a:latin typeface="Microsoft YaHei"/>
              </a:rPr>
              <a:t>中国互联网络信息中心</a:t>
            </a:r>
          </a:p>
        </p:txBody>
      </p:sp>
      <p:sp>
        <p:nvSpPr>
          <p:cNvPr id="10" name="Rectangle 9"/>
          <p:cNvSpPr/>
          <p:nvPr/>
        </p:nvSpPr>
        <p:spPr>
          <a:xfrm>
            <a:off x="658368" y="1207008"/>
            <a:ext cx="2560320" cy="420624"/>
          </a:xfrm>
          <a:prstGeom prst="rect">
            <a:avLst/>
          </a:prstGeom>
          <a:solidFill>
            <a:srgbClr val="082B6D"/>
          </a:solidFill>
          <a:ln w="12700">
            <a:solidFill>
              <a:srgbClr val="082B6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31519" y="1316736"/>
            <a:ext cx="2414015"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ctr"/>
            <a:r>
              <a:rPr sz="1150" b="1">
                <a:solidFill>
                  <a:srgbClr val="FFFFFF"/>
                </a:solidFill>
                <a:latin typeface="Microsoft YaHei"/>
              </a:rPr>
              <a:t>任务书要求</a:t>
            </a:r>
          </a:p>
        </p:txBody>
      </p:sp>
      <p:sp>
        <p:nvSpPr>
          <p:cNvPr id="12" name="Rectangle 11"/>
          <p:cNvSpPr/>
          <p:nvPr/>
        </p:nvSpPr>
        <p:spPr>
          <a:xfrm>
            <a:off x="3218687" y="1207008"/>
            <a:ext cx="3703320" cy="420624"/>
          </a:xfrm>
          <a:prstGeom prst="rect">
            <a:avLst/>
          </a:prstGeom>
          <a:solidFill>
            <a:srgbClr val="082B6D"/>
          </a:solidFill>
          <a:ln w="12700">
            <a:solidFill>
              <a:srgbClr val="082B6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3291839" y="1316736"/>
            <a:ext cx="3557015"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ctr"/>
            <a:r>
              <a:rPr sz="1150" b="1">
                <a:solidFill>
                  <a:srgbClr val="FFFFFF"/>
                </a:solidFill>
                <a:latin typeface="Microsoft YaHei"/>
              </a:rPr>
              <a:t>攻关难点</a:t>
            </a:r>
          </a:p>
        </p:txBody>
      </p:sp>
      <p:sp>
        <p:nvSpPr>
          <p:cNvPr id="14" name="Rectangle 13"/>
          <p:cNvSpPr/>
          <p:nvPr/>
        </p:nvSpPr>
        <p:spPr>
          <a:xfrm>
            <a:off x="6922007" y="1207008"/>
            <a:ext cx="4251960" cy="420624"/>
          </a:xfrm>
          <a:prstGeom prst="rect">
            <a:avLst/>
          </a:prstGeom>
          <a:solidFill>
            <a:srgbClr val="082B6D"/>
          </a:solidFill>
          <a:ln w="12700">
            <a:solidFill>
              <a:srgbClr val="082B6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995159" y="1316736"/>
            <a:ext cx="4105656"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ctr"/>
            <a:r>
              <a:rPr sz="1150" b="1">
                <a:solidFill>
                  <a:srgbClr val="FFFFFF"/>
                </a:solidFill>
                <a:latin typeface="Microsoft YaHei"/>
              </a:rPr>
              <a:t>突破结果与评审证据</a:t>
            </a:r>
          </a:p>
        </p:txBody>
      </p:sp>
      <p:sp>
        <p:nvSpPr>
          <p:cNvPr id="16" name="Rectangle 15"/>
          <p:cNvSpPr/>
          <p:nvPr/>
        </p:nvSpPr>
        <p:spPr>
          <a:xfrm>
            <a:off x="658368" y="1627632"/>
            <a:ext cx="2560320" cy="667512"/>
          </a:xfrm>
          <a:prstGeom prst="rect">
            <a:avLst/>
          </a:prstGeom>
          <a:solidFill>
            <a:srgbClr val="FFFFFF"/>
          </a:solidFill>
          <a:ln w="12700">
            <a:solidFill>
              <a:srgbClr val="DBE8F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68096" y="1801368"/>
            <a:ext cx="2340863" cy="25603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080" b="1">
                <a:solidFill>
                  <a:srgbClr val="102033"/>
                </a:solidFill>
                <a:latin typeface="Microsoft YaHei"/>
              </a:rPr>
              <a:t>多智能体协作原型</a:t>
            </a:r>
          </a:p>
        </p:txBody>
      </p:sp>
      <p:sp>
        <p:nvSpPr>
          <p:cNvPr id="18" name="Rectangle 17"/>
          <p:cNvSpPr/>
          <p:nvPr/>
        </p:nvSpPr>
        <p:spPr>
          <a:xfrm>
            <a:off x="3218687" y="1627632"/>
            <a:ext cx="3703320" cy="667512"/>
          </a:xfrm>
          <a:prstGeom prst="rect">
            <a:avLst/>
          </a:prstGeom>
          <a:solidFill>
            <a:srgbClr val="FFFFFF"/>
          </a:solidFill>
          <a:ln w="12700">
            <a:solidFill>
              <a:srgbClr val="DBE8F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3328415" y="1801368"/>
            <a:ext cx="3483863" cy="25603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080" b="0">
                <a:solidFill>
                  <a:srgbClr val="102033"/>
                </a:solidFill>
                <a:latin typeface="Microsoft YaHei"/>
              </a:rPr>
              <a:t>多角色只有形成互补职责并受授权约束才有净收益</a:t>
            </a:r>
          </a:p>
        </p:txBody>
      </p:sp>
      <p:sp>
        <p:nvSpPr>
          <p:cNvPr id="20" name="Rectangle 19"/>
          <p:cNvSpPr/>
          <p:nvPr/>
        </p:nvSpPr>
        <p:spPr>
          <a:xfrm>
            <a:off x="6922007" y="1627632"/>
            <a:ext cx="4251960" cy="667512"/>
          </a:xfrm>
          <a:prstGeom prst="rect">
            <a:avLst/>
          </a:prstGeom>
          <a:solidFill>
            <a:srgbClr val="FFFFFF"/>
          </a:solidFill>
          <a:ln w="12700">
            <a:solidFill>
              <a:srgbClr val="DBE8F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031736" y="1801368"/>
            <a:ext cx="4032504" cy="25603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080" b="0">
                <a:solidFill>
                  <a:srgbClr val="102033"/>
                </a:solidFill>
                <a:latin typeface="Microsoft YaHei"/>
              </a:rPr>
              <a:t>Stage B 四职责复核、第二轮定向比较、override gate</a:t>
            </a:r>
          </a:p>
        </p:txBody>
      </p:sp>
      <p:sp>
        <p:nvSpPr>
          <p:cNvPr id="22" name="Rectangle 21"/>
          <p:cNvSpPr/>
          <p:nvPr/>
        </p:nvSpPr>
        <p:spPr>
          <a:xfrm>
            <a:off x="658368" y="2295144"/>
            <a:ext cx="2560320" cy="667512"/>
          </a:xfrm>
          <a:prstGeom prst="rect">
            <a:avLst/>
          </a:prstGeom>
          <a:solidFill>
            <a:srgbClr val="FFFFFF"/>
          </a:solidFill>
          <a:ln w="12700">
            <a:solidFill>
              <a:srgbClr val="DBE8F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68096" y="2468879"/>
            <a:ext cx="2340863" cy="25603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080" b="1">
                <a:solidFill>
                  <a:srgbClr val="102033"/>
                </a:solidFill>
                <a:latin typeface="Microsoft YaHei"/>
              </a:rPr>
              <a:t>可信认知标识</a:t>
            </a:r>
          </a:p>
        </p:txBody>
      </p:sp>
      <p:sp>
        <p:nvSpPr>
          <p:cNvPr id="24" name="Rectangle 23"/>
          <p:cNvSpPr/>
          <p:nvPr/>
        </p:nvSpPr>
        <p:spPr>
          <a:xfrm>
            <a:off x="3218687" y="2295144"/>
            <a:ext cx="3703320" cy="667512"/>
          </a:xfrm>
          <a:prstGeom prst="rect">
            <a:avLst/>
          </a:prstGeom>
          <a:solidFill>
            <a:srgbClr val="FFFFFF"/>
          </a:solidFill>
          <a:ln w="12700">
            <a:solidFill>
              <a:srgbClr val="DBE8F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3328415" y="2468879"/>
            <a:ext cx="3483863" cy="25603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080" b="0">
                <a:solidFill>
                  <a:srgbClr val="102033"/>
                </a:solidFill>
                <a:latin typeface="Microsoft YaHei"/>
              </a:rPr>
              <a:t>可信要落在过程对象，而不是只给最终标签</a:t>
            </a:r>
          </a:p>
        </p:txBody>
      </p:sp>
      <p:sp>
        <p:nvSpPr>
          <p:cNvPr id="26" name="Rectangle 25"/>
          <p:cNvSpPr/>
          <p:nvPr/>
        </p:nvSpPr>
        <p:spPr>
          <a:xfrm>
            <a:off x="6922007" y="2295144"/>
            <a:ext cx="4251960" cy="667512"/>
          </a:xfrm>
          <a:prstGeom prst="rect">
            <a:avLst/>
          </a:prstGeom>
          <a:solidFill>
            <a:srgbClr val="FFFFFF"/>
          </a:solidFill>
          <a:ln w="12700">
            <a:solidFill>
              <a:srgbClr val="DBE8F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7031736" y="2468879"/>
            <a:ext cx="4032504" cy="25603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080" b="0">
                <a:solidFill>
                  <a:srgbClr val="102033"/>
                </a:solidFill>
                <a:latin typeface="Microsoft YaHei"/>
              </a:rPr>
              <a:t>candidate snapshot、decision packet、trust trace、selection trace</a:t>
            </a:r>
          </a:p>
        </p:txBody>
      </p:sp>
      <p:sp>
        <p:nvSpPr>
          <p:cNvPr id="28" name="Rectangle 27"/>
          <p:cNvSpPr/>
          <p:nvPr/>
        </p:nvSpPr>
        <p:spPr>
          <a:xfrm>
            <a:off x="658368" y="2962656"/>
            <a:ext cx="2560320" cy="667512"/>
          </a:xfrm>
          <a:prstGeom prst="rect">
            <a:avLst/>
          </a:prstGeom>
          <a:solidFill>
            <a:srgbClr val="FFFFFF"/>
          </a:solidFill>
          <a:ln w="12700">
            <a:solidFill>
              <a:srgbClr val="DBE8F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68096" y="3136392"/>
            <a:ext cx="2340863" cy="25603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080" b="1">
                <a:solidFill>
                  <a:srgbClr val="102033"/>
                </a:solidFill>
                <a:latin typeface="Microsoft YaHei"/>
              </a:rPr>
              <a:t>真实标签反馈约束</a:t>
            </a:r>
          </a:p>
        </p:txBody>
      </p:sp>
      <p:sp>
        <p:nvSpPr>
          <p:cNvPr id="30" name="Rectangle 29"/>
          <p:cNvSpPr/>
          <p:nvPr/>
        </p:nvSpPr>
        <p:spPr>
          <a:xfrm>
            <a:off x="3218687" y="2962656"/>
            <a:ext cx="3703320" cy="667512"/>
          </a:xfrm>
          <a:prstGeom prst="rect">
            <a:avLst/>
          </a:prstGeom>
          <a:solidFill>
            <a:srgbClr val="FFFFFF"/>
          </a:solidFill>
          <a:ln w="12700">
            <a:solidFill>
              <a:srgbClr val="DBE8F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3328415" y="3136392"/>
            <a:ext cx="3483863" cy="25603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080" b="0">
                <a:solidFill>
                  <a:srgbClr val="102033"/>
                </a:solidFill>
                <a:latin typeface="Microsoft YaHei"/>
              </a:rPr>
              <a:t>无现成 benchmark，需要冻结协议并防止后验调参</a:t>
            </a:r>
          </a:p>
        </p:txBody>
      </p:sp>
      <p:sp>
        <p:nvSpPr>
          <p:cNvPr id="32" name="Rectangle 31"/>
          <p:cNvSpPr/>
          <p:nvPr/>
        </p:nvSpPr>
        <p:spPr>
          <a:xfrm>
            <a:off x="6922007" y="2962656"/>
            <a:ext cx="4251960" cy="667512"/>
          </a:xfrm>
          <a:prstGeom prst="rect">
            <a:avLst/>
          </a:prstGeom>
          <a:solidFill>
            <a:srgbClr val="FFFFFF"/>
          </a:solidFill>
          <a:ln w="12700">
            <a:solidFill>
              <a:srgbClr val="DBE8F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7031736" y="3136392"/>
            <a:ext cx="4032504" cy="25603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080" b="0">
                <a:solidFill>
                  <a:srgbClr val="102033"/>
                </a:solidFill>
                <a:latin typeface="Microsoft YaHei"/>
              </a:rPr>
              <a:t>563 条真实样本、train=450/test=113、累计稳定性分析</a:t>
            </a:r>
          </a:p>
        </p:txBody>
      </p:sp>
      <p:sp>
        <p:nvSpPr>
          <p:cNvPr id="34" name="Rectangle 33"/>
          <p:cNvSpPr/>
          <p:nvPr/>
        </p:nvSpPr>
        <p:spPr>
          <a:xfrm>
            <a:off x="658368" y="3630168"/>
            <a:ext cx="2560320" cy="667512"/>
          </a:xfrm>
          <a:prstGeom prst="rect">
            <a:avLst/>
          </a:prstGeom>
          <a:solidFill>
            <a:srgbClr val="FFFFFF"/>
          </a:solidFill>
          <a:ln w="12700">
            <a:solidFill>
              <a:srgbClr val="DBE8F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768096" y="3803904"/>
            <a:ext cx="2340863" cy="25603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080" b="1">
                <a:solidFill>
                  <a:srgbClr val="102033"/>
                </a:solidFill>
                <a:latin typeface="Microsoft YaHei"/>
              </a:rPr>
              <a:t>报告或论文</a:t>
            </a:r>
          </a:p>
        </p:txBody>
      </p:sp>
      <p:sp>
        <p:nvSpPr>
          <p:cNvPr id="36" name="Rectangle 35"/>
          <p:cNvSpPr/>
          <p:nvPr/>
        </p:nvSpPr>
        <p:spPr>
          <a:xfrm>
            <a:off x="3218687" y="3630168"/>
            <a:ext cx="3703320" cy="667512"/>
          </a:xfrm>
          <a:prstGeom prst="rect">
            <a:avLst/>
          </a:prstGeom>
          <a:solidFill>
            <a:srgbClr val="FFFFFF"/>
          </a:solidFill>
          <a:ln w="12700">
            <a:solidFill>
              <a:srgbClr val="DBE8F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3328415" y="3803904"/>
            <a:ext cx="3483863" cy="25603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080" b="0">
                <a:solidFill>
                  <a:srgbClr val="102033"/>
                </a:solidFill>
                <a:latin typeface="Microsoft YaHei"/>
              </a:rPr>
              <a:t>前沿题目要有问题定义、方法公式和实验边界</a:t>
            </a:r>
          </a:p>
        </p:txBody>
      </p:sp>
      <p:sp>
        <p:nvSpPr>
          <p:cNvPr id="38" name="Rectangle 37"/>
          <p:cNvSpPr/>
          <p:nvPr/>
        </p:nvSpPr>
        <p:spPr>
          <a:xfrm>
            <a:off x="6922007" y="3630168"/>
            <a:ext cx="4251960" cy="667512"/>
          </a:xfrm>
          <a:prstGeom prst="rect">
            <a:avLst/>
          </a:prstGeom>
          <a:solidFill>
            <a:srgbClr val="FFFFFF"/>
          </a:solidFill>
          <a:ln w="12700">
            <a:solidFill>
              <a:srgbClr val="DBE8F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7031736" y="3803904"/>
            <a:ext cx="4032504" cy="25603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080" b="0">
                <a:solidFill>
                  <a:srgbClr val="102033"/>
                </a:solidFill>
                <a:latin typeface="Microsoft YaHei"/>
              </a:rPr>
              <a:t>新版投稿稿、主结果表、补充配置、消融、案例分析</a:t>
            </a:r>
          </a:p>
        </p:txBody>
      </p:sp>
      <p:sp>
        <p:nvSpPr>
          <p:cNvPr id="40" name="Rectangle 39"/>
          <p:cNvSpPr/>
          <p:nvPr/>
        </p:nvSpPr>
        <p:spPr>
          <a:xfrm>
            <a:off x="658368" y="4297680"/>
            <a:ext cx="2560320" cy="667512"/>
          </a:xfrm>
          <a:prstGeom prst="rect">
            <a:avLst/>
          </a:prstGeom>
          <a:solidFill>
            <a:srgbClr val="FFFFFF"/>
          </a:solidFill>
          <a:ln w="12700">
            <a:solidFill>
              <a:srgbClr val="DBE8F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768096" y="4471416"/>
            <a:ext cx="2340863" cy="25603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080" b="1">
                <a:solidFill>
                  <a:srgbClr val="102033"/>
                </a:solidFill>
                <a:latin typeface="Microsoft YaHei"/>
              </a:rPr>
              <a:t>发明专利</a:t>
            </a:r>
          </a:p>
        </p:txBody>
      </p:sp>
      <p:sp>
        <p:nvSpPr>
          <p:cNvPr id="42" name="Rectangle 41"/>
          <p:cNvSpPr/>
          <p:nvPr/>
        </p:nvSpPr>
        <p:spPr>
          <a:xfrm>
            <a:off x="3218687" y="4297680"/>
            <a:ext cx="3703320" cy="667512"/>
          </a:xfrm>
          <a:prstGeom prst="rect">
            <a:avLst/>
          </a:prstGeom>
          <a:solidFill>
            <a:srgbClr val="FFFFFF"/>
          </a:solidFill>
          <a:ln w="12700">
            <a:solidFill>
              <a:srgbClr val="DBE8F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3328415" y="4471416"/>
            <a:ext cx="3483863" cy="25603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080" b="0">
                <a:solidFill>
                  <a:srgbClr val="102033"/>
                </a:solidFill>
                <a:latin typeface="Microsoft YaHei"/>
              </a:rPr>
              <a:t>系统流程要凝练成可保护的技术特征</a:t>
            </a:r>
          </a:p>
        </p:txBody>
      </p:sp>
      <p:sp>
        <p:nvSpPr>
          <p:cNvPr id="44" name="Rectangle 43"/>
          <p:cNvSpPr/>
          <p:nvPr/>
        </p:nvSpPr>
        <p:spPr>
          <a:xfrm>
            <a:off x="6922007" y="4297680"/>
            <a:ext cx="4251960" cy="667512"/>
          </a:xfrm>
          <a:prstGeom prst="rect">
            <a:avLst/>
          </a:prstGeom>
          <a:solidFill>
            <a:srgbClr val="FFFFFF"/>
          </a:solidFill>
          <a:ln w="12700">
            <a:solidFill>
              <a:srgbClr val="DBE8F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7031736" y="4471416"/>
            <a:ext cx="4032504" cy="25603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080" b="0">
                <a:solidFill>
                  <a:srgbClr val="102033"/>
                </a:solidFill>
                <a:latin typeface="Microsoft YaHei"/>
              </a:rPr>
              <a:t>交底书、权利要求书、说明书摘要、系统结构与协同决策附图</a:t>
            </a:r>
          </a:p>
        </p:txBody>
      </p:sp>
      <p:sp>
        <p:nvSpPr>
          <p:cNvPr id="46" name="Rectangle 45"/>
          <p:cNvSpPr/>
          <p:nvPr/>
        </p:nvSpPr>
        <p:spPr>
          <a:xfrm>
            <a:off x="749808" y="5650992"/>
            <a:ext cx="8412480" cy="25603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400" b="1">
                <a:solidFill>
                  <a:srgbClr val="102033"/>
                </a:solidFill>
                <a:latin typeface="Microsoft YaHei"/>
              </a:rPr>
              <a:t>答辩讲法：把“任务书要求—技术难点—突破证据”串成一条链，突出重点项目攻关属性。</a:t>
            </a:r>
          </a:p>
        </p:txBody>
      </p:sp>
      <p:sp>
        <p:nvSpPr>
          <p:cNvPr id="47" name="Rectangle 46"/>
          <p:cNvSpPr/>
          <p:nvPr/>
        </p:nvSpPr>
        <p:spPr>
          <a:xfrm>
            <a:off x="475488" y="6473952"/>
            <a:ext cx="8595360" cy="10160"/>
          </a:xfrm>
          <a:prstGeom prst="rect">
            <a:avLst/>
          </a:prstGeom>
          <a:solidFill>
            <a:srgbClr val="C8DB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475488" y="6537960"/>
            <a:ext cx="5486400"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750" b="0">
                <a:solidFill>
                  <a:srgbClr val="53657A"/>
                </a:solidFill>
                <a:latin typeface="Microsoft YaHei"/>
              </a:rPr>
              <a:t>面向互联网基础资源的大模型多智能体协作与可信认知标识技术研究</a:t>
            </a:r>
          </a:p>
        </p:txBody>
      </p:sp>
      <p:sp>
        <p:nvSpPr>
          <p:cNvPr id="49" name="Rectangle 48"/>
          <p:cNvSpPr/>
          <p:nvPr/>
        </p:nvSpPr>
        <p:spPr>
          <a:xfrm>
            <a:off x="11155680" y="6501384"/>
            <a:ext cx="384048"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r"/>
            <a:r>
              <a:rPr sz="800" b="0">
                <a:solidFill>
                  <a:srgbClr val="53657A"/>
                </a:solidFill>
                <a:latin typeface="Arial"/>
              </a:rPr>
              <a:t>05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light_texture.png"/>
          <p:cNvPicPr>
            <a:picLocks noChangeAspect="1"/>
          </p:cNvPicPr>
          <p:nvPr/>
        </p:nvPicPr>
        <p:blipFill>
          <a:blip r:embed="rId2"/>
          <a:stretch>
            <a:fillRect/>
          </a:stretch>
        </p:blipFill>
        <p:spPr>
          <a:xfrm>
            <a:off x="0" y="0"/>
            <a:ext cx="12191999" cy="6858000"/>
          </a:xfrm>
          <a:prstGeom prst="rect">
            <a:avLst/>
          </a:prstGeom>
        </p:spPr>
      </p:pic>
      <p:sp>
        <p:nvSpPr>
          <p:cNvPr id="3" name="Rectangle 2"/>
          <p:cNvSpPr/>
          <p:nvPr/>
        </p:nvSpPr>
        <p:spPr>
          <a:xfrm>
            <a:off x="0" y="0"/>
            <a:ext cx="12191999" cy="109728"/>
          </a:xfrm>
          <a:prstGeom prst="rect">
            <a:avLst/>
          </a:prstGeom>
          <a:solidFill>
            <a:srgbClr val="082B6D"/>
          </a:solidFill>
          <a:ln w="12700">
            <a:solidFill>
              <a:srgbClr val="082B6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9728"/>
            <a:ext cx="12191999" cy="32004"/>
          </a:xfrm>
          <a:prstGeom prst="rect">
            <a:avLst/>
          </a:prstGeom>
          <a:solidFill>
            <a:srgbClr val="1E83E6"/>
          </a:solidFill>
          <a:ln w="12700">
            <a:solidFill>
              <a:srgbClr val="1E83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475488" y="283464"/>
            <a:ext cx="676656" cy="237744"/>
          </a:xfrm>
          <a:prstGeom prst="roundRect">
            <a:avLst/>
          </a:prstGeom>
          <a:solidFill>
            <a:srgbClr val="E7F1FF"/>
          </a:solidFill>
          <a:ln w="11430">
            <a:solidFill>
              <a:srgbClr val="C8DBEF"/>
            </a:solidFill>
          </a:ln>
        </p:spPr>
        <p:style>
          <a:lnRef idx="1">
            <a:schemeClr val="accent1"/>
          </a:lnRef>
          <a:fillRef idx="3">
            <a:schemeClr val="accent1"/>
          </a:fillRef>
          <a:effectRef idx="2">
            <a:schemeClr val="accent1"/>
          </a:effectRef>
          <a:fontRef idx="minor">
            <a:schemeClr val="lt1"/>
          </a:fontRef>
        </p:style>
        <p:txBody>
          <a:bodyPr rtlCol="0" anchor="ctr" lIns="36576" rIns="36576" tIns="18288" bIns="18288"/>
          <a:lstStyle/>
          <a:p>
            <a:pPr algn="ctr"/>
            <a:r>
              <a:rPr sz="1200" b="1">
                <a:solidFill>
                  <a:srgbClr val="0B63CE"/>
                </a:solidFill>
                <a:latin typeface="Microsoft YaHei"/>
              </a:rPr>
              <a:t>04</a:t>
            </a:r>
          </a:p>
        </p:txBody>
      </p:sp>
      <p:sp>
        <p:nvSpPr>
          <p:cNvPr id="6" name="Rectangle 5"/>
          <p:cNvSpPr/>
          <p:nvPr/>
        </p:nvSpPr>
        <p:spPr>
          <a:xfrm>
            <a:off x="1298448" y="237744"/>
            <a:ext cx="8412480" cy="38404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2200" b="1">
                <a:solidFill>
                  <a:srgbClr val="102033"/>
                </a:solidFill>
                <a:latin typeface="Microsoft YaHei"/>
              </a:rPr>
              <a:t>问题定义：受限能力命名空间内的能力地址语义路由</a:t>
            </a:r>
          </a:p>
        </p:txBody>
      </p:sp>
      <p:sp>
        <p:nvSpPr>
          <p:cNvPr id="7" name="Rectangle 6"/>
          <p:cNvSpPr/>
          <p:nvPr/>
        </p:nvSpPr>
        <p:spPr>
          <a:xfrm>
            <a:off x="1298448" y="621792"/>
            <a:ext cx="8595360" cy="237744"/>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080" b="0">
                <a:solidFill>
                  <a:srgbClr val="53657A"/>
                </a:solidFill>
                <a:latin typeface="Microsoft YaHei"/>
              </a:rPr>
              <a:t>给定请求 x 和候选集合 N，系统输出主能力 ŷ、相关能力 R̂ 和执行实例 â；正文重点评估前两项。</a:t>
            </a:r>
          </a:p>
        </p:txBody>
      </p:sp>
      <p:sp>
        <p:nvSpPr>
          <p:cNvPr id="8" name="Rectangle 7"/>
          <p:cNvSpPr/>
          <p:nvPr/>
        </p:nvSpPr>
        <p:spPr>
          <a:xfrm>
            <a:off x="10698480" y="256032"/>
            <a:ext cx="1005840" cy="25603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r"/>
            <a:r>
              <a:rPr sz="2100" b="1">
                <a:solidFill>
                  <a:srgbClr val="0B63CE"/>
                </a:solidFill>
                <a:latin typeface="Arial"/>
              </a:rPr>
              <a:t>CNNIC</a:t>
            </a:r>
          </a:p>
        </p:txBody>
      </p:sp>
      <p:sp>
        <p:nvSpPr>
          <p:cNvPr id="9" name="Rectangle 8"/>
          <p:cNvSpPr/>
          <p:nvPr/>
        </p:nvSpPr>
        <p:spPr>
          <a:xfrm>
            <a:off x="10012680" y="530352"/>
            <a:ext cx="1691640"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r"/>
            <a:r>
              <a:rPr sz="850" b="0">
                <a:solidFill>
                  <a:srgbClr val="53657A"/>
                </a:solidFill>
                <a:latin typeface="Microsoft YaHei"/>
              </a:rPr>
              <a:t>中国互联网络信息中心</a:t>
            </a:r>
          </a:p>
        </p:txBody>
      </p:sp>
      <p:sp>
        <p:nvSpPr>
          <p:cNvPr id="10" name="Rounded Rectangle 9"/>
          <p:cNvSpPr/>
          <p:nvPr/>
        </p:nvSpPr>
        <p:spPr>
          <a:xfrm>
            <a:off x="731520" y="1335024"/>
            <a:ext cx="4480560" cy="2971800"/>
          </a:xfrm>
          <a:prstGeom prst="roundRect">
            <a:avLst/>
          </a:prstGeom>
          <a:solidFill>
            <a:srgbClr val="FFFFFF"/>
          </a:solidFill>
          <a:ln w="12700">
            <a:solidFill>
              <a:srgbClr val="0B63C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1024128" y="1664208"/>
            <a:ext cx="2651760" cy="27432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900" b="1">
                <a:solidFill>
                  <a:srgbClr val="0B63CE"/>
                </a:solidFill>
                <a:latin typeface="Arial"/>
              </a:rPr>
              <a:t>能力地址 routing_fqdn</a:t>
            </a:r>
          </a:p>
        </p:txBody>
      </p:sp>
      <p:sp>
        <p:nvSpPr>
          <p:cNvPr id="12" name="Rectangle 11"/>
          <p:cNvSpPr/>
          <p:nvPr/>
        </p:nvSpPr>
        <p:spPr>
          <a:xfrm>
            <a:off x="1024128" y="2029968"/>
            <a:ext cx="2926080" cy="237744"/>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300" b="1">
                <a:solidFill>
                  <a:srgbClr val="102033"/>
                </a:solidFill>
                <a:latin typeface="Microsoft YaHei"/>
              </a:rPr>
              <a:t>回答“哪一类能力应处理请求”</a:t>
            </a:r>
          </a:p>
        </p:txBody>
      </p:sp>
      <p:sp>
        <p:nvSpPr>
          <p:cNvPr id="13" name="Rectangle 12"/>
          <p:cNvSpPr/>
          <p:nvPr/>
        </p:nvSpPr>
        <p:spPr>
          <a:xfrm>
            <a:off x="1051560" y="2487168"/>
            <a:ext cx="2377440" cy="20116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200" b="0">
                <a:solidFill>
                  <a:srgbClr val="53657A"/>
                </a:solidFill>
                <a:latin typeface="Arial"/>
              </a:rPr>
              <a:t>policy.gov.cn</a:t>
            </a:r>
          </a:p>
        </p:txBody>
      </p:sp>
      <p:sp>
        <p:nvSpPr>
          <p:cNvPr id="14" name="Rectangle 13"/>
          <p:cNvSpPr/>
          <p:nvPr/>
        </p:nvSpPr>
        <p:spPr>
          <a:xfrm>
            <a:off x="1051560" y="2834640"/>
            <a:ext cx="2377440" cy="20116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200" b="0">
                <a:solidFill>
                  <a:srgbClr val="53657A"/>
                </a:solidFill>
                <a:latin typeface="Arial"/>
              </a:rPr>
              <a:t>coupon.commerce.cn</a:t>
            </a:r>
          </a:p>
        </p:txBody>
      </p:sp>
      <p:sp>
        <p:nvSpPr>
          <p:cNvPr id="15" name="Rectangle 14"/>
          <p:cNvSpPr/>
          <p:nvPr/>
        </p:nvSpPr>
        <p:spPr>
          <a:xfrm>
            <a:off x="1051560" y="3182112"/>
            <a:ext cx="2377440" cy="20116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200" b="0">
                <a:solidFill>
                  <a:srgbClr val="53657A"/>
                </a:solidFill>
                <a:latin typeface="Arial"/>
              </a:rPr>
              <a:t>docs.productivity.cn</a:t>
            </a:r>
          </a:p>
        </p:txBody>
      </p:sp>
      <p:sp>
        <p:nvSpPr>
          <p:cNvPr id="16" name="Rectangle 15"/>
          <p:cNvSpPr/>
          <p:nvPr/>
        </p:nvSpPr>
        <p:spPr>
          <a:xfrm>
            <a:off x="1051560" y="3529584"/>
            <a:ext cx="2377440" cy="20116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200" b="0">
                <a:solidFill>
                  <a:srgbClr val="53657A"/>
                </a:solidFill>
                <a:latin typeface="Arial"/>
              </a:rPr>
              <a:t>activity.travel.cn</a:t>
            </a:r>
          </a:p>
        </p:txBody>
      </p:sp>
      <p:sp>
        <p:nvSpPr>
          <p:cNvPr id="17" name="Rounded Rectangle 16"/>
          <p:cNvSpPr/>
          <p:nvPr/>
        </p:nvSpPr>
        <p:spPr>
          <a:xfrm>
            <a:off x="6675120" y="1335024"/>
            <a:ext cx="4480560" cy="2971800"/>
          </a:xfrm>
          <a:prstGeom prst="roundRect">
            <a:avLst/>
          </a:prstGeom>
          <a:solidFill>
            <a:srgbClr val="FFFFFF"/>
          </a:solidFill>
          <a:ln w="12700">
            <a:solidFill>
              <a:srgbClr val="0E8A5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967728" y="1664208"/>
            <a:ext cx="2468880" cy="27432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900" b="1">
                <a:solidFill>
                  <a:srgbClr val="0E8A57"/>
                </a:solidFill>
                <a:latin typeface="Arial"/>
              </a:rPr>
              <a:t>实例地址 agent_fqdn</a:t>
            </a:r>
          </a:p>
        </p:txBody>
      </p:sp>
      <p:sp>
        <p:nvSpPr>
          <p:cNvPr id="19" name="Rectangle 18"/>
          <p:cNvSpPr/>
          <p:nvPr/>
        </p:nvSpPr>
        <p:spPr>
          <a:xfrm>
            <a:off x="6967728" y="2029968"/>
            <a:ext cx="2926080" cy="237744"/>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300" b="1">
                <a:solidFill>
                  <a:srgbClr val="102033"/>
                </a:solidFill>
                <a:latin typeface="Microsoft YaHei"/>
              </a:rPr>
              <a:t>回答“由哪个具体智能体执行”</a:t>
            </a:r>
          </a:p>
        </p:txBody>
      </p:sp>
      <p:sp>
        <p:nvSpPr>
          <p:cNvPr id="20" name="Rectangle 19"/>
          <p:cNvSpPr/>
          <p:nvPr/>
        </p:nvSpPr>
        <p:spPr>
          <a:xfrm>
            <a:off x="6995160" y="2487168"/>
            <a:ext cx="2834640" cy="20116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200" b="0">
                <a:solidFill>
                  <a:srgbClr val="53657A"/>
                </a:solidFill>
                <a:latin typeface="Arial"/>
              </a:rPr>
              <a:t>agent-xxx.agent.policy.gov.cn</a:t>
            </a:r>
          </a:p>
        </p:txBody>
      </p:sp>
      <p:sp>
        <p:nvSpPr>
          <p:cNvPr id="21" name="Rectangle 20"/>
          <p:cNvSpPr/>
          <p:nvPr/>
        </p:nvSpPr>
        <p:spPr>
          <a:xfrm>
            <a:off x="6995160" y="2834640"/>
            <a:ext cx="2834640" cy="20116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200" b="0">
                <a:solidFill>
                  <a:srgbClr val="53657A"/>
                </a:solidFill>
                <a:latin typeface="Arial"/>
              </a:rPr>
              <a:t>endpoint / schema / health</a:t>
            </a:r>
          </a:p>
        </p:txBody>
      </p:sp>
      <p:sp>
        <p:nvSpPr>
          <p:cNvPr id="22" name="Rectangle 21"/>
          <p:cNvSpPr/>
          <p:nvPr/>
        </p:nvSpPr>
        <p:spPr>
          <a:xfrm>
            <a:off x="6995160" y="3182112"/>
            <a:ext cx="2834640" cy="20116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200" b="0">
                <a:solidFill>
                  <a:srgbClr val="53657A"/>
                </a:solidFill>
                <a:latin typeface="Arial"/>
              </a:rPr>
              <a:t>exact routing_fqdn match</a:t>
            </a:r>
          </a:p>
        </p:txBody>
      </p:sp>
      <p:sp>
        <p:nvSpPr>
          <p:cNvPr id="23" name="Rectangle 22"/>
          <p:cNvSpPr/>
          <p:nvPr/>
        </p:nvSpPr>
        <p:spPr>
          <a:xfrm>
            <a:off x="6995160" y="3529584"/>
            <a:ext cx="2834640" cy="20116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200" b="0">
                <a:solidFill>
                  <a:srgbClr val="53657A"/>
                </a:solidFill>
                <a:latin typeface="Arial"/>
              </a:rPr>
              <a:t>不在执行层改写能力地址</a:t>
            </a:r>
          </a:p>
        </p:txBody>
      </p:sp>
      <p:sp>
        <p:nvSpPr>
          <p:cNvPr id="24" name="Rectangle 23"/>
          <p:cNvSpPr/>
          <p:nvPr/>
        </p:nvSpPr>
        <p:spPr>
          <a:xfrm>
            <a:off x="5394960" y="2798064"/>
            <a:ext cx="1005840" cy="31750"/>
          </a:xfrm>
          <a:prstGeom prst="rect">
            <a:avLst/>
          </a:prstGeom>
          <a:solidFill>
            <a:srgbClr val="1E83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358384" y="2432304"/>
            <a:ext cx="1115568" cy="219456"/>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ctr"/>
            <a:r>
              <a:rPr sz="1200" b="1">
                <a:solidFill>
                  <a:srgbClr val="0B63CE"/>
                </a:solidFill>
                <a:latin typeface="Microsoft YaHei"/>
              </a:rPr>
              <a:t>分层解耦</a:t>
            </a:r>
          </a:p>
        </p:txBody>
      </p:sp>
      <p:sp>
        <p:nvSpPr>
          <p:cNvPr id="26" name="Rounded Rectangle 25"/>
          <p:cNvSpPr/>
          <p:nvPr/>
        </p:nvSpPr>
        <p:spPr>
          <a:xfrm>
            <a:off x="960120" y="4773168"/>
            <a:ext cx="9875520" cy="877824"/>
          </a:xfrm>
          <a:prstGeom prst="roundRect">
            <a:avLst/>
          </a:prstGeom>
          <a:solidFill>
            <a:srgbClr val="E7F1FF"/>
          </a:solidFill>
          <a:ln w="12700">
            <a:solidFill>
              <a:srgbClr val="7FB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1188720" y="5010912"/>
            <a:ext cx="7955279" cy="20116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400" b="1">
                <a:solidFill>
                  <a:srgbClr val="102033"/>
                </a:solidFill>
                <a:latin typeface="Arial"/>
              </a:rPr>
              <a:t>形式化约束：ŷ(x)∈N，R̂(x)⊆N\{ŷ(x)}，â(x) 只在 A(ŷ) 内选择。</a:t>
            </a:r>
          </a:p>
        </p:txBody>
      </p:sp>
      <p:sp>
        <p:nvSpPr>
          <p:cNvPr id="28" name="Rectangle 27"/>
          <p:cNvSpPr/>
          <p:nvPr/>
        </p:nvSpPr>
        <p:spPr>
          <a:xfrm>
            <a:off x="1188720" y="5321808"/>
            <a:ext cx="8046720"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000" b="0">
                <a:solidFill>
                  <a:srgbClr val="53657A"/>
                </a:solidFill>
                <a:latin typeface="Microsoft YaHei"/>
              </a:rPr>
              <a:t>这使 Stage R miss、Stage A 语义误判、Stage B 授权改判和 Stage C 实例过滤可以分别归因。</a:t>
            </a:r>
          </a:p>
        </p:txBody>
      </p:sp>
      <p:sp>
        <p:nvSpPr>
          <p:cNvPr id="29" name="Rectangle 28"/>
          <p:cNvSpPr/>
          <p:nvPr/>
        </p:nvSpPr>
        <p:spPr>
          <a:xfrm>
            <a:off x="475488" y="6473952"/>
            <a:ext cx="8595360" cy="10160"/>
          </a:xfrm>
          <a:prstGeom prst="rect">
            <a:avLst/>
          </a:prstGeom>
          <a:solidFill>
            <a:srgbClr val="C8DB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475488" y="6537960"/>
            <a:ext cx="5486400"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750" b="0">
                <a:solidFill>
                  <a:srgbClr val="53657A"/>
                </a:solidFill>
                <a:latin typeface="Microsoft YaHei"/>
              </a:rPr>
              <a:t>面向互联网基础资源的大模型多智能体协作与可信认知标识技术研究</a:t>
            </a:r>
          </a:p>
        </p:txBody>
      </p:sp>
      <p:sp>
        <p:nvSpPr>
          <p:cNvPr id="31" name="Rectangle 30"/>
          <p:cNvSpPr/>
          <p:nvPr/>
        </p:nvSpPr>
        <p:spPr>
          <a:xfrm>
            <a:off x="11155680" y="6501384"/>
            <a:ext cx="384048"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r"/>
            <a:r>
              <a:rPr sz="800" b="0">
                <a:solidFill>
                  <a:srgbClr val="53657A"/>
                </a:solidFill>
                <a:latin typeface="Arial"/>
              </a:rPr>
              <a:t>06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light_texture.png"/>
          <p:cNvPicPr>
            <a:picLocks noChangeAspect="1"/>
          </p:cNvPicPr>
          <p:nvPr/>
        </p:nvPicPr>
        <p:blipFill>
          <a:blip r:embed="rId2"/>
          <a:stretch>
            <a:fillRect/>
          </a:stretch>
        </p:blipFill>
        <p:spPr>
          <a:xfrm>
            <a:off x="0" y="0"/>
            <a:ext cx="12191999" cy="6858000"/>
          </a:xfrm>
          <a:prstGeom prst="rect">
            <a:avLst/>
          </a:prstGeom>
        </p:spPr>
      </p:pic>
      <p:sp>
        <p:nvSpPr>
          <p:cNvPr id="3" name="Rectangle 2"/>
          <p:cNvSpPr/>
          <p:nvPr/>
        </p:nvSpPr>
        <p:spPr>
          <a:xfrm>
            <a:off x="0" y="0"/>
            <a:ext cx="12191999" cy="109728"/>
          </a:xfrm>
          <a:prstGeom prst="rect">
            <a:avLst/>
          </a:prstGeom>
          <a:solidFill>
            <a:srgbClr val="082B6D"/>
          </a:solidFill>
          <a:ln w="12700">
            <a:solidFill>
              <a:srgbClr val="082B6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9728"/>
            <a:ext cx="12191999" cy="32004"/>
          </a:xfrm>
          <a:prstGeom prst="rect">
            <a:avLst/>
          </a:prstGeom>
          <a:solidFill>
            <a:srgbClr val="1E83E6"/>
          </a:solidFill>
          <a:ln w="12700">
            <a:solidFill>
              <a:srgbClr val="1E83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475488" y="283464"/>
            <a:ext cx="676656" cy="237744"/>
          </a:xfrm>
          <a:prstGeom prst="roundRect">
            <a:avLst/>
          </a:prstGeom>
          <a:solidFill>
            <a:srgbClr val="E7F1FF"/>
          </a:solidFill>
          <a:ln w="11430">
            <a:solidFill>
              <a:srgbClr val="C8DBEF"/>
            </a:solidFill>
          </a:ln>
        </p:spPr>
        <p:style>
          <a:lnRef idx="1">
            <a:schemeClr val="accent1"/>
          </a:lnRef>
          <a:fillRef idx="3">
            <a:schemeClr val="accent1"/>
          </a:fillRef>
          <a:effectRef idx="2">
            <a:schemeClr val="accent1"/>
          </a:effectRef>
          <a:fontRef idx="minor">
            <a:schemeClr val="lt1"/>
          </a:fontRef>
        </p:style>
        <p:txBody>
          <a:bodyPr rtlCol="0" anchor="ctr" lIns="36576" rIns="36576" tIns="18288" bIns="18288"/>
          <a:lstStyle/>
          <a:p>
            <a:pPr algn="ctr"/>
            <a:r>
              <a:rPr sz="1200" b="1">
                <a:solidFill>
                  <a:srgbClr val="0B63CE"/>
                </a:solidFill>
                <a:latin typeface="Microsoft YaHei"/>
              </a:rPr>
              <a:t>05</a:t>
            </a:r>
          </a:p>
        </p:txBody>
      </p:sp>
      <p:sp>
        <p:nvSpPr>
          <p:cNvPr id="6" name="Rectangle 5"/>
          <p:cNvSpPr/>
          <p:nvPr/>
        </p:nvSpPr>
        <p:spPr>
          <a:xfrm>
            <a:off x="1298448" y="237744"/>
            <a:ext cx="8412480" cy="38404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2200" b="1">
                <a:solidFill>
                  <a:srgbClr val="102033"/>
                </a:solidFill>
                <a:latin typeface="Microsoft YaHei"/>
              </a:rPr>
              <a:t>总体架构：四阶段路由链路 + 全程可信轨迹</a:t>
            </a:r>
          </a:p>
        </p:txBody>
      </p:sp>
      <p:sp>
        <p:nvSpPr>
          <p:cNvPr id="7" name="Rectangle 6"/>
          <p:cNvSpPr/>
          <p:nvPr/>
        </p:nvSpPr>
        <p:spPr>
          <a:xfrm>
            <a:off x="1298448" y="621792"/>
            <a:ext cx="8595360" cy="237744"/>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080" b="0">
                <a:solidFill>
                  <a:srgbClr val="53657A"/>
                </a:solidFill>
                <a:latin typeface="Microsoft YaHei"/>
              </a:rPr>
              <a:t>一条链路同时覆盖自然语言请求、候选集合、结构化裁决、协作复核、执行落点和过程记录。</a:t>
            </a:r>
          </a:p>
        </p:txBody>
      </p:sp>
      <p:sp>
        <p:nvSpPr>
          <p:cNvPr id="8" name="Rectangle 7"/>
          <p:cNvSpPr/>
          <p:nvPr/>
        </p:nvSpPr>
        <p:spPr>
          <a:xfrm>
            <a:off x="10698480" y="256032"/>
            <a:ext cx="1005840" cy="25603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r"/>
            <a:r>
              <a:rPr sz="2100" b="1">
                <a:solidFill>
                  <a:srgbClr val="0B63CE"/>
                </a:solidFill>
                <a:latin typeface="Arial"/>
              </a:rPr>
              <a:t>CNNIC</a:t>
            </a:r>
          </a:p>
        </p:txBody>
      </p:sp>
      <p:sp>
        <p:nvSpPr>
          <p:cNvPr id="9" name="Rectangle 8"/>
          <p:cNvSpPr/>
          <p:nvPr/>
        </p:nvSpPr>
        <p:spPr>
          <a:xfrm>
            <a:off x="10012680" y="530352"/>
            <a:ext cx="1691640"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r"/>
            <a:r>
              <a:rPr sz="850" b="0">
                <a:solidFill>
                  <a:srgbClr val="53657A"/>
                </a:solidFill>
                <a:latin typeface="Microsoft YaHei"/>
              </a:rPr>
              <a:t>中国互联网络信息中心</a:t>
            </a:r>
          </a:p>
        </p:txBody>
      </p:sp>
      <p:sp>
        <p:nvSpPr>
          <p:cNvPr id="10" name="Rounded Rectangle 9"/>
          <p:cNvSpPr/>
          <p:nvPr/>
        </p:nvSpPr>
        <p:spPr>
          <a:xfrm>
            <a:off x="566928" y="1143000"/>
            <a:ext cx="11064240" cy="3703320"/>
          </a:xfrm>
          <a:prstGeom prst="roundRect">
            <a:avLst/>
          </a:prstGeom>
          <a:solidFill>
            <a:srgbClr val="FFFFFF"/>
          </a:solidFill>
          <a:ln w="12700">
            <a:solidFill>
              <a:srgbClr val="B7D3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fig1_framework.png"/>
          <p:cNvPicPr>
            <a:picLocks noChangeAspect="1"/>
          </p:cNvPicPr>
          <p:nvPr/>
        </p:nvPicPr>
        <p:blipFill>
          <a:blip r:embed="rId3"/>
          <a:stretch>
            <a:fillRect/>
          </a:stretch>
        </p:blipFill>
        <p:spPr>
          <a:xfrm>
            <a:off x="822960" y="1417320"/>
            <a:ext cx="10515600" cy="3063240"/>
          </a:xfrm>
          <a:prstGeom prst="rect">
            <a:avLst/>
          </a:prstGeom>
        </p:spPr>
      </p:pic>
      <p:sp>
        <p:nvSpPr>
          <p:cNvPr id="12" name="Rectangle 11"/>
          <p:cNvSpPr/>
          <p:nvPr/>
        </p:nvSpPr>
        <p:spPr>
          <a:xfrm>
            <a:off x="758952" y="5157216"/>
            <a:ext cx="713232" cy="20116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300" b="1">
                <a:solidFill>
                  <a:srgbClr val="0B63CE"/>
                </a:solidFill>
                <a:latin typeface="Arial"/>
              </a:rPr>
              <a:t>Stage R</a:t>
            </a:r>
          </a:p>
        </p:txBody>
      </p:sp>
      <p:sp>
        <p:nvSpPr>
          <p:cNvPr id="13" name="Rectangle 12"/>
          <p:cNvSpPr/>
          <p:nvPr/>
        </p:nvSpPr>
        <p:spPr>
          <a:xfrm>
            <a:off x="1490472" y="5166360"/>
            <a:ext cx="1188720"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980" b="0">
                <a:solidFill>
                  <a:srgbClr val="53657A"/>
                </a:solidFill>
                <a:latin typeface="Microsoft YaHei"/>
              </a:rPr>
              <a:t>候选集合构造</a:t>
            </a:r>
          </a:p>
        </p:txBody>
      </p:sp>
      <p:sp>
        <p:nvSpPr>
          <p:cNvPr id="14" name="Rectangle 13"/>
          <p:cNvSpPr/>
          <p:nvPr/>
        </p:nvSpPr>
        <p:spPr>
          <a:xfrm>
            <a:off x="758952" y="5440680"/>
            <a:ext cx="1737360" cy="10160"/>
          </a:xfrm>
          <a:prstGeom prst="rect">
            <a:avLst/>
          </a:prstGeom>
          <a:solidFill>
            <a:srgbClr val="C8DB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999232" y="5157216"/>
            <a:ext cx="713232" cy="20116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300" b="1">
                <a:solidFill>
                  <a:srgbClr val="0E8A57"/>
                </a:solidFill>
                <a:latin typeface="Arial"/>
              </a:rPr>
              <a:t>Stage A</a:t>
            </a:r>
          </a:p>
        </p:txBody>
      </p:sp>
      <p:sp>
        <p:nvSpPr>
          <p:cNvPr id="16" name="Rectangle 15"/>
          <p:cNvSpPr/>
          <p:nvPr/>
        </p:nvSpPr>
        <p:spPr>
          <a:xfrm>
            <a:off x="3730752" y="5166360"/>
            <a:ext cx="1188720"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980" b="0">
                <a:solidFill>
                  <a:srgbClr val="53657A"/>
                </a:solidFill>
                <a:latin typeface="Microsoft YaHei"/>
              </a:rPr>
              <a:t>结构化语义路由</a:t>
            </a:r>
          </a:p>
        </p:txBody>
      </p:sp>
      <p:sp>
        <p:nvSpPr>
          <p:cNvPr id="17" name="Rectangle 16"/>
          <p:cNvSpPr/>
          <p:nvPr/>
        </p:nvSpPr>
        <p:spPr>
          <a:xfrm>
            <a:off x="2999232" y="5440680"/>
            <a:ext cx="1737360" cy="10160"/>
          </a:xfrm>
          <a:prstGeom prst="rect">
            <a:avLst/>
          </a:prstGeom>
          <a:solidFill>
            <a:srgbClr val="C8DB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239512" y="5157216"/>
            <a:ext cx="713232" cy="20116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300" b="1">
                <a:solidFill>
                  <a:srgbClr val="E97132"/>
                </a:solidFill>
                <a:latin typeface="Arial"/>
              </a:rPr>
              <a:t>Stage B</a:t>
            </a:r>
          </a:p>
        </p:txBody>
      </p:sp>
      <p:sp>
        <p:nvSpPr>
          <p:cNvPr id="19" name="Rectangle 18"/>
          <p:cNvSpPr/>
          <p:nvPr/>
        </p:nvSpPr>
        <p:spPr>
          <a:xfrm>
            <a:off x="5971032" y="5166360"/>
            <a:ext cx="1188720"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980" b="0">
                <a:solidFill>
                  <a:srgbClr val="53657A"/>
                </a:solidFill>
                <a:latin typeface="Microsoft YaHei"/>
              </a:rPr>
              <a:t>职责化复核</a:t>
            </a:r>
          </a:p>
        </p:txBody>
      </p:sp>
      <p:sp>
        <p:nvSpPr>
          <p:cNvPr id="20" name="Rectangle 19"/>
          <p:cNvSpPr/>
          <p:nvPr/>
        </p:nvSpPr>
        <p:spPr>
          <a:xfrm>
            <a:off x="5239512" y="5440680"/>
            <a:ext cx="1737360" cy="10160"/>
          </a:xfrm>
          <a:prstGeom prst="rect">
            <a:avLst/>
          </a:prstGeom>
          <a:solidFill>
            <a:srgbClr val="C8DB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479792" y="5157216"/>
            <a:ext cx="713232" cy="20116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300" b="1">
                <a:solidFill>
                  <a:srgbClr val="6B49C8"/>
                </a:solidFill>
                <a:latin typeface="Arial"/>
              </a:rPr>
              <a:t>Stage C</a:t>
            </a:r>
          </a:p>
        </p:txBody>
      </p:sp>
      <p:sp>
        <p:nvSpPr>
          <p:cNvPr id="22" name="Rectangle 21"/>
          <p:cNvSpPr/>
          <p:nvPr/>
        </p:nvSpPr>
        <p:spPr>
          <a:xfrm>
            <a:off x="8211312" y="5166360"/>
            <a:ext cx="1188720"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980" b="0">
                <a:solidFill>
                  <a:srgbClr val="53657A"/>
                </a:solidFill>
                <a:latin typeface="Microsoft YaHei"/>
              </a:rPr>
              <a:t>执行落点解析</a:t>
            </a:r>
          </a:p>
        </p:txBody>
      </p:sp>
      <p:sp>
        <p:nvSpPr>
          <p:cNvPr id="23" name="Rectangle 22"/>
          <p:cNvSpPr/>
          <p:nvPr/>
        </p:nvSpPr>
        <p:spPr>
          <a:xfrm>
            <a:off x="7479792" y="5440680"/>
            <a:ext cx="1737360" cy="10160"/>
          </a:xfrm>
          <a:prstGeom prst="rect">
            <a:avLst/>
          </a:prstGeom>
          <a:solidFill>
            <a:srgbClr val="C8DB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9720072" y="5157216"/>
            <a:ext cx="713232" cy="20116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300" b="1">
                <a:solidFill>
                  <a:srgbClr val="1E83E6"/>
                </a:solidFill>
                <a:latin typeface="Arial"/>
              </a:rPr>
              <a:t>Trace</a:t>
            </a:r>
          </a:p>
        </p:txBody>
      </p:sp>
      <p:sp>
        <p:nvSpPr>
          <p:cNvPr id="25" name="Rectangle 24"/>
          <p:cNvSpPr/>
          <p:nvPr/>
        </p:nvSpPr>
        <p:spPr>
          <a:xfrm>
            <a:off x="10451592" y="5166360"/>
            <a:ext cx="1188720"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980" b="0">
                <a:solidFill>
                  <a:srgbClr val="53657A"/>
                </a:solidFill>
                <a:latin typeface="Microsoft YaHei"/>
              </a:rPr>
              <a:t>统一过程记录</a:t>
            </a:r>
          </a:p>
        </p:txBody>
      </p:sp>
      <p:sp>
        <p:nvSpPr>
          <p:cNvPr id="26" name="Rectangle 25"/>
          <p:cNvSpPr/>
          <p:nvPr/>
        </p:nvSpPr>
        <p:spPr>
          <a:xfrm>
            <a:off x="9720072" y="5440680"/>
            <a:ext cx="1737360" cy="10160"/>
          </a:xfrm>
          <a:prstGeom prst="rect">
            <a:avLst/>
          </a:prstGeom>
          <a:solidFill>
            <a:srgbClr val="C8DB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786384" y="5806440"/>
            <a:ext cx="6949440" cy="25603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400" b="1">
                <a:solidFill>
                  <a:srgbClr val="102033"/>
                </a:solidFill>
                <a:latin typeface="Microsoft YaHei"/>
              </a:rPr>
              <a:t>架构价值：以能力组织、语义裁决、协作复核和执行落点构成可演示闭环。</a:t>
            </a:r>
          </a:p>
        </p:txBody>
      </p:sp>
      <p:sp>
        <p:nvSpPr>
          <p:cNvPr id="28" name="Rectangle 27"/>
          <p:cNvSpPr/>
          <p:nvPr/>
        </p:nvSpPr>
        <p:spPr>
          <a:xfrm>
            <a:off x="475488" y="6473952"/>
            <a:ext cx="8595360" cy="10160"/>
          </a:xfrm>
          <a:prstGeom prst="rect">
            <a:avLst/>
          </a:prstGeom>
          <a:solidFill>
            <a:srgbClr val="C8DB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475488" y="6537960"/>
            <a:ext cx="5486400"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750" b="0">
                <a:solidFill>
                  <a:srgbClr val="53657A"/>
                </a:solidFill>
                <a:latin typeface="Microsoft YaHei"/>
              </a:rPr>
              <a:t>面向互联网基础资源的大模型多智能体协作与可信认知标识技术研究</a:t>
            </a:r>
          </a:p>
        </p:txBody>
      </p:sp>
      <p:sp>
        <p:nvSpPr>
          <p:cNvPr id="30" name="Rectangle 29"/>
          <p:cNvSpPr/>
          <p:nvPr/>
        </p:nvSpPr>
        <p:spPr>
          <a:xfrm>
            <a:off x="11155680" y="6501384"/>
            <a:ext cx="384048"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r"/>
            <a:r>
              <a:rPr sz="800" b="0">
                <a:solidFill>
                  <a:srgbClr val="53657A"/>
                </a:solidFill>
                <a:latin typeface="Arial"/>
              </a:rPr>
              <a:t>07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light_texture.png"/>
          <p:cNvPicPr>
            <a:picLocks noChangeAspect="1"/>
          </p:cNvPicPr>
          <p:nvPr/>
        </p:nvPicPr>
        <p:blipFill>
          <a:blip r:embed="rId2"/>
          <a:stretch>
            <a:fillRect/>
          </a:stretch>
        </p:blipFill>
        <p:spPr>
          <a:xfrm>
            <a:off x="0" y="0"/>
            <a:ext cx="12191999" cy="6858000"/>
          </a:xfrm>
          <a:prstGeom prst="rect">
            <a:avLst/>
          </a:prstGeom>
        </p:spPr>
      </p:pic>
      <p:sp>
        <p:nvSpPr>
          <p:cNvPr id="3" name="Rectangle 2"/>
          <p:cNvSpPr/>
          <p:nvPr/>
        </p:nvSpPr>
        <p:spPr>
          <a:xfrm>
            <a:off x="0" y="0"/>
            <a:ext cx="12191999" cy="109728"/>
          </a:xfrm>
          <a:prstGeom prst="rect">
            <a:avLst/>
          </a:prstGeom>
          <a:solidFill>
            <a:srgbClr val="082B6D"/>
          </a:solidFill>
          <a:ln w="12700">
            <a:solidFill>
              <a:srgbClr val="082B6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9728"/>
            <a:ext cx="12191999" cy="32004"/>
          </a:xfrm>
          <a:prstGeom prst="rect">
            <a:avLst/>
          </a:prstGeom>
          <a:solidFill>
            <a:srgbClr val="1E83E6"/>
          </a:solidFill>
          <a:ln w="12700">
            <a:solidFill>
              <a:srgbClr val="1E83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475488" y="283464"/>
            <a:ext cx="676656" cy="237744"/>
          </a:xfrm>
          <a:prstGeom prst="roundRect">
            <a:avLst/>
          </a:prstGeom>
          <a:solidFill>
            <a:srgbClr val="E7F1FF"/>
          </a:solidFill>
          <a:ln w="11430">
            <a:solidFill>
              <a:srgbClr val="C8DBEF"/>
            </a:solidFill>
          </a:ln>
        </p:spPr>
        <p:style>
          <a:lnRef idx="1">
            <a:schemeClr val="accent1"/>
          </a:lnRef>
          <a:fillRef idx="3">
            <a:schemeClr val="accent1"/>
          </a:fillRef>
          <a:effectRef idx="2">
            <a:schemeClr val="accent1"/>
          </a:effectRef>
          <a:fontRef idx="minor">
            <a:schemeClr val="lt1"/>
          </a:fontRef>
        </p:style>
        <p:txBody>
          <a:bodyPr rtlCol="0" anchor="ctr" lIns="36576" rIns="36576" tIns="18288" bIns="18288"/>
          <a:lstStyle/>
          <a:p>
            <a:pPr algn="ctr"/>
            <a:r>
              <a:rPr sz="1200" b="1">
                <a:solidFill>
                  <a:srgbClr val="0B63CE"/>
                </a:solidFill>
                <a:latin typeface="Microsoft YaHei"/>
              </a:rPr>
              <a:t>06</a:t>
            </a:r>
          </a:p>
        </p:txBody>
      </p:sp>
      <p:sp>
        <p:nvSpPr>
          <p:cNvPr id="6" name="Rectangle 5"/>
          <p:cNvSpPr/>
          <p:nvPr/>
        </p:nvSpPr>
        <p:spPr>
          <a:xfrm>
            <a:off x="1298448" y="237744"/>
            <a:ext cx="8412480" cy="38404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2200" b="1">
                <a:solidFill>
                  <a:srgbClr val="102033"/>
                </a:solidFill>
                <a:latin typeface="Microsoft YaHei"/>
              </a:rPr>
              <a:t>复核架构：职责化协作复核流程与授权改判门禁</a:t>
            </a:r>
          </a:p>
        </p:txBody>
      </p:sp>
      <p:sp>
        <p:nvSpPr>
          <p:cNvPr id="7" name="Rectangle 6"/>
          <p:cNvSpPr/>
          <p:nvPr/>
        </p:nvSpPr>
        <p:spPr>
          <a:xfrm>
            <a:off x="1298448" y="621792"/>
            <a:ext cx="8595360" cy="237744"/>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080" b="0">
                <a:solidFill>
                  <a:srgbClr val="53657A"/>
                </a:solidFill>
                <a:latin typeface="Microsoft YaHei"/>
              </a:rPr>
              <a:t>第二张论文架构图用于说明 Stage B 内部如何从升级样本走到多角色提案、定向复核和最终授权。</a:t>
            </a:r>
          </a:p>
        </p:txBody>
      </p:sp>
      <p:sp>
        <p:nvSpPr>
          <p:cNvPr id="8" name="Rectangle 7"/>
          <p:cNvSpPr/>
          <p:nvPr/>
        </p:nvSpPr>
        <p:spPr>
          <a:xfrm>
            <a:off x="10698480" y="256032"/>
            <a:ext cx="1005840" cy="25603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r"/>
            <a:r>
              <a:rPr sz="2100" b="1">
                <a:solidFill>
                  <a:srgbClr val="0B63CE"/>
                </a:solidFill>
                <a:latin typeface="Arial"/>
              </a:rPr>
              <a:t>CNNIC</a:t>
            </a:r>
          </a:p>
        </p:txBody>
      </p:sp>
      <p:sp>
        <p:nvSpPr>
          <p:cNvPr id="9" name="Rectangle 8"/>
          <p:cNvSpPr/>
          <p:nvPr/>
        </p:nvSpPr>
        <p:spPr>
          <a:xfrm>
            <a:off x="10012680" y="530352"/>
            <a:ext cx="1691640"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r"/>
            <a:r>
              <a:rPr sz="850" b="0">
                <a:solidFill>
                  <a:srgbClr val="53657A"/>
                </a:solidFill>
                <a:latin typeface="Microsoft YaHei"/>
              </a:rPr>
              <a:t>中国互联网络信息中心</a:t>
            </a:r>
          </a:p>
        </p:txBody>
      </p:sp>
      <p:sp>
        <p:nvSpPr>
          <p:cNvPr id="10" name="Rounded Rectangle 9"/>
          <p:cNvSpPr/>
          <p:nvPr/>
        </p:nvSpPr>
        <p:spPr>
          <a:xfrm>
            <a:off x="566928" y="1097280"/>
            <a:ext cx="11064240" cy="3977639"/>
          </a:xfrm>
          <a:prstGeom prst="roundRect">
            <a:avLst/>
          </a:prstGeom>
          <a:solidFill>
            <a:srgbClr val="FFFFFF"/>
          </a:solidFill>
          <a:ln w="12700">
            <a:solidFill>
              <a:srgbClr val="B7D3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fig2_review_flow.png"/>
          <p:cNvPicPr>
            <a:picLocks noChangeAspect="1"/>
          </p:cNvPicPr>
          <p:nvPr/>
        </p:nvPicPr>
        <p:blipFill>
          <a:blip r:embed="rId3"/>
          <a:stretch>
            <a:fillRect/>
          </a:stretch>
        </p:blipFill>
        <p:spPr>
          <a:xfrm>
            <a:off x="786384" y="1353312"/>
            <a:ext cx="10607040" cy="3520440"/>
          </a:xfrm>
          <a:prstGeom prst="rect">
            <a:avLst/>
          </a:prstGeom>
        </p:spPr>
      </p:pic>
      <p:sp>
        <p:nvSpPr>
          <p:cNvPr id="12" name="Rounded Rectangle 11"/>
          <p:cNvSpPr/>
          <p:nvPr/>
        </p:nvSpPr>
        <p:spPr>
          <a:xfrm>
            <a:off x="786384" y="5340096"/>
            <a:ext cx="2926080" cy="585216"/>
          </a:xfrm>
          <a:prstGeom prst="roundRect">
            <a:avLst/>
          </a:prstGeom>
          <a:solidFill>
            <a:srgbClr val="FFFFFF"/>
          </a:solidFill>
          <a:ln w="12700">
            <a:solidFill>
              <a:srgbClr val="E9713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969264" y="5513832"/>
            <a:ext cx="566928"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250" b="1">
                <a:solidFill>
                  <a:srgbClr val="E97132"/>
                </a:solidFill>
                <a:latin typeface="Microsoft YaHei"/>
              </a:rPr>
              <a:t>入口</a:t>
            </a:r>
          </a:p>
        </p:txBody>
      </p:sp>
      <p:sp>
        <p:nvSpPr>
          <p:cNvPr id="14" name="Rectangle 13"/>
          <p:cNvSpPr/>
          <p:nvPr/>
        </p:nvSpPr>
        <p:spPr>
          <a:xfrm>
            <a:off x="1572768" y="5477256"/>
            <a:ext cx="1828800" cy="18288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880" b="0">
                <a:solidFill>
                  <a:srgbClr val="53657A"/>
                </a:solidFill>
                <a:latin typeface="Microsoft YaHei"/>
              </a:rPr>
              <a:t>低置信 / 小 margin / 高风险 / 多意图冲突</a:t>
            </a:r>
          </a:p>
        </p:txBody>
      </p:sp>
      <p:sp>
        <p:nvSpPr>
          <p:cNvPr id="15" name="Rounded Rectangle 14"/>
          <p:cNvSpPr/>
          <p:nvPr/>
        </p:nvSpPr>
        <p:spPr>
          <a:xfrm>
            <a:off x="4352544" y="5340096"/>
            <a:ext cx="2926080" cy="585216"/>
          </a:xfrm>
          <a:prstGeom prst="roundRect">
            <a:avLst/>
          </a:prstGeom>
          <a:solidFill>
            <a:srgbClr val="FFFFFF"/>
          </a:solidFill>
          <a:ln w="12700">
            <a:solidFill>
              <a:srgbClr val="0E8A5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535424" y="5513832"/>
            <a:ext cx="566928"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250" b="1">
                <a:solidFill>
                  <a:srgbClr val="0E8A57"/>
                </a:solidFill>
                <a:latin typeface="Microsoft YaHei"/>
              </a:rPr>
              <a:t>角色</a:t>
            </a:r>
          </a:p>
        </p:txBody>
      </p:sp>
      <p:sp>
        <p:nvSpPr>
          <p:cNvPr id="17" name="Rectangle 16"/>
          <p:cNvSpPr/>
          <p:nvPr/>
        </p:nvSpPr>
        <p:spPr>
          <a:xfrm>
            <a:off x="5138928" y="5477256"/>
            <a:ext cx="1828800" cy="18288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880" b="0">
                <a:solidFill>
                  <a:srgbClr val="53657A"/>
                </a:solidFill>
                <a:latin typeface="Microsoft YaHei"/>
              </a:rPr>
              <a:t>任务匹配、治理风险、层级解析、用户偏好</a:t>
            </a:r>
          </a:p>
        </p:txBody>
      </p:sp>
      <p:sp>
        <p:nvSpPr>
          <p:cNvPr id="18" name="Rounded Rectangle 17"/>
          <p:cNvSpPr/>
          <p:nvPr/>
        </p:nvSpPr>
        <p:spPr>
          <a:xfrm>
            <a:off x="7918704" y="5340096"/>
            <a:ext cx="2926080" cy="585216"/>
          </a:xfrm>
          <a:prstGeom prst="roundRect">
            <a:avLst/>
          </a:prstGeom>
          <a:solidFill>
            <a:srgbClr val="FFFFFF"/>
          </a:solidFill>
          <a:ln w="12700">
            <a:solidFill>
              <a:srgbClr val="0B63C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8101583" y="5513832"/>
            <a:ext cx="566928"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250" b="1">
                <a:solidFill>
                  <a:srgbClr val="0B63CE"/>
                </a:solidFill>
                <a:latin typeface="Microsoft YaHei"/>
              </a:rPr>
              <a:t>门禁</a:t>
            </a:r>
          </a:p>
        </p:txBody>
      </p:sp>
      <p:sp>
        <p:nvSpPr>
          <p:cNvPr id="20" name="Rectangle 19"/>
          <p:cNvSpPr/>
          <p:nvPr/>
        </p:nvSpPr>
        <p:spPr>
          <a:xfrm>
            <a:off x="8705088" y="5477256"/>
            <a:ext cx="1828800" cy="18288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880" b="0">
                <a:solidFill>
                  <a:srgbClr val="53657A"/>
                </a:solidFill>
                <a:latin typeface="Microsoft YaHei"/>
              </a:rPr>
              <a:t>票数、共识增益、显式证据、敏感改判二轮确认</a:t>
            </a:r>
          </a:p>
        </p:txBody>
      </p:sp>
      <p:sp>
        <p:nvSpPr>
          <p:cNvPr id="21" name="Rectangle 20"/>
          <p:cNvSpPr/>
          <p:nvPr/>
        </p:nvSpPr>
        <p:spPr>
          <a:xfrm>
            <a:off x="841248" y="6199632"/>
            <a:ext cx="9784080"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040" b="1">
                <a:solidFill>
                  <a:srgbClr val="102033"/>
                </a:solidFill>
                <a:latin typeface="Microsoft YaHei"/>
              </a:rPr>
              <a:t>这页补足第二张论文架构图：证明协作复核不是“再问一遍模型”，而是有入口、有分工、有门禁的受控纠错机制。</a:t>
            </a:r>
          </a:p>
        </p:txBody>
      </p:sp>
      <p:sp>
        <p:nvSpPr>
          <p:cNvPr id="22" name="Rectangle 21"/>
          <p:cNvSpPr/>
          <p:nvPr/>
        </p:nvSpPr>
        <p:spPr>
          <a:xfrm>
            <a:off x="475488" y="6473952"/>
            <a:ext cx="8595360" cy="10160"/>
          </a:xfrm>
          <a:prstGeom prst="rect">
            <a:avLst/>
          </a:prstGeom>
          <a:solidFill>
            <a:srgbClr val="C8DB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475488" y="6537960"/>
            <a:ext cx="5486400"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750" b="0">
                <a:solidFill>
                  <a:srgbClr val="53657A"/>
                </a:solidFill>
                <a:latin typeface="Microsoft YaHei"/>
              </a:rPr>
              <a:t>面向互联网基础资源的大模型多智能体协作与可信认知标识技术研究</a:t>
            </a:r>
          </a:p>
        </p:txBody>
      </p:sp>
      <p:sp>
        <p:nvSpPr>
          <p:cNvPr id="24" name="Rectangle 23"/>
          <p:cNvSpPr/>
          <p:nvPr/>
        </p:nvSpPr>
        <p:spPr>
          <a:xfrm>
            <a:off x="11155680" y="6501384"/>
            <a:ext cx="384048"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r"/>
            <a:r>
              <a:rPr sz="800" b="0">
                <a:solidFill>
                  <a:srgbClr val="53657A"/>
                </a:solidFill>
                <a:latin typeface="Arial"/>
              </a:rPr>
              <a:t>08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light_texture.png"/>
          <p:cNvPicPr>
            <a:picLocks noChangeAspect="1"/>
          </p:cNvPicPr>
          <p:nvPr/>
        </p:nvPicPr>
        <p:blipFill>
          <a:blip r:embed="rId2"/>
          <a:stretch>
            <a:fillRect/>
          </a:stretch>
        </p:blipFill>
        <p:spPr>
          <a:xfrm>
            <a:off x="0" y="0"/>
            <a:ext cx="12191999" cy="6858000"/>
          </a:xfrm>
          <a:prstGeom prst="rect">
            <a:avLst/>
          </a:prstGeom>
        </p:spPr>
      </p:pic>
      <p:sp>
        <p:nvSpPr>
          <p:cNvPr id="3" name="Rectangle 2"/>
          <p:cNvSpPr/>
          <p:nvPr/>
        </p:nvSpPr>
        <p:spPr>
          <a:xfrm>
            <a:off x="0" y="0"/>
            <a:ext cx="12191999" cy="109728"/>
          </a:xfrm>
          <a:prstGeom prst="rect">
            <a:avLst/>
          </a:prstGeom>
          <a:solidFill>
            <a:srgbClr val="082B6D"/>
          </a:solidFill>
          <a:ln w="12700">
            <a:solidFill>
              <a:srgbClr val="082B6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9728"/>
            <a:ext cx="12191999" cy="32004"/>
          </a:xfrm>
          <a:prstGeom prst="rect">
            <a:avLst/>
          </a:prstGeom>
          <a:solidFill>
            <a:srgbClr val="1E83E6"/>
          </a:solidFill>
          <a:ln w="12700">
            <a:solidFill>
              <a:srgbClr val="1E83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475488" y="283464"/>
            <a:ext cx="676656" cy="237744"/>
          </a:xfrm>
          <a:prstGeom prst="roundRect">
            <a:avLst/>
          </a:prstGeom>
          <a:solidFill>
            <a:srgbClr val="E7F1FF"/>
          </a:solidFill>
          <a:ln w="11430">
            <a:solidFill>
              <a:srgbClr val="C8DBEF"/>
            </a:solidFill>
          </a:ln>
        </p:spPr>
        <p:style>
          <a:lnRef idx="1">
            <a:schemeClr val="accent1"/>
          </a:lnRef>
          <a:fillRef idx="3">
            <a:schemeClr val="accent1"/>
          </a:fillRef>
          <a:effectRef idx="2">
            <a:schemeClr val="accent1"/>
          </a:effectRef>
          <a:fontRef idx="minor">
            <a:schemeClr val="lt1"/>
          </a:fontRef>
        </p:style>
        <p:txBody>
          <a:bodyPr rtlCol="0" anchor="ctr" lIns="36576" rIns="36576" tIns="18288" bIns="18288"/>
          <a:lstStyle/>
          <a:p>
            <a:pPr algn="ctr"/>
            <a:r>
              <a:rPr sz="1200" b="1">
                <a:solidFill>
                  <a:srgbClr val="0B63CE"/>
                </a:solidFill>
                <a:latin typeface="Microsoft YaHei"/>
              </a:rPr>
              <a:t>07</a:t>
            </a:r>
          </a:p>
        </p:txBody>
      </p:sp>
      <p:sp>
        <p:nvSpPr>
          <p:cNvPr id="6" name="Rectangle 5"/>
          <p:cNvSpPr/>
          <p:nvPr/>
        </p:nvSpPr>
        <p:spPr>
          <a:xfrm>
            <a:off x="1298448" y="237744"/>
            <a:ext cx="8412480" cy="38404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2200" b="1">
                <a:solidFill>
                  <a:srgbClr val="102033"/>
                </a:solidFill>
                <a:latin typeface="Microsoft YaHei"/>
              </a:rPr>
              <a:t>Stage R 技术剖面：descriptor-only 候选召回与冻结快照</a:t>
            </a:r>
          </a:p>
        </p:txBody>
      </p:sp>
      <p:sp>
        <p:nvSpPr>
          <p:cNvPr id="7" name="Rectangle 6"/>
          <p:cNvSpPr/>
          <p:nvPr/>
        </p:nvSpPr>
        <p:spPr>
          <a:xfrm>
            <a:off x="1298448" y="621792"/>
            <a:ext cx="8595360" cy="237744"/>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080" b="0">
                <a:solidFill>
                  <a:srgbClr val="53657A"/>
                </a:solidFill>
                <a:latin typeface="Microsoft YaHei"/>
              </a:rPr>
              <a:t>技术难点在于既要高覆盖召回，又不能引入样例泄漏；候选边界必须可复核、可归因。</a:t>
            </a:r>
          </a:p>
        </p:txBody>
      </p:sp>
      <p:sp>
        <p:nvSpPr>
          <p:cNvPr id="8" name="Rectangle 7"/>
          <p:cNvSpPr/>
          <p:nvPr/>
        </p:nvSpPr>
        <p:spPr>
          <a:xfrm>
            <a:off x="10698480" y="256032"/>
            <a:ext cx="1005840" cy="25603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r"/>
            <a:r>
              <a:rPr sz="2100" b="1">
                <a:solidFill>
                  <a:srgbClr val="0B63CE"/>
                </a:solidFill>
                <a:latin typeface="Arial"/>
              </a:rPr>
              <a:t>CNNIC</a:t>
            </a:r>
          </a:p>
        </p:txBody>
      </p:sp>
      <p:sp>
        <p:nvSpPr>
          <p:cNvPr id="9" name="Rectangle 8"/>
          <p:cNvSpPr/>
          <p:nvPr/>
        </p:nvSpPr>
        <p:spPr>
          <a:xfrm>
            <a:off x="10012680" y="530352"/>
            <a:ext cx="1691640"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r"/>
            <a:r>
              <a:rPr sz="850" b="0">
                <a:solidFill>
                  <a:srgbClr val="53657A"/>
                </a:solidFill>
                <a:latin typeface="Microsoft YaHei"/>
              </a:rPr>
              <a:t>中国互联网络信息中心</a:t>
            </a:r>
          </a:p>
        </p:txBody>
      </p:sp>
      <p:sp>
        <p:nvSpPr>
          <p:cNvPr id="10" name="Rounded Rectangle 9"/>
          <p:cNvSpPr/>
          <p:nvPr/>
        </p:nvSpPr>
        <p:spPr>
          <a:xfrm>
            <a:off x="685800" y="1152144"/>
            <a:ext cx="4983480" cy="3794760"/>
          </a:xfrm>
          <a:prstGeom prst="roundRect">
            <a:avLst/>
          </a:prstGeom>
          <a:solidFill>
            <a:srgbClr val="071A46"/>
          </a:solidFill>
          <a:ln w="12700">
            <a:solidFill>
              <a:srgbClr val="1E83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960120" y="1417320"/>
            <a:ext cx="1645920" cy="219456"/>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700" b="1">
                <a:solidFill>
                  <a:srgbClr val="FFFFFF"/>
                </a:solidFill>
                <a:latin typeface="Microsoft YaHei"/>
              </a:rPr>
              <a:t>候选召回规则</a:t>
            </a:r>
          </a:p>
        </p:txBody>
      </p:sp>
      <p:sp>
        <p:nvSpPr>
          <p:cNvPr id="12" name="Rectangle 11"/>
          <p:cNvSpPr/>
          <p:nvPr/>
        </p:nvSpPr>
        <p:spPr>
          <a:xfrm>
            <a:off x="969264" y="1810512"/>
            <a:ext cx="4160520" cy="157276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220" b="0">
                <a:solidFill>
                  <a:srgbClr val="D2E6FF"/>
                </a:solidFill>
                <a:latin typeface="Menlo"/>
              </a:rPr>
              <a:t>for node in namespace:
  score_r = alias + desc + context
            + hierarchy_bonus
            - overspecific_penalty
            - weak_parent_penalty
select diversified top-k candidates
freeze candidate snapshot</a:t>
            </a:r>
          </a:p>
        </p:txBody>
      </p:sp>
      <p:sp>
        <p:nvSpPr>
          <p:cNvPr id="13" name="Rectangle 12"/>
          <p:cNvSpPr/>
          <p:nvPr/>
        </p:nvSpPr>
        <p:spPr>
          <a:xfrm>
            <a:off x="969264" y="3657600"/>
            <a:ext cx="4206240" cy="12700"/>
          </a:xfrm>
          <a:prstGeom prst="rect">
            <a:avLst/>
          </a:prstGeom>
          <a:solidFill>
            <a:srgbClr val="2F80D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1005840" y="3941063"/>
            <a:ext cx="68580" cy="68580"/>
          </a:xfrm>
          <a:prstGeom prst="ellipse">
            <a:avLst/>
          </a:prstGeom>
          <a:solidFill>
            <a:srgbClr val="26B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1170432" y="3886200"/>
            <a:ext cx="4069080" cy="219456"/>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960" b="0">
                <a:solidFill>
                  <a:srgbClr val="D2E6FF"/>
                </a:solidFill>
                <a:latin typeface="Microsoft YaHei"/>
              </a:rPr>
              <a:t>不读历史样例，避免 benchmark 泄漏</a:t>
            </a:r>
          </a:p>
        </p:txBody>
      </p:sp>
      <p:sp>
        <p:nvSpPr>
          <p:cNvPr id="16" name="Oval 15"/>
          <p:cNvSpPr/>
          <p:nvPr/>
        </p:nvSpPr>
        <p:spPr>
          <a:xfrm>
            <a:off x="1005840" y="4215383"/>
            <a:ext cx="68580" cy="68580"/>
          </a:xfrm>
          <a:prstGeom prst="ellipse">
            <a:avLst/>
          </a:prstGeom>
          <a:solidFill>
            <a:srgbClr val="26B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1170432" y="4160520"/>
            <a:ext cx="4069080" cy="219456"/>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960" b="0">
                <a:solidFill>
                  <a:srgbClr val="D2E6FF"/>
                </a:solidFill>
                <a:latin typeface="Microsoft YaHei"/>
              </a:rPr>
              <a:t>召回来源保留 alias / desc_overlap / segment_node</a:t>
            </a:r>
          </a:p>
        </p:txBody>
      </p:sp>
      <p:sp>
        <p:nvSpPr>
          <p:cNvPr id="18" name="Oval 17"/>
          <p:cNvSpPr/>
          <p:nvPr/>
        </p:nvSpPr>
        <p:spPr>
          <a:xfrm>
            <a:off x="1005840" y="4489703"/>
            <a:ext cx="68580" cy="68580"/>
          </a:xfrm>
          <a:prstGeom prst="ellipse">
            <a:avLst/>
          </a:prstGeom>
          <a:solidFill>
            <a:srgbClr val="26B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1170432" y="4434840"/>
            <a:ext cx="4069080" cy="219456"/>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960" b="0">
                <a:solidFill>
                  <a:srgbClr val="D2E6FF"/>
                </a:solidFill>
                <a:latin typeface="Microsoft YaHei"/>
              </a:rPr>
              <a:t>ground truth 未进入候选集可直接归因为 Stage R miss</a:t>
            </a:r>
          </a:p>
        </p:txBody>
      </p:sp>
      <p:sp>
        <p:nvSpPr>
          <p:cNvPr id="20" name="Rounded Rectangle 19"/>
          <p:cNvSpPr/>
          <p:nvPr/>
        </p:nvSpPr>
        <p:spPr>
          <a:xfrm>
            <a:off x="6126480" y="1152144"/>
            <a:ext cx="5166360" cy="1874519"/>
          </a:xfrm>
          <a:prstGeom prst="roundRect">
            <a:avLst/>
          </a:prstGeom>
          <a:solidFill>
            <a:srgbClr val="FFFFFF"/>
          </a:solidFill>
          <a:ln w="12700">
            <a:solidFill>
              <a:srgbClr val="C8DB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419088" y="1426464"/>
            <a:ext cx="2331720" cy="20116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450" b="1">
                <a:solidFill>
                  <a:srgbClr val="0B63CE"/>
                </a:solidFill>
                <a:latin typeface="Arial"/>
              </a:rPr>
              <a:t>candidate_snapshot</a:t>
            </a:r>
          </a:p>
        </p:txBody>
      </p:sp>
      <p:sp>
        <p:nvSpPr>
          <p:cNvPr id="22" name="Rectangle 21"/>
          <p:cNvSpPr/>
          <p:nvPr/>
        </p:nvSpPr>
        <p:spPr>
          <a:xfrm>
            <a:off x="6419088" y="1664208"/>
            <a:ext cx="914400" cy="146304"/>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980" b="0">
                <a:solidFill>
                  <a:srgbClr val="53657A"/>
                </a:solidFill>
                <a:latin typeface="Microsoft YaHei"/>
              </a:rPr>
              <a:t>关键字段</a:t>
            </a:r>
          </a:p>
        </p:txBody>
      </p:sp>
      <p:sp>
        <p:nvSpPr>
          <p:cNvPr id="23" name="Rectangle 22"/>
          <p:cNvSpPr/>
          <p:nvPr/>
        </p:nvSpPr>
        <p:spPr>
          <a:xfrm>
            <a:off x="6455664" y="1956816"/>
            <a:ext cx="1737360"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960" b="0">
                <a:solidFill>
                  <a:srgbClr val="102033"/>
                </a:solidFill>
                <a:latin typeface="Arial"/>
              </a:rPr>
              <a:t>fqdn</a:t>
            </a:r>
          </a:p>
        </p:txBody>
      </p:sp>
      <p:sp>
        <p:nvSpPr>
          <p:cNvPr id="24" name="Rectangle 23"/>
          <p:cNvSpPr/>
          <p:nvPr/>
        </p:nvSpPr>
        <p:spPr>
          <a:xfrm>
            <a:off x="8604504" y="1956816"/>
            <a:ext cx="1737360"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960" b="0">
                <a:solidFill>
                  <a:srgbClr val="102033"/>
                </a:solidFill>
                <a:latin typeface="Arial"/>
              </a:rPr>
              <a:t>score_r</a:t>
            </a:r>
          </a:p>
        </p:txBody>
      </p:sp>
      <p:sp>
        <p:nvSpPr>
          <p:cNvPr id="25" name="Rectangle 24"/>
          <p:cNvSpPr/>
          <p:nvPr/>
        </p:nvSpPr>
        <p:spPr>
          <a:xfrm>
            <a:off x="6455664" y="2240280"/>
            <a:ext cx="1737360"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960" b="0">
                <a:solidFill>
                  <a:srgbClr val="102033"/>
                </a:solidFill>
                <a:latin typeface="Arial"/>
              </a:rPr>
              <a:t>source[]</a:t>
            </a:r>
          </a:p>
        </p:txBody>
      </p:sp>
      <p:sp>
        <p:nvSpPr>
          <p:cNvPr id="26" name="Rectangle 25"/>
          <p:cNvSpPr/>
          <p:nvPr/>
        </p:nvSpPr>
        <p:spPr>
          <a:xfrm>
            <a:off x="8604504" y="2240280"/>
            <a:ext cx="1737360"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960" b="0">
                <a:solidFill>
                  <a:srgbClr val="102033"/>
                </a:solidFill>
                <a:latin typeface="Arial"/>
              </a:rPr>
              <a:t>matched_phrases</a:t>
            </a:r>
          </a:p>
        </p:txBody>
      </p:sp>
      <p:sp>
        <p:nvSpPr>
          <p:cNvPr id="27" name="Rectangle 26"/>
          <p:cNvSpPr/>
          <p:nvPr/>
        </p:nvSpPr>
        <p:spPr>
          <a:xfrm>
            <a:off x="6455664" y="2523744"/>
            <a:ext cx="1737360"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960" b="0">
                <a:solidFill>
                  <a:srgbClr val="102033"/>
                </a:solidFill>
                <a:latin typeface="Arial"/>
              </a:rPr>
              <a:t>components</a:t>
            </a:r>
          </a:p>
        </p:txBody>
      </p:sp>
      <p:sp>
        <p:nvSpPr>
          <p:cNvPr id="28" name="Rectangle 27"/>
          <p:cNvSpPr/>
          <p:nvPr/>
        </p:nvSpPr>
        <p:spPr>
          <a:xfrm>
            <a:off x="8604504" y="2523744"/>
            <a:ext cx="1737360"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960" b="0">
                <a:solidFill>
                  <a:srgbClr val="102033"/>
                </a:solidFill>
                <a:latin typeface="Arial"/>
              </a:rPr>
              <a:t>candidate_recall_hit</a:t>
            </a:r>
          </a:p>
        </p:txBody>
      </p:sp>
      <p:sp>
        <p:nvSpPr>
          <p:cNvPr id="29" name="Rounded Rectangle 28"/>
          <p:cNvSpPr/>
          <p:nvPr/>
        </p:nvSpPr>
        <p:spPr>
          <a:xfrm>
            <a:off x="6126480" y="3310128"/>
            <a:ext cx="5166360" cy="1627632"/>
          </a:xfrm>
          <a:prstGeom prst="roundRect">
            <a:avLst/>
          </a:prstGeom>
          <a:solidFill>
            <a:srgbClr val="FFFFFF"/>
          </a:solidFill>
          <a:ln w="12700">
            <a:solidFill>
              <a:srgbClr val="0E8A5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6419088" y="3566160"/>
            <a:ext cx="2423160" cy="20116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350" b="1">
                <a:solidFill>
                  <a:srgbClr val="0E8A57"/>
                </a:solidFill>
                <a:latin typeface="Arial"/>
              </a:rPr>
              <a:t>样例: holdout3_000213</a:t>
            </a:r>
          </a:p>
        </p:txBody>
      </p:sp>
      <p:sp>
        <p:nvSpPr>
          <p:cNvPr id="31" name="Rectangle 30"/>
          <p:cNvSpPr/>
          <p:nvPr/>
        </p:nvSpPr>
        <p:spPr>
          <a:xfrm>
            <a:off x="6419088" y="3913632"/>
            <a:ext cx="1691640" cy="13716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869" b="0">
                <a:solidFill>
                  <a:srgbClr val="102033"/>
                </a:solidFill>
                <a:latin typeface="Arial"/>
              </a:rPr>
              <a:t>coupon.commerce.cn</a:t>
            </a:r>
          </a:p>
        </p:txBody>
      </p:sp>
      <p:sp>
        <p:nvSpPr>
          <p:cNvPr id="32" name="Rectangle 31"/>
          <p:cNvSpPr/>
          <p:nvPr/>
        </p:nvSpPr>
        <p:spPr>
          <a:xfrm>
            <a:off x="8211312" y="3913632"/>
            <a:ext cx="502920" cy="13716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869" b="0">
                <a:solidFill>
                  <a:srgbClr val="53657A"/>
                </a:solidFill>
                <a:latin typeface="Arial"/>
              </a:rPr>
              <a:t>0.1885</a:t>
            </a:r>
          </a:p>
        </p:txBody>
      </p:sp>
      <p:sp>
        <p:nvSpPr>
          <p:cNvPr id="33" name="Rectangle 32"/>
          <p:cNvSpPr/>
          <p:nvPr/>
        </p:nvSpPr>
        <p:spPr>
          <a:xfrm>
            <a:off x="8851392" y="3913632"/>
            <a:ext cx="1371600" cy="13716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869" b="0">
                <a:solidFill>
                  <a:srgbClr val="53657A"/>
                </a:solidFill>
                <a:latin typeface="Microsoft YaHei"/>
              </a:rPr>
              <a:t>query:优惠</a:t>
            </a:r>
          </a:p>
        </p:txBody>
      </p:sp>
      <p:sp>
        <p:nvSpPr>
          <p:cNvPr id="34" name="Rectangle 33"/>
          <p:cNvSpPr/>
          <p:nvPr/>
        </p:nvSpPr>
        <p:spPr>
          <a:xfrm>
            <a:off x="6419088" y="4169664"/>
            <a:ext cx="1691640" cy="13716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869" b="0">
                <a:solidFill>
                  <a:srgbClr val="102033"/>
                </a:solidFill>
                <a:latin typeface="Arial"/>
              </a:rPr>
              <a:t>price.commerce.cn</a:t>
            </a:r>
          </a:p>
        </p:txBody>
      </p:sp>
      <p:sp>
        <p:nvSpPr>
          <p:cNvPr id="35" name="Rectangle 34"/>
          <p:cNvSpPr/>
          <p:nvPr/>
        </p:nvSpPr>
        <p:spPr>
          <a:xfrm>
            <a:off x="8211312" y="4169664"/>
            <a:ext cx="502920" cy="13716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869" b="0">
                <a:solidFill>
                  <a:srgbClr val="53657A"/>
                </a:solidFill>
                <a:latin typeface="Arial"/>
              </a:rPr>
              <a:t>0.1885</a:t>
            </a:r>
          </a:p>
        </p:txBody>
      </p:sp>
      <p:sp>
        <p:nvSpPr>
          <p:cNvPr id="36" name="Rectangle 35"/>
          <p:cNvSpPr/>
          <p:nvPr/>
        </p:nvSpPr>
        <p:spPr>
          <a:xfrm>
            <a:off x="8851392" y="4169664"/>
            <a:ext cx="1371600" cy="13716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869" b="0">
                <a:solidFill>
                  <a:srgbClr val="53657A"/>
                </a:solidFill>
                <a:latin typeface="Microsoft YaHei"/>
              </a:rPr>
              <a:t>query:价格</a:t>
            </a:r>
          </a:p>
        </p:txBody>
      </p:sp>
      <p:sp>
        <p:nvSpPr>
          <p:cNvPr id="37" name="Rectangle 36"/>
          <p:cNvSpPr/>
          <p:nvPr/>
        </p:nvSpPr>
        <p:spPr>
          <a:xfrm>
            <a:off x="6419088" y="4425696"/>
            <a:ext cx="1691640" cy="13716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869" b="0">
                <a:solidFill>
                  <a:srgbClr val="102033"/>
                </a:solidFill>
                <a:latin typeface="Arial"/>
              </a:rPr>
              <a:t>meeting.productivity.cn</a:t>
            </a:r>
          </a:p>
        </p:txBody>
      </p:sp>
      <p:sp>
        <p:nvSpPr>
          <p:cNvPr id="38" name="Rectangle 37"/>
          <p:cNvSpPr/>
          <p:nvPr/>
        </p:nvSpPr>
        <p:spPr>
          <a:xfrm>
            <a:off x="8211312" y="4425696"/>
            <a:ext cx="502920" cy="13716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869" b="0">
                <a:solidFill>
                  <a:srgbClr val="53657A"/>
                </a:solidFill>
                <a:latin typeface="Arial"/>
              </a:rPr>
              <a:t>0.1885</a:t>
            </a:r>
          </a:p>
        </p:txBody>
      </p:sp>
      <p:sp>
        <p:nvSpPr>
          <p:cNvPr id="39" name="Rectangle 38"/>
          <p:cNvSpPr/>
          <p:nvPr/>
        </p:nvSpPr>
        <p:spPr>
          <a:xfrm>
            <a:off x="8851392" y="4425696"/>
            <a:ext cx="1371600" cy="13716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869" b="0">
                <a:solidFill>
                  <a:srgbClr val="53657A"/>
                </a:solidFill>
                <a:latin typeface="Microsoft YaHei"/>
              </a:rPr>
              <a:t>query:会议</a:t>
            </a:r>
          </a:p>
        </p:txBody>
      </p:sp>
      <p:sp>
        <p:nvSpPr>
          <p:cNvPr id="40" name="Rectangle 39"/>
          <p:cNvSpPr/>
          <p:nvPr/>
        </p:nvSpPr>
        <p:spPr>
          <a:xfrm>
            <a:off x="841248" y="5650992"/>
            <a:ext cx="8686800" cy="219456"/>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350" b="1">
                <a:solidFill>
                  <a:srgbClr val="102033"/>
                </a:solidFill>
                <a:latin typeface="Microsoft YaHei"/>
              </a:rPr>
              <a:t>技术价值：后续所有裁决都在冻结候选集合内进行，错误类型可以被精确拆分。</a:t>
            </a:r>
          </a:p>
        </p:txBody>
      </p:sp>
      <p:sp>
        <p:nvSpPr>
          <p:cNvPr id="41" name="Rectangle 40"/>
          <p:cNvSpPr/>
          <p:nvPr/>
        </p:nvSpPr>
        <p:spPr>
          <a:xfrm>
            <a:off x="475488" y="6473952"/>
            <a:ext cx="8595360" cy="10160"/>
          </a:xfrm>
          <a:prstGeom prst="rect">
            <a:avLst/>
          </a:prstGeom>
          <a:solidFill>
            <a:srgbClr val="C8DB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475488" y="6537960"/>
            <a:ext cx="5486400"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750" b="0">
                <a:solidFill>
                  <a:srgbClr val="53657A"/>
                </a:solidFill>
                <a:latin typeface="Microsoft YaHei"/>
              </a:rPr>
              <a:t>面向互联网基础资源的大模型多智能体协作与可信认知标识技术研究</a:t>
            </a:r>
          </a:p>
        </p:txBody>
      </p:sp>
      <p:sp>
        <p:nvSpPr>
          <p:cNvPr id="43" name="Rectangle 42"/>
          <p:cNvSpPr/>
          <p:nvPr/>
        </p:nvSpPr>
        <p:spPr>
          <a:xfrm>
            <a:off x="11155680" y="6501384"/>
            <a:ext cx="384048"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r"/>
            <a:r>
              <a:rPr sz="800" b="0">
                <a:solidFill>
                  <a:srgbClr val="53657A"/>
                </a:solidFill>
                <a:latin typeface="Arial"/>
              </a:rPr>
              <a:t>09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light_texture.png"/>
          <p:cNvPicPr>
            <a:picLocks noChangeAspect="1"/>
          </p:cNvPicPr>
          <p:nvPr/>
        </p:nvPicPr>
        <p:blipFill>
          <a:blip r:embed="rId2"/>
          <a:stretch>
            <a:fillRect/>
          </a:stretch>
        </p:blipFill>
        <p:spPr>
          <a:xfrm>
            <a:off x="0" y="0"/>
            <a:ext cx="12191999" cy="6858000"/>
          </a:xfrm>
          <a:prstGeom prst="rect">
            <a:avLst/>
          </a:prstGeom>
        </p:spPr>
      </p:pic>
      <p:sp>
        <p:nvSpPr>
          <p:cNvPr id="3" name="Rectangle 2"/>
          <p:cNvSpPr/>
          <p:nvPr/>
        </p:nvSpPr>
        <p:spPr>
          <a:xfrm>
            <a:off x="0" y="0"/>
            <a:ext cx="12191999" cy="109728"/>
          </a:xfrm>
          <a:prstGeom prst="rect">
            <a:avLst/>
          </a:prstGeom>
          <a:solidFill>
            <a:srgbClr val="082B6D"/>
          </a:solidFill>
          <a:ln w="12700">
            <a:solidFill>
              <a:srgbClr val="082B6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9728"/>
            <a:ext cx="12191999" cy="32004"/>
          </a:xfrm>
          <a:prstGeom prst="rect">
            <a:avLst/>
          </a:prstGeom>
          <a:solidFill>
            <a:srgbClr val="1E83E6"/>
          </a:solidFill>
          <a:ln w="12700">
            <a:solidFill>
              <a:srgbClr val="1E83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475488" y="283464"/>
            <a:ext cx="676656" cy="237744"/>
          </a:xfrm>
          <a:prstGeom prst="roundRect">
            <a:avLst/>
          </a:prstGeom>
          <a:solidFill>
            <a:srgbClr val="E7F1FF"/>
          </a:solidFill>
          <a:ln w="11430">
            <a:solidFill>
              <a:srgbClr val="C8DBEF"/>
            </a:solidFill>
          </a:ln>
        </p:spPr>
        <p:style>
          <a:lnRef idx="1">
            <a:schemeClr val="accent1"/>
          </a:lnRef>
          <a:fillRef idx="3">
            <a:schemeClr val="accent1"/>
          </a:fillRef>
          <a:effectRef idx="2">
            <a:schemeClr val="accent1"/>
          </a:effectRef>
          <a:fontRef idx="minor">
            <a:schemeClr val="lt1"/>
          </a:fontRef>
        </p:style>
        <p:txBody>
          <a:bodyPr rtlCol="0" anchor="ctr" lIns="36576" rIns="36576" tIns="18288" bIns="18288"/>
          <a:lstStyle/>
          <a:p>
            <a:pPr algn="ctr"/>
            <a:r>
              <a:rPr sz="1200" b="1">
                <a:solidFill>
                  <a:srgbClr val="0B63CE"/>
                </a:solidFill>
                <a:latin typeface="Microsoft YaHei"/>
              </a:rPr>
              <a:t>08</a:t>
            </a:r>
          </a:p>
        </p:txBody>
      </p:sp>
      <p:sp>
        <p:nvSpPr>
          <p:cNvPr id="6" name="Rectangle 5"/>
          <p:cNvSpPr/>
          <p:nvPr/>
        </p:nvSpPr>
        <p:spPr>
          <a:xfrm>
            <a:off x="1298448" y="237744"/>
            <a:ext cx="8412480" cy="38404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2200" b="1">
                <a:solidFill>
                  <a:srgbClr val="102033"/>
                </a:solidFill>
                <a:latin typeface="Microsoft YaHei"/>
              </a:rPr>
              <a:t>Stage A 技术剖面：把 LLM 输出校准为候选级 decision packet</a:t>
            </a:r>
          </a:p>
        </p:txBody>
      </p:sp>
      <p:sp>
        <p:nvSpPr>
          <p:cNvPr id="7" name="Rectangle 6"/>
          <p:cNvSpPr/>
          <p:nvPr/>
        </p:nvSpPr>
        <p:spPr>
          <a:xfrm>
            <a:off x="1298448" y="621792"/>
            <a:ext cx="8595360" cy="237744"/>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080" b="0">
                <a:solidFill>
                  <a:srgbClr val="53657A"/>
                </a:solidFill>
                <a:latin typeface="Microsoft YaHei"/>
              </a:rPr>
              <a:t>技术难点不是让模型多解释，而是把模型判断压缩成可计算、可升级、可复核的结构化字段。</a:t>
            </a:r>
          </a:p>
        </p:txBody>
      </p:sp>
      <p:sp>
        <p:nvSpPr>
          <p:cNvPr id="8" name="Rectangle 7"/>
          <p:cNvSpPr/>
          <p:nvPr/>
        </p:nvSpPr>
        <p:spPr>
          <a:xfrm>
            <a:off x="10698480" y="256032"/>
            <a:ext cx="1005840" cy="25603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r"/>
            <a:r>
              <a:rPr sz="2100" b="1">
                <a:solidFill>
                  <a:srgbClr val="0B63CE"/>
                </a:solidFill>
                <a:latin typeface="Arial"/>
              </a:rPr>
              <a:t>CNNIC</a:t>
            </a:r>
          </a:p>
        </p:txBody>
      </p:sp>
      <p:sp>
        <p:nvSpPr>
          <p:cNvPr id="9" name="Rectangle 8"/>
          <p:cNvSpPr/>
          <p:nvPr/>
        </p:nvSpPr>
        <p:spPr>
          <a:xfrm>
            <a:off x="10012680" y="530352"/>
            <a:ext cx="1691640"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r"/>
            <a:r>
              <a:rPr sz="850" b="0">
                <a:solidFill>
                  <a:srgbClr val="53657A"/>
                </a:solidFill>
                <a:latin typeface="Microsoft YaHei"/>
              </a:rPr>
              <a:t>中国互联网络信息中心</a:t>
            </a:r>
          </a:p>
        </p:txBody>
      </p:sp>
      <p:sp>
        <p:nvSpPr>
          <p:cNvPr id="10" name="Rounded Rectangle 9"/>
          <p:cNvSpPr/>
          <p:nvPr/>
        </p:nvSpPr>
        <p:spPr>
          <a:xfrm>
            <a:off x="658368" y="1115568"/>
            <a:ext cx="5166360" cy="1874519"/>
          </a:xfrm>
          <a:prstGeom prst="roundRect">
            <a:avLst/>
          </a:prstGeom>
          <a:solidFill>
            <a:srgbClr val="071A46"/>
          </a:solidFill>
          <a:ln w="12700">
            <a:solidFill>
              <a:srgbClr val="1E83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932688" y="1371600"/>
            <a:ext cx="1645920" cy="219456"/>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600" b="1">
                <a:solidFill>
                  <a:srgbClr val="FFFFFF"/>
                </a:solidFill>
                <a:latin typeface="Microsoft YaHei"/>
              </a:rPr>
              <a:t>主能力评分融合</a:t>
            </a:r>
          </a:p>
        </p:txBody>
      </p:sp>
      <p:sp>
        <p:nvSpPr>
          <p:cNvPr id="12" name="Rectangle 11"/>
          <p:cNvSpPr/>
          <p:nvPr/>
        </p:nvSpPr>
        <p:spPr>
          <a:xfrm>
            <a:off x="950976" y="1737360"/>
            <a:ext cx="4160520" cy="89611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160" b="0">
                <a:solidFill>
                  <a:srgbClr val="D2E6FF"/>
                </a:solidFill>
                <a:latin typeface="Menlo"/>
              </a:rPr>
              <a:t>score_a = 0.55*base_primary
        + 0.15*stage_r
        + 0.15*llm_task_fit
        + 0.10*llm_primary_fit
        + bonus - penalty</a:t>
            </a:r>
          </a:p>
        </p:txBody>
      </p:sp>
      <p:sp>
        <p:nvSpPr>
          <p:cNvPr id="13" name="Rounded Rectangle 12"/>
          <p:cNvSpPr/>
          <p:nvPr/>
        </p:nvSpPr>
        <p:spPr>
          <a:xfrm>
            <a:off x="6199632" y="1115568"/>
            <a:ext cx="5074920" cy="1874519"/>
          </a:xfrm>
          <a:prstGeom prst="roundRect">
            <a:avLst/>
          </a:prstGeom>
          <a:solidFill>
            <a:srgbClr val="FFFFFF"/>
          </a:solidFill>
          <a:ln w="12700">
            <a:solidFill>
              <a:srgbClr val="E9713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492240" y="1371600"/>
            <a:ext cx="2148840" cy="219456"/>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520" b="1">
                <a:solidFill>
                  <a:srgbClr val="E97132"/>
                </a:solidFill>
                <a:latin typeface="Microsoft YaHei"/>
              </a:rPr>
              <a:t>Stage B 升级判据</a:t>
            </a:r>
          </a:p>
        </p:txBody>
      </p:sp>
      <p:sp>
        <p:nvSpPr>
          <p:cNvPr id="15" name="Rectangle 14"/>
          <p:cNvSpPr/>
          <p:nvPr/>
        </p:nvSpPr>
        <p:spPr>
          <a:xfrm>
            <a:off x="6510528" y="1755648"/>
            <a:ext cx="1874519"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000" b="0">
                <a:solidFill>
                  <a:srgbClr val="102033"/>
                </a:solidFill>
                <a:latin typeface="Arial"/>
              </a:rPr>
              <a:t>confidence &lt; 0.62</a:t>
            </a:r>
          </a:p>
        </p:txBody>
      </p:sp>
      <p:sp>
        <p:nvSpPr>
          <p:cNvPr id="16" name="Rectangle 15"/>
          <p:cNvSpPr/>
          <p:nvPr/>
        </p:nvSpPr>
        <p:spPr>
          <a:xfrm>
            <a:off x="8659368" y="1755648"/>
            <a:ext cx="1874519"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000" b="0">
                <a:solidFill>
                  <a:srgbClr val="102033"/>
                </a:solidFill>
                <a:latin typeface="Arial"/>
              </a:rPr>
              <a:t>margin &lt; 0.08</a:t>
            </a:r>
          </a:p>
        </p:txBody>
      </p:sp>
      <p:sp>
        <p:nvSpPr>
          <p:cNvPr id="17" name="Rectangle 16"/>
          <p:cNvSpPr/>
          <p:nvPr/>
        </p:nvSpPr>
        <p:spPr>
          <a:xfrm>
            <a:off x="6510528" y="2066543"/>
            <a:ext cx="1874519"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000" b="0">
                <a:solidFill>
                  <a:srgbClr val="102033"/>
                </a:solidFill>
                <a:latin typeface="Arial"/>
              </a:rPr>
              <a:t>llm_requested</a:t>
            </a:r>
          </a:p>
        </p:txBody>
      </p:sp>
      <p:sp>
        <p:nvSpPr>
          <p:cNvPr id="18" name="Rectangle 17"/>
          <p:cNvSpPr/>
          <p:nvPr/>
        </p:nvSpPr>
        <p:spPr>
          <a:xfrm>
            <a:off x="8659368" y="2066543"/>
            <a:ext cx="1874519"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000" b="0">
                <a:solidFill>
                  <a:srgbClr val="102033"/>
                </a:solidFill>
                <a:latin typeface="Arial"/>
              </a:rPr>
              <a:t>high_risk 且 margin &lt; 0.14</a:t>
            </a:r>
          </a:p>
        </p:txBody>
      </p:sp>
      <p:sp>
        <p:nvSpPr>
          <p:cNvPr id="19" name="Rectangle 18"/>
          <p:cNvSpPr/>
          <p:nvPr/>
        </p:nvSpPr>
        <p:spPr>
          <a:xfrm>
            <a:off x="6510528" y="2377440"/>
            <a:ext cx="1874519"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000" b="0">
                <a:solidFill>
                  <a:srgbClr val="102033"/>
                </a:solidFill>
                <a:latin typeface="Arial"/>
              </a:rPr>
              <a:t>multi_intent_conflict</a:t>
            </a:r>
          </a:p>
        </p:txBody>
      </p:sp>
      <p:sp>
        <p:nvSpPr>
          <p:cNvPr id="20" name="Rounded Rectangle 19"/>
          <p:cNvSpPr/>
          <p:nvPr/>
        </p:nvSpPr>
        <p:spPr>
          <a:xfrm>
            <a:off x="658368" y="3310128"/>
            <a:ext cx="5166360" cy="1627632"/>
          </a:xfrm>
          <a:prstGeom prst="roundRect">
            <a:avLst/>
          </a:prstGeom>
          <a:solidFill>
            <a:srgbClr val="FFFFFF"/>
          </a:solidFill>
          <a:ln w="12700">
            <a:solidFill>
              <a:srgbClr val="0B63C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932688" y="3547872"/>
            <a:ext cx="1920240" cy="20116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450" b="1">
                <a:solidFill>
                  <a:srgbClr val="0B63CE"/>
                </a:solidFill>
                <a:latin typeface="Arial"/>
              </a:rPr>
              <a:t>decision packet</a:t>
            </a:r>
          </a:p>
        </p:txBody>
      </p:sp>
      <p:sp>
        <p:nvSpPr>
          <p:cNvPr id="22" name="Rectangle 21"/>
          <p:cNvSpPr/>
          <p:nvPr/>
        </p:nvSpPr>
        <p:spPr>
          <a:xfrm>
            <a:off x="932688" y="3776472"/>
            <a:ext cx="914400" cy="146304"/>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960" b="0">
                <a:solidFill>
                  <a:srgbClr val="53657A"/>
                </a:solidFill>
                <a:latin typeface="Microsoft YaHei"/>
              </a:rPr>
              <a:t>关键字段</a:t>
            </a:r>
          </a:p>
        </p:txBody>
      </p:sp>
      <p:sp>
        <p:nvSpPr>
          <p:cNvPr id="23" name="Rectangle 22"/>
          <p:cNvSpPr/>
          <p:nvPr/>
        </p:nvSpPr>
        <p:spPr>
          <a:xfrm>
            <a:off x="950976" y="4005072"/>
            <a:ext cx="1828800" cy="146304"/>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890" b="0">
                <a:solidFill>
                  <a:srgbClr val="102033"/>
                </a:solidFill>
                <a:latin typeface="Arial"/>
              </a:rPr>
              <a:t>selected_primary_fqdn</a:t>
            </a:r>
          </a:p>
        </p:txBody>
      </p:sp>
      <p:sp>
        <p:nvSpPr>
          <p:cNvPr id="24" name="Rectangle 23"/>
          <p:cNvSpPr/>
          <p:nvPr/>
        </p:nvSpPr>
        <p:spPr>
          <a:xfrm>
            <a:off x="3099816" y="4005072"/>
            <a:ext cx="1828800" cy="146304"/>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890" b="0">
                <a:solidFill>
                  <a:srgbClr val="102033"/>
                </a:solidFill>
                <a:latin typeface="Arial"/>
              </a:rPr>
              <a:t>selected_related_fqdns</a:t>
            </a:r>
          </a:p>
        </p:txBody>
      </p:sp>
      <p:sp>
        <p:nvSpPr>
          <p:cNvPr id="25" name="Rectangle 24"/>
          <p:cNvSpPr/>
          <p:nvPr/>
        </p:nvSpPr>
        <p:spPr>
          <a:xfrm>
            <a:off x="950976" y="4242816"/>
            <a:ext cx="1828800" cy="146304"/>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890" b="0">
                <a:solidFill>
                  <a:srgbClr val="102033"/>
                </a:solidFill>
                <a:latin typeface="Arial"/>
              </a:rPr>
              <a:t>routing_top_k</a:t>
            </a:r>
          </a:p>
        </p:txBody>
      </p:sp>
      <p:sp>
        <p:nvSpPr>
          <p:cNvPr id="26" name="Rectangle 25"/>
          <p:cNvSpPr/>
          <p:nvPr/>
        </p:nvSpPr>
        <p:spPr>
          <a:xfrm>
            <a:off x="3099816" y="4242816"/>
            <a:ext cx="1828800" cy="146304"/>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890" b="0">
                <a:solidFill>
                  <a:srgbClr val="102033"/>
                </a:solidFill>
                <a:latin typeface="Arial"/>
              </a:rPr>
              <a:t>confidence / margin</a:t>
            </a:r>
          </a:p>
        </p:txBody>
      </p:sp>
      <p:sp>
        <p:nvSpPr>
          <p:cNvPr id="27" name="Rectangle 26"/>
          <p:cNvSpPr/>
          <p:nvPr/>
        </p:nvSpPr>
        <p:spPr>
          <a:xfrm>
            <a:off x="950976" y="4480560"/>
            <a:ext cx="1828800" cy="146304"/>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890" b="0">
                <a:solidFill>
                  <a:srgbClr val="102033"/>
                </a:solidFill>
                <a:latin typeface="Arial"/>
              </a:rPr>
              <a:t>candidate_scores</a:t>
            </a:r>
          </a:p>
        </p:txBody>
      </p:sp>
      <p:sp>
        <p:nvSpPr>
          <p:cNvPr id="28" name="Rectangle 27"/>
          <p:cNvSpPr/>
          <p:nvPr/>
        </p:nvSpPr>
        <p:spPr>
          <a:xfrm>
            <a:off x="3099816" y="4480560"/>
            <a:ext cx="1828800" cy="146304"/>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890" b="0">
                <a:solidFill>
                  <a:srgbClr val="102033"/>
                </a:solidFill>
                <a:latin typeface="Arial"/>
              </a:rPr>
              <a:t>constraint_check</a:t>
            </a:r>
          </a:p>
        </p:txBody>
      </p:sp>
      <p:sp>
        <p:nvSpPr>
          <p:cNvPr id="29" name="Rounded Rectangle 28"/>
          <p:cNvSpPr/>
          <p:nvPr/>
        </p:nvSpPr>
        <p:spPr>
          <a:xfrm>
            <a:off x="6199632" y="3310128"/>
            <a:ext cx="5074920" cy="1627632"/>
          </a:xfrm>
          <a:prstGeom prst="roundRect">
            <a:avLst/>
          </a:prstGeom>
          <a:solidFill>
            <a:srgbClr val="FFFFFF"/>
          </a:solidFill>
          <a:ln w="12700">
            <a:solidFill>
              <a:srgbClr val="0E8A5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6492240" y="3547872"/>
            <a:ext cx="2194560" cy="20116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450" b="1">
                <a:solidFill>
                  <a:srgbClr val="0E8A57"/>
                </a:solidFill>
                <a:latin typeface="Microsoft YaHei"/>
              </a:rPr>
              <a:t>Stage B 语义卡</a:t>
            </a:r>
          </a:p>
        </p:txBody>
      </p:sp>
      <p:sp>
        <p:nvSpPr>
          <p:cNvPr id="31" name="Rectangle 30"/>
          <p:cNvSpPr/>
          <p:nvPr/>
        </p:nvSpPr>
        <p:spPr>
          <a:xfrm>
            <a:off x="6492240" y="3776472"/>
            <a:ext cx="1417320" cy="146304"/>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960" b="0">
                <a:solidFill>
                  <a:srgbClr val="53657A"/>
                </a:solidFill>
                <a:latin typeface="Microsoft YaHei"/>
              </a:rPr>
              <a:t>从 Stage A 下传</a:t>
            </a:r>
          </a:p>
        </p:txBody>
      </p:sp>
      <p:sp>
        <p:nvSpPr>
          <p:cNvPr id="32" name="Rectangle 31"/>
          <p:cNvSpPr/>
          <p:nvPr/>
        </p:nvSpPr>
        <p:spPr>
          <a:xfrm>
            <a:off x="6510528" y="4005072"/>
            <a:ext cx="1828800" cy="146304"/>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890" b="0">
                <a:solidFill>
                  <a:srgbClr val="102033"/>
                </a:solidFill>
                <a:latin typeface="Arial"/>
              </a:rPr>
              <a:t>primary_rationale</a:t>
            </a:r>
          </a:p>
        </p:txBody>
      </p:sp>
      <p:sp>
        <p:nvSpPr>
          <p:cNvPr id="33" name="Rectangle 32"/>
          <p:cNvSpPr/>
          <p:nvPr/>
        </p:nvSpPr>
        <p:spPr>
          <a:xfrm>
            <a:off x="8613648" y="4005072"/>
            <a:ext cx="1828800" cy="146304"/>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890" b="0">
                <a:solidFill>
                  <a:srgbClr val="102033"/>
                </a:solidFill>
                <a:latin typeface="Arial"/>
              </a:rPr>
              <a:t>secondary_rationale</a:t>
            </a:r>
          </a:p>
        </p:txBody>
      </p:sp>
      <p:sp>
        <p:nvSpPr>
          <p:cNvPr id="34" name="Rectangle 33"/>
          <p:cNvSpPr/>
          <p:nvPr/>
        </p:nvSpPr>
        <p:spPr>
          <a:xfrm>
            <a:off x="6510528" y="4242816"/>
            <a:ext cx="1828800" cy="146304"/>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890" b="0">
                <a:solidFill>
                  <a:srgbClr val="102033"/>
                </a:solidFill>
                <a:latin typeface="Arial"/>
              </a:rPr>
              <a:t>challenger_notes</a:t>
            </a:r>
          </a:p>
        </p:txBody>
      </p:sp>
      <p:sp>
        <p:nvSpPr>
          <p:cNvPr id="35" name="Rectangle 34"/>
          <p:cNvSpPr/>
          <p:nvPr/>
        </p:nvSpPr>
        <p:spPr>
          <a:xfrm>
            <a:off x="8613648" y="4242816"/>
            <a:ext cx="1828800" cy="146304"/>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890" b="0">
                <a:solidFill>
                  <a:srgbClr val="102033"/>
                </a:solidFill>
                <a:latin typeface="Arial"/>
              </a:rPr>
              <a:t>uncertainty_summary</a:t>
            </a:r>
          </a:p>
        </p:txBody>
      </p:sp>
      <p:sp>
        <p:nvSpPr>
          <p:cNvPr id="36" name="Rectangle 35"/>
          <p:cNvSpPr/>
          <p:nvPr/>
        </p:nvSpPr>
        <p:spPr>
          <a:xfrm>
            <a:off x="6510528" y="4480560"/>
            <a:ext cx="1828800" cy="146304"/>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890" b="0">
                <a:solidFill>
                  <a:srgbClr val="102033"/>
                </a:solidFill>
                <a:latin typeface="Arial"/>
              </a:rPr>
              <a:t>confusion_points</a:t>
            </a:r>
          </a:p>
        </p:txBody>
      </p:sp>
      <p:sp>
        <p:nvSpPr>
          <p:cNvPr id="37" name="Rectangle 36"/>
          <p:cNvSpPr/>
          <p:nvPr/>
        </p:nvSpPr>
        <p:spPr>
          <a:xfrm>
            <a:off x="8613648" y="4480560"/>
            <a:ext cx="1828800" cy="146304"/>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890" b="0">
                <a:solidFill>
                  <a:srgbClr val="102033"/>
                </a:solidFill>
                <a:latin typeface="Arial"/>
              </a:rPr>
              <a:t>override_sensitivity</a:t>
            </a:r>
          </a:p>
        </p:txBody>
      </p:sp>
      <p:sp>
        <p:nvSpPr>
          <p:cNvPr id="38" name="Rectangle 37"/>
          <p:cNvSpPr/>
          <p:nvPr/>
        </p:nvSpPr>
        <p:spPr>
          <a:xfrm>
            <a:off x="841248" y="5650992"/>
            <a:ext cx="9144000" cy="219456"/>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340" b="1">
                <a:solidFill>
                  <a:srgbClr val="102033"/>
                </a:solidFill>
                <a:latin typeface="Microsoft YaHei"/>
              </a:rPr>
              <a:t>技术价值：模型输出不作为最终答案直出，而被转成可计算分数、升级理由和可审计证据包。</a:t>
            </a:r>
          </a:p>
        </p:txBody>
      </p:sp>
      <p:sp>
        <p:nvSpPr>
          <p:cNvPr id="39" name="Rectangle 38"/>
          <p:cNvSpPr/>
          <p:nvPr/>
        </p:nvSpPr>
        <p:spPr>
          <a:xfrm>
            <a:off x="475488" y="6473952"/>
            <a:ext cx="8595360" cy="10160"/>
          </a:xfrm>
          <a:prstGeom prst="rect">
            <a:avLst/>
          </a:prstGeom>
          <a:solidFill>
            <a:srgbClr val="C8DB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475488" y="6537960"/>
            <a:ext cx="5486400"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750" b="0">
                <a:solidFill>
                  <a:srgbClr val="53657A"/>
                </a:solidFill>
                <a:latin typeface="Microsoft YaHei"/>
              </a:rPr>
              <a:t>面向互联网基础资源的大模型多智能体协作与可信认知标识技术研究</a:t>
            </a:r>
          </a:p>
        </p:txBody>
      </p:sp>
      <p:sp>
        <p:nvSpPr>
          <p:cNvPr id="41" name="Rectangle 40"/>
          <p:cNvSpPr/>
          <p:nvPr/>
        </p:nvSpPr>
        <p:spPr>
          <a:xfrm>
            <a:off x="11155680" y="6501384"/>
            <a:ext cx="384048"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r"/>
            <a:r>
              <a:rPr sz="800" b="0">
                <a:solidFill>
                  <a:srgbClr val="53657A"/>
                </a:solidFill>
                <a:latin typeface="Arial"/>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light_texture.png"/>
          <p:cNvPicPr>
            <a:picLocks noChangeAspect="1"/>
          </p:cNvPicPr>
          <p:nvPr/>
        </p:nvPicPr>
        <p:blipFill>
          <a:blip r:embed="rId2"/>
          <a:stretch>
            <a:fillRect/>
          </a:stretch>
        </p:blipFill>
        <p:spPr>
          <a:xfrm>
            <a:off x="0" y="0"/>
            <a:ext cx="12191999" cy="6858000"/>
          </a:xfrm>
          <a:prstGeom prst="rect">
            <a:avLst/>
          </a:prstGeom>
        </p:spPr>
      </p:pic>
      <p:sp>
        <p:nvSpPr>
          <p:cNvPr id="3" name="Rectangle 2"/>
          <p:cNvSpPr/>
          <p:nvPr/>
        </p:nvSpPr>
        <p:spPr>
          <a:xfrm>
            <a:off x="0" y="0"/>
            <a:ext cx="12191999" cy="109728"/>
          </a:xfrm>
          <a:prstGeom prst="rect">
            <a:avLst/>
          </a:prstGeom>
          <a:solidFill>
            <a:srgbClr val="082B6D"/>
          </a:solidFill>
          <a:ln w="12700">
            <a:solidFill>
              <a:srgbClr val="082B6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9728"/>
            <a:ext cx="12191999" cy="32004"/>
          </a:xfrm>
          <a:prstGeom prst="rect">
            <a:avLst/>
          </a:prstGeom>
          <a:solidFill>
            <a:srgbClr val="1E83E6"/>
          </a:solidFill>
          <a:ln w="12700">
            <a:solidFill>
              <a:srgbClr val="1E83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475488" y="283464"/>
            <a:ext cx="676656" cy="237744"/>
          </a:xfrm>
          <a:prstGeom prst="roundRect">
            <a:avLst/>
          </a:prstGeom>
          <a:solidFill>
            <a:srgbClr val="E7F1FF"/>
          </a:solidFill>
          <a:ln w="11430">
            <a:solidFill>
              <a:srgbClr val="C8DBEF"/>
            </a:solidFill>
          </a:ln>
        </p:spPr>
        <p:style>
          <a:lnRef idx="1">
            <a:schemeClr val="accent1"/>
          </a:lnRef>
          <a:fillRef idx="3">
            <a:schemeClr val="accent1"/>
          </a:fillRef>
          <a:effectRef idx="2">
            <a:schemeClr val="accent1"/>
          </a:effectRef>
          <a:fontRef idx="minor">
            <a:schemeClr val="lt1"/>
          </a:fontRef>
        </p:style>
        <p:txBody>
          <a:bodyPr rtlCol="0" anchor="ctr" lIns="36576" rIns="36576" tIns="18288" bIns="18288"/>
          <a:lstStyle/>
          <a:p>
            <a:pPr algn="ctr"/>
            <a:r>
              <a:rPr sz="1200" b="1">
                <a:solidFill>
                  <a:srgbClr val="0B63CE"/>
                </a:solidFill>
                <a:latin typeface="Microsoft YaHei"/>
              </a:rPr>
              <a:t>09</a:t>
            </a:r>
          </a:p>
        </p:txBody>
      </p:sp>
      <p:sp>
        <p:nvSpPr>
          <p:cNvPr id="6" name="Rectangle 5"/>
          <p:cNvSpPr/>
          <p:nvPr/>
        </p:nvSpPr>
        <p:spPr>
          <a:xfrm>
            <a:off x="1298448" y="237744"/>
            <a:ext cx="8412480" cy="38404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2200" b="1">
                <a:solidFill>
                  <a:srgbClr val="102033"/>
                </a:solidFill>
                <a:latin typeface="Microsoft YaHei"/>
              </a:rPr>
              <a:t>Stage B 技术剖面：候选内复核、角色分视图与授权改判</a:t>
            </a:r>
          </a:p>
        </p:txBody>
      </p:sp>
      <p:sp>
        <p:nvSpPr>
          <p:cNvPr id="7" name="Rectangle 6"/>
          <p:cNvSpPr/>
          <p:nvPr/>
        </p:nvSpPr>
        <p:spPr>
          <a:xfrm>
            <a:off x="1298448" y="621792"/>
            <a:ext cx="8595360" cy="237744"/>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080" b="0">
                <a:solidFill>
                  <a:srgbClr val="53657A"/>
                </a:solidFill>
                <a:latin typeface="Microsoft YaHei"/>
              </a:rPr>
              <a:t>技术难点在于让多智能体产生有效纠错，同时防止候选外发明、无约束改判和高风险回归。</a:t>
            </a:r>
          </a:p>
        </p:txBody>
      </p:sp>
      <p:sp>
        <p:nvSpPr>
          <p:cNvPr id="8" name="Rectangle 7"/>
          <p:cNvSpPr/>
          <p:nvPr/>
        </p:nvSpPr>
        <p:spPr>
          <a:xfrm>
            <a:off x="10698480" y="256032"/>
            <a:ext cx="1005840" cy="25603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r"/>
            <a:r>
              <a:rPr sz="2100" b="1">
                <a:solidFill>
                  <a:srgbClr val="0B63CE"/>
                </a:solidFill>
                <a:latin typeface="Arial"/>
              </a:rPr>
              <a:t>CNNIC</a:t>
            </a:r>
          </a:p>
        </p:txBody>
      </p:sp>
      <p:sp>
        <p:nvSpPr>
          <p:cNvPr id="9" name="Rectangle 8"/>
          <p:cNvSpPr/>
          <p:nvPr/>
        </p:nvSpPr>
        <p:spPr>
          <a:xfrm>
            <a:off x="10012680" y="530352"/>
            <a:ext cx="1691640"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r"/>
            <a:r>
              <a:rPr sz="850" b="0">
                <a:solidFill>
                  <a:srgbClr val="53657A"/>
                </a:solidFill>
                <a:latin typeface="Microsoft YaHei"/>
              </a:rPr>
              <a:t>中国互联网络信息中心</a:t>
            </a:r>
          </a:p>
        </p:txBody>
      </p:sp>
      <p:sp>
        <p:nvSpPr>
          <p:cNvPr id="10" name="Rounded Rectangle 9"/>
          <p:cNvSpPr/>
          <p:nvPr/>
        </p:nvSpPr>
        <p:spPr>
          <a:xfrm>
            <a:off x="640080" y="1078992"/>
            <a:ext cx="3246120" cy="4023360"/>
          </a:xfrm>
          <a:prstGeom prst="roundRect">
            <a:avLst/>
          </a:prstGeom>
          <a:solidFill>
            <a:srgbClr val="071A46"/>
          </a:solidFill>
          <a:ln w="12700">
            <a:solidFill>
              <a:srgbClr val="1E83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914400" y="1353312"/>
            <a:ext cx="1508760" cy="219456"/>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600" b="1">
                <a:solidFill>
                  <a:srgbClr val="FFFFFF"/>
                </a:solidFill>
                <a:latin typeface="Microsoft YaHei"/>
              </a:rPr>
              <a:t>角色不是摆设</a:t>
            </a:r>
          </a:p>
        </p:txBody>
      </p:sp>
      <p:sp>
        <p:nvSpPr>
          <p:cNvPr id="12" name="Rectangle 11"/>
          <p:cNvSpPr/>
          <p:nvPr/>
        </p:nvSpPr>
        <p:spPr>
          <a:xfrm>
            <a:off x="914400" y="1755648"/>
            <a:ext cx="1325880" cy="15544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950" b="1">
                <a:solidFill>
                  <a:srgbClr val="26B6FF"/>
                </a:solidFill>
                <a:latin typeface="Arial"/>
              </a:rPr>
              <a:t>DomainExpert</a:t>
            </a:r>
          </a:p>
        </p:txBody>
      </p:sp>
      <p:sp>
        <p:nvSpPr>
          <p:cNvPr id="13" name="Rectangle 12"/>
          <p:cNvSpPr/>
          <p:nvPr/>
        </p:nvSpPr>
        <p:spPr>
          <a:xfrm>
            <a:off x="2176272" y="1755648"/>
            <a:ext cx="1234440" cy="15544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840" b="0">
                <a:solidFill>
                  <a:srgbClr val="D2E6FF"/>
                </a:solidFill>
                <a:latin typeface="Arial"/>
              </a:rPr>
              <a:t>core_task_match</a:t>
            </a:r>
          </a:p>
        </p:txBody>
      </p:sp>
      <p:sp>
        <p:nvSpPr>
          <p:cNvPr id="14" name="Rectangle 13"/>
          <p:cNvSpPr/>
          <p:nvPr/>
        </p:nvSpPr>
        <p:spPr>
          <a:xfrm>
            <a:off x="914400" y="2267712"/>
            <a:ext cx="1325880" cy="15544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950" b="1">
                <a:solidFill>
                  <a:srgbClr val="26B6FF"/>
                </a:solidFill>
                <a:latin typeface="Arial"/>
              </a:rPr>
              <a:t>GovernanceRisk</a:t>
            </a:r>
          </a:p>
        </p:txBody>
      </p:sp>
      <p:sp>
        <p:nvSpPr>
          <p:cNvPr id="15" name="Rectangle 14"/>
          <p:cNvSpPr/>
          <p:nvPr/>
        </p:nvSpPr>
        <p:spPr>
          <a:xfrm>
            <a:off x="2176272" y="2267712"/>
            <a:ext cx="1234440" cy="15544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840" b="0">
                <a:solidFill>
                  <a:srgbClr val="D2E6FF"/>
                </a:solidFill>
                <a:latin typeface="Arial"/>
              </a:rPr>
              <a:t>risk_boundary_check</a:t>
            </a:r>
          </a:p>
        </p:txBody>
      </p:sp>
      <p:sp>
        <p:nvSpPr>
          <p:cNvPr id="16" name="Rectangle 15"/>
          <p:cNvSpPr/>
          <p:nvPr/>
        </p:nvSpPr>
        <p:spPr>
          <a:xfrm>
            <a:off x="914400" y="2779776"/>
            <a:ext cx="1325880" cy="15544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950" b="1">
                <a:solidFill>
                  <a:srgbClr val="26B6FF"/>
                </a:solidFill>
                <a:latin typeface="Arial"/>
              </a:rPr>
              <a:t>HierarchyResolver</a:t>
            </a:r>
          </a:p>
        </p:txBody>
      </p:sp>
      <p:sp>
        <p:nvSpPr>
          <p:cNvPr id="17" name="Rectangle 16"/>
          <p:cNvSpPr/>
          <p:nvPr/>
        </p:nvSpPr>
        <p:spPr>
          <a:xfrm>
            <a:off x="2176272" y="2779776"/>
            <a:ext cx="1234440" cy="15544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840" b="0">
                <a:solidFill>
                  <a:srgbClr val="D2E6FF"/>
                </a:solidFill>
                <a:latin typeface="Arial"/>
              </a:rPr>
              <a:t>hierarchy_granularity</a:t>
            </a:r>
          </a:p>
        </p:txBody>
      </p:sp>
      <p:sp>
        <p:nvSpPr>
          <p:cNvPr id="18" name="Rectangle 17"/>
          <p:cNvSpPr/>
          <p:nvPr/>
        </p:nvSpPr>
        <p:spPr>
          <a:xfrm>
            <a:off x="914400" y="3291840"/>
            <a:ext cx="1325880" cy="15544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950" b="1">
                <a:solidFill>
                  <a:srgbClr val="26B6FF"/>
                </a:solidFill>
                <a:latin typeface="Arial"/>
              </a:rPr>
              <a:t>UserPreference</a:t>
            </a:r>
          </a:p>
        </p:txBody>
      </p:sp>
      <p:sp>
        <p:nvSpPr>
          <p:cNvPr id="19" name="Rectangle 18"/>
          <p:cNvSpPr/>
          <p:nvPr/>
        </p:nvSpPr>
        <p:spPr>
          <a:xfrm>
            <a:off x="2176272" y="3291840"/>
            <a:ext cx="1234440" cy="15544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840" b="0">
                <a:solidFill>
                  <a:srgbClr val="D2E6FF"/>
                </a:solidFill>
                <a:latin typeface="Arial"/>
              </a:rPr>
              <a:t>primary_secondary_split</a:t>
            </a:r>
          </a:p>
        </p:txBody>
      </p:sp>
      <p:sp>
        <p:nvSpPr>
          <p:cNvPr id="20" name="Rectangle 19"/>
          <p:cNvSpPr/>
          <p:nvPr/>
        </p:nvSpPr>
        <p:spPr>
          <a:xfrm>
            <a:off x="914400" y="3986784"/>
            <a:ext cx="2514600" cy="12700"/>
          </a:xfrm>
          <a:prstGeom prst="rect">
            <a:avLst/>
          </a:prstGeom>
          <a:solidFill>
            <a:srgbClr val="2F80D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914400" y="4224528"/>
            <a:ext cx="2514600" cy="34747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019" b="0">
                <a:solidFill>
                  <a:srgbClr val="D2E6FF"/>
                </a:solidFill>
                <a:latin typeface="Microsoft YaHei"/>
              </a:rPr>
              <a:t>每个角色只看与职责相关的 packet 视图，避免四个 agent 重复同一种判断。</a:t>
            </a:r>
          </a:p>
        </p:txBody>
      </p:sp>
      <p:sp>
        <p:nvSpPr>
          <p:cNvPr id="22" name="Rounded Rectangle 21"/>
          <p:cNvSpPr/>
          <p:nvPr/>
        </p:nvSpPr>
        <p:spPr>
          <a:xfrm>
            <a:off x="4251960" y="1078992"/>
            <a:ext cx="3154680" cy="4023360"/>
          </a:xfrm>
          <a:prstGeom prst="roundRect">
            <a:avLst/>
          </a:prstGeom>
          <a:solidFill>
            <a:srgbClr val="FFFFFF"/>
          </a:solidFill>
          <a:ln w="12700">
            <a:solidFill>
              <a:srgbClr val="E9713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4535424" y="1353312"/>
            <a:ext cx="1463040" cy="219456"/>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600" b="1">
                <a:solidFill>
                  <a:srgbClr val="E97132"/>
                </a:solidFill>
                <a:latin typeface="Microsoft YaHei"/>
              </a:rPr>
              <a:t>改判授权门槛</a:t>
            </a:r>
          </a:p>
        </p:txBody>
      </p:sp>
      <p:sp>
        <p:nvSpPr>
          <p:cNvPr id="24" name="Oval 23"/>
          <p:cNvSpPr/>
          <p:nvPr/>
        </p:nvSpPr>
        <p:spPr>
          <a:xfrm>
            <a:off x="4553712" y="1837943"/>
            <a:ext cx="68580" cy="68580"/>
          </a:xfrm>
          <a:prstGeom prst="ellipse">
            <a:avLst/>
          </a:prstGeom>
          <a:solidFill>
            <a:srgbClr val="E971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4718304" y="1783080"/>
            <a:ext cx="2423160" cy="219456"/>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919" b="0">
                <a:solidFill>
                  <a:srgbClr val="102033"/>
                </a:solidFill>
                <a:latin typeface="Microsoft YaHei"/>
              </a:rPr>
              <a:t>override_vote_count &gt;= 3</a:t>
            </a:r>
          </a:p>
        </p:txBody>
      </p:sp>
      <p:sp>
        <p:nvSpPr>
          <p:cNvPr id="26" name="Oval 25"/>
          <p:cNvSpPr/>
          <p:nvPr/>
        </p:nvSpPr>
        <p:spPr>
          <a:xfrm>
            <a:off x="4553712" y="2231136"/>
            <a:ext cx="68580" cy="68580"/>
          </a:xfrm>
          <a:prstGeom prst="ellipse">
            <a:avLst/>
          </a:prstGeom>
          <a:solidFill>
            <a:srgbClr val="E971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4718304" y="2176272"/>
            <a:ext cx="2423160" cy="219456"/>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919" b="0">
                <a:solidFill>
                  <a:srgbClr val="102033"/>
                </a:solidFill>
                <a:latin typeface="Microsoft YaHei"/>
              </a:rPr>
              <a:t>consensus_score &gt;= stage_a + 0.08</a:t>
            </a:r>
          </a:p>
        </p:txBody>
      </p:sp>
      <p:sp>
        <p:nvSpPr>
          <p:cNvPr id="28" name="Oval 27"/>
          <p:cNvSpPr/>
          <p:nvPr/>
        </p:nvSpPr>
        <p:spPr>
          <a:xfrm>
            <a:off x="4553712" y="2624328"/>
            <a:ext cx="68580" cy="68580"/>
          </a:xfrm>
          <a:prstGeom prst="ellipse">
            <a:avLst/>
          </a:prstGeom>
          <a:solidFill>
            <a:srgbClr val="E971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4718304" y="2569464"/>
            <a:ext cx="2423160" cy="219456"/>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919" b="0">
                <a:solidFill>
                  <a:srgbClr val="102033"/>
                </a:solidFill>
                <a:latin typeface="Microsoft YaHei"/>
              </a:rPr>
              <a:t>explicit_support &gt;= 0.55</a:t>
            </a:r>
          </a:p>
        </p:txBody>
      </p:sp>
      <p:sp>
        <p:nvSpPr>
          <p:cNvPr id="30" name="Oval 29"/>
          <p:cNvSpPr/>
          <p:nvPr/>
        </p:nvSpPr>
        <p:spPr>
          <a:xfrm>
            <a:off x="4553712" y="3017520"/>
            <a:ext cx="68580" cy="68580"/>
          </a:xfrm>
          <a:prstGeom prst="ellipse">
            <a:avLst/>
          </a:prstGeom>
          <a:solidFill>
            <a:srgbClr val="E971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4718304" y="2962656"/>
            <a:ext cx="2423160" cy="219456"/>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919" b="0">
                <a:solidFill>
                  <a:srgbClr val="102033"/>
                </a:solidFill>
                <a:latin typeface="Microsoft YaHei"/>
              </a:rPr>
              <a:t>sensitive case 需要 round2 共识</a:t>
            </a:r>
          </a:p>
        </p:txBody>
      </p:sp>
      <p:sp>
        <p:nvSpPr>
          <p:cNvPr id="32" name="Oval 31"/>
          <p:cNvSpPr/>
          <p:nvPr/>
        </p:nvSpPr>
        <p:spPr>
          <a:xfrm>
            <a:off x="4553712" y="3410712"/>
            <a:ext cx="68580" cy="68580"/>
          </a:xfrm>
          <a:prstGeom prst="ellipse">
            <a:avLst/>
          </a:prstGeom>
          <a:solidFill>
            <a:srgbClr val="E971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4718304" y="3355848"/>
            <a:ext cx="2423160" cy="219456"/>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919" b="0">
                <a:solidFill>
                  <a:srgbClr val="102033"/>
                </a:solidFill>
                <a:latin typeface="Microsoft YaHei"/>
              </a:rPr>
              <a:t>cross_l1 需额外 score gain</a:t>
            </a:r>
          </a:p>
        </p:txBody>
      </p:sp>
      <p:sp>
        <p:nvSpPr>
          <p:cNvPr id="34" name="Rectangle 33"/>
          <p:cNvSpPr/>
          <p:nvPr/>
        </p:nvSpPr>
        <p:spPr>
          <a:xfrm>
            <a:off x="4553712" y="4224528"/>
            <a:ext cx="2331720" cy="310896"/>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930" b="0">
                <a:solidFill>
                  <a:srgbClr val="53657A"/>
                </a:solidFill>
                <a:latin typeface="Microsoft YaHei"/>
              </a:rPr>
              <a:t>未满足门槛：保留 Stage A 原判，并写入 override_block_reasons。</a:t>
            </a:r>
          </a:p>
        </p:txBody>
      </p:sp>
      <p:sp>
        <p:nvSpPr>
          <p:cNvPr id="35" name="Rounded Rectangle 34"/>
          <p:cNvSpPr/>
          <p:nvPr/>
        </p:nvSpPr>
        <p:spPr>
          <a:xfrm>
            <a:off x="7818120" y="1078992"/>
            <a:ext cx="3337560" cy="4023360"/>
          </a:xfrm>
          <a:prstGeom prst="roundRect">
            <a:avLst/>
          </a:prstGeom>
          <a:solidFill>
            <a:srgbClr val="FFFFFF"/>
          </a:solidFill>
          <a:ln w="12700">
            <a:solidFill>
              <a:srgbClr val="0E8A5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8101583" y="1353312"/>
            <a:ext cx="1691640" cy="219456"/>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600" b="1">
                <a:solidFill>
                  <a:srgbClr val="0E8A57"/>
                </a:solidFill>
                <a:latin typeface="Microsoft YaHei"/>
              </a:rPr>
              <a:t>共识得分与 trace</a:t>
            </a:r>
          </a:p>
        </p:txBody>
      </p:sp>
      <p:sp>
        <p:nvSpPr>
          <p:cNvPr id="37" name="Rectangle 36"/>
          <p:cNvSpPr/>
          <p:nvPr/>
        </p:nvSpPr>
        <p:spPr>
          <a:xfrm>
            <a:off x="8119872" y="1737360"/>
            <a:ext cx="2468880" cy="84124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960" b="0">
                <a:solidFill>
                  <a:srgbClr val="102033"/>
                </a:solidFill>
                <a:latin typeface="Menlo"/>
              </a:rPr>
              <a:t>s_rev^(1) =
  0.40*v(c)
+ 0.25*rho(c)
+ 0.15*s_sem
+ 0.10*e(c)
+ 0.10*r(c) + sigma</a:t>
            </a:r>
          </a:p>
        </p:txBody>
      </p:sp>
      <p:sp>
        <p:nvSpPr>
          <p:cNvPr id="38" name="Rectangle 37"/>
          <p:cNvSpPr/>
          <p:nvPr/>
        </p:nvSpPr>
        <p:spPr>
          <a:xfrm>
            <a:off x="8138160" y="2761488"/>
            <a:ext cx="2011680" cy="13716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880" b="0">
                <a:solidFill>
                  <a:srgbClr val="53657A"/>
                </a:solidFill>
                <a:latin typeface="Arial"/>
              </a:rPr>
              <a:t>stage_a_selected_primary</a:t>
            </a:r>
          </a:p>
        </p:txBody>
      </p:sp>
      <p:sp>
        <p:nvSpPr>
          <p:cNvPr id="39" name="Rectangle 38"/>
          <p:cNvSpPr/>
          <p:nvPr/>
        </p:nvSpPr>
        <p:spPr>
          <a:xfrm>
            <a:off x="8138160" y="3017520"/>
            <a:ext cx="2011680" cy="13716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880" b="0">
                <a:solidFill>
                  <a:srgbClr val="53657A"/>
                </a:solidFill>
                <a:latin typeface="Arial"/>
              </a:rPr>
              <a:t>escalation_reasons</a:t>
            </a:r>
          </a:p>
        </p:txBody>
      </p:sp>
      <p:sp>
        <p:nvSpPr>
          <p:cNvPr id="40" name="Rectangle 39"/>
          <p:cNvSpPr/>
          <p:nvPr/>
        </p:nvSpPr>
        <p:spPr>
          <a:xfrm>
            <a:off x="8138160" y="3273552"/>
            <a:ext cx="2011680" cy="13716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880" b="0">
                <a:solidFill>
                  <a:srgbClr val="53657A"/>
                </a:solidFill>
                <a:latin typeface="Arial"/>
              </a:rPr>
              <a:t>agent_votes</a:t>
            </a:r>
          </a:p>
        </p:txBody>
      </p:sp>
      <p:sp>
        <p:nvSpPr>
          <p:cNvPr id="41" name="Rectangle 40"/>
          <p:cNvSpPr/>
          <p:nvPr/>
        </p:nvSpPr>
        <p:spPr>
          <a:xfrm>
            <a:off x="8138160" y="3529584"/>
            <a:ext cx="2011680" cy="13716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880" b="0">
                <a:solidFill>
                  <a:srgbClr val="53657A"/>
                </a:solidFill>
                <a:latin typeface="Arial"/>
              </a:rPr>
              <a:t>override_allowed</a:t>
            </a:r>
          </a:p>
        </p:txBody>
      </p:sp>
      <p:sp>
        <p:nvSpPr>
          <p:cNvPr id="42" name="Rectangle 41"/>
          <p:cNvSpPr/>
          <p:nvPr/>
        </p:nvSpPr>
        <p:spPr>
          <a:xfrm>
            <a:off x="8138160" y="3785616"/>
            <a:ext cx="2011680" cy="13716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880" b="0">
                <a:solidFill>
                  <a:srgbClr val="53657A"/>
                </a:solidFill>
                <a:latin typeface="Arial"/>
              </a:rPr>
              <a:t>override_basis_histogram</a:t>
            </a:r>
          </a:p>
        </p:txBody>
      </p:sp>
      <p:sp>
        <p:nvSpPr>
          <p:cNvPr id="43" name="Rectangle 42"/>
          <p:cNvSpPr/>
          <p:nvPr/>
        </p:nvSpPr>
        <p:spPr>
          <a:xfrm>
            <a:off x="8138160" y="4041648"/>
            <a:ext cx="2011680" cy="13716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880" b="0">
                <a:solidFill>
                  <a:srgbClr val="53657A"/>
                </a:solidFill>
                <a:latin typeface="Arial"/>
              </a:rPr>
              <a:t>final_primary_fqdn</a:t>
            </a:r>
          </a:p>
        </p:txBody>
      </p:sp>
      <p:sp>
        <p:nvSpPr>
          <p:cNvPr id="44" name="Rectangle 43"/>
          <p:cNvSpPr/>
          <p:nvPr/>
        </p:nvSpPr>
        <p:spPr>
          <a:xfrm>
            <a:off x="841248" y="5650992"/>
            <a:ext cx="8046720" cy="219456"/>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350" b="1">
                <a:solidFill>
                  <a:srgbClr val="102033"/>
                </a:solidFill>
                <a:latin typeface="Microsoft YaHei"/>
              </a:rPr>
              <a:t>技术价值：慢路径不是“再问一遍模型”，而是带门禁的候选内复核器。</a:t>
            </a:r>
          </a:p>
        </p:txBody>
      </p:sp>
      <p:sp>
        <p:nvSpPr>
          <p:cNvPr id="45" name="Rectangle 44"/>
          <p:cNvSpPr/>
          <p:nvPr/>
        </p:nvSpPr>
        <p:spPr>
          <a:xfrm>
            <a:off x="475488" y="6473952"/>
            <a:ext cx="8595360" cy="10160"/>
          </a:xfrm>
          <a:prstGeom prst="rect">
            <a:avLst/>
          </a:prstGeom>
          <a:solidFill>
            <a:srgbClr val="C8DB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475488" y="6537960"/>
            <a:ext cx="5486400"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750" b="0">
                <a:solidFill>
                  <a:srgbClr val="53657A"/>
                </a:solidFill>
                <a:latin typeface="Microsoft YaHei"/>
              </a:rPr>
              <a:t>面向互联网基础资源的大模型多智能体协作与可信认知标识技术研究</a:t>
            </a:r>
          </a:p>
        </p:txBody>
      </p:sp>
      <p:sp>
        <p:nvSpPr>
          <p:cNvPr id="47" name="Rectangle 46"/>
          <p:cNvSpPr/>
          <p:nvPr/>
        </p:nvSpPr>
        <p:spPr>
          <a:xfrm>
            <a:off x="11155680" y="6501384"/>
            <a:ext cx="384048"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r"/>
            <a:r>
              <a:rPr sz="800" b="0">
                <a:solidFill>
                  <a:srgbClr val="53657A"/>
                </a:solidFill>
                <a:latin typeface="Arial"/>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light_texture.png"/>
          <p:cNvPicPr>
            <a:picLocks noChangeAspect="1"/>
          </p:cNvPicPr>
          <p:nvPr/>
        </p:nvPicPr>
        <p:blipFill>
          <a:blip r:embed="rId2"/>
          <a:stretch>
            <a:fillRect/>
          </a:stretch>
        </p:blipFill>
        <p:spPr>
          <a:xfrm>
            <a:off x="0" y="0"/>
            <a:ext cx="12191999" cy="6858000"/>
          </a:xfrm>
          <a:prstGeom prst="rect">
            <a:avLst/>
          </a:prstGeom>
        </p:spPr>
      </p:pic>
      <p:sp>
        <p:nvSpPr>
          <p:cNvPr id="3" name="Rectangle 2"/>
          <p:cNvSpPr/>
          <p:nvPr/>
        </p:nvSpPr>
        <p:spPr>
          <a:xfrm>
            <a:off x="0" y="0"/>
            <a:ext cx="12191999" cy="109728"/>
          </a:xfrm>
          <a:prstGeom prst="rect">
            <a:avLst/>
          </a:prstGeom>
          <a:solidFill>
            <a:srgbClr val="082B6D"/>
          </a:solidFill>
          <a:ln w="12700">
            <a:solidFill>
              <a:srgbClr val="082B6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9728"/>
            <a:ext cx="12191999" cy="32004"/>
          </a:xfrm>
          <a:prstGeom prst="rect">
            <a:avLst/>
          </a:prstGeom>
          <a:solidFill>
            <a:srgbClr val="1E83E6"/>
          </a:solidFill>
          <a:ln w="12700">
            <a:solidFill>
              <a:srgbClr val="1E83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475488" y="283464"/>
            <a:ext cx="676656" cy="237744"/>
          </a:xfrm>
          <a:prstGeom prst="roundRect">
            <a:avLst/>
          </a:prstGeom>
          <a:solidFill>
            <a:srgbClr val="E7F1FF"/>
          </a:solidFill>
          <a:ln w="11430">
            <a:solidFill>
              <a:srgbClr val="C8DBEF"/>
            </a:solidFill>
          </a:ln>
        </p:spPr>
        <p:style>
          <a:lnRef idx="1">
            <a:schemeClr val="accent1"/>
          </a:lnRef>
          <a:fillRef idx="3">
            <a:schemeClr val="accent1"/>
          </a:fillRef>
          <a:effectRef idx="2">
            <a:schemeClr val="accent1"/>
          </a:effectRef>
          <a:fontRef idx="minor">
            <a:schemeClr val="lt1"/>
          </a:fontRef>
        </p:style>
        <p:txBody>
          <a:bodyPr rtlCol="0" anchor="ctr" lIns="36576" rIns="36576" tIns="18288" bIns="18288"/>
          <a:lstStyle/>
          <a:p>
            <a:pPr algn="ctr"/>
            <a:r>
              <a:rPr sz="1200" b="1">
                <a:solidFill>
                  <a:srgbClr val="0B63CE"/>
                </a:solidFill>
                <a:latin typeface="Microsoft YaHei"/>
              </a:rPr>
              <a:t>10</a:t>
            </a:r>
          </a:p>
        </p:txBody>
      </p:sp>
      <p:sp>
        <p:nvSpPr>
          <p:cNvPr id="6" name="Rectangle 5"/>
          <p:cNvSpPr/>
          <p:nvPr/>
        </p:nvSpPr>
        <p:spPr>
          <a:xfrm>
            <a:off x="1298448" y="237744"/>
            <a:ext cx="8412480" cy="38404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2200" b="1">
                <a:solidFill>
                  <a:srgbClr val="102033"/>
                </a:solidFill>
                <a:latin typeface="Microsoft YaHei"/>
              </a:rPr>
              <a:t>Trace 样例：一次请求如何从误判走到可审计改判</a:t>
            </a:r>
          </a:p>
        </p:txBody>
      </p:sp>
      <p:sp>
        <p:nvSpPr>
          <p:cNvPr id="7" name="Rectangle 6"/>
          <p:cNvSpPr/>
          <p:nvPr/>
        </p:nvSpPr>
        <p:spPr>
          <a:xfrm>
            <a:off x="1298448" y="621792"/>
            <a:ext cx="8595360" cy="237744"/>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080" b="0">
                <a:solidFill>
                  <a:srgbClr val="53657A"/>
                </a:solidFill>
                <a:latin typeface="Microsoft YaHei"/>
              </a:rPr>
              <a:t>展示对象：holdout3_000213；trace 不贴原始 JSON，而提炼为候选、裁决、复核、授权和最终落点。</a:t>
            </a:r>
          </a:p>
        </p:txBody>
      </p:sp>
      <p:sp>
        <p:nvSpPr>
          <p:cNvPr id="8" name="Rectangle 7"/>
          <p:cNvSpPr/>
          <p:nvPr/>
        </p:nvSpPr>
        <p:spPr>
          <a:xfrm>
            <a:off x="10698480" y="256032"/>
            <a:ext cx="1005840" cy="25603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r"/>
            <a:r>
              <a:rPr sz="2100" b="1">
                <a:solidFill>
                  <a:srgbClr val="0B63CE"/>
                </a:solidFill>
                <a:latin typeface="Arial"/>
              </a:rPr>
              <a:t>CNNIC</a:t>
            </a:r>
          </a:p>
        </p:txBody>
      </p:sp>
      <p:sp>
        <p:nvSpPr>
          <p:cNvPr id="9" name="Rectangle 8"/>
          <p:cNvSpPr/>
          <p:nvPr/>
        </p:nvSpPr>
        <p:spPr>
          <a:xfrm>
            <a:off x="10012680" y="530352"/>
            <a:ext cx="1691640"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r"/>
            <a:r>
              <a:rPr sz="850" b="0">
                <a:solidFill>
                  <a:srgbClr val="53657A"/>
                </a:solidFill>
                <a:latin typeface="Microsoft YaHei"/>
              </a:rPr>
              <a:t>中国互联网络信息中心</a:t>
            </a:r>
          </a:p>
        </p:txBody>
      </p:sp>
      <p:sp>
        <p:nvSpPr>
          <p:cNvPr id="10" name="Rounded Rectangle 9"/>
          <p:cNvSpPr/>
          <p:nvPr/>
        </p:nvSpPr>
        <p:spPr>
          <a:xfrm>
            <a:off x="621792" y="1097280"/>
            <a:ext cx="3429000" cy="4828032"/>
          </a:xfrm>
          <a:prstGeom prst="roundRect">
            <a:avLst/>
          </a:prstGeom>
          <a:solidFill>
            <a:srgbClr val="071A46"/>
          </a:solidFill>
          <a:ln w="12700">
            <a:solidFill>
              <a:srgbClr val="1E83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896112" y="1353312"/>
            <a:ext cx="1005840" cy="219456"/>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600" b="1">
                <a:solidFill>
                  <a:srgbClr val="FFFFFF"/>
                </a:solidFill>
                <a:latin typeface="Microsoft YaHei"/>
              </a:rPr>
              <a:t>用户请求</a:t>
            </a:r>
          </a:p>
        </p:txBody>
      </p:sp>
      <p:sp>
        <p:nvSpPr>
          <p:cNvPr id="12" name="Rectangle 11"/>
          <p:cNvSpPr/>
          <p:nvPr/>
        </p:nvSpPr>
        <p:spPr>
          <a:xfrm>
            <a:off x="896112" y="1755648"/>
            <a:ext cx="2697480" cy="98755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100" b="0">
                <a:solidFill>
                  <a:srgbClr val="D2E6FF"/>
                </a:solidFill>
                <a:latin typeface="Microsoft YaHei"/>
              </a:rPr>
              <a:t>买会议麦克风这单如果不看优惠规则，明显会多花一笔。
主问句：先看看有什么券或优惠能用
顺带：比一眼价格</a:t>
            </a:r>
          </a:p>
        </p:txBody>
      </p:sp>
      <p:sp>
        <p:nvSpPr>
          <p:cNvPr id="13" name="Rectangle 12"/>
          <p:cNvSpPr/>
          <p:nvPr/>
        </p:nvSpPr>
        <p:spPr>
          <a:xfrm>
            <a:off x="896112" y="2999232"/>
            <a:ext cx="2697480" cy="12700"/>
          </a:xfrm>
          <a:prstGeom prst="rect">
            <a:avLst/>
          </a:prstGeom>
          <a:solidFill>
            <a:srgbClr val="2F80D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896112" y="3236976"/>
            <a:ext cx="1691640" cy="219456"/>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400" b="1">
                <a:solidFill>
                  <a:srgbClr val="26B6FF"/>
                </a:solidFill>
                <a:latin typeface="Microsoft YaHei"/>
              </a:rPr>
              <a:t>Stage R 候选快照</a:t>
            </a:r>
          </a:p>
        </p:txBody>
      </p:sp>
      <p:sp>
        <p:nvSpPr>
          <p:cNvPr id="15" name="Oval 14"/>
          <p:cNvSpPr/>
          <p:nvPr/>
        </p:nvSpPr>
        <p:spPr>
          <a:xfrm>
            <a:off x="914400" y="3630168"/>
            <a:ext cx="73152" cy="73152"/>
          </a:xfrm>
          <a:prstGeom prst="ellipse">
            <a:avLst/>
          </a:prstGeom>
          <a:solidFill>
            <a:srgbClr val="0E8A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1078992" y="3584448"/>
            <a:ext cx="1600200"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950" b="0">
                <a:solidFill>
                  <a:srgbClr val="FFFFFF"/>
                </a:solidFill>
                <a:latin typeface="Arial"/>
              </a:rPr>
              <a:t>coupon.commerce.cn</a:t>
            </a:r>
          </a:p>
        </p:txBody>
      </p:sp>
      <p:sp>
        <p:nvSpPr>
          <p:cNvPr id="17" name="Rectangle 16"/>
          <p:cNvSpPr/>
          <p:nvPr/>
        </p:nvSpPr>
        <p:spPr>
          <a:xfrm>
            <a:off x="2697480" y="3584448"/>
            <a:ext cx="731520"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880" b="0">
                <a:solidFill>
                  <a:srgbClr val="D2E6FF"/>
                </a:solidFill>
                <a:latin typeface="Microsoft YaHei"/>
              </a:rPr>
              <a:t>优惠命中</a:t>
            </a:r>
          </a:p>
        </p:txBody>
      </p:sp>
      <p:sp>
        <p:nvSpPr>
          <p:cNvPr id="18" name="Oval 17"/>
          <p:cNvSpPr/>
          <p:nvPr/>
        </p:nvSpPr>
        <p:spPr>
          <a:xfrm>
            <a:off x="914400" y="4014215"/>
            <a:ext cx="73152" cy="73152"/>
          </a:xfrm>
          <a:prstGeom prst="ellipse">
            <a:avLst/>
          </a:prstGeom>
          <a:solidFill>
            <a:srgbClr val="E971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1078992" y="3968496"/>
            <a:ext cx="1600200"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950" b="0">
                <a:solidFill>
                  <a:srgbClr val="FFFFFF"/>
                </a:solidFill>
                <a:latin typeface="Arial"/>
              </a:rPr>
              <a:t>price.commerce.cn</a:t>
            </a:r>
          </a:p>
        </p:txBody>
      </p:sp>
      <p:sp>
        <p:nvSpPr>
          <p:cNvPr id="20" name="Rectangle 19"/>
          <p:cNvSpPr/>
          <p:nvPr/>
        </p:nvSpPr>
        <p:spPr>
          <a:xfrm>
            <a:off x="2697480" y="3968496"/>
            <a:ext cx="731520"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880" b="0">
                <a:solidFill>
                  <a:srgbClr val="D2E6FF"/>
                </a:solidFill>
                <a:latin typeface="Microsoft YaHei"/>
              </a:rPr>
              <a:t>价格命中</a:t>
            </a:r>
          </a:p>
        </p:txBody>
      </p:sp>
      <p:sp>
        <p:nvSpPr>
          <p:cNvPr id="21" name="Oval 20"/>
          <p:cNvSpPr/>
          <p:nvPr/>
        </p:nvSpPr>
        <p:spPr>
          <a:xfrm>
            <a:off x="914400" y="4398264"/>
            <a:ext cx="73152" cy="73152"/>
          </a:xfrm>
          <a:prstGeom prst="ellipse">
            <a:avLst/>
          </a:prstGeom>
          <a:solidFill>
            <a:srgbClr val="6B49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1078992" y="4352544"/>
            <a:ext cx="1600200"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950" b="0">
                <a:solidFill>
                  <a:srgbClr val="FFFFFF"/>
                </a:solidFill>
                <a:latin typeface="Arial"/>
              </a:rPr>
              <a:t>meeting.productivity.cn</a:t>
            </a:r>
          </a:p>
        </p:txBody>
      </p:sp>
      <p:sp>
        <p:nvSpPr>
          <p:cNvPr id="23" name="Rectangle 22"/>
          <p:cNvSpPr/>
          <p:nvPr/>
        </p:nvSpPr>
        <p:spPr>
          <a:xfrm>
            <a:off x="2697480" y="4352544"/>
            <a:ext cx="731520"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880" b="0">
                <a:solidFill>
                  <a:srgbClr val="D2E6FF"/>
                </a:solidFill>
                <a:latin typeface="Microsoft YaHei"/>
              </a:rPr>
              <a:t>会议词面</a:t>
            </a:r>
          </a:p>
        </p:txBody>
      </p:sp>
      <p:sp>
        <p:nvSpPr>
          <p:cNvPr id="24" name="Rectangle 23"/>
          <p:cNvSpPr/>
          <p:nvPr/>
        </p:nvSpPr>
        <p:spPr>
          <a:xfrm>
            <a:off x="896112" y="4937760"/>
            <a:ext cx="2514600"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880" b="0">
                <a:solidFill>
                  <a:srgbClr val="D2E6FF"/>
                </a:solidFill>
                <a:latin typeface="Arial"/>
              </a:rPr>
              <a:t>candidate_count = 10    primary_in_top_k = true</a:t>
            </a:r>
          </a:p>
        </p:txBody>
      </p:sp>
      <p:sp>
        <p:nvSpPr>
          <p:cNvPr id="25" name="Rounded Rectangle 24"/>
          <p:cNvSpPr/>
          <p:nvPr/>
        </p:nvSpPr>
        <p:spPr>
          <a:xfrm>
            <a:off x="4572000" y="1225296"/>
            <a:ext cx="2788920" cy="987552"/>
          </a:xfrm>
          <a:prstGeom prst="roundRect">
            <a:avLst/>
          </a:prstGeom>
          <a:solidFill>
            <a:srgbClr val="FFFFFF"/>
          </a:solidFill>
          <a:ln w="12700">
            <a:solidFill>
              <a:srgbClr val="E9713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4773168" y="1426464"/>
            <a:ext cx="237744" cy="237744"/>
          </a:xfrm>
          <a:prstGeom prst="ellipse">
            <a:avLst/>
          </a:prstGeom>
          <a:solidFill>
            <a:srgbClr val="E971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4773168" y="1490472"/>
            <a:ext cx="237744" cy="10972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lIns="36576" rIns="36576" tIns="18288" bIns="18288"/>
          <a:lstStyle/>
          <a:p>
            <a:pPr algn="ctr"/>
            <a:r>
              <a:rPr sz="850" b="1">
                <a:solidFill>
                  <a:srgbClr val="FFFFFF"/>
                </a:solidFill>
                <a:latin typeface="Arial"/>
              </a:rPr>
              <a:t>1</a:t>
            </a:r>
          </a:p>
        </p:txBody>
      </p:sp>
      <p:sp>
        <p:nvSpPr>
          <p:cNvPr id="28" name="Rectangle 27"/>
          <p:cNvSpPr/>
          <p:nvPr/>
        </p:nvSpPr>
        <p:spPr>
          <a:xfrm>
            <a:off x="5102352" y="1389888"/>
            <a:ext cx="1371600" cy="18288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350" b="1">
                <a:solidFill>
                  <a:srgbClr val="E97132"/>
                </a:solidFill>
                <a:latin typeface="Microsoft YaHei"/>
              </a:rPr>
              <a:t>Stage A 初判</a:t>
            </a:r>
          </a:p>
        </p:txBody>
      </p:sp>
      <p:sp>
        <p:nvSpPr>
          <p:cNvPr id="29" name="Rectangle 28"/>
          <p:cNvSpPr/>
          <p:nvPr/>
        </p:nvSpPr>
        <p:spPr>
          <a:xfrm>
            <a:off x="5102352" y="1664208"/>
            <a:ext cx="1783080"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050" b="1">
                <a:solidFill>
                  <a:srgbClr val="102033"/>
                </a:solidFill>
                <a:latin typeface="Arial"/>
              </a:rPr>
              <a:t>price.commerce.cn</a:t>
            </a:r>
          </a:p>
        </p:txBody>
      </p:sp>
      <p:sp>
        <p:nvSpPr>
          <p:cNvPr id="30" name="Rectangle 29"/>
          <p:cNvSpPr/>
          <p:nvPr/>
        </p:nvSpPr>
        <p:spPr>
          <a:xfrm>
            <a:off x="5102352" y="1883664"/>
            <a:ext cx="2057400" cy="146304"/>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860" b="0">
                <a:solidFill>
                  <a:srgbClr val="53657A"/>
                </a:solidFill>
                <a:latin typeface="Arial"/>
              </a:rPr>
              <a:t>conf=0.519 / margin=0.064</a:t>
            </a:r>
          </a:p>
        </p:txBody>
      </p:sp>
      <p:sp>
        <p:nvSpPr>
          <p:cNvPr id="31" name="Rectangle 30"/>
          <p:cNvSpPr/>
          <p:nvPr/>
        </p:nvSpPr>
        <p:spPr>
          <a:xfrm>
            <a:off x="5102352" y="2048256"/>
            <a:ext cx="1965960" cy="128016"/>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830" b="0">
                <a:solidFill>
                  <a:srgbClr val="53657A"/>
                </a:solidFill>
                <a:latin typeface="Microsoft YaHei"/>
              </a:rPr>
              <a:t>触发原因：low_confidence + small_margin</a:t>
            </a:r>
          </a:p>
        </p:txBody>
      </p:sp>
      <p:sp>
        <p:nvSpPr>
          <p:cNvPr id="32" name="Rectangle 31"/>
          <p:cNvSpPr/>
          <p:nvPr/>
        </p:nvSpPr>
        <p:spPr>
          <a:xfrm>
            <a:off x="5943600" y="2295144"/>
            <a:ext cx="18288" cy="279400"/>
          </a:xfrm>
          <a:prstGeom prst="rect">
            <a:avLst/>
          </a:prstGeom>
          <a:solidFill>
            <a:srgbClr val="C8DB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ounded Rectangle 32"/>
          <p:cNvSpPr/>
          <p:nvPr/>
        </p:nvSpPr>
        <p:spPr>
          <a:xfrm>
            <a:off x="4572000" y="2642616"/>
            <a:ext cx="2788920" cy="987552"/>
          </a:xfrm>
          <a:prstGeom prst="roundRect">
            <a:avLst/>
          </a:prstGeom>
          <a:solidFill>
            <a:srgbClr val="FFFFFF"/>
          </a:solidFill>
          <a:ln w="12700">
            <a:solidFill>
              <a:srgbClr val="0B63C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4773168" y="2843784"/>
            <a:ext cx="237744" cy="237744"/>
          </a:xfrm>
          <a:prstGeom prst="ellipse">
            <a:avLst/>
          </a:prstGeom>
          <a:solidFill>
            <a:srgbClr val="0B63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4773168" y="2907792"/>
            <a:ext cx="237744" cy="10972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lIns="36576" rIns="36576" tIns="18288" bIns="18288"/>
          <a:lstStyle/>
          <a:p>
            <a:pPr algn="ctr"/>
            <a:r>
              <a:rPr sz="850" b="1">
                <a:solidFill>
                  <a:srgbClr val="FFFFFF"/>
                </a:solidFill>
                <a:latin typeface="Arial"/>
              </a:rPr>
              <a:t>2</a:t>
            </a:r>
          </a:p>
        </p:txBody>
      </p:sp>
      <p:sp>
        <p:nvSpPr>
          <p:cNvPr id="36" name="Rectangle 35"/>
          <p:cNvSpPr/>
          <p:nvPr/>
        </p:nvSpPr>
        <p:spPr>
          <a:xfrm>
            <a:off x="5102352" y="2807208"/>
            <a:ext cx="1371600" cy="18288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350" b="1">
                <a:solidFill>
                  <a:srgbClr val="0B63CE"/>
                </a:solidFill>
                <a:latin typeface="Microsoft YaHei"/>
              </a:rPr>
              <a:t>Stage B 复核</a:t>
            </a:r>
          </a:p>
        </p:txBody>
      </p:sp>
      <p:sp>
        <p:nvSpPr>
          <p:cNvPr id="37" name="Rectangle 36"/>
          <p:cNvSpPr/>
          <p:nvPr/>
        </p:nvSpPr>
        <p:spPr>
          <a:xfrm>
            <a:off x="5102352" y="3081528"/>
            <a:ext cx="1783080"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050" b="1">
                <a:solidFill>
                  <a:srgbClr val="102033"/>
                </a:solidFill>
                <a:latin typeface="Arial"/>
              </a:rPr>
              <a:t>3 票提议改判 / 1 票保守</a:t>
            </a:r>
          </a:p>
        </p:txBody>
      </p:sp>
      <p:sp>
        <p:nvSpPr>
          <p:cNvPr id="38" name="Rectangle 37"/>
          <p:cNvSpPr/>
          <p:nvPr/>
        </p:nvSpPr>
        <p:spPr>
          <a:xfrm>
            <a:off x="5102352" y="3300984"/>
            <a:ext cx="2057400" cy="146304"/>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860" b="0">
                <a:solidFill>
                  <a:srgbClr val="53657A"/>
                </a:solidFill>
                <a:latin typeface="Arial"/>
              </a:rPr>
              <a:t>override_vote_count = 3</a:t>
            </a:r>
          </a:p>
        </p:txBody>
      </p:sp>
      <p:sp>
        <p:nvSpPr>
          <p:cNvPr id="39" name="Rectangle 38"/>
          <p:cNvSpPr/>
          <p:nvPr/>
        </p:nvSpPr>
        <p:spPr>
          <a:xfrm>
            <a:off x="5102352" y="3465576"/>
            <a:ext cx="1965960" cy="128016"/>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830" b="0">
                <a:solidFill>
                  <a:srgbClr val="53657A"/>
                </a:solidFill>
                <a:latin typeface="Microsoft YaHei"/>
              </a:rPr>
              <a:t>证据集中在“优惠为主、价格为辅”</a:t>
            </a:r>
          </a:p>
        </p:txBody>
      </p:sp>
      <p:sp>
        <p:nvSpPr>
          <p:cNvPr id="40" name="Rectangle 39"/>
          <p:cNvSpPr/>
          <p:nvPr/>
        </p:nvSpPr>
        <p:spPr>
          <a:xfrm>
            <a:off x="5943600" y="3712464"/>
            <a:ext cx="18288" cy="279400"/>
          </a:xfrm>
          <a:prstGeom prst="rect">
            <a:avLst/>
          </a:prstGeom>
          <a:solidFill>
            <a:srgbClr val="C8DB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ounded Rectangle 40"/>
          <p:cNvSpPr/>
          <p:nvPr/>
        </p:nvSpPr>
        <p:spPr>
          <a:xfrm>
            <a:off x="4572000" y="4059936"/>
            <a:ext cx="2788920" cy="987552"/>
          </a:xfrm>
          <a:prstGeom prst="roundRect">
            <a:avLst/>
          </a:prstGeom>
          <a:solidFill>
            <a:srgbClr val="FFFFFF"/>
          </a:solidFill>
          <a:ln w="12700">
            <a:solidFill>
              <a:srgbClr val="0E8A5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Oval 41"/>
          <p:cNvSpPr/>
          <p:nvPr/>
        </p:nvSpPr>
        <p:spPr>
          <a:xfrm>
            <a:off x="4773168" y="4261104"/>
            <a:ext cx="237744" cy="237744"/>
          </a:xfrm>
          <a:prstGeom prst="ellipse">
            <a:avLst/>
          </a:prstGeom>
          <a:solidFill>
            <a:srgbClr val="0E8A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4773168" y="4325112"/>
            <a:ext cx="237744" cy="10972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lIns="36576" rIns="36576" tIns="18288" bIns="18288"/>
          <a:lstStyle/>
          <a:p>
            <a:pPr algn="ctr"/>
            <a:r>
              <a:rPr sz="850" b="1">
                <a:solidFill>
                  <a:srgbClr val="FFFFFF"/>
                </a:solidFill>
                <a:latin typeface="Arial"/>
              </a:rPr>
              <a:t>3</a:t>
            </a:r>
          </a:p>
        </p:txBody>
      </p:sp>
      <p:sp>
        <p:nvSpPr>
          <p:cNvPr id="44" name="Rectangle 43"/>
          <p:cNvSpPr/>
          <p:nvPr/>
        </p:nvSpPr>
        <p:spPr>
          <a:xfrm>
            <a:off x="5102352" y="4224528"/>
            <a:ext cx="1371600" cy="18288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350" b="1">
                <a:solidFill>
                  <a:srgbClr val="0E8A57"/>
                </a:solidFill>
                <a:latin typeface="Microsoft YaHei"/>
              </a:rPr>
              <a:t>授权改判</a:t>
            </a:r>
          </a:p>
        </p:txBody>
      </p:sp>
      <p:sp>
        <p:nvSpPr>
          <p:cNvPr id="45" name="Rectangle 44"/>
          <p:cNvSpPr/>
          <p:nvPr/>
        </p:nvSpPr>
        <p:spPr>
          <a:xfrm>
            <a:off x="5102352" y="4498848"/>
            <a:ext cx="1783080"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050" b="1">
                <a:solidFill>
                  <a:srgbClr val="102033"/>
                </a:solidFill>
                <a:latin typeface="Arial"/>
              </a:rPr>
              <a:t>override_allowed = true</a:t>
            </a:r>
          </a:p>
        </p:txBody>
      </p:sp>
      <p:sp>
        <p:nvSpPr>
          <p:cNvPr id="46" name="Rectangle 45"/>
          <p:cNvSpPr/>
          <p:nvPr/>
        </p:nvSpPr>
        <p:spPr>
          <a:xfrm>
            <a:off x="5102352" y="4718304"/>
            <a:ext cx="2057400" cy="146304"/>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860" b="0">
                <a:solidFill>
                  <a:srgbClr val="53657A"/>
                </a:solidFill>
                <a:latin typeface="Arial"/>
              </a:rPr>
              <a:t>basis: explicit_primary_evidence</a:t>
            </a:r>
          </a:p>
        </p:txBody>
      </p:sp>
      <p:sp>
        <p:nvSpPr>
          <p:cNvPr id="47" name="Rectangle 46"/>
          <p:cNvSpPr/>
          <p:nvPr/>
        </p:nvSpPr>
        <p:spPr>
          <a:xfrm>
            <a:off x="5102352" y="4882896"/>
            <a:ext cx="1965960" cy="128016"/>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830" b="0">
                <a:solidFill>
                  <a:srgbClr val="53657A"/>
                </a:solidFill>
                <a:latin typeface="Microsoft YaHei"/>
              </a:rPr>
              <a:t>主意图从“比价”校正为“优惠规则”</a:t>
            </a:r>
          </a:p>
        </p:txBody>
      </p:sp>
      <p:sp>
        <p:nvSpPr>
          <p:cNvPr id="48" name="Rounded Rectangle 47"/>
          <p:cNvSpPr/>
          <p:nvPr/>
        </p:nvSpPr>
        <p:spPr>
          <a:xfrm>
            <a:off x="7973568" y="1143000"/>
            <a:ext cx="3246120" cy="1874519"/>
          </a:xfrm>
          <a:prstGeom prst="roundRect">
            <a:avLst/>
          </a:prstGeom>
          <a:solidFill>
            <a:srgbClr val="FFF1F1"/>
          </a:solidFill>
          <a:ln w="12700">
            <a:solidFill>
              <a:srgbClr val="F1C3C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ectangle 48"/>
          <p:cNvSpPr/>
          <p:nvPr/>
        </p:nvSpPr>
        <p:spPr>
          <a:xfrm>
            <a:off x="8247888" y="1444752"/>
            <a:ext cx="1005840" cy="20116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500" b="1">
                <a:solidFill>
                  <a:srgbClr val="B93232"/>
                </a:solidFill>
                <a:latin typeface="Microsoft YaHei"/>
              </a:rPr>
              <a:t>最终路由</a:t>
            </a:r>
          </a:p>
        </p:txBody>
      </p:sp>
      <p:sp>
        <p:nvSpPr>
          <p:cNvPr id="50" name="Rectangle 49"/>
          <p:cNvSpPr/>
          <p:nvPr/>
        </p:nvSpPr>
        <p:spPr>
          <a:xfrm>
            <a:off x="8183879" y="1810512"/>
            <a:ext cx="2651760" cy="237744"/>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520" b="1">
                <a:solidFill>
                  <a:srgbClr val="B93232"/>
                </a:solidFill>
                <a:latin typeface="Arial"/>
              </a:rPr>
              <a:t>coupon.commerce.cn</a:t>
            </a:r>
          </a:p>
        </p:txBody>
      </p:sp>
      <p:sp>
        <p:nvSpPr>
          <p:cNvPr id="51" name="Rectangle 50"/>
          <p:cNvSpPr/>
          <p:nvPr/>
        </p:nvSpPr>
        <p:spPr>
          <a:xfrm>
            <a:off x="8247888" y="2157984"/>
            <a:ext cx="2057400"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960" b="0">
                <a:solidFill>
                  <a:srgbClr val="53657A"/>
                </a:solidFill>
                <a:latin typeface="Arial"/>
              </a:rPr>
              <a:t>final_decision_source = stage_b</a:t>
            </a:r>
          </a:p>
        </p:txBody>
      </p:sp>
      <p:sp>
        <p:nvSpPr>
          <p:cNvPr id="52" name="Rectangle 51"/>
          <p:cNvSpPr/>
          <p:nvPr/>
        </p:nvSpPr>
        <p:spPr>
          <a:xfrm>
            <a:off x="8247888" y="2441448"/>
            <a:ext cx="2514600" cy="25603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010" b="0">
                <a:solidFill>
                  <a:srgbClr val="102033"/>
                </a:solidFill>
                <a:latin typeface="Microsoft YaHei"/>
              </a:rPr>
              <a:t>可解释结论：优惠可用性是主任务，价格比较作为相关诉求保留。</a:t>
            </a:r>
          </a:p>
        </p:txBody>
      </p:sp>
      <p:sp>
        <p:nvSpPr>
          <p:cNvPr id="53" name="Rounded Rectangle 52"/>
          <p:cNvSpPr/>
          <p:nvPr/>
        </p:nvSpPr>
        <p:spPr>
          <a:xfrm>
            <a:off x="7973568" y="3310128"/>
            <a:ext cx="3246120" cy="1298448"/>
          </a:xfrm>
          <a:prstGeom prst="roundRect">
            <a:avLst/>
          </a:prstGeom>
          <a:solidFill>
            <a:srgbClr val="E7F1FF"/>
          </a:solidFill>
          <a:ln w="12700">
            <a:solidFill>
              <a:srgbClr val="7FB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Rectangle 53"/>
          <p:cNvSpPr/>
          <p:nvPr/>
        </p:nvSpPr>
        <p:spPr>
          <a:xfrm>
            <a:off x="8247888" y="3566160"/>
            <a:ext cx="1554480" cy="20116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500" b="1">
                <a:solidFill>
                  <a:srgbClr val="0B63CE"/>
                </a:solidFill>
                <a:latin typeface="Microsoft YaHei"/>
              </a:rPr>
              <a:t>评审能看到什么</a:t>
            </a:r>
          </a:p>
        </p:txBody>
      </p:sp>
      <p:sp>
        <p:nvSpPr>
          <p:cNvPr id="55" name="Oval 54"/>
          <p:cNvSpPr/>
          <p:nvPr/>
        </p:nvSpPr>
        <p:spPr>
          <a:xfrm>
            <a:off x="8247888" y="3950207"/>
            <a:ext cx="68580" cy="68580"/>
          </a:xfrm>
          <a:prstGeom prst="ellipse">
            <a:avLst/>
          </a:prstGeom>
          <a:solidFill>
            <a:srgbClr val="0B63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Rectangle 55"/>
          <p:cNvSpPr/>
          <p:nvPr/>
        </p:nvSpPr>
        <p:spPr>
          <a:xfrm>
            <a:off x="8412480" y="3895344"/>
            <a:ext cx="2560320" cy="219456"/>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940" b="0">
                <a:solidFill>
                  <a:srgbClr val="102033"/>
                </a:solidFill>
                <a:latin typeface="Microsoft YaHei"/>
              </a:rPr>
              <a:t>错因：候选内主次意图误判</a:t>
            </a:r>
          </a:p>
        </p:txBody>
      </p:sp>
      <p:sp>
        <p:nvSpPr>
          <p:cNvPr id="57" name="Oval 56"/>
          <p:cNvSpPr/>
          <p:nvPr/>
        </p:nvSpPr>
        <p:spPr>
          <a:xfrm>
            <a:off x="8247888" y="4169663"/>
            <a:ext cx="68580" cy="68580"/>
          </a:xfrm>
          <a:prstGeom prst="ellipse">
            <a:avLst/>
          </a:prstGeom>
          <a:solidFill>
            <a:srgbClr val="0B63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Rectangle 57"/>
          <p:cNvSpPr/>
          <p:nvPr/>
        </p:nvSpPr>
        <p:spPr>
          <a:xfrm>
            <a:off x="8412480" y="4114800"/>
            <a:ext cx="2560320" cy="219456"/>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940" b="0">
                <a:solidFill>
                  <a:srgbClr val="102033"/>
                </a:solidFill>
                <a:latin typeface="Microsoft YaHei"/>
              </a:rPr>
              <a:t>修正：职责化角色给出证据</a:t>
            </a:r>
          </a:p>
        </p:txBody>
      </p:sp>
      <p:sp>
        <p:nvSpPr>
          <p:cNvPr id="59" name="Oval 58"/>
          <p:cNvSpPr/>
          <p:nvPr/>
        </p:nvSpPr>
        <p:spPr>
          <a:xfrm>
            <a:off x="8247888" y="4389120"/>
            <a:ext cx="68580" cy="68580"/>
          </a:xfrm>
          <a:prstGeom prst="ellipse">
            <a:avLst/>
          </a:prstGeom>
          <a:solidFill>
            <a:srgbClr val="0B63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Rectangle 59"/>
          <p:cNvSpPr/>
          <p:nvPr/>
        </p:nvSpPr>
        <p:spPr>
          <a:xfrm>
            <a:off x="8412480" y="4334256"/>
            <a:ext cx="2560320" cy="219456"/>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940" b="0">
                <a:solidFill>
                  <a:srgbClr val="102033"/>
                </a:solidFill>
                <a:latin typeface="Microsoft YaHei"/>
              </a:rPr>
              <a:t>边界：改判需通过授权检查</a:t>
            </a:r>
          </a:p>
        </p:txBody>
      </p:sp>
      <p:sp>
        <p:nvSpPr>
          <p:cNvPr id="61" name="Rounded Rectangle 60"/>
          <p:cNvSpPr/>
          <p:nvPr/>
        </p:nvSpPr>
        <p:spPr>
          <a:xfrm>
            <a:off x="749808" y="6016752"/>
            <a:ext cx="10287000" cy="347472"/>
          </a:xfrm>
          <a:prstGeom prst="roundRect">
            <a:avLst/>
          </a:prstGeom>
          <a:solidFill>
            <a:srgbClr val="FFFFFF"/>
          </a:solidFill>
          <a:ln w="12700">
            <a:solidFill>
              <a:srgbClr val="C8DB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Rectangle 61"/>
          <p:cNvSpPr/>
          <p:nvPr/>
        </p:nvSpPr>
        <p:spPr>
          <a:xfrm>
            <a:off x="950976" y="6108192"/>
            <a:ext cx="9738360" cy="10972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910" b="0">
                <a:solidFill>
                  <a:srgbClr val="53657A"/>
                </a:solidFill>
                <a:latin typeface="Arial"/>
              </a:rPr>
              <a:t>Trace contract 字段：stage_r.fqdn_candidates / stage_a.routing_top_k / stage_b.agent_votes / stage_b.trust_trace / final_primary_fqdn</a:t>
            </a:r>
          </a:p>
        </p:txBody>
      </p:sp>
      <p:sp>
        <p:nvSpPr>
          <p:cNvPr id="63" name="Rectangle 62"/>
          <p:cNvSpPr/>
          <p:nvPr/>
        </p:nvSpPr>
        <p:spPr>
          <a:xfrm>
            <a:off x="475488" y="6473952"/>
            <a:ext cx="8595360" cy="10160"/>
          </a:xfrm>
          <a:prstGeom prst="rect">
            <a:avLst/>
          </a:prstGeom>
          <a:solidFill>
            <a:srgbClr val="C8DB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Rectangle 63"/>
          <p:cNvSpPr/>
          <p:nvPr/>
        </p:nvSpPr>
        <p:spPr>
          <a:xfrm>
            <a:off x="475488" y="6537960"/>
            <a:ext cx="5486400"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750" b="0">
                <a:solidFill>
                  <a:srgbClr val="53657A"/>
                </a:solidFill>
                <a:latin typeface="Microsoft YaHei"/>
              </a:rPr>
              <a:t>面向互联网基础资源的大模型多智能体协作与可信认知标识技术研究</a:t>
            </a:r>
          </a:p>
        </p:txBody>
      </p:sp>
      <p:sp>
        <p:nvSpPr>
          <p:cNvPr id="65" name="Rectangle 64"/>
          <p:cNvSpPr/>
          <p:nvPr/>
        </p:nvSpPr>
        <p:spPr>
          <a:xfrm>
            <a:off x="11155680" y="6501384"/>
            <a:ext cx="384048"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r"/>
            <a:r>
              <a:rPr sz="800" b="0">
                <a:solidFill>
                  <a:srgbClr val="53657A"/>
                </a:solidFill>
                <a:latin typeface="Arial"/>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light_texture.png"/>
          <p:cNvPicPr>
            <a:picLocks noChangeAspect="1"/>
          </p:cNvPicPr>
          <p:nvPr/>
        </p:nvPicPr>
        <p:blipFill>
          <a:blip r:embed="rId2"/>
          <a:stretch>
            <a:fillRect/>
          </a:stretch>
        </p:blipFill>
        <p:spPr>
          <a:xfrm>
            <a:off x="0" y="0"/>
            <a:ext cx="12191999" cy="6858000"/>
          </a:xfrm>
          <a:prstGeom prst="rect">
            <a:avLst/>
          </a:prstGeom>
        </p:spPr>
      </p:pic>
      <p:sp>
        <p:nvSpPr>
          <p:cNvPr id="3" name="Rectangle 2"/>
          <p:cNvSpPr/>
          <p:nvPr/>
        </p:nvSpPr>
        <p:spPr>
          <a:xfrm>
            <a:off x="0" y="0"/>
            <a:ext cx="12191999" cy="109728"/>
          </a:xfrm>
          <a:prstGeom prst="rect">
            <a:avLst/>
          </a:prstGeom>
          <a:solidFill>
            <a:srgbClr val="082B6D"/>
          </a:solidFill>
          <a:ln w="12700">
            <a:solidFill>
              <a:srgbClr val="082B6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9728"/>
            <a:ext cx="12191999" cy="32004"/>
          </a:xfrm>
          <a:prstGeom prst="rect">
            <a:avLst/>
          </a:prstGeom>
          <a:solidFill>
            <a:srgbClr val="1E83E6"/>
          </a:solidFill>
          <a:ln w="12700">
            <a:solidFill>
              <a:srgbClr val="1E83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475488" y="283464"/>
            <a:ext cx="676656" cy="237744"/>
          </a:xfrm>
          <a:prstGeom prst="roundRect">
            <a:avLst/>
          </a:prstGeom>
          <a:solidFill>
            <a:srgbClr val="E7F1FF"/>
          </a:solidFill>
          <a:ln w="11430">
            <a:solidFill>
              <a:srgbClr val="C8DBEF"/>
            </a:solidFill>
          </a:ln>
        </p:spPr>
        <p:style>
          <a:lnRef idx="1">
            <a:schemeClr val="accent1"/>
          </a:lnRef>
          <a:fillRef idx="3">
            <a:schemeClr val="accent1"/>
          </a:fillRef>
          <a:effectRef idx="2">
            <a:schemeClr val="accent1"/>
          </a:effectRef>
          <a:fontRef idx="minor">
            <a:schemeClr val="lt1"/>
          </a:fontRef>
        </p:style>
        <p:txBody>
          <a:bodyPr rtlCol="0" anchor="ctr" lIns="36576" rIns="36576" tIns="18288" bIns="18288"/>
          <a:lstStyle/>
          <a:p>
            <a:pPr algn="ctr"/>
            <a:r>
              <a:rPr sz="1200" b="1">
                <a:solidFill>
                  <a:srgbClr val="0B63CE"/>
                </a:solidFill>
                <a:latin typeface="Microsoft YaHei"/>
              </a:rPr>
              <a:t>11</a:t>
            </a:r>
          </a:p>
        </p:txBody>
      </p:sp>
      <p:sp>
        <p:nvSpPr>
          <p:cNvPr id="6" name="Rectangle 5"/>
          <p:cNvSpPr/>
          <p:nvPr/>
        </p:nvSpPr>
        <p:spPr>
          <a:xfrm>
            <a:off x="1298448" y="237744"/>
            <a:ext cx="8412480" cy="38404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2200" b="1">
                <a:solidFill>
                  <a:srgbClr val="102033"/>
                </a:solidFill>
                <a:latin typeface="Microsoft YaHei"/>
              </a:rPr>
              <a:t>工程实现：研究链路已经沉淀为可运行模块和测试用例</a:t>
            </a:r>
          </a:p>
        </p:txBody>
      </p:sp>
      <p:sp>
        <p:nvSpPr>
          <p:cNvPr id="7" name="Rectangle 6"/>
          <p:cNvSpPr/>
          <p:nvPr/>
        </p:nvSpPr>
        <p:spPr>
          <a:xfrm>
            <a:off x="1298448" y="621792"/>
            <a:ext cx="8595360" cy="237744"/>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080" b="0">
                <a:solidFill>
                  <a:srgbClr val="53657A"/>
                </a:solidFill>
                <a:latin typeface="Microsoft YaHei"/>
              </a:rPr>
              <a:t>这一页回应评审对系统落地、代码实现和测试支撑的关注。</a:t>
            </a:r>
          </a:p>
        </p:txBody>
      </p:sp>
      <p:sp>
        <p:nvSpPr>
          <p:cNvPr id="8" name="Rectangle 7"/>
          <p:cNvSpPr/>
          <p:nvPr/>
        </p:nvSpPr>
        <p:spPr>
          <a:xfrm>
            <a:off x="10698480" y="256032"/>
            <a:ext cx="1005840" cy="25603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r"/>
            <a:r>
              <a:rPr sz="2100" b="1">
                <a:solidFill>
                  <a:srgbClr val="0B63CE"/>
                </a:solidFill>
                <a:latin typeface="Arial"/>
              </a:rPr>
              <a:t>CNNIC</a:t>
            </a:r>
          </a:p>
        </p:txBody>
      </p:sp>
      <p:sp>
        <p:nvSpPr>
          <p:cNvPr id="9" name="Rectangle 8"/>
          <p:cNvSpPr/>
          <p:nvPr/>
        </p:nvSpPr>
        <p:spPr>
          <a:xfrm>
            <a:off x="10012680" y="530352"/>
            <a:ext cx="1691640"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r"/>
            <a:r>
              <a:rPr sz="850" b="0">
                <a:solidFill>
                  <a:srgbClr val="53657A"/>
                </a:solidFill>
                <a:latin typeface="Microsoft YaHei"/>
              </a:rPr>
              <a:t>中国互联网络信息中心</a:t>
            </a:r>
          </a:p>
        </p:txBody>
      </p:sp>
      <p:sp>
        <p:nvSpPr>
          <p:cNvPr id="10" name="Rounded Rectangle 9"/>
          <p:cNvSpPr/>
          <p:nvPr/>
        </p:nvSpPr>
        <p:spPr>
          <a:xfrm>
            <a:off x="685800" y="1417320"/>
            <a:ext cx="1874519" cy="1078992"/>
          </a:xfrm>
          <a:prstGeom prst="roundRect">
            <a:avLst/>
          </a:prstGeom>
          <a:solidFill>
            <a:srgbClr val="FFFFFF"/>
          </a:solidFill>
          <a:ln w="12700">
            <a:solidFill>
              <a:srgbClr val="0B63C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813816" y="1673352"/>
            <a:ext cx="1417320"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050" b="1">
                <a:solidFill>
                  <a:srgbClr val="0B63CE"/>
                </a:solidFill>
                <a:latin typeface="Arial"/>
              </a:rPr>
              <a:t>namespace.py</a:t>
            </a:r>
          </a:p>
        </p:txBody>
      </p:sp>
      <p:sp>
        <p:nvSpPr>
          <p:cNvPr id="12" name="Rectangle 11"/>
          <p:cNvSpPr/>
          <p:nvPr/>
        </p:nvSpPr>
        <p:spPr>
          <a:xfrm>
            <a:off x="813816" y="1993392"/>
            <a:ext cx="1325880" cy="20116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030" b="0">
                <a:solidFill>
                  <a:srgbClr val="53657A"/>
                </a:solidFill>
                <a:latin typeface="Microsoft YaHei"/>
              </a:rPr>
              <a:t>能力节点 / FQDN / 层级</a:t>
            </a:r>
          </a:p>
        </p:txBody>
      </p:sp>
      <p:sp>
        <p:nvSpPr>
          <p:cNvPr id="13" name="Rounded Rectangle 12"/>
          <p:cNvSpPr/>
          <p:nvPr/>
        </p:nvSpPr>
        <p:spPr>
          <a:xfrm>
            <a:off x="2953512" y="1417320"/>
            <a:ext cx="1874519" cy="1078992"/>
          </a:xfrm>
          <a:prstGeom prst="roundRect">
            <a:avLst/>
          </a:prstGeom>
          <a:solidFill>
            <a:srgbClr val="FFFFFF"/>
          </a:solidFill>
          <a:ln w="12700">
            <a:solidFill>
              <a:srgbClr val="1E83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081528" y="1673352"/>
            <a:ext cx="1417320"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050" b="1">
                <a:solidFill>
                  <a:srgbClr val="1E83E6"/>
                </a:solidFill>
                <a:latin typeface="Arial"/>
              </a:rPr>
              <a:t>stage_r_clean.py</a:t>
            </a:r>
          </a:p>
        </p:txBody>
      </p:sp>
      <p:sp>
        <p:nvSpPr>
          <p:cNvPr id="15" name="Rectangle 14"/>
          <p:cNvSpPr/>
          <p:nvPr/>
        </p:nvSpPr>
        <p:spPr>
          <a:xfrm>
            <a:off x="3081528" y="1993392"/>
            <a:ext cx="1325880" cy="20116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030" b="0">
                <a:solidFill>
                  <a:srgbClr val="53657A"/>
                </a:solidFill>
                <a:latin typeface="Microsoft YaHei"/>
              </a:rPr>
              <a:t>命名空间候选召回</a:t>
            </a:r>
          </a:p>
        </p:txBody>
      </p:sp>
      <p:sp>
        <p:nvSpPr>
          <p:cNvPr id="16" name="Rounded Rectangle 15"/>
          <p:cNvSpPr/>
          <p:nvPr/>
        </p:nvSpPr>
        <p:spPr>
          <a:xfrm>
            <a:off x="5221224" y="1417320"/>
            <a:ext cx="1874519" cy="1078992"/>
          </a:xfrm>
          <a:prstGeom prst="roundRect">
            <a:avLst/>
          </a:prstGeom>
          <a:solidFill>
            <a:srgbClr val="FFFFFF"/>
          </a:solidFill>
          <a:ln w="12700">
            <a:solidFill>
              <a:srgbClr val="0E8A5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349240" y="1673352"/>
            <a:ext cx="1417320"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050" b="1">
                <a:solidFill>
                  <a:srgbClr val="0E8A57"/>
                </a:solidFill>
                <a:latin typeface="Arial"/>
              </a:rPr>
              <a:t>stage_a_llm.py</a:t>
            </a:r>
          </a:p>
        </p:txBody>
      </p:sp>
      <p:sp>
        <p:nvSpPr>
          <p:cNvPr id="18" name="Rectangle 17"/>
          <p:cNvSpPr/>
          <p:nvPr/>
        </p:nvSpPr>
        <p:spPr>
          <a:xfrm>
            <a:off x="5349240" y="1993392"/>
            <a:ext cx="1325880" cy="20116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030" b="0">
                <a:solidFill>
                  <a:srgbClr val="53657A"/>
                </a:solidFill>
                <a:latin typeface="Microsoft YaHei"/>
              </a:rPr>
              <a:t>结构化语义裁决</a:t>
            </a:r>
          </a:p>
        </p:txBody>
      </p:sp>
      <p:sp>
        <p:nvSpPr>
          <p:cNvPr id="19" name="Rounded Rectangle 18"/>
          <p:cNvSpPr/>
          <p:nvPr/>
        </p:nvSpPr>
        <p:spPr>
          <a:xfrm>
            <a:off x="7488936" y="1417320"/>
            <a:ext cx="1874519" cy="1078992"/>
          </a:xfrm>
          <a:prstGeom prst="roundRect">
            <a:avLst/>
          </a:prstGeom>
          <a:solidFill>
            <a:srgbClr val="FFFFFF"/>
          </a:solidFill>
          <a:ln w="12700">
            <a:solidFill>
              <a:srgbClr val="E9713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7616952" y="1673352"/>
            <a:ext cx="1417320"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050" b="1">
                <a:solidFill>
                  <a:srgbClr val="E97132"/>
                </a:solidFill>
                <a:latin typeface="Arial"/>
              </a:rPr>
              <a:t>stage_b_consensus.py</a:t>
            </a:r>
          </a:p>
        </p:txBody>
      </p:sp>
      <p:sp>
        <p:nvSpPr>
          <p:cNvPr id="21" name="Rectangle 20"/>
          <p:cNvSpPr/>
          <p:nvPr/>
        </p:nvSpPr>
        <p:spPr>
          <a:xfrm>
            <a:off x="7616952" y="1993392"/>
            <a:ext cx="1325880" cy="20116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030" b="0">
                <a:solidFill>
                  <a:srgbClr val="53657A"/>
                </a:solidFill>
                <a:latin typeface="Microsoft YaHei"/>
              </a:rPr>
              <a:t>职责化复核与授权</a:t>
            </a:r>
          </a:p>
        </p:txBody>
      </p:sp>
      <p:sp>
        <p:nvSpPr>
          <p:cNvPr id="22" name="Rounded Rectangle 21"/>
          <p:cNvSpPr/>
          <p:nvPr/>
        </p:nvSpPr>
        <p:spPr>
          <a:xfrm>
            <a:off x="9756648" y="1417320"/>
            <a:ext cx="1874519" cy="1078992"/>
          </a:xfrm>
          <a:prstGeom prst="roundRect">
            <a:avLst/>
          </a:prstGeom>
          <a:solidFill>
            <a:srgbClr val="FFFFFF"/>
          </a:solidFill>
          <a:ln w="12700">
            <a:solidFill>
              <a:srgbClr val="6B49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9884664" y="1673352"/>
            <a:ext cx="1417320"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050" b="1">
                <a:solidFill>
                  <a:srgbClr val="6B49C8"/>
                </a:solidFill>
                <a:latin typeface="Arial"/>
              </a:rPr>
              <a:t>stage_c_selector.py</a:t>
            </a:r>
          </a:p>
        </p:txBody>
      </p:sp>
      <p:sp>
        <p:nvSpPr>
          <p:cNvPr id="24" name="Rectangle 23"/>
          <p:cNvSpPr/>
          <p:nvPr/>
        </p:nvSpPr>
        <p:spPr>
          <a:xfrm>
            <a:off x="9884664" y="1993392"/>
            <a:ext cx="1325880" cy="20116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030" b="0">
                <a:solidFill>
                  <a:srgbClr val="53657A"/>
                </a:solidFill>
                <a:latin typeface="Microsoft YaHei"/>
              </a:rPr>
              <a:t>实例过滤与排序</a:t>
            </a:r>
          </a:p>
        </p:txBody>
      </p:sp>
      <p:sp>
        <p:nvSpPr>
          <p:cNvPr id="25" name="Rounded Rectangle 24"/>
          <p:cNvSpPr/>
          <p:nvPr/>
        </p:nvSpPr>
        <p:spPr>
          <a:xfrm>
            <a:off x="786384" y="3154680"/>
            <a:ext cx="5303520" cy="1554480"/>
          </a:xfrm>
          <a:prstGeom prst="roundRect">
            <a:avLst/>
          </a:prstGeom>
          <a:solidFill>
            <a:srgbClr val="071A46"/>
          </a:solidFill>
          <a:ln w="12700">
            <a:solidFill>
              <a:srgbClr val="1E83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1051560" y="3447288"/>
            <a:ext cx="1280160" cy="219456"/>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600" b="1">
                <a:solidFill>
                  <a:srgbClr val="FFFFFF"/>
                </a:solidFill>
                <a:latin typeface="Microsoft YaHei"/>
              </a:rPr>
              <a:t>运行入口</a:t>
            </a:r>
          </a:p>
        </p:txBody>
      </p:sp>
      <p:sp>
        <p:nvSpPr>
          <p:cNvPr id="27" name="Rectangle 26"/>
          <p:cNvSpPr/>
          <p:nvPr/>
        </p:nvSpPr>
        <p:spPr>
          <a:xfrm>
            <a:off x="1060704" y="3822191"/>
            <a:ext cx="3566160"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969" b="0">
                <a:solidFill>
                  <a:srgbClr val="D2E6FF"/>
                </a:solidFill>
                <a:latin typeface="Arial"/>
              </a:rPr>
              <a:t>run_stage_r_clean_snapshot.py</a:t>
            </a:r>
          </a:p>
        </p:txBody>
      </p:sp>
      <p:sp>
        <p:nvSpPr>
          <p:cNvPr id="28" name="Rectangle 27"/>
          <p:cNvSpPr/>
          <p:nvPr/>
        </p:nvSpPr>
        <p:spPr>
          <a:xfrm>
            <a:off x="1060704" y="4059935"/>
            <a:ext cx="3566160"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969" b="0">
                <a:solidFill>
                  <a:srgbClr val="D2E6FF"/>
                </a:solidFill>
                <a:latin typeface="Arial"/>
              </a:rPr>
              <a:t>run_stage_a_llm.py</a:t>
            </a:r>
          </a:p>
        </p:txBody>
      </p:sp>
      <p:sp>
        <p:nvSpPr>
          <p:cNvPr id="29" name="Rectangle 28"/>
          <p:cNvSpPr/>
          <p:nvPr/>
        </p:nvSpPr>
        <p:spPr>
          <a:xfrm>
            <a:off x="1060704" y="4297679"/>
            <a:ext cx="3566160"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969" b="0">
                <a:solidFill>
                  <a:srgbClr val="D2E6FF"/>
                </a:solidFill>
                <a:latin typeface="Arial"/>
              </a:rPr>
              <a:t>run_stage_b.py</a:t>
            </a:r>
          </a:p>
        </p:txBody>
      </p:sp>
      <p:sp>
        <p:nvSpPr>
          <p:cNvPr id="30" name="Rectangle 29"/>
          <p:cNvSpPr/>
          <p:nvPr/>
        </p:nvSpPr>
        <p:spPr>
          <a:xfrm>
            <a:off x="1060704" y="4535424"/>
            <a:ext cx="3566160"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969" b="0">
                <a:solidFill>
                  <a:srgbClr val="D2E6FF"/>
                </a:solidFill>
                <a:latin typeface="Arial"/>
              </a:rPr>
              <a:t>run_routing_service.py</a:t>
            </a:r>
          </a:p>
        </p:txBody>
      </p:sp>
      <p:sp>
        <p:nvSpPr>
          <p:cNvPr id="31" name="Rounded Rectangle 30"/>
          <p:cNvSpPr/>
          <p:nvPr/>
        </p:nvSpPr>
        <p:spPr>
          <a:xfrm>
            <a:off x="6629400" y="3154680"/>
            <a:ext cx="4251960" cy="1554480"/>
          </a:xfrm>
          <a:prstGeom prst="roundRect">
            <a:avLst/>
          </a:prstGeom>
          <a:solidFill>
            <a:srgbClr val="FFFFFF"/>
          </a:solidFill>
          <a:ln w="12700">
            <a:solidFill>
              <a:srgbClr val="C8DB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6903720" y="3447288"/>
            <a:ext cx="1463040" cy="219456"/>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600" b="1">
                <a:solidFill>
                  <a:srgbClr val="0B63CE"/>
                </a:solidFill>
                <a:latin typeface="Microsoft YaHei"/>
              </a:rPr>
              <a:t>验证与规模</a:t>
            </a:r>
          </a:p>
        </p:txBody>
      </p:sp>
      <p:sp>
        <p:nvSpPr>
          <p:cNvPr id="33" name="Rectangle 32"/>
          <p:cNvSpPr/>
          <p:nvPr/>
        </p:nvSpPr>
        <p:spPr>
          <a:xfrm>
            <a:off x="6903720" y="3858768"/>
            <a:ext cx="731520" cy="219456"/>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600" b="1">
                <a:solidFill>
                  <a:srgbClr val="0B63CE"/>
                </a:solidFill>
                <a:latin typeface="Arial"/>
              </a:rPr>
              <a:t>12</a:t>
            </a:r>
          </a:p>
        </p:txBody>
      </p:sp>
      <p:sp>
        <p:nvSpPr>
          <p:cNvPr id="34" name="Rectangle 33"/>
          <p:cNvSpPr/>
          <p:nvPr/>
        </p:nvSpPr>
        <p:spPr>
          <a:xfrm>
            <a:off x="6876288" y="4160520"/>
            <a:ext cx="868680"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ctr"/>
            <a:r>
              <a:rPr sz="780" b="0">
                <a:solidFill>
                  <a:srgbClr val="53657A"/>
                </a:solidFill>
                <a:latin typeface="Microsoft YaHei"/>
              </a:rPr>
              <a:t>核心模块</a:t>
            </a:r>
          </a:p>
        </p:txBody>
      </p:sp>
      <p:sp>
        <p:nvSpPr>
          <p:cNvPr id="35" name="Rectangle 34"/>
          <p:cNvSpPr/>
          <p:nvPr/>
        </p:nvSpPr>
        <p:spPr>
          <a:xfrm>
            <a:off x="7818120" y="3858768"/>
            <a:ext cx="731520" cy="219456"/>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600" b="1">
                <a:solidFill>
                  <a:srgbClr val="0E8A57"/>
                </a:solidFill>
                <a:latin typeface="Arial"/>
              </a:rPr>
              <a:t>5</a:t>
            </a:r>
          </a:p>
        </p:txBody>
      </p:sp>
      <p:sp>
        <p:nvSpPr>
          <p:cNvPr id="36" name="Rectangle 35"/>
          <p:cNvSpPr/>
          <p:nvPr/>
        </p:nvSpPr>
        <p:spPr>
          <a:xfrm>
            <a:off x="7790688" y="4160520"/>
            <a:ext cx="868680"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ctr"/>
            <a:r>
              <a:rPr sz="780" b="0">
                <a:solidFill>
                  <a:srgbClr val="53657A"/>
                </a:solidFill>
                <a:latin typeface="Microsoft YaHei"/>
              </a:rPr>
              <a:t>运行脚本</a:t>
            </a:r>
          </a:p>
        </p:txBody>
      </p:sp>
      <p:sp>
        <p:nvSpPr>
          <p:cNvPr id="37" name="Rectangle 36"/>
          <p:cNvSpPr/>
          <p:nvPr/>
        </p:nvSpPr>
        <p:spPr>
          <a:xfrm>
            <a:off x="8732520" y="3858768"/>
            <a:ext cx="731520" cy="219456"/>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600" b="1">
                <a:solidFill>
                  <a:srgbClr val="E97132"/>
                </a:solidFill>
                <a:latin typeface="Arial"/>
              </a:rPr>
              <a:t>5</a:t>
            </a:r>
          </a:p>
        </p:txBody>
      </p:sp>
      <p:sp>
        <p:nvSpPr>
          <p:cNvPr id="38" name="Rectangle 37"/>
          <p:cNvSpPr/>
          <p:nvPr/>
        </p:nvSpPr>
        <p:spPr>
          <a:xfrm>
            <a:off x="8705088" y="4160520"/>
            <a:ext cx="868680"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ctr"/>
            <a:r>
              <a:rPr sz="780" b="0">
                <a:solidFill>
                  <a:srgbClr val="53657A"/>
                </a:solidFill>
                <a:latin typeface="Microsoft YaHei"/>
              </a:rPr>
              <a:t>测试文件</a:t>
            </a:r>
          </a:p>
        </p:txBody>
      </p:sp>
      <p:sp>
        <p:nvSpPr>
          <p:cNvPr id="39" name="Rectangle 38"/>
          <p:cNvSpPr/>
          <p:nvPr/>
        </p:nvSpPr>
        <p:spPr>
          <a:xfrm>
            <a:off x="9646920" y="3858768"/>
            <a:ext cx="731520" cy="219456"/>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600" b="1">
                <a:solidFill>
                  <a:srgbClr val="B93232"/>
                </a:solidFill>
                <a:latin typeface="Arial"/>
              </a:rPr>
              <a:t>9,787</a:t>
            </a:r>
          </a:p>
        </p:txBody>
      </p:sp>
      <p:sp>
        <p:nvSpPr>
          <p:cNvPr id="40" name="Rectangle 39"/>
          <p:cNvSpPr/>
          <p:nvPr/>
        </p:nvSpPr>
        <p:spPr>
          <a:xfrm>
            <a:off x="9619488" y="4160520"/>
            <a:ext cx="868680"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ctr"/>
            <a:r>
              <a:rPr sz="780" b="0">
                <a:solidFill>
                  <a:srgbClr val="53657A"/>
                </a:solidFill>
                <a:latin typeface="Microsoft YaHei"/>
              </a:rPr>
              <a:t>代码与测试行数</a:t>
            </a:r>
          </a:p>
        </p:txBody>
      </p:sp>
      <p:sp>
        <p:nvSpPr>
          <p:cNvPr id="41" name="Rectangle 40"/>
          <p:cNvSpPr/>
          <p:nvPr/>
        </p:nvSpPr>
        <p:spPr>
          <a:xfrm>
            <a:off x="822960" y="5806440"/>
            <a:ext cx="6766560" cy="25603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400" b="1">
                <a:solidFill>
                  <a:srgbClr val="102033"/>
                </a:solidFill>
                <a:latin typeface="Microsoft YaHei"/>
              </a:rPr>
              <a:t>代码证明项目已经从方案说明进入可运行、可测试、可复现实验状态。</a:t>
            </a:r>
          </a:p>
        </p:txBody>
      </p:sp>
      <p:sp>
        <p:nvSpPr>
          <p:cNvPr id="42" name="Rectangle 41"/>
          <p:cNvSpPr/>
          <p:nvPr/>
        </p:nvSpPr>
        <p:spPr>
          <a:xfrm>
            <a:off x="475488" y="6473952"/>
            <a:ext cx="8595360" cy="10160"/>
          </a:xfrm>
          <a:prstGeom prst="rect">
            <a:avLst/>
          </a:prstGeom>
          <a:solidFill>
            <a:srgbClr val="C8DB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475488" y="6537960"/>
            <a:ext cx="5486400"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750" b="0">
                <a:solidFill>
                  <a:srgbClr val="53657A"/>
                </a:solidFill>
                <a:latin typeface="Microsoft YaHei"/>
              </a:rPr>
              <a:t>面向互联网基础资源的大模型多智能体协作与可信认知标识技术研究</a:t>
            </a:r>
          </a:p>
        </p:txBody>
      </p:sp>
      <p:sp>
        <p:nvSpPr>
          <p:cNvPr id="44" name="Rectangle 43"/>
          <p:cNvSpPr/>
          <p:nvPr/>
        </p:nvSpPr>
        <p:spPr>
          <a:xfrm>
            <a:off x="11155680" y="6501384"/>
            <a:ext cx="384048"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r"/>
            <a:r>
              <a:rPr sz="800" b="0">
                <a:solidFill>
                  <a:srgbClr val="53657A"/>
                </a:solidFill>
                <a:latin typeface="Arial"/>
              </a:rP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light_texture.png"/>
          <p:cNvPicPr>
            <a:picLocks noChangeAspect="1"/>
          </p:cNvPicPr>
          <p:nvPr/>
        </p:nvPicPr>
        <p:blipFill>
          <a:blip r:embed="rId2"/>
          <a:stretch>
            <a:fillRect/>
          </a:stretch>
        </p:blipFill>
        <p:spPr>
          <a:xfrm>
            <a:off x="0" y="0"/>
            <a:ext cx="12191999" cy="6858000"/>
          </a:xfrm>
          <a:prstGeom prst="rect">
            <a:avLst/>
          </a:prstGeom>
        </p:spPr>
      </p:pic>
      <p:sp>
        <p:nvSpPr>
          <p:cNvPr id="3" name="Rectangle 2"/>
          <p:cNvSpPr/>
          <p:nvPr/>
        </p:nvSpPr>
        <p:spPr>
          <a:xfrm>
            <a:off x="0" y="0"/>
            <a:ext cx="12191999" cy="109728"/>
          </a:xfrm>
          <a:prstGeom prst="rect">
            <a:avLst/>
          </a:prstGeom>
          <a:solidFill>
            <a:srgbClr val="082B6D"/>
          </a:solidFill>
          <a:ln w="12700">
            <a:solidFill>
              <a:srgbClr val="082B6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9728"/>
            <a:ext cx="12191999" cy="32004"/>
          </a:xfrm>
          <a:prstGeom prst="rect">
            <a:avLst/>
          </a:prstGeom>
          <a:solidFill>
            <a:srgbClr val="1E83E6"/>
          </a:solidFill>
          <a:ln w="12700">
            <a:solidFill>
              <a:srgbClr val="1E83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475488" y="283464"/>
            <a:ext cx="676656" cy="237744"/>
          </a:xfrm>
          <a:prstGeom prst="roundRect">
            <a:avLst/>
          </a:prstGeom>
          <a:solidFill>
            <a:srgbClr val="E7F1FF"/>
          </a:solidFill>
          <a:ln w="11430">
            <a:solidFill>
              <a:srgbClr val="C8DBEF"/>
            </a:solidFill>
          </a:ln>
        </p:spPr>
        <p:style>
          <a:lnRef idx="1">
            <a:schemeClr val="accent1"/>
          </a:lnRef>
          <a:fillRef idx="3">
            <a:schemeClr val="accent1"/>
          </a:fillRef>
          <a:effectRef idx="2">
            <a:schemeClr val="accent1"/>
          </a:effectRef>
          <a:fontRef idx="minor">
            <a:schemeClr val="lt1"/>
          </a:fontRef>
        </p:style>
        <p:txBody>
          <a:bodyPr rtlCol="0" anchor="ctr" lIns="36576" rIns="36576" tIns="18288" bIns="18288"/>
          <a:lstStyle/>
          <a:p>
            <a:pPr algn="ctr"/>
            <a:r>
              <a:rPr sz="1200" b="1">
                <a:solidFill>
                  <a:srgbClr val="0B63CE"/>
                </a:solidFill>
                <a:latin typeface="Microsoft YaHei"/>
              </a:rPr>
              <a:t>12</a:t>
            </a:r>
          </a:p>
        </p:txBody>
      </p:sp>
      <p:sp>
        <p:nvSpPr>
          <p:cNvPr id="6" name="Rectangle 5"/>
          <p:cNvSpPr/>
          <p:nvPr/>
        </p:nvSpPr>
        <p:spPr>
          <a:xfrm>
            <a:off x="1298448" y="237744"/>
            <a:ext cx="8412480" cy="38404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2200" b="1">
                <a:solidFill>
                  <a:srgbClr val="102033"/>
                </a:solidFill>
                <a:latin typeface="Microsoft YaHei"/>
              </a:rPr>
              <a:t>Stage C 技术剖面：能力地址到执行实例的硬过滤与可解释排序</a:t>
            </a:r>
          </a:p>
        </p:txBody>
      </p:sp>
      <p:sp>
        <p:nvSpPr>
          <p:cNvPr id="7" name="Rectangle 6"/>
          <p:cNvSpPr/>
          <p:nvPr/>
        </p:nvSpPr>
        <p:spPr>
          <a:xfrm>
            <a:off x="1298448" y="621792"/>
            <a:ext cx="8595360" cy="237744"/>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080" b="0">
                <a:solidFill>
                  <a:srgbClr val="53657A"/>
                </a:solidFill>
                <a:latin typeface="Microsoft YaHei"/>
              </a:rPr>
              <a:t>技术难点在于路由结果不能停在能力标签，还要安全落到具体 agent endpoint，且执行层不能改写路由。</a:t>
            </a:r>
          </a:p>
        </p:txBody>
      </p:sp>
      <p:sp>
        <p:nvSpPr>
          <p:cNvPr id="8" name="Rectangle 7"/>
          <p:cNvSpPr/>
          <p:nvPr/>
        </p:nvSpPr>
        <p:spPr>
          <a:xfrm>
            <a:off x="10698480" y="256032"/>
            <a:ext cx="1005840" cy="25603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r"/>
            <a:r>
              <a:rPr sz="2100" b="1">
                <a:solidFill>
                  <a:srgbClr val="0B63CE"/>
                </a:solidFill>
                <a:latin typeface="Arial"/>
              </a:rPr>
              <a:t>CNNIC</a:t>
            </a:r>
          </a:p>
        </p:txBody>
      </p:sp>
      <p:sp>
        <p:nvSpPr>
          <p:cNvPr id="9" name="Rectangle 8"/>
          <p:cNvSpPr/>
          <p:nvPr/>
        </p:nvSpPr>
        <p:spPr>
          <a:xfrm>
            <a:off x="10012680" y="530352"/>
            <a:ext cx="1691640"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r"/>
            <a:r>
              <a:rPr sz="850" b="0">
                <a:solidFill>
                  <a:srgbClr val="53657A"/>
                </a:solidFill>
                <a:latin typeface="Microsoft YaHei"/>
              </a:rPr>
              <a:t>中国互联网络信息中心</a:t>
            </a:r>
          </a:p>
        </p:txBody>
      </p:sp>
      <p:sp>
        <p:nvSpPr>
          <p:cNvPr id="10" name="Rounded Rectangle 9"/>
          <p:cNvSpPr/>
          <p:nvPr/>
        </p:nvSpPr>
        <p:spPr>
          <a:xfrm>
            <a:off x="694944" y="1170432"/>
            <a:ext cx="3337560" cy="3749039"/>
          </a:xfrm>
          <a:prstGeom prst="roundRect">
            <a:avLst/>
          </a:prstGeom>
          <a:solidFill>
            <a:srgbClr val="071A46"/>
          </a:solidFill>
          <a:ln w="12700">
            <a:solidFill>
              <a:srgbClr val="1E83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969264" y="1444752"/>
            <a:ext cx="1371600" cy="219456"/>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600" b="1">
                <a:solidFill>
                  <a:srgbClr val="FFFFFF"/>
                </a:solidFill>
                <a:latin typeface="Microsoft YaHei"/>
              </a:rPr>
              <a:t>硬过滤条件</a:t>
            </a:r>
          </a:p>
        </p:txBody>
      </p:sp>
      <p:sp>
        <p:nvSpPr>
          <p:cNvPr id="12" name="Oval 11"/>
          <p:cNvSpPr/>
          <p:nvPr/>
        </p:nvSpPr>
        <p:spPr>
          <a:xfrm>
            <a:off x="987552" y="1929384"/>
            <a:ext cx="68580" cy="68580"/>
          </a:xfrm>
          <a:prstGeom prst="ellipse">
            <a:avLst/>
          </a:prstGeom>
          <a:solidFill>
            <a:srgbClr val="26B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1152144" y="1874519"/>
            <a:ext cx="2514600" cy="219456"/>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950" b="0">
                <a:solidFill>
                  <a:srgbClr val="D2E6FF"/>
                </a:solidFill>
                <a:latin typeface="Microsoft YaHei"/>
              </a:rPr>
              <a:t>routing_fqdn exact match</a:t>
            </a:r>
          </a:p>
        </p:txBody>
      </p:sp>
      <p:sp>
        <p:nvSpPr>
          <p:cNvPr id="14" name="Oval 13"/>
          <p:cNvSpPr/>
          <p:nvPr/>
        </p:nvSpPr>
        <p:spPr>
          <a:xfrm>
            <a:off x="987552" y="2350008"/>
            <a:ext cx="68580" cy="68580"/>
          </a:xfrm>
          <a:prstGeom prst="ellipse">
            <a:avLst/>
          </a:prstGeom>
          <a:solidFill>
            <a:srgbClr val="26B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1152144" y="2295144"/>
            <a:ext cx="2514600" cy="219456"/>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950" b="0">
                <a:solidFill>
                  <a:srgbClr val="D2E6FF"/>
                </a:solidFill>
                <a:latin typeface="Microsoft YaHei"/>
              </a:rPr>
              <a:t>endpoint exists</a:t>
            </a:r>
          </a:p>
        </p:txBody>
      </p:sp>
      <p:sp>
        <p:nvSpPr>
          <p:cNvPr id="16" name="Oval 15"/>
          <p:cNvSpPr/>
          <p:nvPr/>
        </p:nvSpPr>
        <p:spPr>
          <a:xfrm>
            <a:off x="987552" y="2770632"/>
            <a:ext cx="68580" cy="68580"/>
          </a:xfrm>
          <a:prstGeom prst="ellipse">
            <a:avLst/>
          </a:prstGeom>
          <a:solidFill>
            <a:srgbClr val="26B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1152144" y="2715768"/>
            <a:ext cx="2514600" cy="219456"/>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950" b="0">
                <a:solidFill>
                  <a:srgbClr val="D2E6FF"/>
                </a:solidFill>
                <a:latin typeface="Microsoft YaHei"/>
              </a:rPr>
              <a:t>status in online/ready/available</a:t>
            </a:r>
          </a:p>
        </p:txBody>
      </p:sp>
      <p:sp>
        <p:nvSpPr>
          <p:cNvPr id="18" name="Oval 17"/>
          <p:cNvSpPr/>
          <p:nvPr/>
        </p:nvSpPr>
        <p:spPr>
          <a:xfrm>
            <a:off x="987552" y="3191256"/>
            <a:ext cx="68580" cy="68580"/>
          </a:xfrm>
          <a:prstGeom prst="ellipse">
            <a:avLst/>
          </a:prstGeom>
          <a:solidFill>
            <a:srgbClr val="26B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1152144" y="3136391"/>
            <a:ext cx="2514600" cy="219456"/>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950" b="0">
                <a:solidFill>
                  <a:srgbClr val="D2E6FF"/>
                </a:solidFill>
                <a:latin typeface="Microsoft YaHei"/>
              </a:rPr>
              <a:t>input/output schema covered</a:t>
            </a:r>
          </a:p>
        </p:txBody>
      </p:sp>
      <p:sp>
        <p:nvSpPr>
          <p:cNvPr id="20" name="Rectangle 19"/>
          <p:cNvSpPr/>
          <p:nvPr/>
        </p:nvSpPr>
        <p:spPr>
          <a:xfrm>
            <a:off x="987552" y="3913632"/>
            <a:ext cx="2514600" cy="310896"/>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950" b="0">
                <a:solidFill>
                  <a:srgbClr val="D2E6FF"/>
                </a:solidFill>
                <a:latin typeface="Microsoft YaHei"/>
              </a:rPr>
              <a:t>被过滤对象写入 filtered_out_reasons，避免执行层悄悄兜底。</a:t>
            </a:r>
          </a:p>
        </p:txBody>
      </p:sp>
      <p:sp>
        <p:nvSpPr>
          <p:cNvPr id="21" name="Rounded Rectangle 20"/>
          <p:cNvSpPr/>
          <p:nvPr/>
        </p:nvSpPr>
        <p:spPr>
          <a:xfrm>
            <a:off x="4370832" y="1170432"/>
            <a:ext cx="3154680" cy="3749039"/>
          </a:xfrm>
          <a:prstGeom prst="roundRect">
            <a:avLst/>
          </a:prstGeom>
          <a:solidFill>
            <a:srgbClr val="FFFFFF"/>
          </a:solidFill>
          <a:ln w="12700">
            <a:solidFill>
              <a:srgbClr val="6B49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4645152" y="1444752"/>
            <a:ext cx="1234440" cy="219456"/>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600" b="1">
                <a:solidFill>
                  <a:srgbClr val="6B49C8"/>
                </a:solidFill>
                <a:latin typeface="Microsoft YaHei"/>
              </a:rPr>
              <a:t>排序评分</a:t>
            </a:r>
          </a:p>
        </p:txBody>
      </p:sp>
      <p:sp>
        <p:nvSpPr>
          <p:cNvPr id="23" name="Rectangle 22"/>
          <p:cNvSpPr/>
          <p:nvPr/>
        </p:nvSpPr>
        <p:spPr>
          <a:xfrm>
            <a:off x="4645152" y="1847088"/>
            <a:ext cx="2514600" cy="141732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150" b="0">
                <a:solidFill>
                  <a:srgbClr val="102033"/>
                </a:solidFill>
                <a:latin typeface="Menlo"/>
              </a:rPr>
              <a:t>base = 0.55*S_match
     + 0.25*S_schema
     + 0.20*S_tag
final = base * health
      * fair_agent
      * fair_provider</a:t>
            </a:r>
          </a:p>
        </p:txBody>
      </p:sp>
      <p:sp>
        <p:nvSpPr>
          <p:cNvPr id="24" name="Rectangle 23"/>
          <p:cNvSpPr/>
          <p:nvPr/>
        </p:nvSpPr>
        <p:spPr>
          <a:xfrm>
            <a:off x="4645152" y="3730752"/>
            <a:ext cx="2331720" cy="38404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919" b="0">
                <a:solidFill>
                  <a:srgbClr val="53657A"/>
                </a:solidFill>
                <a:latin typeface="Microsoft YaHei"/>
              </a:rPr>
              <a:t>health 按 heartbeat 半衰期衰减；fairness 抑制单 agent / provider 过度曝光。</a:t>
            </a:r>
          </a:p>
        </p:txBody>
      </p:sp>
      <p:sp>
        <p:nvSpPr>
          <p:cNvPr id="25" name="Rounded Rectangle 24"/>
          <p:cNvSpPr/>
          <p:nvPr/>
        </p:nvSpPr>
        <p:spPr>
          <a:xfrm>
            <a:off x="8028431" y="1170432"/>
            <a:ext cx="2971800" cy="3749039"/>
          </a:xfrm>
          <a:prstGeom prst="roundRect">
            <a:avLst/>
          </a:prstGeom>
          <a:solidFill>
            <a:srgbClr val="FFFFFF"/>
          </a:solidFill>
          <a:ln w="12700">
            <a:solidFill>
              <a:srgbClr val="0E8A5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302752" y="1444752"/>
            <a:ext cx="1600200" cy="219456"/>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600" b="1">
                <a:solidFill>
                  <a:srgbClr val="0E8A57"/>
                </a:solidFill>
                <a:latin typeface="Arial"/>
              </a:rPr>
              <a:t>selection_trace</a:t>
            </a:r>
          </a:p>
        </p:txBody>
      </p:sp>
      <p:sp>
        <p:nvSpPr>
          <p:cNvPr id="27" name="Rectangle 26"/>
          <p:cNvSpPr/>
          <p:nvPr/>
        </p:nvSpPr>
        <p:spPr>
          <a:xfrm>
            <a:off x="8302752" y="1847088"/>
            <a:ext cx="2057400" cy="15544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880" b="0">
                <a:solidFill>
                  <a:srgbClr val="102033"/>
                </a:solidFill>
                <a:latin typeface="Arial"/>
              </a:rPr>
              <a:t>candidate_count_before_filter</a:t>
            </a:r>
          </a:p>
        </p:txBody>
      </p:sp>
      <p:sp>
        <p:nvSpPr>
          <p:cNvPr id="28" name="Rectangle 27"/>
          <p:cNvSpPr/>
          <p:nvPr/>
        </p:nvSpPr>
        <p:spPr>
          <a:xfrm>
            <a:off x="8302752" y="2157984"/>
            <a:ext cx="2057400" cy="15544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880" b="0">
                <a:solidFill>
                  <a:srgbClr val="102033"/>
                </a:solidFill>
                <a:latin typeface="Arial"/>
              </a:rPr>
              <a:t>candidate_count_after_filter</a:t>
            </a:r>
          </a:p>
        </p:txBody>
      </p:sp>
      <p:sp>
        <p:nvSpPr>
          <p:cNvPr id="29" name="Rectangle 28"/>
          <p:cNvSpPr/>
          <p:nvPr/>
        </p:nvSpPr>
        <p:spPr>
          <a:xfrm>
            <a:off x="8302752" y="2468880"/>
            <a:ext cx="2057400" cy="15544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880" b="0">
                <a:solidFill>
                  <a:srgbClr val="102033"/>
                </a:solidFill>
                <a:latin typeface="Arial"/>
              </a:rPr>
              <a:t>filtered_out_reasons</a:t>
            </a:r>
          </a:p>
        </p:txBody>
      </p:sp>
      <p:sp>
        <p:nvSpPr>
          <p:cNvPr id="30" name="Rectangle 29"/>
          <p:cNvSpPr/>
          <p:nvPr/>
        </p:nvSpPr>
        <p:spPr>
          <a:xfrm>
            <a:off x="8302752" y="2779776"/>
            <a:ext cx="2057400" cy="15544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880" b="0">
                <a:solidFill>
                  <a:srgbClr val="102033"/>
                </a:solidFill>
                <a:latin typeface="Arial"/>
              </a:rPr>
              <a:t>chosen_agent_fqdn</a:t>
            </a:r>
          </a:p>
        </p:txBody>
      </p:sp>
      <p:sp>
        <p:nvSpPr>
          <p:cNvPr id="31" name="Rectangle 30"/>
          <p:cNvSpPr/>
          <p:nvPr/>
        </p:nvSpPr>
        <p:spPr>
          <a:xfrm>
            <a:off x="8302752" y="3090672"/>
            <a:ext cx="2057400" cy="15544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880" b="0">
                <a:solidFill>
                  <a:srgbClr val="102033"/>
                </a:solidFill>
                <a:latin typeface="Arial"/>
              </a:rPr>
              <a:t>selection_latency_ms</a:t>
            </a:r>
          </a:p>
        </p:txBody>
      </p:sp>
      <p:sp>
        <p:nvSpPr>
          <p:cNvPr id="32" name="Rectangle 31"/>
          <p:cNvSpPr/>
          <p:nvPr/>
        </p:nvSpPr>
        <p:spPr>
          <a:xfrm>
            <a:off x="8302752" y="3401568"/>
            <a:ext cx="2057400" cy="15544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880" b="0">
                <a:solidFill>
                  <a:srgbClr val="102033"/>
                </a:solidFill>
                <a:latin typeface="Arial"/>
              </a:rPr>
              <a:t>tie_break_applied</a:t>
            </a:r>
          </a:p>
        </p:txBody>
      </p:sp>
      <p:sp>
        <p:nvSpPr>
          <p:cNvPr id="33" name="Rectangle 32"/>
          <p:cNvSpPr/>
          <p:nvPr/>
        </p:nvSpPr>
        <p:spPr>
          <a:xfrm>
            <a:off x="8302752" y="3986784"/>
            <a:ext cx="2148840" cy="18288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019" b="1">
                <a:solidFill>
                  <a:srgbClr val="0E8A57"/>
                </a:solidFill>
                <a:latin typeface="Arial"/>
              </a:rPr>
              <a:t>输出：chosen_agent_fqdn -&gt; endpoint</a:t>
            </a:r>
          </a:p>
        </p:txBody>
      </p:sp>
      <p:sp>
        <p:nvSpPr>
          <p:cNvPr id="34" name="Rectangle 33"/>
          <p:cNvSpPr/>
          <p:nvPr/>
        </p:nvSpPr>
        <p:spPr>
          <a:xfrm>
            <a:off x="841248" y="5650992"/>
            <a:ext cx="8046720" cy="219456"/>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350" b="1">
                <a:solidFill>
                  <a:srgbClr val="102033"/>
                </a:solidFill>
                <a:latin typeface="Microsoft YaHei"/>
              </a:rPr>
              <a:t>技术价值：把“语义正确”推进到“可执行、可审计、可解释选择”。</a:t>
            </a:r>
          </a:p>
        </p:txBody>
      </p:sp>
      <p:sp>
        <p:nvSpPr>
          <p:cNvPr id="35" name="Rectangle 34"/>
          <p:cNvSpPr/>
          <p:nvPr/>
        </p:nvSpPr>
        <p:spPr>
          <a:xfrm>
            <a:off x="475488" y="6473952"/>
            <a:ext cx="8595360" cy="10160"/>
          </a:xfrm>
          <a:prstGeom prst="rect">
            <a:avLst/>
          </a:prstGeom>
          <a:solidFill>
            <a:srgbClr val="C8DB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475488" y="6537960"/>
            <a:ext cx="5486400"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750" b="0">
                <a:solidFill>
                  <a:srgbClr val="53657A"/>
                </a:solidFill>
                <a:latin typeface="Microsoft YaHei"/>
              </a:rPr>
              <a:t>面向互联网基础资源的大模型多智能体协作与可信认知标识技术研究</a:t>
            </a:r>
          </a:p>
        </p:txBody>
      </p:sp>
      <p:sp>
        <p:nvSpPr>
          <p:cNvPr id="37" name="Rectangle 36"/>
          <p:cNvSpPr/>
          <p:nvPr/>
        </p:nvSpPr>
        <p:spPr>
          <a:xfrm>
            <a:off x="11155680" y="6501384"/>
            <a:ext cx="384048"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r"/>
            <a:r>
              <a:rPr sz="800" b="0">
                <a:solidFill>
                  <a:srgbClr val="53657A"/>
                </a:solidFill>
                <a:latin typeface="Arial"/>
              </a:rP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light_texture.png"/>
          <p:cNvPicPr>
            <a:picLocks noChangeAspect="1"/>
          </p:cNvPicPr>
          <p:nvPr/>
        </p:nvPicPr>
        <p:blipFill>
          <a:blip r:embed="rId2"/>
          <a:stretch>
            <a:fillRect/>
          </a:stretch>
        </p:blipFill>
        <p:spPr>
          <a:xfrm>
            <a:off x="0" y="0"/>
            <a:ext cx="12191999" cy="6858000"/>
          </a:xfrm>
          <a:prstGeom prst="rect">
            <a:avLst/>
          </a:prstGeom>
        </p:spPr>
      </p:pic>
      <p:sp>
        <p:nvSpPr>
          <p:cNvPr id="3" name="Rectangle 2"/>
          <p:cNvSpPr/>
          <p:nvPr/>
        </p:nvSpPr>
        <p:spPr>
          <a:xfrm>
            <a:off x="0" y="0"/>
            <a:ext cx="12191999" cy="109728"/>
          </a:xfrm>
          <a:prstGeom prst="rect">
            <a:avLst/>
          </a:prstGeom>
          <a:solidFill>
            <a:srgbClr val="082B6D"/>
          </a:solidFill>
          <a:ln w="12700">
            <a:solidFill>
              <a:srgbClr val="082B6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9728"/>
            <a:ext cx="12191999" cy="32004"/>
          </a:xfrm>
          <a:prstGeom prst="rect">
            <a:avLst/>
          </a:prstGeom>
          <a:solidFill>
            <a:srgbClr val="1E83E6"/>
          </a:solidFill>
          <a:ln w="12700">
            <a:solidFill>
              <a:srgbClr val="1E83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475488" y="283464"/>
            <a:ext cx="676656" cy="237744"/>
          </a:xfrm>
          <a:prstGeom prst="roundRect">
            <a:avLst/>
          </a:prstGeom>
          <a:solidFill>
            <a:srgbClr val="E7F1FF"/>
          </a:solidFill>
          <a:ln w="11430">
            <a:solidFill>
              <a:srgbClr val="C8DBEF"/>
            </a:solidFill>
          </a:ln>
        </p:spPr>
        <p:style>
          <a:lnRef idx="1">
            <a:schemeClr val="accent1"/>
          </a:lnRef>
          <a:fillRef idx="3">
            <a:schemeClr val="accent1"/>
          </a:fillRef>
          <a:effectRef idx="2">
            <a:schemeClr val="accent1"/>
          </a:effectRef>
          <a:fontRef idx="minor">
            <a:schemeClr val="lt1"/>
          </a:fontRef>
        </p:style>
        <p:txBody>
          <a:bodyPr rtlCol="0" anchor="ctr" lIns="36576" rIns="36576" tIns="18288" bIns="18288"/>
          <a:lstStyle/>
          <a:p>
            <a:pPr algn="ctr"/>
            <a:r>
              <a:rPr sz="1200" b="1">
                <a:solidFill>
                  <a:srgbClr val="0B63CE"/>
                </a:solidFill>
                <a:latin typeface="Microsoft YaHei"/>
              </a:rPr>
              <a:t>13</a:t>
            </a:r>
          </a:p>
        </p:txBody>
      </p:sp>
      <p:sp>
        <p:nvSpPr>
          <p:cNvPr id="6" name="Rectangle 5"/>
          <p:cNvSpPr/>
          <p:nvPr/>
        </p:nvSpPr>
        <p:spPr>
          <a:xfrm>
            <a:off x="1298448" y="237744"/>
            <a:ext cx="8412480" cy="38404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2200" b="1">
                <a:solidFill>
                  <a:srgbClr val="102033"/>
                </a:solidFill>
                <a:latin typeface="Microsoft YaHei"/>
              </a:rPr>
              <a:t>数据资产：563 条冻结样本覆盖 9 类领域与复杂语义场景</a:t>
            </a:r>
          </a:p>
        </p:txBody>
      </p:sp>
      <p:sp>
        <p:nvSpPr>
          <p:cNvPr id="7" name="Rectangle 6"/>
          <p:cNvSpPr/>
          <p:nvPr/>
        </p:nvSpPr>
        <p:spPr>
          <a:xfrm>
            <a:off x="1298448" y="621792"/>
            <a:ext cx="8595360" cy="237744"/>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080" b="0">
                <a:solidFill>
                  <a:srgbClr val="53657A"/>
                </a:solidFill>
                <a:latin typeface="Microsoft YaHei"/>
              </a:rPr>
              <a:t>主口径采用统一 train/test，历史 split 作为诊断材料。</a:t>
            </a:r>
          </a:p>
        </p:txBody>
      </p:sp>
      <p:sp>
        <p:nvSpPr>
          <p:cNvPr id="8" name="Rectangle 7"/>
          <p:cNvSpPr/>
          <p:nvPr/>
        </p:nvSpPr>
        <p:spPr>
          <a:xfrm>
            <a:off x="10698480" y="256032"/>
            <a:ext cx="1005840" cy="25603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r"/>
            <a:r>
              <a:rPr sz="2100" b="1">
                <a:solidFill>
                  <a:srgbClr val="0B63CE"/>
                </a:solidFill>
                <a:latin typeface="Arial"/>
              </a:rPr>
              <a:t>CNNIC</a:t>
            </a:r>
          </a:p>
        </p:txBody>
      </p:sp>
      <p:sp>
        <p:nvSpPr>
          <p:cNvPr id="9" name="Rectangle 8"/>
          <p:cNvSpPr/>
          <p:nvPr/>
        </p:nvSpPr>
        <p:spPr>
          <a:xfrm>
            <a:off x="10012680" y="530352"/>
            <a:ext cx="1691640"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r"/>
            <a:r>
              <a:rPr sz="850" b="0">
                <a:solidFill>
                  <a:srgbClr val="53657A"/>
                </a:solidFill>
                <a:latin typeface="Microsoft YaHei"/>
              </a:rPr>
              <a:t>中国互联网络信息中心</a:t>
            </a:r>
          </a:p>
        </p:txBody>
      </p:sp>
      <p:sp>
        <p:nvSpPr>
          <p:cNvPr id="10" name="Rectangle 9"/>
          <p:cNvSpPr/>
          <p:nvPr/>
        </p:nvSpPr>
        <p:spPr>
          <a:xfrm>
            <a:off x="713232" y="1389888"/>
            <a:ext cx="914400" cy="34747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2700" b="1">
                <a:solidFill>
                  <a:srgbClr val="0B63CE"/>
                </a:solidFill>
                <a:latin typeface="Arial"/>
              </a:rPr>
              <a:t>563</a:t>
            </a:r>
          </a:p>
        </p:txBody>
      </p:sp>
      <p:sp>
        <p:nvSpPr>
          <p:cNvPr id="11" name="Rectangle 10"/>
          <p:cNvSpPr/>
          <p:nvPr/>
        </p:nvSpPr>
        <p:spPr>
          <a:xfrm>
            <a:off x="740664" y="1847088"/>
            <a:ext cx="1005840"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000" b="1">
                <a:solidFill>
                  <a:srgbClr val="102033"/>
                </a:solidFill>
                <a:latin typeface="Microsoft YaHei"/>
              </a:rPr>
              <a:t>总样本</a:t>
            </a:r>
          </a:p>
        </p:txBody>
      </p:sp>
      <p:sp>
        <p:nvSpPr>
          <p:cNvPr id="12" name="Rectangle 11"/>
          <p:cNvSpPr/>
          <p:nvPr/>
        </p:nvSpPr>
        <p:spPr>
          <a:xfrm>
            <a:off x="2084832" y="1389888"/>
            <a:ext cx="914400" cy="34747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2700" b="1">
                <a:solidFill>
                  <a:srgbClr val="0E8A57"/>
                </a:solidFill>
                <a:latin typeface="Arial"/>
              </a:rPr>
              <a:t>450</a:t>
            </a:r>
          </a:p>
        </p:txBody>
      </p:sp>
      <p:sp>
        <p:nvSpPr>
          <p:cNvPr id="13" name="Rectangle 12"/>
          <p:cNvSpPr/>
          <p:nvPr/>
        </p:nvSpPr>
        <p:spPr>
          <a:xfrm>
            <a:off x="2112264" y="1847088"/>
            <a:ext cx="1005840"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000" b="1">
                <a:solidFill>
                  <a:srgbClr val="102033"/>
                </a:solidFill>
                <a:latin typeface="Microsoft YaHei"/>
              </a:rPr>
              <a:t>train</a:t>
            </a:r>
          </a:p>
        </p:txBody>
      </p:sp>
      <p:sp>
        <p:nvSpPr>
          <p:cNvPr id="14" name="Rectangle 13"/>
          <p:cNvSpPr/>
          <p:nvPr/>
        </p:nvSpPr>
        <p:spPr>
          <a:xfrm>
            <a:off x="3456432" y="1389888"/>
            <a:ext cx="914400" cy="34747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2700" b="1">
                <a:solidFill>
                  <a:srgbClr val="E97132"/>
                </a:solidFill>
                <a:latin typeface="Arial"/>
              </a:rPr>
              <a:t>113</a:t>
            </a:r>
          </a:p>
        </p:txBody>
      </p:sp>
      <p:sp>
        <p:nvSpPr>
          <p:cNvPr id="15" name="Rectangle 14"/>
          <p:cNvSpPr/>
          <p:nvPr/>
        </p:nvSpPr>
        <p:spPr>
          <a:xfrm>
            <a:off x="3483864" y="1847088"/>
            <a:ext cx="1005840"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000" b="1">
                <a:solidFill>
                  <a:srgbClr val="102033"/>
                </a:solidFill>
                <a:latin typeface="Microsoft YaHei"/>
              </a:rPr>
              <a:t>test</a:t>
            </a:r>
          </a:p>
        </p:txBody>
      </p:sp>
      <p:sp>
        <p:nvSpPr>
          <p:cNvPr id="16" name="Rectangle 15"/>
          <p:cNvSpPr/>
          <p:nvPr/>
        </p:nvSpPr>
        <p:spPr>
          <a:xfrm>
            <a:off x="4828032" y="1389888"/>
            <a:ext cx="914400" cy="34747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2700" b="1">
                <a:solidFill>
                  <a:srgbClr val="6B49C8"/>
                </a:solidFill>
                <a:latin typeface="Arial"/>
              </a:rPr>
              <a:t>9</a:t>
            </a:r>
          </a:p>
        </p:txBody>
      </p:sp>
      <p:sp>
        <p:nvSpPr>
          <p:cNvPr id="17" name="Rectangle 16"/>
          <p:cNvSpPr/>
          <p:nvPr/>
        </p:nvSpPr>
        <p:spPr>
          <a:xfrm>
            <a:off x="4855464" y="1847088"/>
            <a:ext cx="1005840"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000" b="1">
                <a:solidFill>
                  <a:srgbClr val="102033"/>
                </a:solidFill>
                <a:latin typeface="Microsoft YaHei"/>
              </a:rPr>
              <a:t>领域</a:t>
            </a:r>
          </a:p>
        </p:txBody>
      </p:sp>
      <p:sp>
        <p:nvSpPr>
          <p:cNvPr id="18" name="Rectangle 17"/>
          <p:cNvSpPr/>
          <p:nvPr/>
        </p:nvSpPr>
        <p:spPr>
          <a:xfrm>
            <a:off x="6199632" y="1389888"/>
            <a:ext cx="914400" cy="34747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2700" b="1">
                <a:solidFill>
                  <a:srgbClr val="B93232"/>
                </a:solidFill>
                <a:latin typeface="Arial"/>
              </a:rPr>
              <a:t>25</a:t>
            </a:r>
          </a:p>
        </p:txBody>
      </p:sp>
      <p:sp>
        <p:nvSpPr>
          <p:cNvPr id="19" name="Rectangle 18"/>
          <p:cNvSpPr/>
          <p:nvPr/>
        </p:nvSpPr>
        <p:spPr>
          <a:xfrm>
            <a:off x="6227064" y="1847088"/>
            <a:ext cx="1005840"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000" b="1">
                <a:solidFill>
                  <a:srgbClr val="102033"/>
                </a:solidFill>
                <a:latin typeface="Microsoft YaHei"/>
              </a:rPr>
              <a:t>能力基座</a:t>
            </a:r>
          </a:p>
        </p:txBody>
      </p:sp>
      <p:sp>
        <p:nvSpPr>
          <p:cNvPr id="20" name="Rounded Rectangle 19"/>
          <p:cNvSpPr/>
          <p:nvPr/>
        </p:nvSpPr>
        <p:spPr>
          <a:xfrm>
            <a:off x="786384" y="2514600"/>
            <a:ext cx="5486400" cy="2514600"/>
          </a:xfrm>
          <a:prstGeom prst="roundRect">
            <a:avLst/>
          </a:prstGeom>
          <a:solidFill>
            <a:srgbClr val="FFFFFF"/>
          </a:solidFill>
          <a:ln w="12700">
            <a:solidFill>
              <a:srgbClr val="C8DB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1051560" y="2788920"/>
            <a:ext cx="1645920" cy="20116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500" b="1">
                <a:solidFill>
                  <a:srgbClr val="0B63CE"/>
                </a:solidFill>
                <a:latin typeface="Microsoft YaHei"/>
              </a:rPr>
              <a:t>测试集领域分布</a:t>
            </a:r>
          </a:p>
        </p:txBody>
      </p:sp>
      <p:sp>
        <p:nvSpPr>
          <p:cNvPr id="22" name="Rectangle 21"/>
          <p:cNvSpPr/>
          <p:nvPr/>
        </p:nvSpPr>
        <p:spPr>
          <a:xfrm>
            <a:off x="1051560" y="3154680"/>
            <a:ext cx="914400" cy="11887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780" b="0">
                <a:solidFill>
                  <a:srgbClr val="53657A"/>
                </a:solidFill>
                <a:latin typeface="Arial"/>
              </a:rPr>
              <a:t>finance</a:t>
            </a:r>
          </a:p>
        </p:txBody>
      </p:sp>
      <p:sp>
        <p:nvSpPr>
          <p:cNvPr id="23" name="Rectangle 22"/>
          <p:cNvSpPr/>
          <p:nvPr/>
        </p:nvSpPr>
        <p:spPr>
          <a:xfrm>
            <a:off x="1901952" y="3182112"/>
            <a:ext cx="3017520" cy="73152"/>
          </a:xfrm>
          <a:prstGeom prst="rect">
            <a:avLst/>
          </a:prstGeom>
          <a:solidFill>
            <a:srgbClr val="1E83E6"/>
          </a:solidFill>
          <a:ln w="12700">
            <a:solidFill>
              <a:srgbClr val="1E83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074920" y="3136392"/>
            <a:ext cx="256032" cy="10972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750" b="0">
                <a:solidFill>
                  <a:srgbClr val="53657A"/>
                </a:solidFill>
                <a:latin typeface="Arial"/>
              </a:rPr>
              <a:t>28</a:t>
            </a:r>
          </a:p>
        </p:txBody>
      </p:sp>
      <p:sp>
        <p:nvSpPr>
          <p:cNvPr id="25" name="Rectangle 24"/>
          <p:cNvSpPr/>
          <p:nvPr/>
        </p:nvSpPr>
        <p:spPr>
          <a:xfrm>
            <a:off x="1051560" y="3337560"/>
            <a:ext cx="914400" cy="11887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780" b="0">
                <a:solidFill>
                  <a:srgbClr val="53657A"/>
                </a:solidFill>
                <a:latin typeface="Arial"/>
              </a:rPr>
              <a:t>travel</a:t>
            </a:r>
          </a:p>
        </p:txBody>
      </p:sp>
      <p:sp>
        <p:nvSpPr>
          <p:cNvPr id="26" name="Rectangle 25"/>
          <p:cNvSpPr/>
          <p:nvPr/>
        </p:nvSpPr>
        <p:spPr>
          <a:xfrm>
            <a:off x="1901952" y="3364992"/>
            <a:ext cx="2586445" cy="73152"/>
          </a:xfrm>
          <a:prstGeom prst="rect">
            <a:avLst/>
          </a:prstGeom>
          <a:solidFill>
            <a:srgbClr val="1E83E6"/>
          </a:solidFill>
          <a:ln w="12700">
            <a:solidFill>
              <a:srgbClr val="1E83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5074920" y="3319272"/>
            <a:ext cx="256032" cy="10972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750" b="0">
                <a:solidFill>
                  <a:srgbClr val="53657A"/>
                </a:solidFill>
                <a:latin typeface="Arial"/>
              </a:rPr>
              <a:t>24</a:t>
            </a:r>
          </a:p>
        </p:txBody>
      </p:sp>
      <p:sp>
        <p:nvSpPr>
          <p:cNvPr id="28" name="Rectangle 27"/>
          <p:cNvSpPr/>
          <p:nvPr/>
        </p:nvSpPr>
        <p:spPr>
          <a:xfrm>
            <a:off x="1051560" y="3520440"/>
            <a:ext cx="914400" cy="11887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780" b="0">
                <a:solidFill>
                  <a:srgbClr val="53657A"/>
                </a:solidFill>
                <a:latin typeface="Arial"/>
              </a:rPr>
              <a:t>security</a:t>
            </a:r>
          </a:p>
        </p:txBody>
      </p:sp>
      <p:sp>
        <p:nvSpPr>
          <p:cNvPr id="29" name="Rectangle 28"/>
          <p:cNvSpPr/>
          <p:nvPr/>
        </p:nvSpPr>
        <p:spPr>
          <a:xfrm>
            <a:off x="1901952" y="3547872"/>
            <a:ext cx="1724297" cy="73152"/>
          </a:xfrm>
          <a:prstGeom prst="rect">
            <a:avLst/>
          </a:prstGeom>
          <a:solidFill>
            <a:srgbClr val="1E83E6"/>
          </a:solidFill>
          <a:ln w="12700">
            <a:solidFill>
              <a:srgbClr val="1E83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074920" y="3502152"/>
            <a:ext cx="256032" cy="10972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750" b="0">
                <a:solidFill>
                  <a:srgbClr val="53657A"/>
                </a:solidFill>
                <a:latin typeface="Arial"/>
              </a:rPr>
              <a:t>16</a:t>
            </a:r>
          </a:p>
        </p:txBody>
      </p:sp>
      <p:sp>
        <p:nvSpPr>
          <p:cNvPr id="31" name="Rectangle 30"/>
          <p:cNvSpPr/>
          <p:nvPr/>
        </p:nvSpPr>
        <p:spPr>
          <a:xfrm>
            <a:off x="1051560" y="3703320"/>
            <a:ext cx="914400" cy="11887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780" b="0">
                <a:solidFill>
                  <a:srgbClr val="53657A"/>
                </a:solidFill>
                <a:latin typeface="Arial"/>
              </a:rPr>
              <a:t>productivity</a:t>
            </a:r>
          </a:p>
        </p:txBody>
      </p:sp>
      <p:sp>
        <p:nvSpPr>
          <p:cNvPr id="32" name="Rectangle 31"/>
          <p:cNvSpPr/>
          <p:nvPr/>
        </p:nvSpPr>
        <p:spPr>
          <a:xfrm>
            <a:off x="1901952" y="3730752"/>
            <a:ext cx="1508760" cy="73152"/>
          </a:xfrm>
          <a:prstGeom prst="rect">
            <a:avLst/>
          </a:prstGeom>
          <a:solidFill>
            <a:srgbClr val="1E83E6"/>
          </a:solidFill>
          <a:ln w="12700">
            <a:solidFill>
              <a:srgbClr val="1E83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5074920" y="3685032"/>
            <a:ext cx="256032" cy="10972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750" b="0">
                <a:solidFill>
                  <a:srgbClr val="53657A"/>
                </a:solidFill>
                <a:latin typeface="Arial"/>
              </a:rPr>
              <a:t>14</a:t>
            </a:r>
          </a:p>
        </p:txBody>
      </p:sp>
      <p:sp>
        <p:nvSpPr>
          <p:cNvPr id="34" name="Rectangle 33"/>
          <p:cNvSpPr/>
          <p:nvPr/>
        </p:nvSpPr>
        <p:spPr>
          <a:xfrm>
            <a:off x="1051560" y="3886200"/>
            <a:ext cx="914400" cy="11887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780" b="0">
                <a:solidFill>
                  <a:srgbClr val="53657A"/>
                </a:solidFill>
                <a:latin typeface="Arial"/>
              </a:rPr>
              <a:t>gov</a:t>
            </a:r>
          </a:p>
        </p:txBody>
      </p:sp>
      <p:sp>
        <p:nvSpPr>
          <p:cNvPr id="35" name="Rectangle 34"/>
          <p:cNvSpPr/>
          <p:nvPr/>
        </p:nvSpPr>
        <p:spPr>
          <a:xfrm>
            <a:off x="1901952" y="3913632"/>
            <a:ext cx="1185454" cy="73152"/>
          </a:xfrm>
          <a:prstGeom prst="rect">
            <a:avLst/>
          </a:prstGeom>
          <a:solidFill>
            <a:srgbClr val="1E83E6"/>
          </a:solidFill>
          <a:ln w="12700">
            <a:solidFill>
              <a:srgbClr val="1E83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5074920" y="3867912"/>
            <a:ext cx="256032" cy="10972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750" b="0">
                <a:solidFill>
                  <a:srgbClr val="53657A"/>
                </a:solidFill>
                <a:latin typeface="Arial"/>
              </a:rPr>
              <a:t>11</a:t>
            </a:r>
          </a:p>
        </p:txBody>
      </p:sp>
      <p:sp>
        <p:nvSpPr>
          <p:cNvPr id="37" name="Rectangle 36"/>
          <p:cNvSpPr/>
          <p:nvPr/>
        </p:nvSpPr>
        <p:spPr>
          <a:xfrm>
            <a:off x="1051560" y="4069080"/>
            <a:ext cx="914400" cy="11887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780" b="0">
                <a:solidFill>
                  <a:srgbClr val="53657A"/>
                </a:solidFill>
                <a:latin typeface="Arial"/>
              </a:rPr>
              <a:t>commerce</a:t>
            </a:r>
          </a:p>
        </p:txBody>
      </p:sp>
      <p:sp>
        <p:nvSpPr>
          <p:cNvPr id="38" name="Rectangle 37"/>
          <p:cNvSpPr/>
          <p:nvPr/>
        </p:nvSpPr>
        <p:spPr>
          <a:xfrm>
            <a:off x="1901952" y="4096512"/>
            <a:ext cx="754380" cy="73152"/>
          </a:xfrm>
          <a:prstGeom prst="rect">
            <a:avLst/>
          </a:prstGeom>
          <a:solidFill>
            <a:srgbClr val="1E83E6"/>
          </a:solidFill>
          <a:ln w="12700">
            <a:solidFill>
              <a:srgbClr val="1E83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5074920" y="4050792"/>
            <a:ext cx="256032" cy="10972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750" b="0">
                <a:solidFill>
                  <a:srgbClr val="53657A"/>
                </a:solidFill>
                <a:latin typeface="Arial"/>
              </a:rPr>
              <a:t>7</a:t>
            </a:r>
          </a:p>
        </p:txBody>
      </p:sp>
      <p:sp>
        <p:nvSpPr>
          <p:cNvPr id="40" name="Rectangle 39"/>
          <p:cNvSpPr/>
          <p:nvPr/>
        </p:nvSpPr>
        <p:spPr>
          <a:xfrm>
            <a:off x="1051560" y="4251960"/>
            <a:ext cx="914400" cy="11887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780" b="0">
                <a:solidFill>
                  <a:srgbClr val="53657A"/>
                </a:solidFill>
                <a:latin typeface="Arial"/>
              </a:rPr>
              <a:t>health</a:t>
            </a:r>
          </a:p>
        </p:txBody>
      </p:sp>
      <p:sp>
        <p:nvSpPr>
          <p:cNvPr id="41" name="Rectangle 40"/>
          <p:cNvSpPr/>
          <p:nvPr/>
        </p:nvSpPr>
        <p:spPr>
          <a:xfrm>
            <a:off x="1901952" y="4279392"/>
            <a:ext cx="538842" cy="73152"/>
          </a:xfrm>
          <a:prstGeom prst="rect">
            <a:avLst/>
          </a:prstGeom>
          <a:solidFill>
            <a:srgbClr val="1E83E6"/>
          </a:solidFill>
          <a:ln w="12700">
            <a:solidFill>
              <a:srgbClr val="1E83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5074920" y="4233672"/>
            <a:ext cx="256032" cy="10972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750" b="0">
                <a:solidFill>
                  <a:srgbClr val="53657A"/>
                </a:solidFill>
                <a:latin typeface="Arial"/>
              </a:rPr>
              <a:t>5</a:t>
            </a:r>
          </a:p>
        </p:txBody>
      </p:sp>
      <p:sp>
        <p:nvSpPr>
          <p:cNvPr id="43" name="Rectangle 42"/>
          <p:cNvSpPr/>
          <p:nvPr/>
        </p:nvSpPr>
        <p:spPr>
          <a:xfrm>
            <a:off x="1051560" y="4434840"/>
            <a:ext cx="914400" cy="11887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780" b="0">
                <a:solidFill>
                  <a:srgbClr val="53657A"/>
                </a:solidFill>
                <a:latin typeface="Arial"/>
              </a:rPr>
              <a:t>education</a:t>
            </a:r>
          </a:p>
        </p:txBody>
      </p:sp>
      <p:sp>
        <p:nvSpPr>
          <p:cNvPr id="44" name="Rectangle 43"/>
          <p:cNvSpPr/>
          <p:nvPr/>
        </p:nvSpPr>
        <p:spPr>
          <a:xfrm>
            <a:off x="1901952" y="4462272"/>
            <a:ext cx="538842" cy="73152"/>
          </a:xfrm>
          <a:prstGeom prst="rect">
            <a:avLst/>
          </a:prstGeom>
          <a:solidFill>
            <a:srgbClr val="1E83E6"/>
          </a:solidFill>
          <a:ln w="12700">
            <a:solidFill>
              <a:srgbClr val="1E83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5074920" y="4416552"/>
            <a:ext cx="256032" cy="10972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750" b="0">
                <a:solidFill>
                  <a:srgbClr val="53657A"/>
                </a:solidFill>
                <a:latin typeface="Arial"/>
              </a:rPr>
              <a:t>5</a:t>
            </a:r>
          </a:p>
        </p:txBody>
      </p:sp>
      <p:sp>
        <p:nvSpPr>
          <p:cNvPr id="46" name="Rectangle 45"/>
          <p:cNvSpPr/>
          <p:nvPr/>
        </p:nvSpPr>
        <p:spPr>
          <a:xfrm>
            <a:off x="1051560" y="4617720"/>
            <a:ext cx="914400" cy="11887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780" b="0">
                <a:solidFill>
                  <a:srgbClr val="53657A"/>
                </a:solidFill>
                <a:latin typeface="Arial"/>
              </a:rPr>
              <a:t>weather</a:t>
            </a:r>
          </a:p>
        </p:txBody>
      </p:sp>
      <p:sp>
        <p:nvSpPr>
          <p:cNvPr id="47" name="Rectangle 46"/>
          <p:cNvSpPr/>
          <p:nvPr/>
        </p:nvSpPr>
        <p:spPr>
          <a:xfrm>
            <a:off x="1901952" y="4645152"/>
            <a:ext cx="323305" cy="73152"/>
          </a:xfrm>
          <a:prstGeom prst="rect">
            <a:avLst/>
          </a:prstGeom>
          <a:solidFill>
            <a:srgbClr val="1E83E6"/>
          </a:solidFill>
          <a:ln w="12700">
            <a:solidFill>
              <a:srgbClr val="1E83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5074920" y="4599432"/>
            <a:ext cx="256032" cy="10972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750" b="0">
                <a:solidFill>
                  <a:srgbClr val="53657A"/>
                </a:solidFill>
                <a:latin typeface="Arial"/>
              </a:rPr>
              <a:t>3</a:t>
            </a:r>
          </a:p>
        </p:txBody>
      </p:sp>
      <p:sp>
        <p:nvSpPr>
          <p:cNvPr id="49" name="Rounded Rectangle 48"/>
          <p:cNvSpPr/>
          <p:nvPr/>
        </p:nvSpPr>
        <p:spPr>
          <a:xfrm>
            <a:off x="6858000" y="2514600"/>
            <a:ext cx="3977639" cy="2514600"/>
          </a:xfrm>
          <a:prstGeom prst="roundRect">
            <a:avLst/>
          </a:prstGeom>
          <a:solidFill>
            <a:srgbClr val="FFFFFF"/>
          </a:solidFill>
          <a:ln w="12700">
            <a:solidFill>
              <a:srgbClr val="C8DB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ectangle 49"/>
          <p:cNvSpPr/>
          <p:nvPr/>
        </p:nvSpPr>
        <p:spPr>
          <a:xfrm>
            <a:off x="7114032" y="2788920"/>
            <a:ext cx="1645920" cy="20116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500" b="1">
                <a:solidFill>
                  <a:srgbClr val="0B63CE"/>
                </a:solidFill>
                <a:latin typeface="Microsoft YaHei"/>
              </a:rPr>
              <a:t>复杂样本标签</a:t>
            </a:r>
          </a:p>
        </p:txBody>
      </p:sp>
      <p:sp>
        <p:nvSpPr>
          <p:cNvPr id="51" name="Rectangle 50"/>
          <p:cNvSpPr/>
          <p:nvPr/>
        </p:nvSpPr>
        <p:spPr>
          <a:xfrm>
            <a:off x="7150608" y="3246120"/>
            <a:ext cx="1371600" cy="18288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200" b="1">
                <a:solidFill>
                  <a:srgbClr val="E97132"/>
                </a:solidFill>
                <a:latin typeface="Arial"/>
              </a:rPr>
              <a:t>multi_intent</a:t>
            </a:r>
          </a:p>
        </p:txBody>
      </p:sp>
      <p:sp>
        <p:nvSpPr>
          <p:cNvPr id="52" name="Rectangle 51"/>
          <p:cNvSpPr/>
          <p:nvPr/>
        </p:nvSpPr>
        <p:spPr>
          <a:xfrm>
            <a:off x="8613648" y="3255264"/>
            <a:ext cx="731520"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100" b="0">
                <a:solidFill>
                  <a:srgbClr val="53657A"/>
                </a:solidFill>
                <a:latin typeface="Arial"/>
              </a:rPr>
              <a:t>test=12</a:t>
            </a:r>
          </a:p>
        </p:txBody>
      </p:sp>
      <p:sp>
        <p:nvSpPr>
          <p:cNvPr id="53" name="Rectangle 52"/>
          <p:cNvSpPr/>
          <p:nvPr/>
        </p:nvSpPr>
        <p:spPr>
          <a:xfrm>
            <a:off x="7150608" y="3813048"/>
            <a:ext cx="1371600" cy="18288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200" b="1">
                <a:solidFill>
                  <a:srgbClr val="B93232"/>
                </a:solidFill>
                <a:latin typeface="Arial"/>
              </a:rPr>
              <a:t>high_risk</a:t>
            </a:r>
          </a:p>
        </p:txBody>
      </p:sp>
      <p:sp>
        <p:nvSpPr>
          <p:cNvPr id="54" name="Rectangle 53"/>
          <p:cNvSpPr/>
          <p:nvPr/>
        </p:nvSpPr>
        <p:spPr>
          <a:xfrm>
            <a:off x="8613648" y="3822191"/>
            <a:ext cx="731520"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100" b="0">
                <a:solidFill>
                  <a:srgbClr val="53657A"/>
                </a:solidFill>
                <a:latin typeface="Arial"/>
              </a:rPr>
              <a:t>test=4</a:t>
            </a:r>
          </a:p>
        </p:txBody>
      </p:sp>
      <p:sp>
        <p:nvSpPr>
          <p:cNvPr id="55" name="Rectangle 54"/>
          <p:cNvSpPr/>
          <p:nvPr/>
        </p:nvSpPr>
        <p:spPr>
          <a:xfrm>
            <a:off x="822960" y="5715000"/>
            <a:ext cx="8046720" cy="25603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400" b="1">
                <a:solidFill>
                  <a:srgbClr val="102033"/>
                </a:solidFill>
                <a:latin typeface="Microsoft YaHei"/>
              </a:rPr>
              <a:t>样本覆盖 finance、security、gov、productivity 等基础资源相关语义任务。</a:t>
            </a:r>
          </a:p>
        </p:txBody>
      </p:sp>
      <p:sp>
        <p:nvSpPr>
          <p:cNvPr id="56" name="Rectangle 55"/>
          <p:cNvSpPr/>
          <p:nvPr/>
        </p:nvSpPr>
        <p:spPr>
          <a:xfrm>
            <a:off x="475488" y="6473952"/>
            <a:ext cx="8595360" cy="10160"/>
          </a:xfrm>
          <a:prstGeom prst="rect">
            <a:avLst/>
          </a:prstGeom>
          <a:solidFill>
            <a:srgbClr val="C8DB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Rectangle 56"/>
          <p:cNvSpPr/>
          <p:nvPr/>
        </p:nvSpPr>
        <p:spPr>
          <a:xfrm>
            <a:off x="475488" y="6537960"/>
            <a:ext cx="5486400"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750" b="0">
                <a:solidFill>
                  <a:srgbClr val="53657A"/>
                </a:solidFill>
                <a:latin typeface="Microsoft YaHei"/>
              </a:rPr>
              <a:t>面向互联网基础资源的大模型多智能体协作与可信认知标识技术研究</a:t>
            </a:r>
          </a:p>
        </p:txBody>
      </p:sp>
      <p:sp>
        <p:nvSpPr>
          <p:cNvPr id="58" name="Rectangle 57"/>
          <p:cNvSpPr/>
          <p:nvPr/>
        </p:nvSpPr>
        <p:spPr>
          <a:xfrm>
            <a:off x="11155680" y="6501384"/>
            <a:ext cx="384048"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r"/>
            <a:r>
              <a:rPr sz="800" b="0">
                <a:solidFill>
                  <a:srgbClr val="53657A"/>
                </a:solidFill>
                <a:latin typeface="Arial"/>
              </a:rPr>
              <a:t>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light_texture.png"/>
          <p:cNvPicPr>
            <a:picLocks noChangeAspect="1"/>
          </p:cNvPicPr>
          <p:nvPr/>
        </p:nvPicPr>
        <p:blipFill>
          <a:blip r:embed="rId2"/>
          <a:stretch>
            <a:fillRect/>
          </a:stretch>
        </p:blipFill>
        <p:spPr>
          <a:xfrm>
            <a:off x="0" y="0"/>
            <a:ext cx="12191999" cy="6858000"/>
          </a:xfrm>
          <a:prstGeom prst="rect">
            <a:avLst/>
          </a:prstGeom>
        </p:spPr>
      </p:pic>
      <p:sp>
        <p:nvSpPr>
          <p:cNvPr id="3" name="Rectangle 2"/>
          <p:cNvSpPr/>
          <p:nvPr/>
        </p:nvSpPr>
        <p:spPr>
          <a:xfrm>
            <a:off x="0" y="0"/>
            <a:ext cx="12191999" cy="109728"/>
          </a:xfrm>
          <a:prstGeom prst="rect">
            <a:avLst/>
          </a:prstGeom>
          <a:solidFill>
            <a:srgbClr val="082B6D"/>
          </a:solidFill>
          <a:ln w="12700">
            <a:solidFill>
              <a:srgbClr val="082B6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9728"/>
            <a:ext cx="12191999" cy="32004"/>
          </a:xfrm>
          <a:prstGeom prst="rect">
            <a:avLst/>
          </a:prstGeom>
          <a:solidFill>
            <a:srgbClr val="1E83E6"/>
          </a:solidFill>
          <a:ln w="12700">
            <a:solidFill>
              <a:srgbClr val="1E83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475488" y="283464"/>
            <a:ext cx="676656" cy="237744"/>
          </a:xfrm>
          <a:prstGeom prst="roundRect">
            <a:avLst/>
          </a:prstGeom>
          <a:solidFill>
            <a:srgbClr val="E7F1FF"/>
          </a:solidFill>
          <a:ln w="11430">
            <a:solidFill>
              <a:srgbClr val="C8DBEF"/>
            </a:solidFill>
          </a:ln>
        </p:spPr>
        <p:style>
          <a:lnRef idx="1">
            <a:schemeClr val="accent1"/>
          </a:lnRef>
          <a:fillRef idx="3">
            <a:schemeClr val="accent1"/>
          </a:fillRef>
          <a:effectRef idx="2">
            <a:schemeClr val="accent1"/>
          </a:effectRef>
          <a:fontRef idx="minor">
            <a:schemeClr val="lt1"/>
          </a:fontRef>
        </p:style>
        <p:txBody>
          <a:bodyPr rtlCol="0" anchor="ctr" lIns="36576" rIns="36576" tIns="18288" bIns="18288"/>
          <a:lstStyle/>
          <a:p>
            <a:pPr algn="ctr"/>
            <a:r>
              <a:rPr sz="1200" b="1">
                <a:solidFill>
                  <a:srgbClr val="0B63CE"/>
                </a:solidFill>
                <a:latin typeface="Microsoft YaHei"/>
              </a:rPr>
              <a:t>14</a:t>
            </a:r>
          </a:p>
        </p:txBody>
      </p:sp>
      <p:sp>
        <p:nvSpPr>
          <p:cNvPr id="6" name="Rectangle 5"/>
          <p:cNvSpPr/>
          <p:nvPr/>
        </p:nvSpPr>
        <p:spPr>
          <a:xfrm>
            <a:off x="1298448" y="237744"/>
            <a:ext cx="8412480" cy="38404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2200" b="1">
                <a:solidFill>
                  <a:srgbClr val="102033"/>
                </a:solidFill>
                <a:latin typeface="Microsoft YaHei"/>
              </a:rPr>
              <a:t>评测协议：冻结主口径，区分主结果、诊断结果与探索结果</a:t>
            </a:r>
          </a:p>
        </p:txBody>
      </p:sp>
      <p:sp>
        <p:nvSpPr>
          <p:cNvPr id="7" name="Rectangle 6"/>
          <p:cNvSpPr/>
          <p:nvPr/>
        </p:nvSpPr>
        <p:spPr>
          <a:xfrm>
            <a:off x="1298448" y="621792"/>
            <a:ext cx="8595360" cy="237744"/>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080" b="0">
                <a:solidFill>
                  <a:srgbClr val="53657A"/>
                </a:solidFill>
                <a:latin typeface="Microsoft YaHei"/>
              </a:rPr>
              <a:t>这页用于回答实验协议、配置选择和结果复现问题。</a:t>
            </a:r>
          </a:p>
        </p:txBody>
      </p:sp>
      <p:sp>
        <p:nvSpPr>
          <p:cNvPr id="8" name="Rectangle 7"/>
          <p:cNvSpPr/>
          <p:nvPr/>
        </p:nvSpPr>
        <p:spPr>
          <a:xfrm>
            <a:off x="10698480" y="256032"/>
            <a:ext cx="1005840" cy="25603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r"/>
            <a:r>
              <a:rPr sz="2100" b="1">
                <a:solidFill>
                  <a:srgbClr val="0B63CE"/>
                </a:solidFill>
                <a:latin typeface="Arial"/>
              </a:rPr>
              <a:t>CNNIC</a:t>
            </a:r>
          </a:p>
        </p:txBody>
      </p:sp>
      <p:sp>
        <p:nvSpPr>
          <p:cNvPr id="9" name="Rectangle 8"/>
          <p:cNvSpPr/>
          <p:nvPr/>
        </p:nvSpPr>
        <p:spPr>
          <a:xfrm>
            <a:off x="10012680" y="530352"/>
            <a:ext cx="1691640"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r"/>
            <a:r>
              <a:rPr sz="850" b="0">
                <a:solidFill>
                  <a:srgbClr val="53657A"/>
                </a:solidFill>
                <a:latin typeface="Microsoft YaHei"/>
              </a:rPr>
              <a:t>中国互联网络信息中心</a:t>
            </a:r>
          </a:p>
        </p:txBody>
      </p:sp>
      <p:sp>
        <p:nvSpPr>
          <p:cNvPr id="10" name="Rounded Rectangle 9"/>
          <p:cNvSpPr/>
          <p:nvPr/>
        </p:nvSpPr>
        <p:spPr>
          <a:xfrm>
            <a:off x="777240" y="1508760"/>
            <a:ext cx="2103120" cy="960120"/>
          </a:xfrm>
          <a:prstGeom prst="roundRect">
            <a:avLst/>
          </a:prstGeom>
          <a:solidFill>
            <a:srgbClr val="FFFFFF"/>
          </a:solidFill>
          <a:ln w="12700">
            <a:solidFill>
              <a:srgbClr val="C8DB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941832" y="1737360"/>
            <a:ext cx="1371600" cy="20116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350" b="1">
                <a:solidFill>
                  <a:srgbClr val="0B63CE"/>
                </a:solidFill>
                <a:latin typeface="Microsoft YaHei"/>
              </a:rPr>
              <a:t>统一样本池</a:t>
            </a:r>
          </a:p>
        </p:txBody>
      </p:sp>
      <p:sp>
        <p:nvSpPr>
          <p:cNvPr id="12" name="Rectangle 11"/>
          <p:cNvSpPr/>
          <p:nvPr/>
        </p:nvSpPr>
        <p:spPr>
          <a:xfrm>
            <a:off x="941832" y="2048256"/>
            <a:ext cx="1600200" cy="22860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850" b="0">
                <a:solidFill>
                  <a:srgbClr val="53657A"/>
                </a:solidFill>
                <a:latin typeface="Arial"/>
              </a:rPr>
              <a:t>dev + blind + challenge + holdout2 + holdout3 = 563</a:t>
            </a:r>
          </a:p>
        </p:txBody>
      </p:sp>
      <p:sp>
        <p:nvSpPr>
          <p:cNvPr id="13" name="Rounded Rectangle 12"/>
          <p:cNvSpPr/>
          <p:nvPr/>
        </p:nvSpPr>
        <p:spPr>
          <a:xfrm>
            <a:off x="3520440" y="1508760"/>
            <a:ext cx="2103120" cy="960120"/>
          </a:xfrm>
          <a:prstGeom prst="roundRect">
            <a:avLst/>
          </a:prstGeom>
          <a:solidFill>
            <a:srgbClr val="FFFFFF"/>
          </a:solidFill>
          <a:ln w="12700">
            <a:solidFill>
              <a:srgbClr val="C8DB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685032" y="1737360"/>
            <a:ext cx="1371600" cy="20116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350" b="1">
                <a:solidFill>
                  <a:srgbClr val="0E8A57"/>
                </a:solidFill>
                <a:latin typeface="Microsoft YaHei"/>
              </a:rPr>
              <a:t>train=450</a:t>
            </a:r>
          </a:p>
        </p:txBody>
      </p:sp>
      <p:sp>
        <p:nvSpPr>
          <p:cNvPr id="15" name="Rectangle 14"/>
          <p:cNvSpPr/>
          <p:nvPr/>
        </p:nvSpPr>
        <p:spPr>
          <a:xfrm>
            <a:off x="3685032" y="2048256"/>
            <a:ext cx="1600200" cy="22860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850" b="0">
                <a:solidFill>
                  <a:srgbClr val="53657A"/>
                </a:solidFill>
                <a:latin typeface="Arial"/>
              </a:rPr>
              <a:t>方案开发 / 阈值选择 / 配置选择</a:t>
            </a:r>
          </a:p>
        </p:txBody>
      </p:sp>
      <p:sp>
        <p:nvSpPr>
          <p:cNvPr id="16" name="Rounded Rectangle 15"/>
          <p:cNvSpPr/>
          <p:nvPr/>
        </p:nvSpPr>
        <p:spPr>
          <a:xfrm>
            <a:off x="6263640" y="1508760"/>
            <a:ext cx="2103120" cy="960120"/>
          </a:xfrm>
          <a:prstGeom prst="roundRect">
            <a:avLst/>
          </a:prstGeom>
          <a:solidFill>
            <a:srgbClr val="FFFFFF"/>
          </a:solidFill>
          <a:ln w="12700">
            <a:solidFill>
              <a:srgbClr val="C8DB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428231" y="1737360"/>
            <a:ext cx="1371600" cy="20116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350" b="1">
                <a:solidFill>
                  <a:srgbClr val="E97132"/>
                </a:solidFill>
                <a:latin typeface="Microsoft YaHei"/>
              </a:rPr>
              <a:t>test=113</a:t>
            </a:r>
          </a:p>
        </p:txBody>
      </p:sp>
      <p:sp>
        <p:nvSpPr>
          <p:cNvPr id="18" name="Rectangle 17"/>
          <p:cNvSpPr/>
          <p:nvPr/>
        </p:nvSpPr>
        <p:spPr>
          <a:xfrm>
            <a:off x="6428231" y="2048256"/>
            <a:ext cx="1600200" cy="22860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850" b="0">
                <a:solidFill>
                  <a:srgbClr val="53657A"/>
                </a:solidFill>
                <a:latin typeface="Arial"/>
              </a:rPr>
              <a:t>一次性主结果报告</a:t>
            </a:r>
          </a:p>
        </p:txBody>
      </p:sp>
      <p:sp>
        <p:nvSpPr>
          <p:cNvPr id="19" name="Rounded Rectangle 18"/>
          <p:cNvSpPr/>
          <p:nvPr/>
        </p:nvSpPr>
        <p:spPr>
          <a:xfrm>
            <a:off x="9006840" y="1508760"/>
            <a:ext cx="2103120" cy="960120"/>
          </a:xfrm>
          <a:prstGeom prst="roundRect">
            <a:avLst/>
          </a:prstGeom>
          <a:solidFill>
            <a:srgbClr val="FFFFFF"/>
          </a:solidFill>
          <a:ln w="12700">
            <a:solidFill>
              <a:srgbClr val="C8DB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9171432" y="1737360"/>
            <a:ext cx="1371600" cy="20116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350" b="1">
                <a:solidFill>
                  <a:srgbClr val="6B49C8"/>
                </a:solidFill>
                <a:latin typeface="Microsoft YaHei"/>
              </a:rPr>
              <a:t>holdout3 子集</a:t>
            </a:r>
          </a:p>
        </p:txBody>
      </p:sp>
      <p:sp>
        <p:nvSpPr>
          <p:cNvPr id="21" name="Rectangle 20"/>
          <p:cNvSpPr/>
          <p:nvPr/>
        </p:nvSpPr>
        <p:spPr>
          <a:xfrm>
            <a:off x="9171432" y="2048256"/>
            <a:ext cx="1600200" cy="22860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850" b="0">
                <a:solidFill>
                  <a:srgbClr val="53657A"/>
                </a:solidFill>
                <a:latin typeface="Arial"/>
              </a:rPr>
              <a:t>协作消融与 bucket 诊断</a:t>
            </a:r>
          </a:p>
        </p:txBody>
      </p:sp>
      <p:sp>
        <p:nvSpPr>
          <p:cNvPr id="22" name="Rounded Rectangle 21"/>
          <p:cNvSpPr/>
          <p:nvPr/>
        </p:nvSpPr>
        <p:spPr>
          <a:xfrm>
            <a:off x="914400" y="3154680"/>
            <a:ext cx="4754880" cy="1417320"/>
          </a:xfrm>
          <a:prstGeom prst="roundRect">
            <a:avLst/>
          </a:prstGeom>
          <a:solidFill>
            <a:srgbClr val="071A46"/>
          </a:solidFill>
          <a:ln w="12700">
            <a:solidFill>
              <a:srgbClr val="1E83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1188720" y="3456432"/>
            <a:ext cx="1645920" cy="219456"/>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600" b="1">
                <a:solidFill>
                  <a:srgbClr val="FFFFFF"/>
                </a:solidFill>
                <a:latin typeface="Microsoft YaHei"/>
              </a:rPr>
              <a:t>防泄漏与可复现</a:t>
            </a:r>
          </a:p>
        </p:txBody>
      </p:sp>
      <p:sp>
        <p:nvSpPr>
          <p:cNvPr id="24" name="Oval 23"/>
          <p:cNvSpPr/>
          <p:nvPr/>
        </p:nvSpPr>
        <p:spPr>
          <a:xfrm>
            <a:off x="1188720" y="3877055"/>
            <a:ext cx="68580" cy="68580"/>
          </a:xfrm>
          <a:prstGeom prst="ellipse">
            <a:avLst/>
          </a:prstGeom>
          <a:solidFill>
            <a:srgbClr val="26B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1353312" y="3822191"/>
            <a:ext cx="3474720" cy="219456"/>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030" b="0">
                <a:solidFill>
                  <a:srgbClr val="D2E6FF"/>
                </a:solidFill>
                <a:latin typeface="Microsoft YaHei"/>
              </a:rPr>
              <a:t>候选快照与 gold 标签分离</a:t>
            </a:r>
          </a:p>
        </p:txBody>
      </p:sp>
      <p:sp>
        <p:nvSpPr>
          <p:cNvPr id="26" name="Oval 25"/>
          <p:cNvSpPr/>
          <p:nvPr/>
        </p:nvSpPr>
        <p:spPr>
          <a:xfrm>
            <a:off x="1188720" y="4114799"/>
            <a:ext cx="68580" cy="68580"/>
          </a:xfrm>
          <a:prstGeom prst="ellipse">
            <a:avLst/>
          </a:prstGeom>
          <a:solidFill>
            <a:srgbClr val="26B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1353312" y="4059935"/>
            <a:ext cx="3474720" cy="219456"/>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030" b="0">
                <a:solidFill>
                  <a:srgbClr val="D2E6FF"/>
                </a:solidFill>
                <a:latin typeface="Microsoft YaHei"/>
              </a:rPr>
              <a:t>主结果只讲冻结 train/test</a:t>
            </a:r>
          </a:p>
        </p:txBody>
      </p:sp>
      <p:sp>
        <p:nvSpPr>
          <p:cNvPr id="28" name="Oval 27"/>
          <p:cNvSpPr/>
          <p:nvPr/>
        </p:nvSpPr>
        <p:spPr>
          <a:xfrm>
            <a:off x="1188720" y="4352543"/>
            <a:ext cx="68580" cy="68580"/>
          </a:xfrm>
          <a:prstGeom prst="ellipse">
            <a:avLst/>
          </a:prstGeom>
          <a:solidFill>
            <a:srgbClr val="26B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1353312" y="4297679"/>
            <a:ext cx="3474720" cy="219456"/>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030" b="0">
                <a:solidFill>
                  <a:srgbClr val="D2E6FF"/>
                </a:solidFill>
                <a:latin typeface="Microsoft YaHei"/>
              </a:rPr>
              <a:t>历史 split 只作诊断材料</a:t>
            </a:r>
          </a:p>
        </p:txBody>
      </p:sp>
      <p:sp>
        <p:nvSpPr>
          <p:cNvPr id="30" name="Rounded Rectangle 29"/>
          <p:cNvSpPr/>
          <p:nvPr/>
        </p:nvSpPr>
        <p:spPr>
          <a:xfrm>
            <a:off x="6400800" y="3154680"/>
            <a:ext cx="4160520" cy="1417320"/>
          </a:xfrm>
          <a:prstGeom prst="roundRect">
            <a:avLst/>
          </a:prstGeom>
          <a:solidFill>
            <a:srgbClr val="FFFFFF"/>
          </a:solidFill>
          <a:ln w="12700">
            <a:solidFill>
              <a:srgbClr val="C8DB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6675120" y="3456432"/>
            <a:ext cx="914400" cy="219456"/>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600" b="1">
                <a:solidFill>
                  <a:srgbClr val="0B63CE"/>
                </a:solidFill>
                <a:latin typeface="Microsoft YaHei"/>
              </a:rPr>
              <a:t>指标</a:t>
            </a:r>
          </a:p>
        </p:txBody>
      </p:sp>
      <p:sp>
        <p:nvSpPr>
          <p:cNvPr id="32" name="Rectangle 31"/>
          <p:cNvSpPr/>
          <p:nvPr/>
        </p:nvSpPr>
        <p:spPr>
          <a:xfrm>
            <a:off x="6720840" y="3822191"/>
            <a:ext cx="1371600" cy="146304"/>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880" b="0">
                <a:solidFill>
                  <a:srgbClr val="53657A"/>
                </a:solidFill>
                <a:latin typeface="Arial"/>
              </a:rPr>
              <a:t>PrimaryAcc@1</a:t>
            </a:r>
          </a:p>
        </p:txBody>
      </p:sp>
      <p:sp>
        <p:nvSpPr>
          <p:cNvPr id="33" name="Rectangle 32"/>
          <p:cNvSpPr/>
          <p:nvPr/>
        </p:nvSpPr>
        <p:spPr>
          <a:xfrm>
            <a:off x="8366760" y="3822191"/>
            <a:ext cx="1371600" cy="146304"/>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880" b="0">
                <a:solidFill>
                  <a:srgbClr val="53657A"/>
                </a:solidFill>
                <a:latin typeface="Arial"/>
              </a:rPr>
              <a:t>Acceptable@1</a:t>
            </a:r>
          </a:p>
        </p:txBody>
      </p:sp>
      <p:sp>
        <p:nvSpPr>
          <p:cNvPr id="34" name="Rectangle 33"/>
          <p:cNvSpPr/>
          <p:nvPr/>
        </p:nvSpPr>
        <p:spPr>
          <a:xfrm>
            <a:off x="6720840" y="4078224"/>
            <a:ext cx="1371600" cy="146304"/>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880" b="0">
                <a:solidFill>
                  <a:srgbClr val="53657A"/>
                </a:solidFill>
                <a:latin typeface="Arial"/>
              </a:rPr>
              <a:t>RelatedRecall</a:t>
            </a:r>
          </a:p>
        </p:txBody>
      </p:sp>
      <p:sp>
        <p:nvSpPr>
          <p:cNvPr id="35" name="Rectangle 34"/>
          <p:cNvSpPr/>
          <p:nvPr/>
        </p:nvSpPr>
        <p:spPr>
          <a:xfrm>
            <a:off x="8366760" y="4078224"/>
            <a:ext cx="1371600" cy="146304"/>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880" b="0">
                <a:solidFill>
                  <a:srgbClr val="53657A"/>
                </a:solidFill>
                <a:latin typeface="Arial"/>
              </a:rPr>
              <a:t>RelatedPrecision</a:t>
            </a:r>
          </a:p>
        </p:txBody>
      </p:sp>
      <p:sp>
        <p:nvSpPr>
          <p:cNvPr id="36" name="Rectangle 35"/>
          <p:cNvSpPr/>
          <p:nvPr/>
        </p:nvSpPr>
        <p:spPr>
          <a:xfrm>
            <a:off x="6720840" y="4334256"/>
            <a:ext cx="1371600" cy="146304"/>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880" b="0">
                <a:solidFill>
                  <a:srgbClr val="53657A"/>
                </a:solidFill>
                <a:latin typeface="Arial"/>
              </a:rPr>
              <a:t>Changed/Fix/Regress</a:t>
            </a:r>
          </a:p>
        </p:txBody>
      </p:sp>
      <p:sp>
        <p:nvSpPr>
          <p:cNvPr id="37" name="Rectangle 36"/>
          <p:cNvSpPr/>
          <p:nvPr/>
        </p:nvSpPr>
        <p:spPr>
          <a:xfrm>
            <a:off x="475488" y="6473952"/>
            <a:ext cx="8595360" cy="10160"/>
          </a:xfrm>
          <a:prstGeom prst="rect">
            <a:avLst/>
          </a:prstGeom>
          <a:solidFill>
            <a:srgbClr val="C8DB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475488" y="6537960"/>
            <a:ext cx="5486400"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750" b="0">
                <a:solidFill>
                  <a:srgbClr val="53657A"/>
                </a:solidFill>
                <a:latin typeface="Microsoft YaHei"/>
              </a:rPr>
              <a:t>面向互联网基础资源的大模型多智能体协作与可信认知标识技术研究</a:t>
            </a:r>
          </a:p>
        </p:txBody>
      </p:sp>
      <p:sp>
        <p:nvSpPr>
          <p:cNvPr id="39" name="Rectangle 38"/>
          <p:cNvSpPr/>
          <p:nvPr/>
        </p:nvSpPr>
        <p:spPr>
          <a:xfrm>
            <a:off x="11155680" y="6501384"/>
            <a:ext cx="384048"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r"/>
            <a:r>
              <a:rPr sz="800" b="0">
                <a:solidFill>
                  <a:srgbClr val="53657A"/>
                </a:solidFill>
                <a:latin typeface="Arial"/>
              </a:rPr>
              <a:t>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light_texture.png"/>
          <p:cNvPicPr>
            <a:picLocks noChangeAspect="1"/>
          </p:cNvPicPr>
          <p:nvPr/>
        </p:nvPicPr>
        <p:blipFill>
          <a:blip r:embed="rId2"/>
          <a:stretch>
            <a:fillRect/>
          </a:stretch>
        </p:blipFill>
        <p:spPr>
          <a:xfrm>
            <a:off x="0" y="0"/>
            <a:ext cx="12191999" cy="6858000"/>
          </a:xfrm>
          <a:prstGeom prst="rect">
            <a:avLst/>
          </a:prstGeom>
        </p:spPr>
      </p:pic>
      <p:sp>
        <p:nvSpPr>
          <p:cNvPr id="3" name="Rectangle 2"/>
          <p:cNvSpPr/>
          <p:nvPr/>
        </p:nvSpPr>
        <p:spPr>
          <a:xfrm>
            <a:off x="0" y="0"/>
            <a:ext cx="12191999" cy="109728"/>
          </a:xfrm>
          <a:prstGeom prst="rect">
            <a:avLst/>
          </a:prstGeom>
          <a:solidFill>
            <a:srgbClr val="082B6D"/>
          </a:solidFill>
          <a:ln w="12700">
            <a:solidFill>
              <a:srgbClr val="082B6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9728"/>
            <a:ext cx="12191999" cy="32004"/>
          </a:xfrm>
          <a:prstGeom prst="rect">
            <a:avLst/>
          </a:prstGeom>
          <a:solidFill>
            <a:srgbClr val="1E83E6"/>
          </a:solidFill>
          <a:ln w="12700">
            <a:solidFill>
              <a:srgbClr val="1E83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475488" y="283464"/>
            <a:ext cx="676656" cy="237744"/>
          </a:xfrm>
          <a:prstGeom prst="roundRect">
            <a:avLst/>
          </a:prstGeom>
          <a:solidFill>
            <a:srgbClr val="E7F1FF"/>
          </a:solidFill>
          <a:ln w="11430">
            <a:solidFill>
              <a:srgbClr val="C8DBEF"/>
            </a:solidFill>
          </a:ln>
        </p:spPr>
        <p:style>
          <a:lnRef idx="1">
            <a:schemeClr val="accent1"/>
          </a:lnRef>
          <a:fillRef idx="3">
            <a:schemeClr val="accent1"/>
          </a:fillRef>
          <a:effectRef idx="2">
            <a:schemeClr val="accent1"/>
          </a:effectRef>
          <a:fontRef idx="minor">
            <a:schemeClr val="lt1"/>
          </a:fontRef>
        </p:style>
        <p:txBody>
          <a:bodyPr rtlCol="0" anchor="ctr" lIns="36576" rIns="36576" tIns="18288" bIns="18288"/>
          <a:lstStyle/>
          <a:p>
            <a:pPr algn="ctr"/>
            <a:r>
              <a:rPr sz="1200" b="1">
                <a:solidFill>
                  <a:srgbClr val="0B63CE"/>
                </a:solidFill>
                <a:latin typeface="Microsoft YaHei"/>
              </a:rPr>
              <a:t>15</a:t>
            </a:r>
          </a:p>
        </p:txBody>
      </p:sp>
      <p:sp>
        <p:nvSpPr>
          <p:cNvPr id="6" name="Rectangle 5"/>
          <p:cNvSpPr/>
          <p:nvPr/>
        </p:nvSpPr>
        <p:spPr>
          <a:xfrm>
            <a:off x="1298448" y="237744"/>
            <a:ext cx="8412480" cy="38404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2200" b="1">
                <a:solidFill>
                  <a:srgbClr val="102033"/>
                </a:solidFill>
                <a:latin typeface="Microsoft YaHei"/>
              </a:rPr>
              <a:t>主结果：结构化语义判别是主台阶，职责化复核提供边界修正</a:t>
            </a:r>
          </a:p>
        </p:txBody>
      </p:sp>
      <p:sp>
        <p:nvSpPr>
          <p:cNvPr id="7" name="Rectangle 6"/>
          <p:cNvSpPr/>
          <p:nvPr/>
        </p:nvSpPr>
        <p:spPr>
          <a:xfrm>
            <a:off x="1298448" y="621792"/>
            <a:ext cx="8595360" cy="237744"/>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080" b="0">
                <a:solidFill>
                  <a:srgbClr val="53657A"/>
                </a:solidFill>
                <a:latin typeface="Microsoft YaHei"/>
              </a:rPr>
              <a:t>统一 train/test 主协议下，测试集 PrimaryAcc@1 从 0.7876 提升到 0.8850；补充扩展配置达到 0.9292。</a:t>
            </a:r>
          </a:p>
        </p:txBody>
      </p:sp>
      <p:sp>
        <p:nvSpPr>
          <p:cNvPr id="8" name="Rectangle 7"/>
          <p:cNvSpPr/>
          <p:nvPr/>
        </p:nvSpPr>
        <p:spPr>
          <a:xfrm>
            <a:off x="10698480" y="256032"/>
            <a:ext cx="1005840" cy="25603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r"/>
            <a:r>
              <a:rPr sz="2100" b="1">
                <a:solidFill>
                  <a:srgbClr val="0B63CE"/>
                </a:solidFill>
                <a:latin typeface="Arial"/>
              </a:rPr>
              <a:t>CNNIC</a:t>
            </a:r>
          </a:p>
        </p:txBody>
      </p:sp>
      <p:sp>
        <p:nvSpPr>
          <p:cNvPr id="9" name="Rectangle 8"/>
          <p:cNvSpPr/>
          <p:nvPr/>
        </p:nvSpPr>
        <p:spPr>
          <a:xfrm>
            <a:off x="10012680" y="530352"/>
            <a:ext cx="1691640"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r"/>
            <a:r>
              <a:rPr sz="850" b="0">
                <a:solidFill>
                  <a:srgbClr val="53657A"/>
                </a:solidFill>
                <a:latin typeface="Microsoft YaHei"/>
              </a:rPr>
              <a:t>中国互联网络信息中心</a:t>
            </a:r>
          </a:p>
        </p:txBody>
      </p:sp>
      <p:sp>
        <p:nvSpPr>
          <p:cNvPr id="10" name="Rounded Rectangle 9"/>
          <p:cNvSpPr/>
          <p:nvPr/>
        </p:nvSpPr>
        <p:spPr>
          <a:xfrm>
            <a:off x="658368" y="1115568"/>
            <a:ext cx="7223760" cy="4251960"/>
          </a:xfrm>
          <a:prstGeom prst="roundRect">
            <a:avLst/>
          </a:prstGeom>
          <a:solidFill>
            <a:srgbClr val="FFFFFF"/>
          </a:solidFill>
          <a:ln w="12700">
            <a:solidFill>
              <a:srgbClr val="C8DB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01_pooled_test_waterfall.png"/>
          <p:cNvPicPr>
            <a:picLocks noChangeAspect="1"/>
          </p:cNvPicPr>
          <p:nvPr/>
        </p:nvPicPr>
        <p:blipFill>
          <a:blip r:embed="rId3"/>
          <a:stretch>
            <a:fillRect/>
          </a:stretch>
        </p:blipFill>
        <p:spPr>
          <a:xfrm>
            <a:off x="914400" y="1389888"/>
            <a:ext cx="6656832" cy="3611880"/>
          </a:xfrm>
          <a:prstGeom prst="rect">
            <a:avLst/>
          </a:prstGeom>
        </p:spPr>
      </p:pic>
      <p:sp>
        <p:nvSpPr>
          <p:cNvPr id="12" name="Rounded Rectangle 11"/>
          <p:cNvSpPr/>
          <p:nvPr/>
        </p:nvSpPr>
        <p:spPr>
          <a:xfrm>
            <a:off x="8183879" y="1188720"/>
            <a:ext cx="2834640" cy="896112"/>
          </a:xfrm>
          <a:prstGeom prst="roundRect">
            <a:avLst/>
          </a:prstGeom>
          <a:solidFill>
            <a:srgbClr val="E7F1FF"/>
          </a:solidFill>
          <a:ln w="12700">
            <a:solidFill>
              <a:srgbClr val="7FB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394192" y="1389888"/>
            <a:ext cx="2377440" cy="25603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ctr"/>
            <a:r>
              <a:rPr sz="1900" b="1">
                <a:solidFill>
                  <a:srgbClr val="0E8A57"/>
                </a:solidFill>
                <a:latin typeface="Arial"/>
              </a:rPr>
              <a:t>0.7876 → 0.8761</a:t>
            </a:r>
          </a:p>
        </p:txBody>
      </p:sp>
      <p:sp>
        <p:nvSpPr>
          <p:cNvPr id="14" name="Rectangle 13"/>
          <p:cNvSpPr/>
          <p:nvPr/>
        </p:nvSpPr>
        <p:spPr>
          <a:xfrm>
            <a:off x="8430768" y="1719072"/>
            <a:ext cx="2240280" cy="146304"/>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ctr"/>
            <a:r>
              <a:rPr sz="919" b="1">
                <a:solidFill>
                  <a:srgbClr val="102033"/>
                </a:solidFill>
                <a:latin typeface="Microsoft YaHei"/>
              </a:rPr>
              <a:t>规则路由到结构化语义路由</a:t>
            </a:r>
          </a:p>
        </p:txBody>
      </p:sp>
      <p:sp>
        <p:nvSpPr>
          <p:cNvPr id="15" name="Rounded Rectangle 14"/>
          <p:cNvSpPr/>
          <p:nvPr/>
        </p:nvSpPr>
        <p:spPr>
          <a:xfrm>
            <a:off x="8183879" y="2331720"/>
            <a:ext cx="2834640" cy="896112"/>
          </a:xfrm>
          <a:prstGeom prst="roundRect">
            <a:avLst/>
          </a:prstGeom>
          <a:solidFill>
            <a:srgbClr val="FFFFFF"/>
          </a:solidFill>
          <a:ln w="12700">
            <a:solidFill>
              <a:srgbClr val="E9713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732520" y="2514600"/>
            <a:ext cx="1554480" cy="27432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ctr"/>
            <a:r>
              <a:rPr sz="2300" b="1">
                <a:solidFill>
                  <a:srgbClr val="E97132"/>
                </a:solidFill>
                <a:latin typeface="Arial"/>
              </a:rPr>
              <a:t>0.8850</a:t>
            </a:r>
          </a:p>
        </p:txBody>
      </p:sp>
      <p:sp>
        <p:nvSpPr>
          <p:cNvPr id="17" name="Rectangle 16"/>
          <p:cNvSpPr/>
          <p:nvPr/>
        </p:nvSpPr>
        <p:spPr>
          <a:xfrm>
            <a:off x="8439912" y="2852928"/>
            <a:ext cx="2240280" cy="146304"/>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ctr"/>
            <a:r>
              <a:rPr sz="919" b="0">
                <a:solidFill>
                  <a:srgbClr val="53657A"/>
                </a:solidFill>
                <a:latin typeface="Microsoft YaHei"/>
              </a:rPr>
              <a:t>默认协作复核 / 零回归</a:t>
            </a:r>
          </a:p>
        </p:txBody>
      </p:sp>
      <p:sp>
        <p:nvSpPr>
          <p:cNvPr id="18" name="Rounded Rectangle 17"/>
          <p:cNvSpPr/>
          <p:nvPr/>
        </p:nvSpPr>
        <p:spPr>
          <a:xfrm>
            <a:off x="8183879" y="3474720"/>
            <a:ext cx="2834640" cy="896112"/>
          </a:xfrm>
          <a:prstGeom prst="roundRect">
            <a:avLst/>
          </a:prstGeom>
          <a:solidFill>
            <a:srgbClr val="FFF1F1"/>
          </a:solidFill>
          <a:ln w="12700">
            <a:solidFill>
              <a:srgbClr val="F1C3C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8732520" y="3657600"/>
            <a:ext cx="1554480" cy="27432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ctr"/>
            <a:r>
              <a:rPr sz="2300" b="1">
                <a:solidFill>
                  <a:srgbClr val="B93232"/>
                </a:solidFill>
                <a:latin typeface="Arial"/>
              </a:rPr>
              <a:t>0.9292</a:t>
            </a:r>
          </a:p>
        </p:txBody>
      </p:sp>
      <p:sp>
        <p:nvSpPr>
          <p:cNvPr id="20" name="Rectangle 19"/>
          <p:cNvSpPr/>
          <p:nvPr/>
        </p:nvSpPr>
        <p:spPr>
          <a:xfrm>
            <a:off x="8339327" y="3995928"/>
            <a:ext cx="2468880" cy="146304"/>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ctr"/>
            <a:r>
              <a:rPr sz="900" b="0">
                <a:solidFill>
                  <a:srgbClr val="53657A"/>
                </a:solidFill>
                <a:latin typeface="Microsoft YaHei"/>
              </a:rPr>
              <a:t>扩展配置 / 5 次改写全部修正</a:t>
            </a:r>
          </a:p>
        </p:txBody>
      </p:sp>
      <p:sp>
        <p:nvSpPr>
          <p:cNvPr id="21" name="Rectangle 20"/>
          <p:cNvSpPr/>
          <p:nvPr/>
        </p:nvSpPr>
        <p:spPr>
          <a:xfrm>
            <a:off x="841248" y="5650992"/>
            <a:ext cx="9144000" cy="219456"/>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320" b="1">
                <a:solidFill>
                  <a:srgbClr val="102033"/>
                </a:solidFill>
                <a:latin typeface="Microsoft YaHei"/>
              </a:rPr>
              <a:t>技术解释：先用结构化候选级证据解决大部分判别问题，再让协作复核只处理低置信、高风险和多意图冲突样本。</a:t>
            </a:r>
          </a:p>
        </p:txBody>
      </p:sp>
      <p:sp>
        <p:nvSpPr>
          <p:cNvPr id="22" name="Rectangle 21"/>
          <p:cNvSpPr/>
          <p:nvPr/>
        </p:nvSpPr>
        <p:spPr>
          <a:xfrm>
            <a:off x="475488" y="6473952"/>
            <a:ext cx="8595360" cy="10160"/>
          </a:xfrm>
          <a:prstGeom prst="rect">
            <a:avLst/>
          </a:prstGeom>
          <a:solidFill>
            <a:srgbClr val="C8DB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475488" y="6537960"/>
            <a:ext cx="5486400"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750" b="0">
                <a:solidFill>
                  <a:srgbClr val="53657A"/>
                </a:solidFill>
                <a:latin typeface="Microsoft YaHei"/>
              </a:rPr>
              <a:t>面向互联网基础资源的大模型多智能体协作与可信认知标识技术研究</a:t>
            </a:r>
          </a:p>
        </p:txBody>
      </p:sp>
      <p:sp>
        <p:nvSpPr>
          <p:cNvPr id="24" name="Rectangle 23"/>
          <p:cNvSpPr/>
          <p:nvPr/>
        </p:nvSpPr>
        <p:spPr>
          <a:xfrm>
            <a:off x="11155680" y="6501384"/>
            <a:ext cx="384048"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r"/>
            <a:r>
              <a:rPr sz="800" b="0">
                <a:solidFill>
                  <a:srgbClr val="53657A"/>
                </a:solidFill>
                <a:latin typeface="Arial"/>
              </a:rPr>
              <a:t>17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light_texture.png"/>
          <p:cNvPicPr>
            <a:picLocks noChangeAspect="1"/>
          </p:cNvPicPr>
          <p:nvPr/>
        </p:nvPicPr>
        <p:blipFill>
          <a:blip r:embed="rId2"/>
          <a:stretch>
            <a:fillRect/>
          </a:stretch>
        </p:blipFill>
        <p:spPr>
          <a:xfrm>
            <a:off x="0" y="0"/>
            <a:ext cx="12191999" cy="6858000"/>
          </a:xfrm>
          <a:prstGeom prst="rect">
            <a:avLst/>
          </a:prstGeom>
        </p:spPr>
      </p:pic>
      <p:sp>
        <p:nvSpPr>
          <p:cNvPr id="3" name="Rectangle 2"/>
          <p:cNvSpPr/>
          <p:nvPr/>
        </p:nvSpPr>
        <p:spPr>
          <a:xfrm>
            <a:off x="0" y="0"/>
            <a:ext cx="12191999" cy="109728"/>
          </a:xfrm>
          <a:prstGeom prst="rect">
            <a:avLst/>
          </a:prstGeom>
          <a:solidFill>
            <a:srgbClr val="082B6D"/>
          </a:solidFill>
          <a:ln w="12700">
            <a:solidFill>
              <a:srgbClr val="082B6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9728"/>
            <a:ext cx="12191999" cy="32004"/>
          </a:xfrm>
          <a:prstGeom prst="rect">
            <a:avLst/>
          </a:prstGeom>
          <a:solidFill>
            <a:srgbClr val="1E83E6"/>
          </a:solidFill>
          <a:ln w="12700">
            <a:solidFill>
              <a:srgbClr val="1E83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475488" y="283464"/>
            <a:ext cx="676656" cy="237744"/>
          </a:xfrm>
          <a:prstGeom prst="roundRect">
            <a:avLst/>
          </a:prstGeom>
          <a:solidFill>
            <a:srgbClr val="E7F1FF"/>
          </a:solidFill>
          <a:ln w="11430">
            <a:solidFill>
              <a:srgbClr val="C8DBEF"/>
            </a:solidFill>
          </a:ln>
        </p:spPr>
        <p:style>
          <a:lnRef idx="1">
            <a:schemeClr val="accent1"/>
          </a:lnRef>
          <a:fillRef idx="3">
            <a:schemeClr val="accent1"/>
          </a:fillRef>
          <a:effectRef idx="2">
            <a:schemeClr val="accent1"/>
          </a:effectRef>
          <a:fontRef idx="minor">
            <a:schemeClr val="lt1"/>
          </a:fontRef>
        </p:style>
        <p:txBody>
          <a:bodyPr rtlCol="0" anchor="ctr" lIns="36576" rIns="36576" tIns="18288" bIns="18288"/>
          <a:lstStyle/>
          <a:p>
            <a:pPr algn="ctr"/>
            <a:r>
              <a:rPr sz="1200" b="1">
                <a:solidFill>
                  <a:srgbClr val="0B63CE"/>
                </a:solidFill>
                <a:latin typeface="Microsoft YaHei"/>
              </a:rPr>
              <a:t>16</a:t>
            </a:r>
          </a:p>
        </p:txBody>
      </p:sp>
      <p:sp>
        <p:nvSpPr>
          <p:cNvPr id="6" name="Rectangle 5"/>
          <p:cNvSpPr/>
          <p:nvPr/>
        </p:nvSpPr>
        <p:spPr>
          <a:xfrm>
            <a:off x="1298448" y="237744"/>
            <a:ext cx="8412480" cy="38404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2200" b="1">
                <a:solidFill>
                  <a:srgbClr val="102033"/>
                </a:solidFill>
                <a:latin typeface="Microsoft YaHei"/>
              </a:rPr>
              <a:t>累计稳定性：新增样本增加复杂度，但没有推翻方法排序</a:t>
            </a:r>
          </a:p>
        </p:txBody>
      </p:sp>
      <p:sp>
        <p:nvSpPr>
          <p:cNvPr id="7" name="Rectangle 6"/>
          <p:cNvSpPr/>
          <p:nvPr/>
        </p:nvSpPr>
        <p:spPr>
          <a:xfrm>
            <a:off x="1298448" y="621792"/>
            <a:ext cx="8595360" cy="237744"/>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080" b="0">
                <a:solidFill>
                  <a:srgbClr val="53657A"/>
                </a:solidFill>
                <a:latin typeface="Microsoft YaHei"/>
              </a:rPr>
              <a:t>新版论文补充训练/测试划分累计曲线，用来回答“样本是否太少、结论是否偶然”的评审追问。</a:t>
            </a:r>
          </a:p>
        </p:txBody>
      </p:sp>
      <p:sp>
        <p:nvSpPr>
          <p:cNvPr id="8" name="Rectangle 7"/>
          <p:cNvSpPr/>
          <p:nvPr/>
        </p:nvSpPr>
        <p:spPr>
          <a:xfrm>
            <a:off x="10698480" y="256032"/>
            <a:ext cx="1005840" cy="25603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r"/>
            <a:r>
              <a:rPr sz="2100" b="1">
                <a:solidFill>
                  <a:srgbClr val="0B63CE"/>
                </a:solidFill>
                <a:latin typeface="Arial"/>
              </a:rPr>
              <a:t>CNNIC</a:t>
            </a:r>
          </a:p>
        </p:txBody>
      </p:sp>
      <p:sp>
        <p:nvSpPr>
          <p:cNvPr id="9" name="Rectangle 8"/>
          <p:cNvSpPr/>
          <p:nvPr/>
        </p:nvSpPr>
        <p:spPr>
          <a:xfrm>
            <a:off x="10012680" y="530352"/>
            <a:ext cx="1691640"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r"/>
            <a:r>
              <a:rPr sz="850" b="0">
                <a:solidFill>
                  <a:srgbClr val="53657A"/>
                </a:solidFill>
                <a:latin typeface="Microsoft YaHei"/>
              </a:rPr>
              <a:t>中国互联网络信息中心</a:t>
            </a:r>
          </a:p>
        </p:txBody>
      </p:sp>
      <p:sp>
        <p:nvSpPr>
          <p:cNvPr id="10" name="Rounded Rectangle 9"/>
          <p:cNvSpPr/>
          <p:nvPr/>
        </p:nvSpPr>
        <p:spPr>
          <a:xfrm>
            <a:off x="603504" y="1078992"/>
            <a:ext cx="7543800" cy="4434840"/>
          </a:xfrm>
          <a:prstGeom prst="roundRect">
            <a:avLst/>
          </a:prstGeom>
          <a:solidFill>
            <a:srgbClr val="FFFFFF"/>
          </a:solidFill>
          <a:ln w="12700">
            <a:solidFill>
              <a:srgbClr val="C8DB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09_historical_cumulative_train_test.png"/>
          <p:cNvPicPr>
            <a:picLocks noChangeAspect="1"/>
          </p:cNvPicPr>
          <p:nvPr/>
        </p:nvPicPr>
        <p:blipFill>
          <a:blip r:embed="rId3"/>
          <a:stretch>
            <a:fillRect/>
          </a:stretch>
        </p:blipFill>
        <p:spPr>
          <a:xfrm>
            <a:off x="859536" y="1389888"/>
            <a:ext cx="7040880" cy="3703320"/>
          </a:xfrm>
          <a:prstGeom prst="rect">
            <a:avLst/>
          </a:prstGeom>
        </p:spPr>
      </p:pic>
      <p:sp>
        <p:nvSpPr>
          <p:cNvPr id="12" name="Rounded Rectangle 11"/>
          <p:cNvSpPr/>
          <p:nvPr/>
        </p:nvSpPr>
        <p:spPr>
          <a:xfrm>
            <a:off x="8458200" y="1225296"/>
            <a:ext cx="2542032" cy="987552"/>
          </a:xfrm>
          <a:prstGeom prst="roundRect">
            <a:avLst/>
          </a:prstGeom>
          <a:solidFill>
            <a:srgbClr val="FFFFFF"/>
          </a:solidFill>
          <a:ln w="12700">
            <a:solidFill>
              <a:srgbClr val="0E8A5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732520" y="1444752"/>
            <a:ext cx="1508760" cy="18288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350" b="1">
                <a:solidFill>
                  <a:srgbClr val="0E8A57"/>
                </a:solidFill>
                <a:latin typeface="Microsoft YaHei"/>
              </a:rPr>
              <a:t>测试集 113 条</a:t>
            </a:r>
          </a:p>
        </p:txBody>
      </p:sp>
      <p:sp>
        <p:nvSpPr>
          <p:cNvPr id="14" name="Rectangle 13"/>
          <p:cNvSpPr/>
          <p:nvPr/>
        </p:nvSpPr>
        <p:spPr>
          <a:xfrm>
            <a:off x="8732520" y="1719072"/>
            <a:ext cx="1783080" cy="34747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930" b="0">
                <a:solidFill>
                  <a:srgbClr val="53657A"/>
                </a:solidFill>
                <a:latin typeface="Arial"/>
              </a:rPr>
              <a:t>结构化语义路由 0.8761
默认协作复核 0.8850
扩展配置 0.9292</a:t>
            </a:r>
          </a:p>
        </p:txBody>
      </p:sp>
      <p:sp>
        <p:nvSpPr>
          <p:cNvPr id="15" name="Rounded Rectangle 14"/>
          <p:cNvSpPr/>
          <p:nvPr/>
        </p:nvSpPr>
        <p:spPr>
          <a:xfrm>
            <a:off x="8458200" y="2542032"/>
            <a:ext cx="2542032" cy="987552"/>
          </a:xfrm>
          <a:prstGeom prst="roundRect">
            <a:avLst/>
          </a:prstGeom>
          <a:solidFill>
            <a:srgbClr val="FFFFFF"/>
          </a:solidFill>
          <a:ln w="12700">
            <a:solidFill>
              <a:srgbClr val="E9713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732520" y="2761488"/>
            <a:ext cx="1325880" cy="18288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350" b="1">
                <a:solidFill>
                  <a:srgbClr val="E97132"/>
                </a:solidFill>
                <a:latin typeface="Microsoft YaHei"/>
              </a:rPr>
              <a:t>稳定性含义</a:t>
            </a:r>
          </a:p>
        </p:txBody>
      </p:sp>
      <p:sp>
        <p:nvSpPr>
          <p:cNvPr id="17" name="Rectangle 16"/>
          <p:cNvSpPr/>
          <p:nvPr/>
        </p:nvSpPr>
        <p:spPr>
          <a:xfrm>
            <a:off x="8732520" y="3035808"/>
            <a:ext cx="1783080" cy="310896"/>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890" b="0">
                <a:solidFill>
                  <a:srgbClr val="53657A"/>
                </a:solidFill>
                <a:latin typeface="Microsoft YaHei"/>
              </a:rPr>
              <a:t>累计到 73、93、113 条时，三条方法曲线保持相对排序，没有因新增样本出现反转。</a:t>
            </a:r>
          </a:p>
        </p:txBody>
      </p:sp>
      <p:sp>
        <p:nvSpPr>
          <p:cNvPr id="18" name="Rounded Rectangle 17"/>
          <p:cNvSpPr/>
          <p:nvPr/>
        </p:nvSpPr>
        <p:spPr>
          <a:xfrm>
            <a:off x="8458200" y="3785615"/>
            <a:ext cx="2542032" cy="1188720"/>
          </a:xfrm>
          <a:prstGeom prst="roundRect">
            <a:avLst/>
          </a:prstGeom>
          <a:solidFill>
            <a:srgbClr val="FFF1F1"/>
          </a:solidFill>
          <a:ln w="12700">
            <a:solidFill>
              <a:srgbClr val="F1C3C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8732520" y="4078224"/>
            <a:ext cx="1143000" cy="18288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350" b="1">
                <a:solidFill>
                  <a:srgbClr val="B93232"/>
                </a:solidFill>
                <a:latin typeface="Microsoft YaHei"/>
              </a:rPr>
              <a:t>答辩话术</a:t>
            </a:r>
          </a:p>
        </p:txBody>
      </p:sp>
      <p:sp>
        <p:nvSpPr>
          <p:cNvPr id="20" name="Rectangle 19"/>
          <p:cNvSpPr/>
          <p:nvPr/>
        </p:nvSpPr>
        <p:spPr>
          <a:xfrm>
            <a:off x="8732520" y="4334256"/>
            <a:ext cx="1783080" cy="43891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810" b="0">
                <a:solidFill>
                  <a:srgbClr val="53657A"/>
                </a:solidFill>
                <a:latin typeface="Microsoft YaHei"/>
              </a:rPr>
              <a:t>不声称覆盖全部未来命名空间；当前 563 样本用于排除“少量早期样本偶然支撑”的解释。</a:t>
            </a:r>
          </a:p>
        </p:txBody>
      </p:sp>
      <p:sp>
        <p:nvSpPr>
          <p:cNvPr id="21" name="Rectangle 20"/>
          <p:cNvSpPr/>
          <p:nvPr/>
        </p:nvSpPr>
        <p:spPr>
          <a:xfrm>
            <a:off x="841248" y="5742432"/>
            <a:ext cx="9326880" cy="219456"/>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320" b="1">
                <a:solidFill>
                  <a:srgbClr val="102033"/>
                </a:solidFill>
                <a:latin typeface="Microsoft YaHei"/>
              </a:rPr>
              <a:t>这一页是新版论文的关键补强：把“项目样本规模是否支撑结论”从口头解释变成可视化证据。</a:t>
            </a:r>
          </a:p>
        </p:txBody>
      </p:sp>
      <p:sp>
        <p:nvSpPr>
          <p:cNvPr id="22" name="Rectangle 21"/>
          <p:cNvSpPr/>
          <p:nvPr/>
        </p:nvSpPr>
        <p:spPr>
          <a:xfrm>
            <a:off x="475488" y="6473952"/>
            <a:ext cx="8595360" cy="10160"/>
          </a:xfrm>
          <a:prstGeom prst="rect">
            <a:avLst/>
          </a:prstGeom>
          <a:solidFill>
            <a:srgbClr val="C8DB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475488" y="6537960"/>
            <a:ext cx="5486400"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750" b="0">
                <a:solidFill>
                  <a:srgbClr val="53657A"/>
                </a:solidFill>
                <a:latin typeface="Microsoft YaHei"/>
              </a:rPr>
              <a:t>面向互联网基础资源的大模型多智能体协作与可信认知标识技术研究</a:t>
            </a:r>
          </a:p>
        </p:txBody>
      </p:sp>
      <p:sp>
        <p:nvSpPr>
          <p:cNvPr id="24" name="Rectangle 23"/>
          <p:cNvSpPr/>
          <p:nvPr/>
        </p:nvSpPr>
        <p:spPr>
          <a:xfrm>
            <a:off x="11155680" y="6501384"/>
            <a:ext cx="384048"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r"/>
            <a:r>
              <a:rPr sz="800" b="0">
                <a:solidFill>
                  <a:srgbClr val="53657A"/>
                </a:solidFill>
                <a:latin typeface="Arial"/>
              </a:rPr>
              <a:t>18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light_texture.png"/>
          <p:cNvPicPr>
            <a:picLocks noChangeAspect="1"/>
          </p:cNvPicPr>
          <p:nvPr/>
        </p:nvPicPr>
        <p:blipFill>
          <a:blip r:embed="rId2"/>
          <a:stretch>
            <a:fillRect/>
          </a:stretch>
        </p:blipFill>
        <p:spPr>
          <a:xfrm>
            <a:off x="0" y="0"/>
            <a:ext cx="12191999" cy="6858000"/>
          </a:xfrm>
          <a:prstGeom prst="rect">
            <a:avLst/>
          </a:prstGeom>
        </p:spPr>
      </p:pic>
      <p:sp>
        <p:nvSpPr>
          <p:cNvPr id="3" name="Rectangle 2"/>
          <p:cNvSpPr/>
          <p:nvPr/>
        </p:nvSpPr>
        <p:spPr>
          <a:xfrm>
            <a:off x="0" y="0"/>
            <a:ext cx="12191999" cy="109728"/>
          </a:xfrm>
          <a:prstGeom prst="rect">
            <a:avLst/>
          </a:prstGeom>
          <a:solidFill>
            <a:srgbClr val="082B6D"/>
          </a:solidFill>
          <a:ln w="12700">
            <a:solidFill>
              <a:srgbClr val="082B6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9728"/>
            <a:ext cx="12191999" cy="32004"/>
          </a:xfrm>
          <a:prstGeom prst="rect">
            <a:avLst/>
          </a:prstGeom>
          <a:solidFill>
            <a:srgbClr val="1E83E6"/>
          </a:solidFill>
          <a:ln w="12700">
            <a:solidFill>
              <a:srgbClr val="1E83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475488" y="283464"/>
            <a:ext cx="676656" cy="237744"/>
          </a:xfrm>
          <a:prstGeom prst="roundRect">
            <a:avLst/>
          </a:prstGeom>
          <a:solidFill>
            <a:srgbClr val="E7F1FF"/>
          </a:solidFill>
          <a:ln w="11430">
            <a:solidFill>
              <a:srgbClr val="C8DBEF"/>
            </a:solidFill>
          </a:ln>
        </p:spPr>
        <p:style>
          <a:lnRef idx="1">
            <a:schemeClr val="accent1"/>
          </a:lnRef>
          <a:fillRef idx="3">
            <a:schemeClr val="accent1"/>
          </a:fillRef>
          <a:effectRef idx="2">
            <a:schemeClr val="accent1"/>
          </a:effectRef>
          <a:fontRef idx="minor">
            <a:schemeClr val="lt1"/>
          </a:fontRef>
        </p:style>
        <p:txBody>
          <a:bodyPr rtlCol="0" anchor="ctr" lIns="36576" rIns="36576" tIns="18288" bIns="18288"/>
          <a:lstStyle/>
          <a:p>
            <a:pPr algn="ctr"/>
            <a:r>
              <a:rPr sz="1200" b="1">
                <a:solidFill>
                  <a:srgbClr val="0B63CE"/>
                </a:solidFill>
                <a:latin typeface="Microsoft YaHei"/>
              </a:rPr>
              <a:t>17</a:t>
            </a:r>
          </a:p>
        </p:txBody>
      </p:sp>
      <p:sp>
        <p:nvSpPr>
          <p:cNvPr id="6" name="Rectangle 5"/>
          <p:cNvSpPr/>
          <p:nvPr/>
        </p:nvSpPr>
        <p:spPr>
          <a:xfrm>
            <a:off x="1298448" y="237744"/>
            <a:ext cx="8412480" cy="38404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2200" b="1">
                <a:solidFill>
                  <a:srgbClr val="102033"/>
                </a:solidFill>
                <a:latin typeface="Microsoft YaHei"/>
              </a:rPr>
              <a:t>消融结果：收益不是“多问几个智能体”，而是职责视图与授权改判</a:t>
            </a:r>
          </a:p>
        </p:txBody>
      </p:sp>
      <p:sp>
        <p:nvSpPr>
          <p:cNvPr id="7" name="Rectangle 6"/>
          <p:cNvSpPr/>
          <p:nvPr/>
        </p:nvSpPr>
        <p:spPr>
          <a:xfrm>
            <a:off x="1298448" y="621792"/>
            <a:ext cx="8595360" cy="237744"/>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080" b="0">
                <a:solidFill>
                  <a:srgbClr val="53657A"/>
                </a:solidFill>
                <a:latin typeface="Microsoft YaHei"/>
              </a:rPr>
              <a:t>协作协议对齐子集 n=80：单角色复核和同质复核均无增益，职责化协作复核达到 0.9250。</a:t>
            </a:r>
          </a:p>
        </p:txBody>
      </p:sp>
      <p:sp>
        <p:nvSpPr>
          <p:cNvPr id="8" name="Rectangle 7"/>
          <p:cNvSpPr/>
          <p:nvPr/>
        </p:nvSpPr>
        <p:spPr>
          <a:xfrm>
            <a:off x="10698480" y="256032"/>
            <a:ext cx="1005840" cy="25603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r"/>
            <a:r>
              <a:rPr sz="2100" b="1">
                <a:solidFill>
                  <a:srgbClr val="0B63CE"/>
                </a:solidFill>
                <a:latin typeface="Arial"/>
              </a:rPr>
              <a:t>CNNIC</a:t>
            </a:r>
          </a:p>
        </p:txBody>
      </p:sp>
      <p:sp>
        <p:nvSpPr>
          <p:cNvPr id="9" name="Rectangle 8"/>
          <p:cNvSpPr/>
          <p:nvPr/>
        </p:nvSpPr>
        <p:spPr>
          <a:xfrm>
            <a:off x="10012680" y="530352"/>
            <a:ext cx="1691640"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r"/>
            <a:r>
              <a:rPr sz="850" b="0">
                <a:solidFill>
                  <a:srgbClr val="53657A"/>
                </a:solidFill>
                <a:latin typeface="Microsoft YaHei"/>
              </a:rPr>
              <a:t>中国互联网络信息中心</a:t>
            </a:r>
          </a:p>
        </p:txBody>
      </p:sp>
      <p:sp>
        <p:nvSpPr>
          <p:cNvPr id="10" name="Rounded Rectangle 9"/>
          <p:cNvSpPr/>
          <p:nvPr/>
        </p:nvSpPr>
        <p:spPr>
          <a:xfrm>
            <a:off x="685800" y="1170432"/>
            <a:ext cx="5989320" cy="4160520"/>
          </a:xfrm>
          <a:prstGeom prst="roundRect">
            <a:avLst/>
          </a:prstGeom>
          <a:solidFill>
            <a:srgbClr val="FFFFFF"/>
          </a:solidFill>
          <a:ln w="12700">
            <a:solidFill>
              <a:srgbClr val="C8DB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03_holdout3_collaboration_ablation.png"/>
          <p:cNvPicPr>
            <a:picLocks noChangeAspect="1"/>
          </p:cNvPicPr>
          <p:nvPr/>
        </p:nvPicPr>
        <p:blipFill>
          <a:blip r:embed="rId3"/>
          <a:stretch>
            <a:fillRect/>
          </a:stretch>
        </p:blipFill>
        <p:spPr>
          <a:xfrm>
            <a:off x="950976" y="1481328"/>
            <a:ext cx="5440680" cy="3429000"/>
          </a:xfrm>
          <a:prstGeom prst="rect">
            <a:avLst/>
          </a:prstGeom>
        </p:spPr>
      </p:pic>
      <p:sp>
        <p:nvSpPr>
          <p:cNvPr id="12" name="Rounded Rectangle 11"/>
          <p:cNvSpPr/>
          <p:nvPr/>
        </p:nvSpPr>
        <p:spPr>
          <a:xfrm>
            <a:off x="6995160" y="1335024"/>
            <a:ext cx="3520440" cy="960120"/>
          </a:xfrm>
          <a:prstGeom prst="roundRect">
            <a:avLst/>
          </a:prstGeom>
          <a:solidFill>
            <a:srgbClr val="FFF1F1"/>
          </a:solidFill>
          <a:ln w="12700">
            <a:solidFill>
              <a:srgbClr val="F1C3C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315200" y="1536192"/>
            <a:ext cx="2743200" cy="25603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ctr"/>
            <a:r>
              <a:rPr sz="2100" b="1">
                <a:solidFill>
                  <a:srgbClr val="B93232"/>
                </a:solidFill>
                <a:latin typeface="Arial"/>
              </a:rPr>
              <a:t>0.8625 → 0.9250</a:t>
            </a:r>
          </a:p>
        </p:txBody>
      </p:sp>
      <p:sp>
        <p:nvSpPr>
          <p:cNvPr id="14" name="Rectangle 13"/>
          <p:cNvSpPr/>
          <p:nvPr/>
        </p:nvSpPr>
        <p:spPr>
          <a:xfrm>
            <a:off x="7370064" y="1874519"/>
            <a:ext cx="2560320"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ctr"/>
            <a:r>
              <a:rPr sz="950" b="0">
                <a:solidFill>
                  <a:srgbClr val="53657A"/>
                </a:solidFill>
                <a:latin typeface="Microsoft YaHei"/>
              </a:rPr>
              <a:t>职责化协作复核（扩展配置）</a:t>
            </a:r>
          </a:p>
        </p:txBody>
      </p:sp>
      <p:sp>
        <p:nvSpPr>
          <p:cNvPr id="15" name="Rounded Rectangle 14"/>
          <p:cNvSpPr/>
          <p:nvPr/>
        </p:nvSpPr>
        <p:spPr>
          <a:xfrm>
            <a:off x="6995160" y="2560320"/>
            <a:ext cx="3520440" cy="804672"/>
          </a:xfrm>
          <a:prstGeom prst="roundRect">
            <a:avLst/>
          </a:prstGeom>
          <a:solidFill>
            <a:srgbClr val="FFFFFF"/>
          </a:solidFill>
          <a:ln w="12700">
            <a:solidFill>
              <a:srgbClr val="C8DB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452360" y="2743200"/>
            <a:ext cx="1371600" cy="219456"/>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800" b="1">
                <a:solidFill>
                  <a:srgbClr val="53657A"/>
                </a:solidFill>
                <a:latin typeface="Arial"/>
              </a:rPr>
              <a:t>0 / 0 / 0</a:t>
            </a:r>
          </a:p>
        </p:txBody>
      </p:sp>
      <p:sp>
        <p:nvSpPr>
          <p:cNvPr id="17" name="Rectangle 16"/>
          <p:cNvSpPr/>
          <p:nvPr/>
        </p:nvSpPr>
        <p:spPr>
          <a:xfrm>
            <a:off x="8577072" y="2761488"/>
            <a:ext cx="1508760"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860" b="0">
                <a:solidFill>
                  <a:srgbClr val="53657A"/>
                </a:solidFill>
                <a:latin typeface="Microsoft YaHei"/>
              </a:rPr>
              <a:t>单角色与同质复核均未产生改写</a:t>
            </a:r>
          </a:p>
        </p:txBody>
      </p:sp>
      <p:sp>
        <p:nvSpPr>
          <p:cNvPr id="18" name="Rounded Rectangle 17"/>
          <p:cNvSpPr/>
          <p:nvPr/>
        </p:nvSpPr>
        <p:spPr>
          <a:xfrm>
            <a:off x="6995160" y="3611880"/>
            <a:ext cx="3520440" cy="1508760"/>
          </a:xfrm>
          <a:prstGeom prst="roundRect">
            <a:avLst/>
          </a:prstGeom>
          <a:solidFill>
            <a:srgbClr val="E7F1FF"/>
          </a:solidFill>
          <a:ln w="12700">
            <a:solidFill>
              <a:srgbClr val="7FB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7269480" y="3886200"/>
            <a:ext cx="822960" cy="20116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500" b="1">
                <a:solidFill>
                  <a:srgbClr val="0B63CE"/>
                </a:solidFill>
                <a:latin typeface="Microsoft YaHei"/>
              </a:rPr>
              <a:t>硬结论</a:t>
            </a:r>
          </a:p>
        </p:txBody>
      </p:sp>
      <p:sp>
        <p:nvSpPr>
          <p:cNvPr id="20" name="Oval 19"/>
          <p:cNvSpPr/>
          <p:nvPr/>
        </p:nvSpPr>
        <p:spPr>
          <a:xfrm>
            <a:off x="7296912" y="4279392"/>
            <a:ext cx="68580" cy="68580"/>
          </a:xfrm>
          <a:prstGeom prst="ellipse">
            <a:avLst/>
          </a:prstGeom>
          <a:solidFill>
            <a:srgbClr val="0B63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461504" y="4224528"/>
            <a:ext cx="2743200" cy="219456"/>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819" b="0">
                <a:solidFill>
                  <a:srgbClr val="102033"/>
                </a:solidFill>
                <a:latin typeface="Microsoft YaHei"/>
              </a:rPr>
              <a:t>附加复核流程本身不足以提升准确率</a:t>
            </a:r>
          </a:p>
        </p:txBody>
      </p:sp>
      <p:sp>
        <p:nvSpPr>
          <p:cNvPr id="22" name="Oval 21"/>
          <p:cNvSpPr/>
          <p:nvPr/>
        </p:nvSpPr>
        <p:spPr>
          <a:xfrm>
            <a:off x="7296912" y="4572000"/>
            <a:ext cx="68580" cy="68580"/>
          </a:xfrm>
          <a:prstGeom prst="ellipse">
            <a:avLst/>
          </a:prstGeom>
          <a:solidFill>
            <a:srgbClr val="0B63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461504" y="4517136"/>
            <a:ext cx="2743200" cy="219456"/>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819" b="0">
                <a:solidFill>
                  <a:srgbClr val="102033"/>
                </a:solidFill>
                <a:latin typeface="Microsoft YaHei"/>
              </a:rPr>
              <a:t>互补职责 + 结构化证据 + 授权门槛同时成立才有收益</a:t>
            </a:r>
          </a:p>
        </p:txBody>
      </p:sp>
      <p:sp>
        <p:nvSpPr>
          <p:cNvPr id="24" name="Oval 23"/>
          <p:cNvSpPr/>
          <p:nvPr/>
        </p:nvSpPr>
        <p:spPr>
          <a:xfrm>
            <a:off x="7296912" y="4864607"/>
            <a:ext cx="68580" cy="68580"/>
          </a:xfrm>
          <a:prstGeom prst="ellipse">
            <a:avLst/>
          </a:prstGeom>
          <a:solidFill>
            <a:srgbClr val="0B63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7461504" y="4809744"/>
            <a:ext cx="2743200" cy="219456"/>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819" b="0">
                <a:solidFill>
                  <a:srgbClr val="102033"/>
                </a:solidFill>
                <a:latin typeface="Microsoft YaHei"/>
              </a:rPr>
              <a:t>5/5/0 说明改判不是盲目放行</a:t>
            </a:r>
          </a:p>
        </p:txBody>
      </p:sp>
      <p:sp>
        <p:nvSpPr>
          <p:cNvPr id="26" name="Rectangle 25"/>
          <p:cNvSpPr/>
          <p:nvPr/>
        </p:nvSpPr>
        <p:spPr>
          <a:xfrm>
            <a:off x="475488" y="6473952"/>
            <a:ext cx="8595360" cy="10160"/>
          </a:xfrm>
          <a:prstGeom prst="rect">
            <a:avLst/>
          </a:prstGeom>
          <a:solidFill>
            <a:srgbClr val="C8DB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475488" y="6537960"/>
            <a:ext cx="5486400"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750" b="0">
                <a:solidFill>
                  <a:srgbClr val="53657A"/>
                </a:solidFill>
                <a:latin typeface="Microsoft YaHei"/>
              </a:rPr>
              <a:t>面向互联网基础资源的大模型多智能体协作与可信认知标识技术研究</a:t>
            </a:r>
          </a:p>
        </p:txBody>
      </p:sp>
      <p:sp>
        <p:nvSpPr>
          <p:cNvPr id="28" name="Rectangle 27"/>
          <p:cNvSpPr/>
          <p:nvPr/>
        </p:nvSpPr>
        <p:spPr>
          <a:xfrm>
            <a:off x="11155680" y="6501384"/>
            <a:ext cx="384048"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r"/>
            <a:r>
              <a:rPr sz="800" b="0">
                <a:solidFill>
                  <a:srgbClr val="53657A"/>
                </a:solidFill>
                <a:latin typeface="Arial"/>
              </a:rPr>
              <a:t>19</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light_texture.png"/>
          <p:cNvPicPr>
            <a:picLocks noChangeAspect="1"/>
          </p:cNvPicPr>
          <p:nvPr/>
        </p:nvPicPr>
        <p:blipFill>
          <a:blip r:embed="rId2"/>
          <a:stretch>
            <a:fillRect/>
          </a:stretch>
        </p:blipFill>
        <p:spPr>
          <a:xfrm>
            <a:off x="0" y="0"/>
            <a:ext cx="12191999" cy="6858000"/>
          </a:xfrm>
          <a:prstGeom prst="rect">
            <a:avLst/>
          </a:prstGeom>
        </p:spPr>
      </p:pic>
      <p:sp>
        <p:nvSpPr>
          <p:cNvPr id="3" name="Rectangle 2"/>
          <p:cNvSpPr/>
          <p:nvPr/>
        </p:nvSpPr>
        <p:spPr>
          <a:xfrm>
            <a:off x="0" y="0"/>
            <a:ext cx="12191999" cy="109728"/>
          </a:xfrm>
          <a:prstGeom prst="rect">
            <a:avLst/>
          </a:prstGeom>
          <a:solidFill>
            <a:srgbClr val="082B6D"/>
          </a:solidFill>
          <a:ln w="12700">
            <a:solidFill>
              <a:srgbClr val="082B6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9728"/>
            <a:ext cx="12191999" cy="32004"/>
          </a:xfrm>
          <a:prstGeom prst="rect">
            <a:avLst/>
          </a:prstGeom>
          <a:solidFill>
            <a:srgbClr val="1E83E6"/>
          </a:solidFill>
          <a:ln w="12700">
            <a:solidFill>
              <a:srgbClr val="1E83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475488" y="283464"/>
            <a:ext cx="676656" cy="237744"/>
          </a:xfrm>
          <a:prstGeom prst="roundRect">
            <a:avLst/>
          </a:prstGeom>
          <a:solidFill>
            <a:srgbClr val="E7F1FF"/>
          </a:solidFill>
          <a:ln w="11430">
            <a:solidFill>
              <a:srgbClr val="C8DBEF"/>
            </a:solidFill>
          </a:ln>
        </p:spPr>
        <p:style>
          <a:lnRef idx="1">
            <a:schemeClr val="accent1"/>
          </a:lnRef>
          <a:fillRef idx="3">
            <a:schemeClr val="accent1"/>
          </a:fillRef>
          <a:effectRef idx="2">
            <a:schemeClr val="accent1"/>
          </a:effectRef>
          <a:fontRef idx="minor">
            <a:schemeClr val="lt1"/>
          </a:fontRef>
        </p:style>
        <p:txBody>
          <a:bodyPr rtlCol="0" anchor="ctr" lIns="36576" rIns="36576" tIns="18288" bIns="18288"/>
          <a:lstStyle/>
          <a:p>
            <a:pPr algn="ctr"/>
            <a:r>
              <a:rPr sz="1200" b="1">
                <a:solidFill>
                  <a:srgbClr val="0B63CE"/>
                </a:solidFill>
                <a:latin typeface="Microsoft YaHei"/>
              </a:rPr>
              <a:t>18</a:t>
            </a:r>
          </a:p>
        </p:txBody>
      </p:sp>
      <p:sp>
        <p:nvSpPr>
          <p:cNvPr id="6" name="Rectangle 5"/>
          <p:cNvSpPr/>
          <p:nvPr/>
        </p:nvSpPr>
        <p:spPr>
          <a:xfrm>
            <a:off x="1298448" y="237744"/>
            <a:ext cx="8412480" cy="38404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2200" b="1">
                <a:solidFill>
                  <a:srgbClr val="102033"/>
                </a:solidFill>
                <a:latin typeface="Microsoft YaHei"/>
              </a:rPr>
              <a:t>典型案例：复杂样本修正可以追到具体语义冲突</a:t>
            </a:r>
          </a:p>
        </p:txBody>
      </p:sp>
      <p:sp>
        <p:nvSpPr>
          <p:cNvPr id="7" name="Rectangle 6"/>
          <p:cNvSpPr/>
          <p:nvPr/>
        </p:nvSpPr>
        <p:spPr>
          <a:xfrm>
            <a:off x="1298448" y="621792"/>
            <a:ext cx="8595360" cy="237744"/>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080" b="0">
                <a:solidFill>
                  <a:srgbClr val="53657A"/>
                </a:solidFill>
                <a:latin typeface="Microsoft YaHei"/>
              </a:rPr>
              <a:t>新版论文选取跨域竞争、主次意图拆分和跨域重叠 3 类代表性困难场景。</a:t>
            </a:r>
          </a:p>
        </p:txBody>
      </p:sp>
      <p:sp>
        <p:nvSpPr>
          <p:cNvPr id="8" name="Rectangle 7"/>
          <p:cNvSpPr/>
          <p:nvPr/>
        </p:nvSpPr>
        <p:spPr>
          <a:xfrm>
            <a:off x="10698480" y="256032"/>
            <a:ext cx="1005840" cy="25603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r"/>
            <a:r>
              <a:rPr sz="2100" b="1">
                <a:solidFill>
                  <a:srgbClr val="0B63CE"/>
                </a:solidFill>
                <a:latin typeface="Arial"/>
              </a:rPr>
              <a:t>CNNIC</a:t>
            </a:r>
          </a:p>
        </p:txBody>
      </p:sp>
      <p:sp>
        <p:nvSpPr>
          <p:cNvPr id="9" name="Rectangle 8"/>
          <p:cNvSpPr/>
          <p:nvPr/>
        </p:nvSpPr>
        <p:spPr>
          <a:xfrm>
            <a:off x="10012680" y="530352"/>
            <a:ext cx="1691640"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r"/>
            <a:r>
              <a:rPr sz="850" b="0">
                <a:solidFill>
                  <a:srgbClr val="53657A"/>
                </a:solidFill>
                <a:latin typeface="Microsoft YaHei"/>
              </a:rPr>
              <a:t>中国互联网络信息中心</a:t>
            </a:r>
          </a:p>
        </p:txBody>
      </p:sp>
      <p:sp>
        <p:nvSpPr>
          <p:cNvPr id="10" name="Rectangle 9"/>
          <p:cNvSpPr/>
          <p:nvPr/>
        </p:nvSpPr>
        <p:spPr>
          <a:xfrm>
            <a:off x="658368" y="1261872"/>
            <a:ext cx="3108960" cy="384048"/>
          </a:xfrm>
          <a:prstGeom prst="rect">
            <a:avLst/>
          </a:prstGeom>
          <a:solidFill>
            <a:srgbClr val="082B6D"/>
          </a:solidFill>
          <a:ln w="12700">
            <a:solidFill>
              <a:srgbClr val="082B6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31519" y="1371600"/>
            <a:ext cx="2962656" cy="128016"/>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ctr"/>
            <a:r>
              <a:rPr sz="919" b="1">
                <a:solidFill>
                  <a:srgbClr val="FFFFFF"/>
                </a:solidFill>
                <a:latin typeface="Microsoft YaHei"/>
              </a:rPr>
              <a:t>样本类型</a:t>
            </a:r>
          </a:p>
        </p:txBody>
      </p:sp>
      <p:sp>
        <p:nvSpPr>
          <p:cNvPr id="12" name="Rectangle 11"/>
          <p:cNvSpPr/>
          <p:nvPr/>
        </p:nvSpPr>
        <p:spPr>
          <a:xfrm>
            <a:off x="3767328" y="1261872"/>
            <a:ext cx="2194560" cy="384048"/>
          </a:xfrm>
          <a:prstGeom prst="rect">
            <a:avLst/>
          </a:prstGeom>
          <a:solidFill>
            <a:srgbClr val="082B6D"/>
          </a:solidFill>
          <a:ln w="12700">
            <a:solidFill>
              <a:srgbClr val="082B6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3840480" y="1371600"/>
            <a:ext cx="2048255" cy="128016"/>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ctr"/>
            <a:r>
              <a:rPr sz="919" b="1">
                <a:solidFill>
                  <a:srgbClr val="FFFFFF"/>
                </a:solidFill>
                <a:latin typeface="Microsoft YaHei"/>
              </a:rPr>
              <a:t>单智能体结果</a:t>
            </a:r>
          </a:p>
        </p:txBody>
      </p:sp>
      <p:sp>
        <p:nvSpPr>
          <p:cNvPr id="14" name="Rectangle 13"/>
          <p:cNvSpPr/>
          <p:nvPr/>
        </p:nvSpPr>
        <p:spPr>
          <a:xfrm>
            <a:off x="5961888" y="1261872"/>
            <a:ext cx="2194560" cy="384048"/>
          </a:xfrm>
          <a:prstGeom prst="rect">
            <a:avLst/>
          </a:prstGeom>
          <a:solidFill>
            <a:srgbClr val="082B6D"/>
          </a:solidFill>
          <a:ln w="12700">
            <a:solidFill>
              <a:srgbClr val="082B6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035040" y="1371600"/>
            <a:ext cx="2048255" cy="128016"/>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ctr"/>
            <a:r>
              <a:rPr sz="919" b="1">
                <a:solidFill>
                  <a:srgbClr val="FFFFFF"/>
                </a:solidFill>
                <a:latin typeface="Microsoft YaHei"/>
              </a:rPr>
              <a:t>协作复核结果</a:t>
            </a:r>
          </a:p>
        </p:txBody>
      </p:sp>
      <p:sp>
        <p:nvSpPr>
          <p:cNvPr id="16" name="Rectangle 15"/>
          <p:cNvSpPr/>
          <p:nvPr/>
        </p:nvSpPr>
        <p:spPr>
          <a:xfrm>
            <a:off x="8156448" y="1261872"/>
            <a:ext cx="3017520" cy="384048"/>
          </a:xfrm>
          <a:prstGeom prst="rect">
            <a:avLst/>
          </a:prstGeom>
          <a:solidFill>
            <a:srgbClr val="082B6D"/>
          </a:solidFill>
          <a:ln w="12700">
            <a:solidFill>
              <a:srgbClr val="082B6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229600" y="1371600"/>
            <a:ext cx="2871215" cy="128016"/>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ctr"/>
            <a:r>
              <a:rPr sz="919" b="1">
                <a:solidFill>
                  <a:srgbClr val="FFFFFF"/>
                </a:solidFill>
                <a:latin typeface="Microsoft YaHei"/>
              </a:rPr>
              <a:t>修正原因</a:t>
            </a:r>
          </a:p>
        </p:txBody>
      </p:sp>
      <p:sp>
        <p:nvSpPr>
          <p:cNvPr id="18" name="Rectangle 17"/>
          <p:cNvSpPr/>
          <p:nvPr/>
        </p:nvSpPr>
        <p:spPr>
          <a:xfrm>
            <a:off x="658368" y="1645919"/>
            <a:ext cx="3108960" cy="841248"/>
          </a:xfrm>
          <a:prstGeom prst="rect">
            <a:avLst/>
          </a:prstGeom>
          <a:solidFill>
            <a:srgbClr val="FFFFFF"/>
          </a:solidFill>
          <a:ln w="12700">
            <a:solidFill>
              <a:srgbClr val="DBE8F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768096" y="1901952"/>
            <a:ext cx="2889504" cy="219456"/>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930" b="0">
                <a:solidFill>
                  <a:srgbClr val="102033"/>
                </a:solidFill>
                <a:latin typeface="Microsoft YaHei"/>
              </a:rPr>
              <a:t>000038 / 跨域竞争</a:t>
            </a:r>
          </a:p>
        </p:txBody>
      </p:sp>
      <p:sp>
        <p:nvSpPr>
          <p:cNvPr id="20" name="Rectangle 19"/>
          <p:cNvSpPr/>
          <p:nvPr/>
        </p:nvSpPr>
        <p:spPr>
          <a:xfrm>
            <a:off x="3767328" y="1645919"/>
            <a:ext cx="2194560" cy="841248"/>
          </a:xfrm>
          <a:prstGeom prst="rect">
            <a:avLst/>
          </a:prstGeom>
          <a:solidFill>
            <a:srgbClr val="FFFFFF"/>
          </a:solidFill>
          <a:ln w="12700">
            <a:solidFill>
              <a:srgbClr val="DBE8F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3877056" y="1901952"/>
            <a:ext cx="1975104" cy="219456"/>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930" b="1">
                <a:solidFill>
                  <a:srgbClr val="B93232"/>
                </a:solidFill>
                <a:latin typeface="Arial"/>
              </a:rPr>
              <a:t>course.education.cn</a:t>
            </a:r>
          </a:p>
        </p:txBody>
      </p:sp>
      <p:sp>
        <p:nvSpPr>
          <p:cNvPr id="22" name="Rectangle 21"/>
          <p:cNvSpPr/>
          <p:nvPr/>
        </p:nvSpPr>
        <p:spPr>
          <a:xfrm>
            <a:off x="5961888" y="1645919"/>
            <a:ext cx="2194560" cy="841248"/>
          </a:xfrm>
          <a:prstGeom prst="rect">
            <a:avLst/>
          </a:prstGeom>
          <a:solidFill>
            <a:srgbClr val="FFFFFF"/>
          </a:solidFill>
          <a:ln w="12700">
            <a:solidFill>
              <a:srgbClr val="DBE8F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071616" y="1901952"/>
            <a:ext cx="1975104" cy="219456"/>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930" b="1">
                <a:solidFill>
                  <a:srgbClr val="0E8A57"/>
                </a:solidFill>
                <a:latin typeface="Arial"/>
              </a:rPr>
              <a:t>docs.productivity.cn</a:t>
            </a:r>
          </a:p>
        </p:txBody>
      </p:sp>
      <p:sp>
        <p:nvSpPr>
          <p:cNvPr id="24" name="Rectangle 23"/>
          <p:cNvSpPr/>
          <p:nvPr/>
        </p:nvSpPr>
        <p:spPr>
          <a:xfrm>
            <a:off x="8156448" y="1645919"/>
            <a:ext cx="3017520" cy="841248"/>
          </a:xfrm>
          <a:prstGeom prst="rect">
            <a:avLst/>
          </a:prstGeom>
          <a:solidFill>
            <a:srgbClr val="FFFFFF"/>
          </a:solidFill>
          <a:ln w="12700">
            <a:solidFill>
              <a:srgbClr val="DBE8F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266175" y="1901952"/>
            <a:ext cx="2798063" cy="219456"/>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930" b="0">
                <a:solidFill>
                  <a:srgbClr val="102033"/>
                </a:solidFill>
                <a:latin typeface="Microsoft YaHei"/>
              </a:rPr>
              <a:t>词面命中误拉向教育域，复核补充文档处理证据</a:t>
            </a:r>
          </a:p>
        </p:txBody>
      </p:sp>
      <p:sp>
        <p:nvSpPr>
          <p:cNvPr id="26" name="Rectangle 25"/>
          <p:cNvSpPr/>
          <p:nvPr/>
        </p:nvSpPr>
        <p:spPr>
          <a:xfrm>
            <a:off x="658368" y="2487168"/>
            <a:ext cx="3108960" cy="841248"/>
          </a:xfrm>
          <a:prstGeom prst="rect">
            <a:avLst/>
          </a:prstGeom>
          <a:solidFill>
            <a:srgbClr val="FFFFFF"/>
          </a:solidFill>
          <a:ln w="12700">
            <a:solidFill>
              <a:srgbClr val="DBE8F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768096" y="2743200"/>
            <a:ext cx="2889504" cy="219456"/>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930" b="0">
                <a:solidFill>
                  <a:srgbClr val="102033"/>
                </a:solidFill>
                <a:latin typeface="Microsoft YaHei"/>
              </a:rPr>
              <a:t>000173 / 主次意图拆分</a:t>
            </a:r>
          </a:p>
        </p:txBody>
      </p:sp>
      <p:sp>
        <p:nvSpPr>
          <p:cNvPr id="28" name="Rectangle 27"/>
          <p:cNvSpPr/>
          <p:nvPr/>
        </p:nvSpPr>
        <p:spPr>
          <a:xfrm>
            <a:off x="3767328" y="2487168"/>
            <a:ext cx="2194560" cy="841248"/>
          </a:xfrm>
          <a:prstGeom prst="rect">
            <a:avLst/>
          </a:prstGeom>
          <a:solidFill>
            <a:srgbClr val="FFFFFF"/>
          </a:solidFill>
          <a:ln w="12700">
            <a:solidFill>
              <a:srgbClr val="DBE8F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3877056" y="2743200"/>
            <a:ext cx="1975104" cy="219456"/>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930" b="1">
                <a:solidFill>
                  <a:srgbClr val="B93232"/>
                </a:solidFill>
                <a:latin typeface="Arial"/>
              </a:rPr>
              <a:t>flight.travel.cn</a:t>
            </a:r>
          </a:p>
        </p:txBody>
      </p:sp>
      <p:sp>
        <p:nvSpPr>
          <p:cNvPr id="30" name="Rectangle 29"/>
          <p:cNvSpPr/>
          <p:nvPr/>
        </p:nvSpPr>
        <p:spPr>
          <a:xfrm>
            <a:off x="5961888" y="2487168"/>
            <a:ext cx="2194560" cy="841248"/>
          </a:xfrm>
          <a:prstGeom prst="rect">
            <a:avLst/>
          </a:prstGeom>
          <a:solidFill>
            <a:srgbClr val="FFFFFF"/>
          </a:solidFill>
          <a:ln w="12700">
            <a:solidFill>
              <a:srgbClr val="DBE8F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6071616" y="2743200"/>
            <a:ext cx="1975104" cy="219456"/>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930" b="1">
                <a:solidFill>
                  <a:srgbClr val="0E8A57"/>
                </a:solidFill>
                <a:latin typeface="Arial"/>
              </a:rPr>
              <a:t>transport.travel.cn</a:t>
            </a:r>
          </a:p>
        </p:txBody>
      </p:sp>
      <p:sp>
        <p:nvSpPr>
          <p:cNvPr id="32" name="Rectangle 31"/>
          <p:cNvSpPr/>
          <p:nvPr/>
        </p:nvSpPr>
        <p:spPr>
          <a:xfrm>
            <a:off x="8156448" y="2487168"/>
            <a:ext cx="3017520" cy="841248"/>
          </a:xfrm>
          <a:prstGeom prst="rect">
            <a:avLst/>
          </a:prstGeom>
          <a:solidFill>
            <a:srgbClr val="FFFFFF"/>
          </a:solidFill>
          <a:ln w="12700">
            <a:solidFill>
              <a:srgbClr val="DBE8F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8266175" y="2743200"/>
            <a:ext cx="2798063" cy="219456"/>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930" b="0">
                <a:solidFill>
                  <a:srgbClr val="102033"/>
                </a:solidFill>
                <a:latin typeface="Microsoft YaHei"/>
              </a:rPr>
              <a:t>出行与接驳并存，复核保留接驳任务为主能力</a:t>
            </a:r>
          </a:p>
        </p:txBody>
      </p:sp>
      <p:sp>
        <p:nvSpPr>
          <p:cNvPr id="34" name="Rectangle 33"/>
          <p:cNvSpPr/>
          <p:nvPr/>
        </p:nvSpPr>
        <p:spPr>
          <a:xfrm>
            <a:off x="658368" y="3328415"/>
            <a:ext cx="3108960" cy="841248"/>
          </a:xfrm>
          <a:prstGeom prst="rect">
            <a:avLst/>
          </a:prstGeom>
          <a:solidFill>
            <a:srgbClr val="FFFFFF"/>
          </a:solidFill>
          <a:ln w="12700">
            <a:solidFill>
              <a:srgbClr val="DBE8F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768096" y="3584448"/>
            <a:ext cx="2889504" cy="219456"/>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930" b="0">
                <a:solidFill>
                  <a:srgbClr val="102033"/>
                </a:solidFill>
                <a:latin typeface="Microsoft YaHei"/>
              </a:rPr>
              <a:t>000303 / 跨域重叠</a:t>
            </a:r>
          </a:p>
        </p:txBody>
      </p:sp>
      <p:sp>
        <p:nvSpPr>
          <p:cNvPr id="36" name="Rectangle 35"/>
          <p:cNvSpPr/>
          <p:nvPr/>
        </p:nvSpPr>
        <p:spPr>
          <a:xfrm>
            <a:off x="3767328" y="3328415"/>
            <a:ext cx="2194560" cy="841248"/>
          </a:xfrm>
          <a:prstGeom prst="rect">
            <a:avLst/>
          </a:prstGeom>
          <a:solidFill>
            <a:srgbClr val="FFFFFF"/>
          </a:solidFill>
          <a:ln w="12700">
            <a:solidFill>
              <a:srgbClr val="DBE8F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3877056" y="3584448"/>
            <a:ext cx="1975104" cy="219456"/>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930" b="1">
                <a:solidFill>
                  <a:srgbClr val="B93232"/>
                </a:solidFill>
                <a:latin typeface="Arial"/>
              </a:rPr>
              <a:t>hotel.travel.cn</a:t>
            </a:r>
          </a:p>
        </p:txBody>
      </p:sp>
      <p:sp>
        <p:nvSpPr>
          <p:cNvPr id="38" name="Rectangle 37"/>
          <p:cNvSpPr/>
          <p:nvPr/>
        </p:nvSpPr>
        <p:spPr>
          <a:xfrm>
            <a:off x="5961888" y="3328415"/>
            <a:ext cx="2194560" cy="841248"/>
          </a:xfrm>
          <a:prstGeom prst="rect">
            <a:avLst/>
          </a:prstGeom>
          <a:solidFill>
            <a:srgbClr val="FFFFFF"/>
          </a:solidFill>
          <a:ln w="12700">
            <a:solidFill>
              <a:srgbClr val="DBE8F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6071616" y="3584448"/>
            <a:ext cx="1975104" cy="219456"/>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930" b="1">
                <a:solidFill>
                  <a:srgbClr val="0E8A57"/>
                </a:solidFill>
                <a:latin typeface="Arial"/>
              </a:rPr>
              <a:t>activity.travel.cn</a:t>
            </a:r>
          </a:p>
        </p:txBody>
      </p:sp>
      <p:sp>
        <p:nvSpPr>
          <p:cNvPr id="40" name="Rectangle 39"/>
          <p:cNvSpPr/>
          <p:nvPr/>
        </p:nvSpPr>
        <p:spPr>
          <a:xfrm>
            <a:off x="8156448" y="3328415"/>
            <a:ext cx="3017520" cy="841248"/>
          </a:xfrm>
          <a:prstGeom prst="rect">
            <a:avLst/>
          </a:prstGeom>
          <a:solidFill>
            <a:srgbClr val="FFFFFF"/>
          </a:solidFill>
          <a:ln w="12700">
            <a:solidFill>
              <a:srgbClr val="DBE8F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8266175" y="3584448"/>
            <a:ext cx="2798063" cy="219456"/>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930" b="0">
                <a:solidFill>
                  <a:srgbClr val="102033"/>
                </a:solidFill>
                <a:latin typeface="Microsoft YaHei"/>
              </a:rPr>
              <a:t>活动安排与住宿调整同时出现，复核稳定主任务判断</a:t>
            </a:r>
          </a:p>
        </p:txBody>
      </p:sp>
      <p:sp>
        <p:nvSpPr>
          <p:cNvPr id="42" name="Rectangle 41"/>
          <p:cNvSpPr/>
          <p:nvPr/>
        </p:nvSpPr>
        <p:spPr>
          <a:xfrm>
            <a:off x="749808" y="5074920"/>
            <a:ext cx="8412480" cy="25603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400" b="1">
                <a:solidFill>
                  <a:srgbClr val="102033"/>
                </a:solidFill>
                <a:latin typeface="Microsoft YaHei"/>
              </a:rPr>
              <a:t>案例价值：评审能看到协作复核具体修正了哪类错误，而不是只看到总体准确率。</a:t>
            </a:r>
          </a:p>
        </p:txBody>
      </p:sp>
      <p:sp>
        <p:nvSpPr>
          <p:cNvPr id="43" name="Rectangle 42"/>
          <p:cNvSpPr/>
          <p:nvPr/>
        </p:nvSpPr>
        <p:spPr>
          <a:xfrm>
            <a:off x="475488" y="6473952"/>
            <a:ext cx="8595360" cy="10160"/>
          </a:xfrm>
          <a:prstGeom prst="rect">
            <a:avLst/>
          </a:prstGeom>
          <a:solidFill>
            <a:srgbClr val="C8DB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475488" y="6537960"/>
            <a:ext cx="5486400"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750" b="0">
                <a:solidFill>
                  <a:srgbClr val="53657A"/>
                </a:solidFill>
                <a:latin typeface="Microsoft YaHei"/>
              </a:rPr>
              <a:t>面向互联网基础资源的大模型多智能体协作与可信认知标识技术研究</a:t>
            </a:r>
          </a:p>
        </p:txBody>
      </p:sp>
      <p:sp>
        <p:nvSpPr>
          <p:cNvPr id="45" name="Rectangle 44"/>
          <p:cNvSpPr/>
          <p:nvPr/>
        </p:nvSpPr>
        <p:spPr>
          <a:xfrm>
            <a:off x="11155680" y="6501384"/>
            <a:ext cx="384048"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r"/>
            <a:r>
              <a:rPr sz="800" b="0">
                <a:solidFill>
                  <a:srgbClr val="53657A"/>
                </a:solidFill>
                <a:latin typeface="Arial"/>
              </a:rPr>
              <a:t>20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light_texture.png"/>
          <p:cNvPicPr>
            <a:picLocks noChangeAspect="1"/>
          </p:cNvPicPr>
          <p:nvPr/>
        </p:nvPicPr>
        <p:blipFill>
          <a:blip r:embed="rId2"/>
          <a:stretch>
            <a:fillRect/>
          </a:stretch>
        </p:blipFill>
        <p:spPr>
          <a:xfrm>
            <a:off x="0" y="0"/>
            <a:ext cx="12191999" cy="6858000"/>
          </a:xfrm>
          <a:prstGeom prst="rect">
            <a:avLst/>
          </a:prstGeom>
        </p:spPr>
      </p:pic>
      <p:sp>
        <p:nvSpPr>
          <p:cNvPr id="3" name="Rectangle 2"/>
          <p:cNvSpPr/>
          <p:nvPr/>
        </p:nvSpPr>
        <p:spPr>
          <a:xfrm>
            <a:off x="0" y="0"/>
            <a:ext cx="12191999" cy="109728"/>
          </a:xfrm>
          <a:prstGeom prst="rect">
            <a:avLst/>
          </a:prstGeom>
          <a:solidFill>
            <a:srgbClr val="082B6D"/>
          </a:solidFill>
          <a:ln w="12700">
            <a:solidFill>
              <a:srgbClr val="082B6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9728"/>
            <a:ext cx="12191999" cy="32004"/>
          </a:xfrm>
          <a:prstGeom prst="rect">
            <a:avLst/>
          </a:prstGeom>
          <a:solidFill>
            <a:srgbClr val="1E83E6"/>
          </a:solidFill>
          <a:ln w="12700">
            <a:solidFill>
              <a:srgbClr val="1E83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475488" y="283464"/>
            <a:ext cx="676656" cy="237744"/>
          </a:xfrm>
          <a:prstGeom prst="roundRect">
            <a:avLst/>
          </a:prstGeom>
          <a:solidFill>
            <a:srgbClr val="E7F1FF"/>
          </a:solidFill>
          <a:ln w="11430">
            <a:solidFill>
              <a:srgbClr val="C8DBEF"/>
            </a:solidFill>
          </a:ln>
        </p:spPr>
        <p:style>
          <a:lnRef idx="1">
            <a:schemeClr val="accent1"/>
          </a:lnRef>
          <a:fillRef idx="3">
            <a:schemeClr val="accent1"/>
          </a:fillRef>
          <a:effectRef idx="2">
            <a:schemeClr val="accent1"/>
          </a:effectRef>
          <a:fontRef idx="minor">
            <a:schemeClr val="lt1"/>
          </a:fontRef>
        </p:style>
        <p:txBody>
          <a:bodyPr rtlCol="0" anchor="ctr" lIns="36576" rIns="36576" tIns="18288" bIns="18288"/>
          <a:lstStyle/>
          <a:p>
            <a:pPr algn="ctr"/>
            <a:r>
              <a:rPr sz="1200" b="1">
                <a:solidFill>
                  <a:srgbClr val="0B63CE"/>
                </a:solidFill>
                <a:latin typeface="Microsoft YaHei"/>
              </a:rPr>
              <a:t>19</a:t>
            </a:r>
          </a:p>
        </p:txBody>
      </p:sp>
      <p:sp>
        <p:nvSpPr>
          <p:cNvPr id="6" name="Rectangle 5"/>
          <p:cNvSpPr/>
          <p:nvPr/>
        </p:nvSpPr>
        <p:spPr>
          <a:xfrm>
            <a:off x="1298448" y="237744"/>
            <a:ext cx="8412480" cy="38404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2200" b="1">
                <a:solidFill>
                  <a:srgbClr val="102033"/>
                </a:solidFill>
                <a:latin typeface="Microsoft YaHei"/>
              </a:rPr>
              <a:t>突破创新：把“智能体能力入口选择”做成可验证的技术机制</a:t>
            </a:r>
          </a:p>
        </p:txBody>
      </p:sp>
      <p:sp>
        <p:nvSpPr>
          <p:cNvPr id="7" name="Rectangle 6"/>
          <p:cNvSpPr/>
          <p:nvPr/>
        </p:nvSpPr>
        <p:spPr>
          <a:xfrm>
            <a:off x="1298448" y="621792"/>
            <a:ext cx="8595360" cy="237744"/>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080" b="0">
                <a:solidFill>
                  <a:srgbClr val="53657A"/>
                </a:solidFill>
                <a:latin typeface="Microsoft YaHei"/>
              </a:rPr>
              <a:t>创新不在简单堆叠智能体，而在候选内约束、结构化证据、职责化复核和授权改判的组合设计。</a:t>
            </a:r>
          </a:p>
        </p:txBody>
      </p:sp>
      <p:sp>
        <p:nvSpPr>
          <p:cNvPr id="8" name="Rectangle 7"/>
          <p:cNvSpPr/>
          <p:nvPr/>
        </p:nvSpPr>
        <p:spPr>
          <a:xfrm>
            <a:off x="10698480" y="256032"/>
            <a:ext cx="1005840" cy="25603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r"/>
            <a:r>
              <a:rPr sz="2100" b="1">
                <a:solidFill>
                  <a:srgbClr val="0B63CE"/>
                </a:solidFill>
                <a:latin typeface="Arial"/>
              </a:rPr>
              <a:t>CNNIC</a:t>
            </a:r>
          </a:p>
        </p:txBody>
      </p:sp>
      <p:sp>
        <p:nvSpPr>
          <p:cNvPr id="9" name="Rectangle 8"/>
          <p:cNvSpPr/>
          <p:nvPr/>
        </p:nvSpPr>
        <p:spPr>
          <a:xfrm>
            <a:off x="10012680" y="530352"/>
            <a:ext cx="1691640"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r"/>
            <a:r>
              <a:rPr sz="850" b="0">
                <a:solidFill>
                  <a:srgbClr val="53657A"/>
                </a:solidFill>
                <a:latin typeface="Microsoft YaHei"/>
              </a:rPr>
              <a:t>中国互联网络信息中心</a:t>
            </a:r>
          </a:p>
        </p:txBody>
      </p:sp>
      <p:sp>
        <p:nvSpPr>
          <p:cNvPr id="10" name="Rounded Rectangle 9"/>
          <p:cNvSpPr/>
          <p:nvPr/>
        </p:nvSpPr>
        <p:spPr>
          <a:xfrm>
            <a:off x="777240" y="1417320"/>
            <a:ext cx="3154680" cy="1051560"/>
          </a:xfrm>
          <a:prstGeom prst="roundRect">
            <a:avLst/>
          </a:prstGeom>
          <a:solidFill>
            <a:srgbClr val="FFFFFF"/>
          </a:solidFill>
          <a:ln w="12700">
            <a:solidFill>
              <a:srgbClr val="0B63C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941832" y="1618488"/>
            <a:ext cx="411480" cy="18288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400" b="1">
                <a:solidFill>
                  <a:srgbClr val="0B63CE"/>
                </a:solidFill>
                <a:latin typeface="Arial"/>
              </a:rPr>
              <a:t>01</a:t>
            </a:r>
          </a:p>
        </p:txBody>
      </p:sp>
      <p:sp>
        <p:nvSpPr>
          <p:cNvPr id="12" name="Rectangle 11"/>
          <p:cNvSpPr/>
          <p:nvPr/>
        </p:nvSpPr>
        <p:spPr>
          <a:xfrm>
            <a:off x="1435607" y="1600200"/>
            <a:ext cx="1600200" cy="20116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420" b="1">
                <a:solidFill>
                  <a:srgbClr val="102033"/>
                </a:solidFill>
                <a:latin typeface="Microsoft YaHei"/>
              </a:rPr>
              <a:t>接口层问题定义</a:t>
            </a:r>
          </a:p>
        </p:txBody>
      </p:sp>
      <p:sp>
        <p:nvSpPr>
          <p:cNvPr id="13" name="Rectangle 12"/>
          <p:cNvSpPr/>
          <p:nvPr/>
        </p:nvSpPr>
        <p:spPr>
          <a:xfrm>
            <a:off x="1435607" y="1929384"/>
            <a:ext cx="2057400" cy="310896"/>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019" b="0">
                <a:solidFill>
                  <a:srgbClr val="53657A"/>
                </a:solidFill>
                <a:latin typeface="Microsoft YaHei"/>
              </a:rPr>
              <a:t>发现/注册之后、执行之前，单独定义能力地址语义路由</a:t>
            </a:r>
          </a:p>
        </p:txBody>
      </p:sp>
      <p:sp>
        <p:nvSpPr>
          <p:cNvPr id="14" name="Rounded Rectangle 13"/>
          <p:cNvSpPr/>
          <p:nvPr/>
        </p:nvSpPr>
        <p:spPr>
          <a:xfrm>
            <a:off x="4434840" y="1417320"/>
            <a:ext cx="3154680" cy="1051560"/>
          </a:xfrm>
          <a:prstGeom prst="roundRect">
            <a:avLst/>
          </a:prstGeom>
          <a:solidFill>
            <a:srgbClr val="FFFFFF"/>
          </a:solidFill>
          <a:ln w="12700">
            <a:solidFill>
              <a:srgbClr val="0E8A5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599431" y="1618488"/>
            <a:ext cx="411480" cy="18288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400" b="1">
                <a:solidFill>
                  <a:srgbClr val="0E8A57"/>
                </a:solidFill>
                <a:latin typeface="Arial"/>
              </a:rPr>
              <a:t>02</a:t>
            </a:r>
          </a:p>
        </p:txBody>
      </p:sp>
      <p:sp>
        <p:nvSpPr>
          <p:cNvPr id="16" name="Rectangle 15"/>
          <p:cNvSpPr/>
          <p:nvPr/>
        </p:nvSpPr>
        <p:spPr>
          <a:xfrm>
            <a:off x="5093207" y="1600200"/>
            <a:ext cx="1600200" cy="20116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420" b="1">
                <a:solidFill>
                  <a:srgbClr val="102033"/>
                </a:solidFill>
                <a:latin typeface="Microsoft YaHei"/>
              </a:rPr>
              <a:t>候选内结构化裁决</a:t>
            </a:r>
          </a:p>
        </p:txBody>
      </p:sp>
      <p:sp>
        <p:nvSpPr>
          <p:cNvPr id="17" name="Rectangle 16"/>
          <p:cNvSpPr/>
          <p:nvPr/>
        </p:nvSpPr>
        <p:spPr>
          <a:xfrm>
            <a:off x="5093207" y="1929384"/>
            <a:ext cx="2057400" cy="310896"/>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019" b="0">
                <a:solidFill>
                  <a:srgbClr val="53657A"/>
                </a:solidFill>
                <a:latin typeface="Microsoft YaHei"/>
              </a:rPr>
              <a:t>将大模型输出压缩为 decision packet、score、margin 和冲突摘要</a:t>
            </a:r>
          </a:p>
        </p:txBody>
      </p:sp>
      <p:sp>
        <p:nvSpPr>
          <p:cNvPr id="18" name="Rounded Rectangle 17"/>
          <p:cNvSpPr/>
          <p:nvPr/>
        </p:nvSpPr>
        <p:spPr>
          <a:xfrm>
            <a:off x="8092440" y="1417320"/>
            <a:ext cx="3154680" cy="1051560"/>
          </a:xfrm>
          <a:prstGeom prst="roundRect">
            <a:avLst/>
          </a:prstGeom>
          <a:solidFill>
            <a:srgbClr val="FFFFFF"/>
          </a:solidFill>
          <a:ln w="12700">
            <a:solidFill>
              <a:srgbClr val="E9713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8257031" y="1618488"/>
            <a:ext cx="411480" cy="18288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400" b="1">
                <a:solidFill>
                  <a:srgbClr val="E97132"/>
                </a:solidFill>
                <a:latin typeface="Arial"/>
              </a:rPr>
              <a:t>03</a:t>
            </a:r>
          </a:p>
        </p:txBody>
      </p:sp>
      <p:sp>
        <p:nvSpPr>
          <p:cNvPr id="20" name="Rectangle 19"/>
          <p:cNvSpPr/>
          <p:nvPr/>
        </p:nvSpPr>
        <p:spPr>
          <a:xfrm>
            <a:off x="8750808" y="1600200"/>
            <a:ext cx="1600200" cy="20116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420" b="1">
                <a:solidFill>
                  <a:srgbClr val="102033"/>
                </a:solidFill>
                <a:latin typeface="Microsoft YaHei"/>
              </a:rPr>
              <a:t>职责化协作复核</a:t>
            </a:r>
          </a:p>
        </p:txBody>
      </p:sp>
      <p:sp>
        <p:nvSpPr>
          <p:cNvPr id="21" name="Rectangle 20"/>
          <p:cNvSpPr/>
          <p:nvPr/>
        </p:nvSpPr>
        <p:spPr>
          <a:xfrm>
            <a:off x="8750808" y="1929384"/>
            <a:ext cx="2057400" cy="310896"/>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019" b="0">
                <a:solidFill>
                  <a:srgbClr val="53657A"/>
                </a:solidFill>
                <a:latin typeface="Microsoft YaHei"/>
              </a:rPr>
              <a:t>任务匹配、风险治理、层级解析、用户偏好读取不同证据视图</a:t>
            </a:r>
          </a:p>
        </p:txBody>
      </p:sp>
      <p:sp>
        <p:nvSpPr>
          <p:cNvPr id="22" name="Rounded Rectangle 21"/>
          <p:cNvSpPr/>
          <p:nvPr/>
        </p:nvSpPr>
        <p:spPr>
          <a:xfrm>
            <a:off x="777240" y="2862072"/>
            <a:ext cx="3154680" cy="1051560"/>
          </a:xfrm>
          <a:prstGeom prst="roundRect">
            <a:avLst/>
          </a:prstGeom>
          <a:solidFill>
            <a:srgbClr val="FFFFFF"/>
          </a:solidFill>
          <a:ln w="12700">
            <a:solidFill>
              <a:srgbClr val="6B49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941832" y="3063240"/>
            <a:ext cx="411480" cy="18288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400" b="1">
                <a:solidFill>
                  <a:srgbClr val="6B49C8"/>
                </a:solidFill>
                <a:latin typeface="Arial"/>
              </a:rPr>
              <a:t>04</a:t>
            </a:r>
          </a:p>
        </p:txBody>
      </p:sp>
      <p:sp>
        <p:nvSpPr>
          <p:cNvPr id="24" name="Rectangle 23"/>
          <p:cNvSpPr/>
          <p:nvPr/>
        </p:nvSpPr>
        <p:spPr>
          <a:xfrm>
            <a:off x="1435607" y="3044952"/>
            <a:ext cx="1600200" cy="20116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420" b="1">
                <a:solidFill>
                  <a:srgbClr val="102033"/>
                </a:solidFill>
                <a:latin typeface="Microsoft YaHei"/>
              </a:rPr>
              <a:t>显式授权改判</a:t>
            </a:r>
          </a:p>
        </p:txBody>
      </p:sp>
      <p:sp>
        <p:nvSpPr>
          <p:cNvPr id="25" name="Rectangle 24"/>
          <p:cNvSpPr/>
          <p:nvPr/>
        </p:nvSpPr>
        <p:spPr>
          <a:xfrm>
            <a:off x="1435607" y="3374136"/>
            <a:ext cx="2057400" cy="310896"/>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019" b="0">
                <a:solidFill>
                  <a:srgbClr val="53657A"/>
                </a:solidFill>
                <a:latin typeface="Microsoft YaHei"/>
              </a:rPr>
              <a:t>票数、共识增益、主任务证据和敏感改判门槛共同控制回归</a:t>
            </a:r>
          </a:p>
        </p:txBody>
      </p:sp>
      <p:sp>
        <p:nvSpPr>
          <p:cNvPr id="26" name="Rounded Rectangle 25"/>
          <p:cNvSpPr/>
          <p:nvPr/>
        </p:nvSpPr>
        <p:spPr>
          <a:xfrm>
            <a:off x="4434840" y="2862072"/>
            <a:ext cx="3154680" cy="1051560"/>
          </a:xfrm>
          <a:prstGeom prst="roundRect">
            <a:avLst/>
          </a:prstGeom>
          <a:solidFill>
            <a:srgbClr val="FFFFFF"/>
          </a:solidFill>
          <a:ln w="12700">
            <a:solidFill>
              <a:srgbClr val="B9323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4599431" y="3063240"/>
            <a:ext cx="411480" cy="18288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400" b="1">
                <a:solidFill>
                  <a:srgbClr val="B93232"/>
                </a:solidFill>
                <a:latin typeface="Arial"/>
              </a:rPr>
              <a:t>05</a:t>
            </a:r>
          </a:p>
        </p:txBody>
      </p:sp>
      <p:sp>
        <p:nvSpPr>
          <p:cNvPr id="28" name="Rectangle 27"/>
          <p:cNvSpPr/>
          <p:nvPr/>
        </p:nvSpPr>
        <p:spPr>
          <a:xfrm>
            <a:off x="5093207" y="3044952"/>
            <a:ext cx="1600200" cy="20116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420" b="1">
                <a:solidFill>
                  <a:srgbClr val="102033"/>
                </a:solidFill>
                <a:latin typeface="Microsoft YaHei"/>
              </a:rPr>
              <a:t>统一过程轨迹</a:t>
            </a:r>
          </a:p>
        </p:txBody>
      </p:sp>
      <p:sp>
        <p:nvSpPr>
          <p:cNvPr id="29" name="Rectangle 28"/>
          <p:cNvSpPr/>
          <p:nvPr/>
        </p:nvSpPr>
        <p:spPr>
          <a:xfrm>
            <a:off x="5093207" y="3374136"/>
            <a:ext cx="2057400" cy="310896"/>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019" b="0">
                <a:solidFill>
                  <a:srgbClr val="53657A"/>
                </a:solidFill>
                <a:latin typeface="Microsoft YaHei"/>
              </a:rPr>
              <a:t>Stage R/A/B/C 全链路记录支持样本级回放、归因和审计</a:t>
            </a:r>
          </a:p>
        </p:txBody>
      </p:sp>
      <p:sp>
        <p:nvSpPr>
          <p:cNvPr id="30" name="Rounded Rectangle 29"/>
          <p:cNvSpPr/>
          <p:nvPr/>
        </p:nvSpPr>
        <p:spPr>
          <a:xfrm>
            <a:off x="914400" y="4956048"/>
            <a:ext cx="9875520" cy="713232"/>
          </a:xfrm>
          <a:prstGeom prst="roundRect">
            <a:avLst/>
          </a:prstGeom>
          <a:solidFill>
            <a:srgbClr val="E7F1FF"/>
          </a:solidFill>
          <a:ln w="12700">
            <a:solidFill>
              <a:srgbClr val="7FB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1188720" y="5157216"/>
            <a:ext cx="8595360" cy="18288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300" b="1">
                <a:solidFill>
                  <a:srgbClr val="102033"/>
                </a:solidFill>
                <a:latin typeface="Microsoft YaHei"/>
              </a:rPr>
              <a:t>攻关结果：形成“受限命名空间—候选内判别—职责化复核—执行落点—可信轨迹”的可复用技术链条。</a:t>
            </a:r>
          </a:p>
        </p:txBody>
      </p:sp>
      <p:sp>
        <p:nvSpPr>
          <p:cNvPr id="32" name="Rectangle 31"/>
          <p:cNvSpPr/>
          <p:nvPr/>
        </p:nvSpPr>
        <p:spPr>
          <a:xfrm>
            <a:off x="1188720" y="5422392"/>
            <a:ext cx="7955279" cy="146304"/>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980" b="0">
                <a:solidFill>
                  <a:srgbClr val="53657A"/>
                </a:solidFill>
                <a:latin typeface="Microsoft YaHei"/>
              </a:rPr>
              <a:t>实验层面用 563 冻结样本、累计稳定性、协作消融和典型案例证明该链条不是概念拼接。</a:t>
            </a:r>
          </a:p>
        </p:txBody>
      </p:sp>
      <p:sp>
        <p:nvSpPr>
          <p:cNvPr id="33" name="Rectangle 32"/>
          <p:cNvSpPr/>
          <p:nvPr/>
        </p:nvSpPr>
        <p:spPr>
          <a:xfrm>
            <a:off x="475488" y="6473952"/>
            <a:ext cx="8595360" cy="10160"/>
          </a:xfrm>
          <a:prstGeom prst="rect">
            <a:avLst/>
          </a:prstGeom>
          <a:solidFill>
            <a:srgbClr val="C8DB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475488" y="6537960"/>
            <a:ext cx="5486400"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750" b="0">
                <a:solidFill>
                  <a:srgbClr val="53657A"/>
                </a:solidFill>
                <a:latin typeface="Microsoft YaHei"/>
              </a:rPr>
              <a:t>面向互联网基础资源的大模型多智能体协作与可信认知标识技术研究</a:t>
            </a:r>
          </a:p>
        </p:txBody>
      </p:sp>
      <p:sp>
        <p:nvSpPr>
          <p:cNvPr id="35" name="Rectangle 34"/>
          <p:cNvSpPr/>
          <p:nvPr/>
        </p:nvSpPr>
        <p:spPr>
          <a:xfrm>
            <a:off x="11155680" y="6501384"/>
            <a:ext cx="384048"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r"/>
            <a:r>
              <a:rPr sz="800" b="0">
                <a:solidFill>
                  <a:srgbClr val="53657A"/>
                </a:solidFill>
                <a:latin typeface="Arial"/>
              </a:rPr>
              <a:t>21</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light_texture.png"/>
          <p:cNvPicPr>
            <a:picLocks noChangeAspect="1"/>
          </p:cNvPicPr>
          <p:nvPr/>
        </p:nvPicPr>
        <p:blipFill>
          <a:blip r:embed="rId2"/>
          <a:stretch>
            <a:fillRect/>
          </a:stretch>
        </p:blipFill>
        <p:spPr>
          <a:xfrm>
            <a:off x="0" y="0"/>
            <a:ext cx="12191999" cy="6858000"/>
          </a:xfrm>
          <a:prstGeom prst="rect">
            <a:avLst/>
          </a:prstGeom>
        </p:spPr>
      </p:pic>
      <p:sp>
        <p:nvSpPr>
          <p:cNvPr id="3" name="Rectangle 2"/>
          <p:cNvSpPr/>
          <p:nvPr/>
        </p:nvSpPr>
        <p:spPr>
          <a:xfrm>
            <a:off x="0" y="0"/>
            <a:ext cx="12191999" cy="109728"/>
          </a:xfrm>
          <a:prstGeom prst="rect">
            <a:avLst/>
          </a:prstGeom>
          <a:solidFill>
            <a:srgbClr val="082B6D"/>
          </a:solidFill>
          <a:ln w="12700">
            <a:solidFill>
              <a:srgbClr val="082B6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9728"/>
            <a:ext cx="12191999" cy="32004"/>
          </a:xfrm>
          <a:prstGeom prst="rect">
            <a:avLst/>
          </a:prstGeom>
          <a:solidFill>
            <a:srgbClr val="1E83E6"/>
          </a:solidFill>
          <a:ln w="12700">
            <a:solidFill>
              <a:srgbClr val="1E83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475488" y="283464"/>
            <a:ext cx="676656" cy="237744"/>
          </a:xfrm>
          <a:prstGeom prst="roundRect">
            <a:avLst/>
          </a:prstGeom>
          <a:solidFill>
            <a:srgbClr val="E7F1FF"/>
          </a:solidFill>
          <a:ln w="11430">
            <a:solidFill>
              <a:srgbClr val="C8DBEF"/>
            </a:solidFill>
          </a:ln>
        </p:spPr>
        <p:style>
          <a:lnRef idx="1">
            <a:schemeClr val="accent1"/>
          </a:lnRef>
          <a:fillRef idx="3">
            <a:schemeClr val="accent1"/>
          </a:fillRef>
          <a:effectRef idx="2">
            <a:schemeClr val="accent1"/>
          </a:effectRef>
          <a:fontRef idx="minor">
            <a:schemeClr val="lt1"/>
          </a:fontRef>
        </p:style>
        <p:txBody>
          <a:bodyPr rtlCol="0" anchor="ctr" lIns="36576" rIns="36576" tIns="18288" bIns="18288"/>
          <a:lstStyle/>
          <a:p>
            <a:pPr algn="ctr"/>
            <a:r>
              <a:rPr sz="1200" b="1">
                <a:solidFill>
                  <a:srgbClr val="0B63CE"/>
                </a:solidFill>
                <a:latin typeface="Microsoft YaHei"/>
              </a:rPr>
              <a:t>20</a:t>
            </a:r>
          </a:p>
        </p:txBody>
      </p:sp>
      <p:sp>
        <p:nvSpPr>
          <p:cNvPr id="6" name="Rectangle 5"/>
          <p:cNvSpPr/>
          <p:nvPr/>
        </p:nvSpPr>
        <p:spPr>
          <a:xfrm>
            <a:off x="1298448" y="237744"/>
            <a:ext cx="8412480" cy="38404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2200" b="1">
                <a:solidFill>
                  <a:srgbClr val="102033"/>
                </a:solidFill>
                <a:latin typeface="Microsoft YaHei"/>
              </a:rPr>
              <a:t>成果证据：新版论文、报告、专利、宣传和图示材料已经成套沉淀</a:t>
            </a:r>
          </a:p>
        </p:txBody>
      </p:sp>
      <p:sp>
        <p:nvSpPr>
          <p:cNvPr id="7" name="Rectangle 6"/>
          <p:cNvSpPr/>
          <p:nvPr/>
        </p:nvSpPr>
        <p:spPr>
          <a:xfrm>
            <a:off x="1298448" y="621792"/>
            <a:ext cx="8595360" cy="237744"/>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080" b="0">
                <a:solidFill>
                  <a:srgbClr val="53657A"/>
                </a:solidFill>
                <a:latin typeface="Microsoft YaHei"/>
              </a:rPr>
              <a:t>这一页把文档成果显性化，避免答辩只停留在技术流程。</a:t>
            </a:r>
          </a:p>
        </p:txBody>
      </p:sp>
      <p:sp>
        <p:nvSpPr>
          <p:cNvPr id="8" name="Rectangle 7"/>
          <p:cNvSpPr/>
          <p:nvPr/>
        </p:nvSpPr>
        <p:spPr>
          <a:xfrm>
            <a:off x="10698480" y="256032"/>
            <a:ext cx="1005840" cy="25603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r"/>
            <a:r>
              <a:rPr sz="2100" b="1">
                <a:solidFill>
                  <a:srgbClr val="0B63CE"/>
                </a:solidFill>
                <a:latin typeface="Arial"/>
              </a:rPr>
              <a:t>CNNIC</a:t>
            </a:r>
          </a:p>
        </p:txBody>
      </p:sp>
      <p:sp>
        <p:nvSpPr>
          <p:cNvPr id="9" name="Rectangle 8"/>
          <p:cNvSpPr/>
          <p:nvPr/>
        </p:nvSpPr>
        <p:spPr>
          <a:xfrm>
            <a:off x="10012680" y="530352"/>
            <a:ext cx="1691640"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r"/>
            <a:r>
              <a:rPr sz="850" b="0">
                <a:solidFill>
                  <a:srgbClr val="53657A"/>
                </a:solidFill>
                <a:latin typeface="Microsoft YaHei"/>
              </a:rPr>
              <a:t>中国互联网络信息中心</a:t>
            </a:r>
          </a:p>
        </p:txBody>
      </p:sp>
      <p:pic>
        <p:nvPicPr>
          <p:cNvPr id="10" name="Picture 9" descr="evidence_wall.png"/>
          <p:cNvPicPr>
            <a:picLocks noChangeAspect="1"/>
          </p:cNvPicPr>
          <p:nvPr/>
        </p:nvPicPr>
        <p:blipFill>
          <a:blip r:embed="rId3"/>
          <a:stretch>
            <a:fillRect/>
          </a:stretch>
        </p:blipFill>
        <p:spPr>
          <a:xfrm>
            <a:off x="566928" y="1115568"/>
            <a:ext cx="7680960" cy="4023360"/>
          </a:xfrm>
          <a:prstGeom prst="rect">
            <a:avLst/>
          </a:prstGeom>
        </p:spPr>
      </p:pic>
      <p:sp>
        <p:nvSpPr>
          <p:cNvPr id="11" name="Rounded Rectangle 10"/>
          <p:cNvSpPr/>
          <p:nvPr/>
        </p:nvSpPr>
        <p:spPr>
          <a:xfrm>
            <a:off x="8549640" y="1371600"/>
            <a:ext cx="2377440" cy="3383280"/>
          </a:xfrm>
          <a:prstGeom prst="roundRect">
            <a:avLst/>
          </a:prstGeom>
          <a:solidFill>
            <a:srgbClr val="071A46"/>
          </a:solidFill>
          <a:ln w="12700">
            <a:solidFill>
              <a:srgbClr val="1E83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8823960" y="1691640"/>
            <a:ext cx="1188720" cy="219456"/>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600" b="1">
                <a:solidFill>
                  <a:srgbClr val="FFFFFF"/>
                </a:solidFill>
                <a:latin typeface="Microsoft YaHei"/>
              </a:rPr>
              <a:t>材料清单</a:t>
            </a:r>
          </a:p>
        </p:txBody>
      </p:sp>
      <p:sp>
        <p:nvSpPr>
          <p:cNvPr id="13" name="Oval 12"/>
          <p:cNvSpPr/>
          <p:nvPr/>
        </p:nvSpPr>
        <p:spPr>
          <a:xfrm>
            <a:off x="8851392" y="2176272"/>
            <a:ext cx="68580" cy="68580"/>
          </a:xfrm>
          <a:prstGeom prst="ellipse">
            <a:avLst/>
          </a:prstGeom>
          <a:solidFill>
            <a:srgbClr val="26B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9015984" y="2121408"/>
            <a:ext cx="1645920" cy="219456"/>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960" b="0">
                <a:solidFill>
                  <a:srgbClr val="D2E6FF"/>
                </a:solidFill>
                <a:latin typeface="Microsoft YaHei"/>
              </a:rPr>
              <a:t>新版论文投稿稿</a:t>
            </a:r>
          </a:p>
        </p:txBody>
      </p:sp>
      <p:sp>
        <p:nvSpPr>
          <p:cNvPr id="15" name="Oval 14"/>
          <p:cNvSpPr/>
          <p:nvPr/>
        </p:nvSpPr>
        <p:spPr>
          <a:xfrm>
            <a:off x="8851392" y="2487168"/>
            <a:ext cx="68580" cy="68580"/>
          </a:xfrm>
          <a:prstGeom prst="ellipse">
            <a:avLst/>
          </a:prstGeom>
          <a:solidFill>
            <a:srgbClr val="26B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9015984" y="2432303"/>
            <a:ext cx="1645920" cy="219456"/>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960" b="0">
                <a:solidFill>
                  <a:srgbClr val="D2E6FF"/>
                </a:solidFill>
                <a:latin typeface="Microsoft YaHei"/>
              </a:rPr>
              <a:t>技术研究报告</a:t>
            </a:r>
          </a:p>
        </p:txBody>
      </p:sp>
      <p:sp>
        <p:nvSpPr>
          <p:cNvPr id="17" name="Oval 16"/>
          <p:cNvSpPr/>
          <p:nvPr/>
        </p:nvSpPr>
        <p:spPr>
          <a:xfrm>
            <a:off x="8851392" y="2798064"/>
            <a:ext cx="68580" cy="68580"/>
          </a:xfrm>
          <a:prstGeom prst="ellipse">
            <a:avLst/>
          </a:prstGeom>
          <a:solidFill>
            <a:srgbClr val="26B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9015984" y="2743200"/>
            <a:ext cx="1645920" cy="219456"/>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960" b="0">
                <a:solidFill>
                  <a:srgbClr val="D2E6FF"/>
                </a:solidFill>
                <a:latin typeface="Microsoft YaHei"/>
              </a:rPr>
              <a:t>专利技术交底书</a:t>
            </a:r>
          </a:p>
        </p:txBody>
      </p:sp>
      <p:sp>
        <p:nvSpPr>
          <p:cNvPr id="19" name="Oval 18"/>
          <p:cNvSpPr/>
          <p:nvPr/>
        </p:nvSpPr>
        <p:spPr>
          <a:xfrm>
            <a:off x="8851392" y="3108960"/>
            <a:ext cx="68580" cy="68580"/>
          </a:xfrm>
          <a:prstGeom prst="ellipse">
            <a:avLst/>
          </a:prstGeom>
          <a:solidFill>
            <a:srgbClr val="26B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9015984" y="3054096"/>
            <a:ext cx="1645920" cy="219456"/>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960" b="0">
                <a:solidFill>
                  <a:srgbClr val="D2E6FF"/>
                </a:solidFill>
                <a:latin typeface="Microsoft YaHei"/>
              </a:rPr>
              <a:t>权利要求书/说明书</a:t>
            </a:r>
          </a:p>
        </p:txBody>
      </p:sp>
      <p:sp>
        <p:nvSpPr>
          <p:cNvPr id="21" name="Oval 20"/>
          <p:cNvSpPr/>
          <p:nvPr/>
        </p:nvSpPr>
        <p:spPr>
          <a:xfrm>
            <a:off x="8851392" y="3419856"/>
            <a:ext cx="68580" cy="68580"/>
          </a:xfrm>
          <a:prstGeom prst="ellipse">
            <a:avLst/>
          </a:prstGeom>
          <a:solidFill>
            <a:srgbClr val="26B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9015984" y="3364991"/>
            <a:ext cx="1645920" cy="219456"/>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960" b="0">
                <a:solidFill>
                  <a:srgbClr val="D2E6FF"/>
                </a:solidFill>
                <a:latin typeface="Microsoft YaHei"/>
              </a:rPr>
              <a:t>成果宣传稿</a:t>
            </a:r>
          </a:p>
        </p:txBody>
      </p:sp>
      <p:sp>
        <p:nvSpPr>
          <p:cNvPr id="23" name="Oval 22"/>
          <p:cNvSpPr/>
          <p:nvPr/>
        </p:nvSpPr>
        <p:spPr>
          <a:xfrm>
            <a:off x="8851392" y="3730751"/>
            <a:ext cx="68580" cy="68580"/>
          </a:xfrm>
          <a:prstGeom prst="ellipse">
            <a:avLst/>
          </a:prstGeom>
          <a:solidFill>
            <a:srgbClr val="26B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9015984" y="3675887"/>
            <a:ext cx="1645920" cy="219456"/>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960" b="0">
                <a:solidFill>
                  <a:srgbClr val="D2E6FF"/>
                </a:solidFill>
                <a:latin typeface="Microsoft YaHei"/>
              </a:rPr>
              <a:t>验收报告填写版</a:t>
            </a:r>
          </a:p>
        </p:txBody>
      </p:sp>
      <p:sp>
        <p:nvSpPr>
          <p:cNvPr id="25" name="Rectangle 24"/>
          <p:cNvSpPr/>
          <p:nvPr/>
        </p:nvSpPr>
        <p:spPr>
          <a:xfrm>
            <a:off x="777240" y="5715000"/>
            <a:ext cx="7315200" cy="25603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400" b="1">
                <a:solidFill>
                  <a:srgbClr val="102033"/>
                </a:solidFill>
                <a:latin typeface="Microsoft YaHei"/>
              </a:rPr>
              <a:t>材料体系已经覆盖评审、投稿、专利、宣传和后续报送不同场景。</a:t>
            </a:r>
          </a:p>
        </p:txBody>
      </p:sp>
      <p:sp>
        <p:nvSpPr>
          <p:cNvPr id="26" name="Rectangle 25"/>
          <p:cNvSpPr/>
          <p:nvPr/>
        </p:nvSpPr>
        <p:spPr>
          <a:xfrm>
            <a:off x="475488" y="6473952"/>
            <a:ext cx="8595360" cy="10160"/>
          </a:xfrm>
          <a:prstGeom prst="rect">
            <a:avLst/>
          </a:prstGeom>
          <a:solidFill>
            <a:srgbClr val="C8DB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475488" y="6537960"/>
            <a:ext cx="5486400"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750" b="0">
                <a:solidFill>
                  <a:srgbClr val="53657A"/>
                </a:solidFill>
                <a:latin typeface="Microsoft YaHei"/>
              </a:rPr>
              <a:t>面向互联网基础资源的大模型多智能体协作与可信认知标识技术研究</a:t>
            </a:r>
          </a:p>
        </p:txBody>
      </p:sp>
      <p:sp>
        <p:nvSpPr>
          <p:cNvPr id="28" name="Rectangle 27"/>
          <p:cNvSpPr/>
          <p:nvPr/>
        </p:nvSpPr>
        <p:spPr>
          <a:xfrm>
            <a:off x="11155680" y="6501384"/>
            <a:ext cx="384048"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r"/>
            <a:r>
              <a:rPr sz="800" b="0">
                <a:solidFill>
                  <a:srgbClr val="53657A"/>
                </a:solidFill>
                <a:latin typeface="Arial"/>
              </a:rPr>
              <a:t>22</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light_texture.png"/>
          <p:cNvPicPr>
            <a:picLocks noChangeAspect="1"/>
          </p:cNvPicPr>
          <p:nvPr/>
        </p:nvPicPr>
        <p:blipFill>
          <a:blip r:embed="rId2"/>
          <a:stretch>
            <a:fillRect/>
          </a:stretch>
        </p:blipFill>
        <p:spPr>
          <a:xfrm>
            <a:off x="0" y="0"/>
            <a:ext cx="12191999" cy="6858000"/>
          </a:xfrm>
          <a:prstGeom prst="rect">
            <a:avLst/>
          </a:prstGeom>
        </p:spPr>
      </p:pic>
      <p:sp>
        <p:nvSpPr>
          <p:cNvPr id="3" name="Rectangle 2"/>
          <p:cNvSpPr/>
          <p:nvPr/>
        </p:nvSpPr>
        <p:spPr>
          <a:xfrm>
            <a:off x="0" y="0"/>
            <a:ext cx="12191999" cy="109728"/>
          </a:xfrm>
          <a:prstGeom prst="rect">
            <a:avLst/>
          </a:prstGeom>
          <a:solidFill>
            <a:srgbClr val="082B6D"/>
          </a:solidFill>
          <a:ln w="12700">
            <a:solidFill>
              <a:srgbClr val="082B6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9728"/>
            <a:ext cx="12191999" cy="32004"/>
          </a:xfrm>
          <a:prstGeom prst="rect">
            <a:avLst/>
          </a:prstGeom>
          <a:solidFill>
            <a:srgbClr val="1E83E6"/>
          </a:solidFill>
          <a:ln w="12700">
            <a:solidFill>
              <a:srgbClr val="1E83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475488" y="283464"/>
            <a:ext cx="676656" cy="237744"/>
          </a:xfrm>
          <a:prstGeom prst="roundRect">
            <a:avLst/>
          </a:prstGeom>
          <a:solidFill>
            <a:srgbClr val="E7F1FF"/>
          </a:solidFill>
          <a:ln w="11430">
            <a:solidFill>
              <a:srgbClr val="C8DBEF"/>
            </a:solidFill>
          </a:ln>
        </p:spPr>
        <p:style>
          <a:lnRef idx="1">
            <a:schemeClr val="accent1"/>
          </a:lnRef>
          <a:fillRef idx="3">
            <a:schemeClr val="accent1"/>
          </a:fillRef>
          <a:effectRef idx="2">
            <a:schemeClr val="accent1"/>
          </a:effectRef>
          <a:fontRef idx="minor">
            <a:schemeClr val="lt1"/>
          </a:fontRef>
        </p:style>
        <p:txBody>
          <a:bodyPr rtlCol="0" anchor="ctr" lIns="36576" rIns="36576" tIns="18288" bIns="18288"/>
          <a:lstStyle/>
          <a:p>
            <a:pPr algn="ctr"/>
            <a:r>
              <a:rPr sz="1200" b="1">
                <a:solidFill>
                  <a:srgbClr val="0B63CE"/>
                </a:solidFill>
                <a:latin typeface="Microsoft YaHei"/>
              </a:rPr>
              <a:t>21</a:t>
            </a:r>
          </a:p>
        </p:txBody>
      </p:sp>
      <p:sp>
        <p:nvSpPr>
          <p:cNvPr id="6" name="Rectangle 5"/>
          <p:cNvSpPr/>
          <p:nvPr/>
        </p:nvSpPr>
        <p:spPr>
          <a:xfrm>
            <a:off x="1298448" y="237744"/>
            <a:ext cx="8412480" cy="38404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2200" b="1">
                <a:solidFill>
                  <a:srgbClr val="102033"/>
                </a:solidFill>
                <a:latin typeface="Microsoft YaHei"/>
              </a:rPr>
              <a:t>考核指标完成情况：硬指标均已形成对应产物</a:t>
            </a:r>
          </a:p>
        </p:txBody>
      </p:sp>
      <p:sp>
        <p:nvSpPr>
          <p:cNvPr id="7" name="Rectangle 6"/>
          <p:cNvSpPr/>
          <p:nvPr/>
        </p:nvSpPr>
        <p:spPr>
          <a:xfrm>
            <a:off x="1298448" y="621792"/>
            <a:ext cx="8595360" cy="237744"/>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080" b="0">
                <a:solidFill>
                  <a:srgbClr val="53657A"/>
                </a:solidFill>
                <a:latin typeface="Microsoft YaHei"/>
              </a:rPr>
              <a:t>需补充正式专利提交/展示记录时，可在最终版替换为回执或会议证明。</a:t>
            </a:r>
          </a:p>
        </p:txBody>
      </p:sp>
      <p:sp>
        <p:nvSpPr>
          <p:cNvPr id="8" name="Rectangle 7"/>
          <p:cNvSpPr/>
          <p:nvPr/>
        </p:nvSpPr>
        <p:spPr>
          <a:xfrm>
            <a:off x="10698480" y="256032"/>
            <a:ext cx="1005840" cy="25603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r"/>
            <a:r>
              <a:rPr sz="2100" b="1">
                <a:solidFill>
                  <a:srgbClr val="0B63CE"/>
                </a:solidFill>
                <a:latin typeface="Arial"/>
              </a:rPr>
              <a:t>CNNIC</a:t>
            </a:r>
          </a:p>
        </p:txBody>
      </p:sp>
      <p:sp>
        <p:nvSpPr>
          <p:cNvPr id="9" name="Rectangle 8"/>
          <p:cNvSpPr/>
          <p:nvPr/>
        </p:nvSpPr>
        <p:spPr>
          <a:xfrm>
            <a:off x="10012680" y="530352"/>
            <a:ext cx="1691640"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r"/>
            <a:r>
              <a:rPr sz="850" b="0">
                <a:solidFill>
                  <a:srgbClr val="53657A"/>
                </a:solidFill>
                <a:latin typeface="Microsoft YaHei"/>
              </a:rPr>
              <a:t>中国互联网络信息中心</a:t>
            </a:r>
          </a:p>
        </p:txBody>
      </p:sp>
      <p:sp>
        <p:nvSpPr>
          <p:cNvPr id="10" name="Rectangle 9"/>
          <p:cNvSpPr/>
          <p:nvPr/>
        </p:nvSpPr>
        <p:spPr>
          <a:xfrm>
            <a:off x="749808" y="1234440"/>
            <a:ext cx="2926080" cy="420624"/>
          </a:xfrm>
          <a:prstGeom prst="rect">
            <a:avLst/>
          </a:prstGeom>
          <a:solidFill>
            <a:srgbClr val="082B6D"/>
          </a:solidFill>
          <a:ln w="12700">
            <a:solidFill>
              <a:srgbClr val="082B6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822959" y="1344168"/>
            <a:ext cx="2779776" cy="146304"/>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ctr"/>
            <a:r>
              <a:rPr sz="980" b="1">
                <a:solidFill>
                  <a:srgbClr val="FFFFFF"/>
                </a:solidFill>
                <a:latin typeface="Microsoft YaHei"/>
              </a:rPr>
              <a:t>考核指标</a:t>
            </a:r>
          </a:p>
        </p:txBody>
      </p:sp>
      <p:sp>
        <p:nvSpPr>
          <p:cNvPr id="12" name="Rectangle 11"/>
          <p:cNvSpPr/>
          <p:nvPr/>
        </p:nvSpPr>
        <p:spPr>
          <a:xfrm>
            <a:off x="3675888" y="1234440"/>
            <a:ext cx="1417320" cy="420624"/>
          </a:xfrm>
          <a:prstGeom prst="rect">
            <a:avLst/>
          </a:prstGeom>
          <a:solidFill>
            <a:srgbClr val="082B6D"/>
          </a:solidFill>
          <a:ln w="12700">
            <a:solidFill>
              <a:srgbClr val="082B6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3749040" y="1344168"/>
            <a:ext cx="1271016" cy="146304"/>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ctr"/>
            <a:r>
              <a:rPr sz="980" b="1">
                <a:solidFill>
                  <a:srgbClr val="FFFFFF"/>
                </a:solidFill>
                <a:latin typeface="Microsoft YaHei"/>
              </a:rPr>
              <a:t>状态</a:t>
            </a:r>
          </a:p>
        </p:txBody>
      </p:sp>
      <p:sp>
        <p:nvSpPr>
          <p:cNvPr id="14" name="Rectangle 13"/>
          <p:cNvSpPr/>
          <p:nvPr/>
        </p:nvSpPr>
        <p:spPr>
          <a:xfrm>
            <a:off x="5093208" y="1234440"/>
            <a:ext cx="5806440" cy="420624"/>
          </a:xfrm>
          <a:prstGeom prst="rect">
            <a:avLst/>
          </a:prstGeom>
          <a:solidFill>
            <a:srgbClr val="082B6D"/>
          </a:solidFill>
          <a:ln w="12700">
            <a:solidFill>
              <a:srgbClr val="082B6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166360" y="1344168"/>
            <a:ext cx="5660136" cy="146304"/>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ctr"/>
            <a:r>
              <a:rPr sz="980" b="1">
                <a:solidFill>
                  <a:srgbClr val="FFFFFF"/>
                </a:solidFill>
                <a:latin typeface="Microsoft YaHei"/>
              </a:rPr>
              <a:t>证据说明</a:t>
            </a:r>
          </a:p>
        </p:txBody>
      </p:sp>
      <p:sp>
        <p:nvSpPr>
          <p:cNvPr id="16" name="Rectangle 15"/>
          <p:cNvSpPr/>
          <p:nvPr/>
        </p:nvSpPr>
        <p:spPr>
          <a:xfrm>
            <a:off x="749808" y="1655064"/>
            <a:ext cx="2926080" cy="804672"/>
          </a:xfrm>
          <a:prstGeom prst="rect">
            <a:avLst/>
          </a:prstGeom>
          <a:solidFill>
            <a:srgbClr val="FFFFFF"/>
          </a:solidFill>
          <a:ln w="12700">
            <a:solidFill>
              <a:srgbClr val="DBE8F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59536" y="1911095"/>
            <a:ext cx="2706624" cy="20116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050" b="1">
                <a:solidFill>
                  <a:srgbClr val="102033"/>
                </a:solidFill>
                <a:latin typeface="Microsoft YaHei"/>
              </a:rPr>
              <a:t>多智能体协作原型框架</a:t>
            </a:r>
          </a:p>
        </p:txBody>
      </p:sp>
      <p:sp>
        <p:nvSpPr>
          <p:cNvPr id="18" name="Rectangle 17"/>
          <p:cNvSpPr/>
          <p:nvPr/>
        </p:nvSpPr>
        <p:spPr>
          <a:xfrm>
            <a:off x="3675888" y="1655064"/>
            <a:ext cx="1417320" cy="804672"/>
          </a:xfrm>
          <a:prstGeom prst="rect">
            <a:avLst/>
          </a:prstGeom>
          <a:solidFill>
            <a:srgbClr val="FFFFFF"/>
          </a:solidFill>
          <a:ln w="12700">
            <a:solidFill>
              <a:srgbClr val="DBE8F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3785616" y="1911095"/>
            <a:ext cx="1197864" cy="20116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050" b="1">
                <a:solidFill>
                  <a:srgbClr val="0E8A57"/>
                </a:solidFill>
                <a:latin typeface="Microsoft YaHei"/>
              </a:rPr>
              <a:t>已完成</a:t>
            </a:r>
          </a:p>
        </p:txBody>
      </p:sp>
      <p:sp>
        <p:nvSpPr>
          <p:cNvPr id="20" name="Rectangle 19"/>
          <p:cNvSpPr/>
          <p:nvPr/>
        </p:nvSpPr>
        <p:spPr>
          <a:xfrm>
            <a:off x="5093208" y="1655064"/>
            <a:ext cx="5806440" cy="804672"/>
          </a:xfrm>
          <a:prstGeom prst="rect">
            <a:avLst/>
          </a:prstGeom>
          <a:solidFill>
            <a:srgbClr val="FFFFFF"/>
          </a:solidFill>
          <a:ln w="12700">
            <a:solidFill>
              <a:srgbClr val="DBE8F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202936" y="1911095"/>
            <a:ext cx="5586983" cy="20116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050" b="0">
                <a:solidFill>
                  <a:srgbClr val="102033"/>
                </a:solidFill>
                <a:latin typeface="Microsoft YaHei"/>
              </a:rPr>
              <a:t>覆盖候选组织、结构化裁决、协作复核、过程记录和结果展示</a:t>
            </a:r>
          </a:p>
        </p:txBody>
      </p:sp>
      <p:sp>
        <p:nvSpPr>
          <p:cNvPr id="22" name="Rectangle 21"/>
          <p:cNvSpPr/>
          <p:nvPr/>
        </p:nvSpPr>
        <p:spPr>
          <a:xfrm>
            <a:off x="749808" y="2459736"/>
            <a:ext cx="2926080" cy="804672"/>
          </a:xfrm>
          <a:prstGeom prst="rect">
            <a:avLst/>
          </a:prstGeom>
          <a:solidFill>
            <a:srgbClr val="FFFFFF"/>
          </a:solidFill>
          <a:ln w="12700">
            <a:solidFill>
              <a:srgbClr val="DBE8F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859536" y="2715768"/>
            <a:ext cx="2706624" cy="20116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050" b="1">
                <a:solidFill>
                  <a:srgbClr val="102033"/>
                </a:solidFill>
                <a:latin typeface="Microsoft YaHei"/>
              </a:rPr>
              <a:t>技术研究报告或论文</a:t>
            </a:r>
          </a:p>
        </p:txBody>
      </p:sp>
      <p:sp>
        <p:nvSpPr>
          <p:cNvPr id="24" name="Rectangle 23"/>
          <p:cNvSpPr/>
          <p:nvPr/>
        </p:nvSpPr>
        <p:spPr>
          <a:xfrm>
            <a:off x="3675888" y="2459736"/>
            <a:ext cx="1417320" cy="804672"/>
          </a:xfrm>
          <a:prstGeom prst="rect">
            <a:avLst/>
          </a:prstGeom>
          <a:solidFill>
            <a:srgbClr val="FFFFFF"/>
          </a:solidFill>
          <a:ln w="12700">
            <a:solidFill>
              <a:srgbClr val="DBE8F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3785616" y="2715768"/>
            <a:ext cx="1197864" cy="20116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050" b="1">
                <a:solidFill>
                  <a:srgbClr val="0E8A57"/>
                </a:solidFill>
                <a:latin typeface="Microsoft YaHei"/>
              </a:rPr>
              <a:t>已完成</a:t>
            </a:r>
          </a:p>
        </p:txBody>
      </p:sp>
      <p:sp>
        <p:nvSpPr>
          <p:cNvPr id="26" name="Rectangle 25"/>
          <p:cNvSpPr/>
          <p:nvPr/>
        </p:nvSpPr>
        <p:spPr>
          <a:xfrm>
            <a:off x="5093208" y="2459736"/>
            <a:ext cx="5806440" cy="804672"/>
          </a:xfrm>
          <a:prstGeom prst="rect">
            <a:avLst/>
          </a:prstGeom>
          <a:solidFill>
            <a:srgbClr val="FFFFFF"/>
          </a:solidFill>
          <a:ln w="12700">
            <a:solidFill>
              <a:srgbClr val="DBE8F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5202936" y="2715768"/>
            <a:ext cx="5586983" cy="20116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050" b="0">
                <a:solidFill>
                  <a:srgbClr val="102033"/>
                </a:solidFill>
                <a:latin typeface="Microsoft YaHei"/>
              </a:rPr>
              <a:t>技术报告、论文稿、图表、实验协议与结果分析齐备</a:t>
            </a:r>
          </a:p>
        </p:txBody>
      </p:sp>
      <p:sp>
        <p:nvSpPr>
          <p:cNvPr id="28" name="Rectangle 27"/>
          <p:cNvSpPr/>
          <p:nvPr/>
        </p:nvSpPr>
        <p:spPr>
          <a:xfrm>
            <a:off x="749808" y="3264408"/>
            <a:ext cx="2926080" cy="804672"/>
          </a:xfrm>
          <a:prstGeom prst="rect">
            <a:avLst/>
          </a:prstGeom>
          <a:solidFill>
            <a:srgbClr val="FFFFFF"/>
          </a:solidFill>
          <a:ln w="12700">
            <a:solidFill>
              <a:srgbClr val="DBE8F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859536" y="3520440"/>
            <a:ext cx="2706624" cy="20116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050" b="1">
                <a:solidFill>
                  <a:srgbClr val="102033"/>
                </a:solidFill>
                <a:latin typeface="Microsoft YaHei"/>
              </a:rPr>
              <a:t>发明专利</a:t>
            </a:r>
          </a:p>
        </p:txBody>
      </p:sp>
      <p:sp>
        <p:nvSpPr>
          <p:cNvPr id="30" name="Rectangle 29"/>
          <p:cNvSpPr/>
          <p:nvPr/>
        </p:nvSpPr>
        <p:spPr>
          <a:xfrm>
            <a:off x="3675888" y="3264408"/>
            <a:ext cx="1417320" cy="804672"/>
          </a:xfrm>
          <a:prstGeom prst="rect">
            <a:avLst/>
          </a:prstGeom>
          <a:solidFill>
            <a:srgbClr val="FFFFFF"/>
          </a:solidFill>
          <a:ln w="12700">
            <a:solidFill>
              <a:srgbClr val="DBE8F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3785616" y="3520440"/>
            <a:ext cx="1197864" cy="20116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050" b="1">
                <a:solidFill>
                  <a:srgbClr val="0E8A57"/>
                </a:solidFill>
                <a:latin typeface="Microsoft YaHei"/>
              </a:rPr>
              <a:t>材料已形成</a:t>
            </a:r>
          </a:p>
        </p:txBody>
      </p:sp>
      <p:sp>
        <p:nvSpPr>
          <p:cNvPr id="32" name="Rectangle 31"/>
          <p:cNvSpPr/>
          <p:nvPr/>
        </p:nvSpPr>
        <p:spPr>
          <a:xfrm>
            <a:off x="5093208" y="3264408"/>
            <a:ext cx="5806440" cy="804672"/>
          </a:xfrm>
          <a:prstGeom prst="rect">
            <a:avLst/>
          </a:prstGeom>
          <a:solidFill>
            <a:srgbClr val="FFFFFF"/>
          </a:solidFill>
          <a:ln w="12700">
            <a:solidFill>
              <a:srgbClr val="DBE8F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5202936" y="3520440"/>
            <a:ext cx="5586983" cy="20116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050" b="0">
                <a:solidFill>
                  <a:srgbClr val="102033"/>
                </a:solidFill>
                <a:latin typeface="Microsoft YaHei"/>
              </a:rPr>
              <a:t>交底书、权利要求书、说明书摘要和附图已整理</a:t>
            </a:r>
          </a:p>
        </p:txBody>
      </p:sp>
      <p:sp>
        <p:nvSpPr>
          <p:cNvPr id="34" name="Rectangle 33"/>
          <p:cNvSpPr/>
          <p:nvPr/>
        </p:nvSpPr>
        <p:spPr>
          <a:xfrm>
            <a:off x="749808" y="4069080"/>
            <a:ext cx="2926080" cy="804672"/>
          </a:xfrm>
          <a:prstGeom prst="rect">
            <a:avLst/>
          </a:prstGeom>
          <a:solidFill>
            <a:srgbClr val="FFFFFF"/>
          </a:solidFill>
          <a:ln w="12700">
            <a:solidFill>
              <a:srgbClr val="DBE8F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859536" y="4325112"/>
            <a:ext cx="2706624" cy="20116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050" b="1">
                <a:solidFill>
                  <a:srgbClr val="102033"/>
                </a:solidFill>
                <a:latin typeface="Microsoft YaHei"/>
              </a:rPr>
              <a:t>对内成果展示或汇报演示</a:t>
            </a:r>
          </a:p>
        </p:txBody>
      </p:sp>
      <p:sp>
        <p:nvSpPr>
          <p:cNvPr id="36" name="Rectangle 35"/>
          <p:cNvSpPr/>
          <p:nvPr/>
        </p:nvSpPr>
        <p:spPr>
          <a:xfrm>
            <a:off x="3675888" y="4069080"/>
            <a:ext cx="1417320" cy="804672"/>
          </a:xfrm>
          <a:prstGeom prst="rect">
            <a:avLst/>
          </a:prstGeom>
          <a:solidFill>
            <a:srgbClr val="FFFFFF"/>
          </a:solidFill>
          <a:ln w="12700">
            <a:solidFill>
              <a:srgbClr val="DBE8F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3785616" y="4325112"/>
            <a:ext cx="1197864" cy="20116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050" b="1">
                <a:solidFill>
                  <a:srgbClr val="0E8A57"/>
                </a:solidFill>
                <a:latin typeface="Microsoft YaHei"/>
              </a:rPr>
              <a:t>已形成支撑</a:t>
            </a:r>
          </a:p>
        </p:txBody>
      </p:sp>
      <p:sp>
        <p:nvSpPr>
          <p:cNvPr id="38" name="Rectangle 37"/>
          <p:cNvSpPr/>
          <p:nvPr/>
        </p:nvSpPr>
        <p:spPr>
          <a:xfrm>
            <a:off x="5093208" y="4069080"/>
            <a:ext cx="5806440" cy="804672"/>
          </a:xfrm>
          <a:prstGeom prst="rect">
            <a:avLst/>
          </a:prstGeom>
          <a:solidFill>
            <a:srgbClr val="FFFFFF"/>
          </a:solidFill>
          <a:ln w="12700">
            <a:solidFill>
              <a:srgbClr val="DBE8F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5202936" y="4325112"/>
            <a:ext cx="5586983" cy="20116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050" b="0">
                <a:solidFill>
                  <a:srgbClr val="102033"/>
                </a:solidFill>
                <a:latin typeface="Microsoft YaHei"/>
              </a:rPr>
              <a:t>PPT、Demo 脚本、原型截图/录屏可继续补强</a:t>
            </a:r>
          </a:p>
        </p:txBody>
      </p:sp>
      <p:sp>
        <p:nvSpPr>
          <p:cNvPr id="40" name="Rounded Rectangle 39"/>
          <p:cNvSpPr/>
          <p:nvPr/>
        </p:nvSpPr>
        <p:spPr>
          <a:xfrm>
            <a:off x="914400" y="5212080"/>
            <a:ext cx="9601200" cy="566928"/>
          </a:xfrm>
          <a:prstGeom prst="roundRect">
            <a:avLst/>
          </a:prstGeom>
          <a:solidFill>
            <a:srgbClr val="E7F1FF"/>
          </a:solidFill>
          <a:ln w="12700">
            <a:solidFill>
              <a:srgbClr val="7FB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1170432" y="5413248"/>
            <a:ext cx="8138160" cy="18288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250" b="1">
                <a:solidFill>
                  <a:srgbClr val="102033"/>
                </a:solidFill>
                <a:latin typeface="Microsoft YaHei"/>
              </a:rPr>
              <a:t>验收建议：最终提交包按 PPT、研究报告/论文、专利、原型演示、实验复现、附录材料六类组织。</a:t>
            </a:r>
          </a:p>
        </p:txBody>
      </p:sp>
      <p:sp>
        <p:nvSpPr>
          <p:cNvPr id="42" name="Rectangle 41"/>
          <p:cNvSpPr/>
          <p:nvPr/>
        </p:nvSpPr>
        <p:spPr>
          <a:xfrm>
            <a:off x="475488" y="6473952"/>
            <a:ext cx="8595360" cy="10160"/>
          </a:xfrm>
          <a:prstGeom prst="rect">
            <a:avLst/>
          </a:prstGeom>
          <a:solidFill>
            <a:srgbClr val="C8DB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475488" y="6537960"/>
            <a:ext cx="5486400"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750" b="0">
                <a:solidFill>
                  <a:srgbClr val="53657A"/>
                </a:solidFill>
                <a:latin typeface="Microsoft YaHei"/>
              </a:rPr>
              <a:t>面向互联网基础资源的大模型多智能体协作与可信认知标识技术研究</a:t>
            </a:r>
          </a:p>
        </p:txBody>
      </p:sp>
      <p:sp>
        <p:nvSpPr>
          <p:cNvPr id="44" name="Rectangle 43"/>
          <p:cNvSpPr/>
          <p:nvPr/>
        </p:nvSpPr>
        <p:spPr>
          <a:xfrm>
            <a:off x="11155680" y="6501384"/>
            <a:ext cx="384048"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r"/>
            <a:r>
              <a:rPr sz="800" b="0">
                <a:solidFill>
                  <a:srgbClr val="53657A"/>
                </a:solidFill>
                <a:latin typeface="Arial"/>
              </a:rPr>
              <a:t>23</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light_texture.png"/>
          <p:cNvPicPr>
            <a:picLocks noChangeAspect="1"/>
          </p:cNvPicPr>
          <p:nvPr/>
        </p:nvPicPr>
        <p:blipFill>
          <a:blip r:embed="rId2"/>
          <a:stretch>
            <a:fillRect/>
          </a:stretch>
        </p:blipFill>
        <p:spPr>
          <a:xfrm>
            <a:off x="0" y="0"/>
            <a:ext cx="12191999" cy="6858000"/>
          </a:xfrm>
          <a:prstGeom prst="rect">
            <a:avLst/>
          </a:prstGeom>
        </p:spPr>
      </p:pic>
      <p:sp>
        <p:nvSpPr>
          <p:cNvPr id="3" name="Rectangle 2"/>
          <p:cNvSpPr/>
          <p:nvPr/>
        </p:nvSpPr>
        <p:spPr>
          <a:xfrm>
            <a:off x="0" y="0"/>
            <a:ext cx="12191999" cy="109728"/>
          </a:xfrm>
          <a:prstGeom prst="rect">
            <a:avLst/>
          </a:prstGeom>
          <a:solidFill>
            <a:srgbClr val="082B6D"/>
          </a:solidFill>
          <a:ln w="12700">
            <a:solidFill>
              <a:srgbClr val="082B6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9728"/>
            <a:ext cx="12191999" cy="32004"/>
          </a:xfrm>
          <a:prstGeom prst="rect">
            <a:avLst/>
          </a:prstGeom>
          <a:solidFill>
            <a:srgbClr val="1E83E6"/>
          </a:solidFill>
          <a:ln w="12700">
            <a:solidFill>
              <a:srgbClr val="1E83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475488" y="283464"/>
            <a:ext cx="676656" cy="237744"/>
          </a:xfrm>
          <a:prstGeom prst="roundRect">
            <a:avLst/>
          </a:prstGeom>
          <a:solidFill>
            <a:srgbClr val="E7F1FF"/>
          </a:solidFill>
          <a:ln w="11430">
            <a:solidFill>
              <a:srgbClr val="C8DBEF"/>
            </a:solidFill>
          </a:ln>
        </p:spPr>
        <p:style>
          <a:lnRef idx="1">
            <a:schemeClr val="accent1"/>
          </a:lnRef>
          <a:fillRef idx="3">
            <a:schemeClr val="accent1"/>
          </a:fillRef>
          <a:effectRef idx="2">
            <a:schemeClr val="accent1"/>
          </a:effectRef>
          <a:fontRef idx="minor">
            <a:schemeClr val="lt1"/>
          </a:fontRef>
        </p:style>
        <p:txBody>
          <a:bodyPr rtlCol="0" anchor="ctr" lIns="36576" rIns="36576" tIns="18288" bIns="18288"/>
          <a:lstStyle/>
          <a:p>
            <a:pPr algn="ctr"/>
            <a:r>
              <a:rPr sz="1200" b="1">
                <a:solidFill>
                  <a:srgbClr val="0B63CE"/>
                </a:solidFill>
                <a:latin typeface="Microsoft YaHei"/>
              </a:rPr>
              <a:t>22</a:t>
            </a:r>
          </a:p>
        </p:txBody>
      </p:sp>
      <p:sp>
        <p:nvSpPr>
          <p:cNvPr id="6" name="Rectangle 5"/>
          <p:cNvSpPr/>
          <p:nvPr/>
        </p:nvSpPr>
        <p:spPr>
          <a:xfrm>
            <a:off x="1298448" y="237744"/>
            <a:ext cx="8412480" cy="38404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2200" b="1">
                <a:solidFill>
                  <a:srgbClr val="102033"/>
                </a:solidFill>
                <a:latin typeface="Microsoft YaHei"/>
              </a:rPr>
              <a:t>问题边界与下一步：保留严谨表述，避免过度承诺</a:t>
            </a:r>
          </a:p>
        </p:txBody>
      </p:sp>
      <p:sp>
        <p:nvSpPr>
          <p:cNvPr id="7" name="Rectangle 6"/>
          <p:cNvSpPr/>
          <p:nvPr/>
        </p:nvSpPr>
        <p:spPr>
          <a:xfrm>
            <a:off x="1298448" y="621792"/>
            <a:ext cx="8595360" cy="237744"/>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080" b="0">
                <a:solidFill>
                  <a:srgbClr val="53657A"/>
                </a:solidFill>
                <a:latin typeface="Microsoft YaHei"/>
              </a:rPr>
              <a:t>评审往往会追问规模化、成本、外推性和端到端联调，这页提前回答。</a:t>
            </a:r>
          </a:p>
        </p:txBody>
      </p:sp>
      <p:sp>
        <p:nvSpPr>
          <p:cNvPr id="8" name="Rectangle 7"/>
          <p:cNvSpPr/>
          <p:nvPr/>
        </p:nvSpPr>
        <p:spPr>
          <a:xfrm>
            <a:off x="10698480" y="256032"/>
            <a:ext cx="1005840" cy="25603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r"/>
            <a:r>
              <a:rPr sz="2100" b="1">
                <a:solidFill>
                  <a:srgbClr val="0B63CE"/>
                </a:solidFill>
                <a:latin typeface="Arial"/>
              </a:rPr>
              <a:t>CNNIC</a:t>
            </a:r>
          </a:p>
        </p:txBody>
      </p:sp>
      <p:sp>
        <p:nvSpPr>
          <p:cNvPr id="9" name="Rectangle 8"/>
          <p:cNvSpPr/>
          <p:nvPr/>
        </p:nvSpPr>
        <p:spPr>
          <a:xfrm>
            <a:off x="10012680" y="530352"/>
            <a:ext cx="1691640"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r"/>
            <a:r>
              <a:rPr sz="850" b="0">
                <a:solidFill>
                  <a:srgbClr val="53657A"/>
                </a:solidFill>
                <a:latin typeface="Microsoft YaHei"/>
              </a:rPr>
              <a:t>中国互联网络信息中心</a:t>
            </a:r>
          </a:p>
        </p:txBody>
      </p:sp>
      <p:sp>
        <p:nvSpPr>
          <p:cNvPr id="10" name="Rounded Rectangle 9"/>
          <p:cNvSpPr/>
          <p:nvPr/>
        </p:nvSpPr>
        <p:spPr>
          <a:xfrm>
            <a:off x="786384" y="1417320"/>
            <a:ext cx="4526280" cy="1005840"/>
          </a:xfrm>
          <a:prstGeom prst="roundRect">
            <a:avLst/>
          </a:prstGeom>
          <a:solidFill>
            <a:srgbClr val="FFFFFF"/>
          </a:solidFill>
          <a:ln w="12700">
            <a:solidFill>
              <a:srgbClr val="0B63C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1014983" y="1636776"/>
            <a:ext cx="1005840" cy="20116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500" b="1">
                <a:solidFill>
                  <a:srgbClr val="0B63CE"/>
                </a:solidFill>
                <a:latin typeface="Microsoft YaHei"/>
              </a:rPr>
              <a:t>外推性</a:t>
            </a:r>
          </a:p>
        </p:txBody>
      </p:sp>
      <p:sp>
        <p:nvSpPr>
          <p:cNvPr id="12" name="Rectangle 11"/>
          <p:cNvSpPr/>
          <p:nvPr/>
        </p:nvSpPr>
        <p:spPr>
          <a:xfrm>
            <a:off x="2048255" y="1600200"/>
            <a:ext cx="2880360" cy="329184"/>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050" b="0">
                <a:solidFill>
                  <a:srgbClr val="53657A"/>
                </a:solidFill>
                <a:latin typeface="Microsoft YaHei"/>
              </a:rPr>
              <a:t>现有结果建立在冻结样本与后验诊断池上，后续需扩展独立验证样本。</a:t>
            </a:r>
          </a:p>
        </p:txBody>
      </p:sp>
      <p:sp>
        <p:nvSpPr>
          <p:cNvPr id="13" name="Rounded Rectangle 12"/>
          <p:cNvSpPr/>
          <p:nvPr/>
        </p:nvSpPr>
        <p:spPr>
          <a:xfrm>
            <a:off x="6044184" y="1417320"/>
            <a:ext cx="4526280" cy="1005840"/>
          </a:xfrm>
          <a:prstGeom prst="roundRect">
            <a:avLst/>
          </a:prstGeom>
          <a:solidFill>
            <a:srgbClr val="FFFFFF"/>
          </a:solidFill>
          <a:ln w="12700">
            <a:solidFill>
              <a:srgbClr val="E9713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272784" y="1636776"/>
            <a:ext cx="1005840" cy="20116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500" b="1">
                <a:solidFill>
                  <a:srgbClr val="E97132"/>
                </a:solidFill>
                <a:latin typeface="Microsoft YaHei"/>
              </a:rPr>
              <a:t>运行成本</a:t>
            </a:r>
          </a:p>
        </p:txBody>
      </p:sp>
      <p:sp>
        <p:nvSpPr>
          <p:cNvPr id="15" name="Rectangle 14"/>
          <p:cNvSpPr/>
          <p:nvPr/>
        </p:nvSpPr>
        <p:spPr>
          <a:xfrm>
            <a:off x="7306056" y="1600200"/>
            <a:ext cx="2880360" cy="329184"/>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050" b="0">
                <a:solidFill>
                  <a:srgbClr val="53657A"/>
                </a:solidFill>
                <a:latin typeface="Microsoft YaHei"/>
              </a:rPr>
              <a:t>已用慢路径率与修正收益做代理，真实 token、时延、稳定性仍需统一记录。</a:t>
            </a:r>
          </a:p>
        </p:txBody>
      </p:sp>
      <p:sp>
        <p:nvSpPr>
          <p:cNvPr id="16" name="Rounded Rectangle 15"/>
          <p:cNvSpPr/>
          <p:nvPr/>
        </p:nvSpPr>
        <p:spPr>
          <a:xfrm>
            <a:off x="786384" y="2834640"/>
            <a:ext cx="4526280" cy="1005840"/>
          </a:xfrm>
          <a:prstGeom prst="roundRect">
            <a:avLst/>
          </a:prstGeom>
          <a:solidFill>
            <a:srgbClr val="FFFFFF"/>
          </a:solidFill>
          <a:ln w="12700">
            <a:solidFill>
              <a:srgbClr val="0E8A5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1014983" y="3054096"/>
            <a:ext cx="1005840" cy="20116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500" b="1">
                <a:solidFill>
                  <a:srgbClr val="0E8A57"/>
                </a:solidFill>
                <a:latin typeface="Microsoft YaHei"/>
              </a:rPr>
              <a:t>系统联调</a:t>
            </a:r>
          </a:p>
        </p:txBody>
      </p:sp>
      <p:sp>
        <p:nvSpPr>
          <p:cNvPr id="18" name="Rectangle 17"/>
          <p:cNvSpPr/>
          <p:nvPr/>
        </p:nvSpPr>
        <p:spPr>
          <a:xfrm>
            <a:off x="2048255" y="3017520"/>
            <a:ext cx="2880360" cy="329184"/>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050" b="0">
                <a:solidFill>
                  <a:srgbClr val="53657A"/>
                </a:solidFill>
                <a:latin typeface="Microsoft YaHei"/>
              </a:rPr>
              <a:t>Stage C 已有原型设计与测试，完整业务端到端联调需继续推进。</a:t>
            </a:r>
          </a:p>
        </p:txBody>
      </p:sp>
      <p:sp>
        <p:nvSpPr>
          <p:cNvPr id="19" name="Rounded Rectangle 18"/>
          <p:cNvSpPr/>
          <p:nvPr/>
        </p:nvSpPr>
        <p:spPr>
          <a:xfrm>
            <a:off x="6044184" y="2834640"/>
            <a:ext cx="4526280" cy="1005840"/>
          </a:xfrm>
          <a:prstGeom prst="roundRect">
            <a:avLst/>
          </a:prstGeom>
          <a:solidFill>
            <a:srgbClr val="FFFFFF"/>
          </a:solidFill>
          <a:ln w="12700">
            <a:solidFill>
              <a:srgbClr val="6B49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272784" y="3054096"/>
            <a:ext cx="1005840" cy="20116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500" b="1">
                <a:solidFill>
                  <a:srgbClr val="6B49C8"/>
                </a:solidFill>
                <a:latin typeface="Microsoft YaHei"/>
              </a:rPr>
              <a:t>可信强度</a:t>
            </a:r>
          </a:p>
        </p:txBody>
      </p:sp>
      <p:sp>
        <p:nvSpPr>
          <p:cNvPr id="21" name="Rectangle 20"/>
          <p:cNvSpPr/>
          <p:nvPr/>
        </p:nvSpPr>
        <p:spPr>
          <a:xfrm>
            <a:off x="7306056" y="3017520"/>
            <a:ext cx="2880360" cy="329184"/>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050" b="0">
                <a:solidFill>
                  <a:srgbClr val="53657A"/>
                </a:solidFill>
                <a:latin typeface="Microsoft YaHei"/>
              </a:rPr>
              <a:t>当前是工程审计能力，后续可加入 hash-chain 与篡改检测。</a:t>
            </a:r>
          </a:p>
        </p:txBody>
      </p:sp>
      <p:sp>
        <p:nvSpPr>
          <p:cNvPr id="22" name="Rounded Rectangle 21"/>
          <p:cNvSpPr/>
          <p:nvPr/>
        </p:nvSpPr>
        <p:spPr>
          <a:xfrm>
            <a:off x="914400" y="4800600"/>
            <a:ext cx="9875520" cy="786384"/>
          </a:xfrm>
          <a:prstGeom prst="roundRect">
            <a:avLst/>
          </a:prstGeom>
          <a:solidFill>
            <a:srgbClr val="071A46"/>
          </a:solidFill>
          <a:ln w="12700">
            <a:solidFill>
              <a:srgbClr val="1E83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1170432" y="5074920"/>
            <a:ext cx="8503920" cy="219456"/>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350" b="1">
                <a:solidFill>
                  <a:srgbClr val="FFFFFF"/>
                </a:solidFill>
                <a:latin typeface="Microsoft YaHei"/>
              </a:rPr>
              <a:t>后续重点：扩大验证范围、完善质量/成本/时延日志、推动演示端联调、凝练标准化表达与业务试点。</a:t>
            </a:r>
          </a:p>
        </p:txBody>
      </p:sp>
      <p:sp>
        <p:nvSpPr>
          <p:cNvPr id="24" name="Rectangle 23"/>
          <p:cNvSpPr/>
          <p:nvPr/>
        </p:nvSpPr>
        <p:spPr>
          <a:xfrm>
            <a:off x="475488" y="6473952"/>
            <a:ext cx="8595360" cy="10160"/>
          </a:xfrm>
          <a:prstGeom prst="rect">
            <a:avLst/>
          </a:prstGeom>
          <a:solidFill>
            <a:srgbClr val="C8DB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475488" y="6537960"/>
            <a:ext cx="5486400"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750" b="0">
                <a:solidFill>
                  <a:srgbClr val="53657A"/>
                </a:solidFill>
                <a:latin typeface="Microsoft YaHei"/>
              </a:rPr>
              <a:t>面向互联网基础资源的大模型多智能体协作与可信认知标识技术研究</a:t>
            </a:r>
          </a:p>
        </p:txBody>
      </p:sp>
      <p:sp>
        <p:nvSpPr>
          <p:cNvPr id="26" name="Rectangle 25"/>
          <p:cNvSpPr/>
          <p:nvPr/>
        </p:nvSpPr>
        <p:spPr>
          <a:xfrm>
            <a:off x="11155680" y="6501384"/>
            <a:ext cx="384048"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r"/>
            <a:r>
              <a:rPr sz="800" b="0">
                <a:solidFill>
                  <a:srgbClr val="53657A"/>
                </a:solidFill>
                <a:latin typeface="Arial"/>
              </a:rPr>
              <a:t>24</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cover_bg_deep.png"/>
          <p:cNvPicPr>
            <a:picLocks noChangeAspect="1"/>
          </p:cNvPicPr>
          <p:nvPr/>
        </p:nvPicPr>
        <p:blipFill>
          <a:blip r:embed="rId2"/>
          <a:stretch>
            <a:fillRect/>
          </a:stretch>
        </p:blipFill>
        <p:spPr>
          <a:xfrm>
            <a:off x="0" y="0"/>
            <a:ext cx="12191999" cy="6858000"/>
          </a:xfrm>
          <a:prstGeom prst="rect">
            <a:avLst/>
          </a:prstGeom>
        </p:spPr>
      </p:pic>
      <p:sp>
        <p:nvSpPr>
          <p:cNvPr id="3" name="Rectangle 2"/>
          <p:cNvSpPr/>
          <p:nvPr/>
        </p:nvSpPr>
        <p:spPr>
          <a:xfrm>
            <a:off x="694944" y="841248"/>
            <a:ext cx="1097280" cy="36576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3000" b="1">
                <a:solidFill>
                  <a:srgbClr val="FFFFFF"/>
                </a:solidFill>
                <a:latin typeface="Microsoft YaHei"/>
              </a:rPr>
              <a:t>总结</a:t>
            </a:r>
          </a:p>
        </p:txBody>
      </p:sp>
      <p:sp>
        <p:nvSpPr>
          <p:cNvPr id="4" name="Rectangle 3"/>
          <p:cNvSpPr/>
          <p:nvPr/>
        </p:nvSpPr>
        <p:spPr>
          <a:xfrm>
            <a:off x="713232" y="1371600"/>
            <a:ext cx="1371600" cy="38100"/>
          </a:xfrm>
          <a:prstGeom prst="rect">
            <a:avLst/>
          </a:prstGeom>
          <a:solidFill>
            <a:srgbClr val="26B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877824" y="1965960"/>
            <a:ext cx="347472" cy="347472"/>
          </a:xfrm>
          <a:prstGeom prst="ellipse">
            <a:avLst/>
          </a:prstGeom>
          <a:solidFill>
            <a:srgbClr val="26B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77824" y="2066543"/>
            <a:ext cx="347472" cy="146304"/>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lIns="36576" rIns="36576" tIns="18288" bIns="18288"/>
          <a:lstStyle/>
          <a:p>
            <a:pPr algn="ctr"/>
            <a:r>
              <a:rPr sz="900" b="1">
                <a:solidFill>
                  <a:srgbClr val="061A46"/>
                </a:solidFill>
                <a:latin typeface="Arial"/>
              </a:rPr>
              <a:t>1</a:t>
            </a:r>
          </a:p>
        </p:txBody>
      </p:sp>
      <p:sp>
        <p:nvSpPr>
          <p:cNvPr id="7" name="Rectangle 6"/>
          <p:cNvSpPr/>
          <p:nvPr/>
        </p:nvSpPr>
        <p:spPr>
          <a:xfrm>
            <a:off x="1417320" y="1984248"/>
            <a:ext cx="2011680" cy="219456"/>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800" b="1">
                <a:solidFill>
                  <a:srgbClr val="FFFFFF"/>
                </a:solidFill>
                <a:latin typeface="Microsoft YaHei"/>
              </a:rPr>
              <a:t>完成验收指标</a:t>
            </a:r>
          </a:p>
        </p:txBody>
      </p:sp>
      <p:sp>
        <p:nvSpPr>
          <p:cNvPr id="8" name="Rectangle 7"/>
          <p:cNvSpPr/>
          <p:nvPr/>
        </p:nvSpPr>
        <p:spPr>
          <a:xfrm>
            <a:off x="1426464" y="2350008"/>
            <a:ext cx="5212080" cy="20116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200" b="0">
                <a:solidFill>
                  <a:srgbClr val="D2E6FF"/>
                </a:solidFill>
                <a:latin typeface="Microsoft YaHei"/>
              </a:rPr>
              <a:t>原型、报告/论文、专利材料、展示支撑均已形成。</a:t>
            </a:r>
          </a:p>
        </p:txBody>
      </p:sp>
      <p:sp>
        <p:nvSpPr>
          <p:cNvPr id="9" name="Oval 8"/>
          <p:cNvSpPr/>
          <p:nvPr/>
        </p:nvSpPr>
        <p:spPr>
          <a:xfrm>
            <a:off x="877824" y="2880360"/>
            <a:ext cx="347472" cy="347472"/>
          </a:xfrm>
          <a:prstGeom prst="ellipse">
            <a:avLst/>
          </a:prstGeom>
          <a:solidFill>
            <a:srgbClr val="F4B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877824" y="2980944"/>
            <a:ext cx="347472" cy="146304"/>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lIns="36576" rIns="36576" tIns="18288" bIns="18288"/>
          <a:lstStyle/>
          <a:p>
            <a:pPr algn="ctr"/>
            <a:r>
              <a:rPr sz="900" b="1">
                <a:solidFill>
                  <a:srgbClr val="061A46"/>
                </a:solidFill>
                <a:latin typeface="Arial"/>
              </a:rPr>
              <a:t>2</a:t>
            </a:r>
          </a:p>
        </p:txBody>
      </p:sp>
      <p:sp>
        <p:nvSpPr>
          <p:cNvPr id="11" name="Rectangle 10"/>
          <p:cNvSpPr/>
          <p:nvPr/>
        </p:nvSpPr>
        <p:spPr>
          <a:xfrm>
            <a:off x="1417320" y="2898648"/>
            <a:ext cx="2011680" cy="219456"/>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800" b="1">
                <a:solidFill>
                  <a:srgbClr val="FFFFFF"/>
                </a:solidFill>
                <a:latin typeface="Microsoft YaHei"/>
              </a:rPr>
              <a:t>形成技术闭环</a:t>
            </a:r>
          </a:p>
        </p:txBody>
      </p:sp>
      <p:sp>
        <p:nvSpPr>
          <p:cNvPr id="12" name="Rectangle 11"/>
          <p:cNvSpPr/>
          <p:nvPr/>
        </p:nvSpPr>
        <p:spPr>
          <a:xfrm>
            <a:off x="1426464" y="3264408"/>
            <a:ext cx="5212080" cy="20116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200" b="0">
                <a:solidFill>
                  <a:srgbClr val="D2E6FF"/>
                </a:solidFill>
                <a:latin typeface="Microsoft YaHei"/>
              </a:rPr>
              <a:t>能力命名、语义路由、职责化复核、执行落点和过程轨迹贯通。</a:t>
            </a:r>
          </a:p>
        </p:txBody>
      </p:sp>
      <p:sp>
        <p:nvSpPr>
          <p:cNvPr id="13" name="Oval 12"/>
          <p:cNvSpPr/>
          <p:nvPr/>
        </p:nvSpPr>
        <p:spPr>
          <a:xfrm>
            <a:off x="877824" y="3794760"/>
            <a:ext cx="347472" cy="347472"/>
          </a:xfrm>
          <a:prstGeom prst="ellipse">
            <a:avLst/>
          </a:prstGeom>
          <a:solidFill>
            <a:srgbClr val="0E8A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877824" y="3895344"/>
            <a:ext cx="347472" cy="146304"/>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lIns="36576" rIns="36576" tIns="18288" bIns="18288"/>
          <a:lstStyle/>
          <a:p>
            <a:pPr algn="ctr"/>
            <a:r>
              <a:rPr sz="900" b="1">
                <a:solidFill>
                  <a:srgbClr val="061A46"/>
                </a:solidFill>
                <a:latin typeface="Arial"/>
              </a:rPr>
              <a:t>3</a:t>
            </a:r>
          </a:p>
        </p:txBody>
      </p:sp>
      <p:sp>
        <p:nvSpPr>
          <p:cNvPr id="15" name="Rectangle 14"/>
          <p:cNvSpPr/>
          <p:nvPr/>
        </p:nvSpPr>
        <p:spPr>
          <a:xfrm>
            <a:off x="1417320" y="3813048"/>
            <a:ext cx="2011680" cy="219456"/>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800" b="1">
                <a:solidFill>
                  <a:srgbClr val="FFFFFF"/>
                </a:solidFill>
                <a:latin typeface="Microsoft YaHei"/>
              </a:rPr>
              <a:t>具备延展价值</a:t>
            </a:r>
          </a:p>
        </p:txBody>
      </p:sp>
      <p:sp>
        <p:nvSpPr>
          <p:cNvPr id="16" name="Rectangle 15"/>
          <p:cNvSpPr/>
          <p:nvPr/>
        </p:nvSpPr>
        <p:spPr>
          <a:xfrm>
            <a:off x="1426464" y="4178808"/>
            <a:ext cx="5212080" cy="20116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200" b="0">
                <a:solidFill>
                  <a:srgbClr val="D2E6FF"/>
                </a:solidFill>
                <a:latin typeface="Microsoft YaHei"/>
              </a:rPr>
              <a:t>可继续支撑 AgentDNS、智能体标识、服务发现与治理审计方向。</a:t>
            </a:r>
          </a:p>
        </p:txBody>
      </p:sp>
      <p:sp>
        <p:nvSpPr>
          <p:cNvPr id="17" name="Rectangle 16"/>
          <p:cNvSpPr/>
          <p:nvPr/>
        </p:nvSpPr>
        <p:spPr>
          <a:xfrm>
            <a:off x="713232" y="5833872"/>
            <a:ext cx="3474720" cy="25603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800" b="1">
                <a:solidFill>
                  <a:srgbClr val="FFFFFF"/>
                </a:solidFill>
                <a:latin typeface="Microsoft YaHei"/>
              </a:rPr>
              <a:t>谢谢，请各位专家批评指正</a:t>
            </a:r>
          </a:p>
        </p:txBody>
      </p:sp>
      <p:sp>
        <p:nvSpPr>
          <p:cNvPr id="18" name="Rectangle 17"/>
          <p:cNvSpPr/>
          <p:nvPr/>
        </p:nvSpPr>
        <p:spPr>
          <a:xfrm>
            <a:off x="10588752" y="347472"/>
            <a:ext cx="1005840" cy="27432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r"/>
            <a:r>
              <a:rPr sz="2300" b="1">
                <a:solidFill>
                  <a:srgbClr val="FFFFFF"/>
                </a:solidFill>
                <a:latin typeface="Arial"/>
              </a:rPr>
              <a:t>CNNIC</a:t>
            </a:r>
          </a:p>
        </p:txBody>
      </p:sp>
      <p:sp>
        <p:nvSpPr>
          <p:cNvPr id="19" name="Rectangle 18"/>
          <p:cNvSpPr/>
          <p:nvPr/>
        </p:nvSpPr>
        <p:spPr>
          <a:xfrm>
            <a:off x="9966960" y="640080"/>
            <a:ext cx="1627632"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r"/>
            <a:r>
              <a:rPr sz="850" b="0">
                <a:solidFill>
                  <a:srgbClr val="D2E6FF"/>
                </a:solidFill>
                <a:latin typeface="Microsoft YaHei"/>
              </a:rPr>
              <a:t>中国互联网络信息中心</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