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21792"/>
            <a:ext cx="32461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重点项目验收答辩｜15页精简版</a:t>
            </a:r>
          </a:p>
        </p:txBody>
      </p:sp>
      <p:sp>
        <p:nvSpPr>
          <p:cNvPr id="4" name="Rectangle 3"/>
          <p:cNvSpPr/>
          <p:nvPr/>
        </p:nvSpPr>
        <p:spPr>
          <a:xfrm>
            <a:off x="658368" y="969264"/>
            <a:ext cx="1572768"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298448"/>
            <a:ext cx="7955279" cy="9144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面向互联网基础资源的大模型多智能体协作与可信认知标识技术研究</a:t>
            </a:r>
          </a:p>
        </p:txBody>
      </p:sp>
      <p:sp>
        <p:nvSpPr>
          <p:cNvPr id="6" name="Rectangle 5"/>
          <p:cNvSpPr/>
          <p:nvPr/>
        </p:nvSpPr>
        <p:spPr>
          <a:xfrm>
            <a:off x="685800" y="2496312"/>
            <a:ext cx="832104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40" b="0">
                <a:solidFill>
                  <a:srgbClr val="CFE4FF"/>
                </a:solidFill>
                <a:latin typeface="Microsoft YaHei"/>
              </a:rPr>
              <a:t>以智能体能力命名与语义路由为典型验证载体，完成协作复核、显式授权、可信留痕和原型验证闭环</a:t>
            </a:r>
          </a:p>
        </p:txBody>
      </p:sp>
      <p:sp>
        <p:nvSpPr>
          <p:cNvPr id="7" name="Rounded Rectangle 6"/>
          <p:cNvSpPr/>
          <p:nvPr/>
        </p:nvSpPr>
        <p:spPr>
          <a:xfrm>
            <a:off x="713232"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563</a:t>
            </a:r>
          </a:p>
        </p:txBody>
      </p:sp>
      <p:sp>
        <p:nvSpPr>
          <p:cNvPr id="9" name="Rectangle 8"/>
          <p:cNvSpPr/>
          <p:nvPr/>
        </p:nvSpPr>
        <p:spPr>
          <a:xfrm>
            <a:off x="786384"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冻结样本</a:t>
            </a:r>
          </a:p>
        </p:txBody>
      </p:sp>
      <p:sp>
        <p:nvSpPr>
          <p:cNvPr id="10" name="Rounded Rectangle 9"/>
          <p:cNvSpPr/>
          <p:nvPr/>
        </p:nvSpPr>
        <p:spPr>
          <a:xfrm>
            <a:off x="2706624"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79776"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50/45</a:t>
            </a:r>
          </a:p>
        </p:txBody>
      </p:sp>
      <p:sp>
        <p:nvSpPr>
          <p:cNvPr id="12" name="Rectangle 11"/>
          <p:cNvSpPr/>
          <p:nvPr/>
        </p:nvSpPr>
        <p:spPr>
          <a:xfrm>
            <a:off x="2779776"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能力节点/主标签</a:t>
            </a:r>
          </a:p>
        </p:txBody>
      </p:sp>
      <p:sp>
        <p:nvSpPr>
          <p:cNvPr id="13" name="Rounded Rectangle 12"/>
          <p:cNvSpPr/>
          <p:nvPr/>
        </p:nvSpPr>
        <p:spPr>
          <a:xfrm>
            <a:off x="4700016"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73168"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0.9292</a:t>
            </a:r>
          </a:p>
        </p:txBody>
      </p:sp>
      <p:sp>
        <p:nvSpPr>
          <p:cNvPr id="15" name="Rectangle 14"/>
          <p:cNvSpPr/>
          <p:nvPr/>
        </p:nvSpPr>
        <p:spPr>
          <a:xfrm>
            <a:off x="4773168"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扩展配置准确率</a:t>
            </a:r>
          </a:p>
        </p:txBody>
      </p:sp>
      <p:sp>
        <p:nvSpPr>
          <p:cNvPr id="16" name="Rounded Rectangle 15"/>
          <p:cNvSpPr/>
          <p:nvPr/>
        </p:nvSpPr>
        <p:spPr>
          <a:xfrm>
            <a:off x="6693408"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5/5/0</a:t>
            </a:r>
          </a:p>
        </p:txBody>
      </p:sp>
      <p:sp>
        <p:nvSpPr>
          <p:cNvPr id="18" name="Rectangle 17"/>
          <p:cNvSpPr/>
          <p:nvPr/>
        </p:nvSpPr>
        <p:spPr>
          <a:xfrm>
            <a:off x="6766560"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改判/纠错/误改</a:t>
            </a:r>
          </a:p>
        </p:txBody>
      </p:sp>
      <p:sp>
        <p:nvSpPr>
          <p:cNvPr id="19" name="Rectangle 18"/>
          <p:cNvSpPr/>
          <p:nvPr/>
        </p:nvSpPr>
        <p:spPr>
          <a:xfrm>
            <a:off x="676656" y="6053328"/>
            <a:ext cx="676656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承研处所：技术发展所    项目负责人：邓斯宇    起止时间：2025年5月-2026年4月</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项目背景：智能体服务规模化接入后，能力调用需要可信基础支撑</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不是做泛泛 Agent 应用，而是解决能力如何组织、如何选择、如何复核、如何留痕的问题。</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13232" y="1417320"/>
            <a:ext cx="2121408" cy="111556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77824"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Arial"/>
              </a:rPr>
              <a:t>01</a:t>
            </a:r>
          </a:p>
        </p:txBody>
      </p:sp>
      <p:sp>
        <p:nvSpPr>
          <p:cNvPr id="12" name="Rectangle 11"/>
          <p:cNvSpPr/>
          <p:nvPr/>
        </p:nvSpPr>
        <p:spPr>
          <a:xfrm>
            <a:off x="1335024"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智能体服务增多</a:t>
            </a:r>
          </a:p>
        </p:txBody>
      </p:sp>
      <p:sp>
        <p:nvSpPr>
          <p:cNvPr id="13" name="Rectangle 12"/>
          <p:cNvSpPr/>
          <p:nvPr/>
        </p:nvSpPr>
        <p:spPr>
          <a:xfrm>
            <a:off x="914400"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工具调用和服务发现对象变复杂</a:t>
            </a:r>
          </a:p>
        </p:txBody>
      </p:sp>
      <p:sp>
        <p:nvSpPr>
          <p:cNvPr id="14" name="Rectangle 13"/>
          <p:cNvSpPr/>
          <p:nvPr/>
        </p:nvSpPr>
        <p:spPr>
          <a:xfrm>
            <a:off x="2944368" y="184708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5" name="Rounded Rectangle 14"/>
          <p:cNvSpPr/>
          <p:nvPr/>
        </p:nvSpPr>
        <p:spPr>
          <a:xfrm>
            <a:off x="3474720" y="1417320"/>
            <a:ext cx="2121408" cy="111556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39312"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E8A57"/>
                </a:solidFill>
                <a:latin typeface="Arial"/>
              </a:rPr>
              <a:t>02</a:t>
            </a:r>
          </a:p>
        </p:txBody>
      </p:sp>
      <p:sp>
        <p:nvSpPr>
          <p:cNvPr id="17" name="Rectangle 16"/>
          <p:cNvSpPr/>
          <p:nvPr/>
        </p:nvSpPr>
        <p:spPr>
          <a:xfrm>
            <a:off x="4096511"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用户请求自然语言化</a:t>
            </a:r>
          </a:p>
        </p:txBody>
      </p:sp>
      <p:sp>
        <p:nvSpPr>
          <p:cNvPr id="18" name="Rectangle 17"/>
          <p:cNvSpPr/>
          <p:nvPr/>
        </p:nvSpPr>
        <p:spPr>
          <a:xfrm>
            <a:off x="3675887"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主任务、次要任务和风险线索混在一起</a:t>
            </a:r>
          </a:p>
        </p:txBody>
      </p:sp>
      <p:sp>
        <p:nvSpPr>
          <p:cNvPr id="19" name="Rectangle 18"/>
          <p:cNvSpPr/>
          <p:nvPr/>
        </p:nvSpPr>
        <p:spPr>
          <a:xfrm>
            <a:off x="5705856" y="184708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0" name="Rounded Rectangle 19"/>
          <p:cNvSpPr/>
          <p:nvPr/>
        </p:nvSpPr>
        <p:spPr>
          <a:xfrm>
            <a:off x="6236208" y="1417320"/>
            <a:ext cx="2121408" cy="111556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E97132"/>
                </a:solidFill>
                <a:latin typeface="Arial"/>
              </a:rPr>
              <a:t>03</a:t>
            </a:r>
          </a:p>
        </p:txBody>
      </p:sp>
      <p:sp>
        <p:nvSpPr>
          <p:cNvPr id="22" name="Rectangle 21"/>
          <p:cNvSpPr/>
          <p:nvPr/>
        </p:nvSpPr>
        <p:spPr>
          <a:xfrm>
            <a:off x="6858000"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能力错选风险上升</a:t>
            </a:r>
          </a:p>
        </p:txBody>
      </p:sp>
      <p:sp>
        <p:nvSpPr>
          <p:cNvPr id="23" name="Rectangle 22"/>
          <p:cNvSpPr/>
          <p:nvPr/>
        </p:nvSpPr>
        <p:spPr>
          <a:xfrm>
            <a:off x="6437376"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主能力错派、相关能力遗漏、风险任务误派发</a:t>
            </a:r>
          </a:p>
        </p:txBody>
      </p:sp>
      <p:sp>
        <p:nvSpPr>
          <p:cNvPr id="24" name="Rectangle 23"/>
          <p:cNvSpPr/>
          <p:nvPr/>
        </p:nvSpPr>
        <p:spPr>
          <a:xfrm>
            <a:off x="8467344" y="1847088"/>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5" name="Rounded Rectangle 24"/>
          <p:cNvSpPr/>
          <p:nvPr/>
        </p:nvSpPr>
        <p:spPr>
          <a:xfrm>
            <a:off x="8997696" y="1417320"/>
            <a:ext cx="2121408" cy="111556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62288" y="1627632"/>
            <a:ext cx="384048"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6B49C8"/>
                </a:solidFill>
                <a:latin typeface="Arial"/>
              </a:rPr>
              <a:t>04</a:t>
            </a:r>
          </a:p>
        </p:txBody>
      </p:sp>
      <p:sp>
        <p:nvSpPr>
          <p:cNvPr id="27" name="Rectangle 26"/>
          <p:cNvSpPr/>
          <p:nvPr/>
        </p:nvSpPr>
        <p:spPr>
          <a:xfrm>
            <a:off x="9619488" y="160934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过程需要核验</a:t>
            </a:r>
          </a:p>
        </p:txBody>
      </p:sp>
      <p:sp>
        <p:nvSpPr>
          <p:cNvPr id="28" name="Rectangle 27"/>
          <p:cNvSpPr/>
          <p:nvPr/>
        </p:nvSpPr>
        <p:spPr>
          <a:xfrm>
            <a:off x="9198864" y="2029968"/>
            <a:ext cx="1627632"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候选、判断、复核和执行落点必须可追溯</a:t>
            </a:r>
          </a:p>
        </p:txBody>
      </p:sp>
      <p:sp>
        <p:nvSpPr>
          <p:cNvPr id="29" name="Rounded Rectangle 28"/>
          <p:cNvSpPr/>
          <p:nvPr/>
        </p:nvSpPr>
        <p:spPr>
          <a:xfrm>
            <a:off x="841248" y="3246120"/>
            <a:ext cx="4480560" cy="1499616"/>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15568" y="3547872"/>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问题与风险</a:t>
            </a:r>
          </a:p>
        </p:txBody>
      </p:sp>
      <p:sp>
        <p:nvSpPr>
          <p:cNvPr id="31" name="Oval 30"/>
          <p:cNvSpPr/>
          <p:nvPr/>
        </p:nvSpPr>
        <p:spPr>
          <a:xfrm>
            <a:off x="1143000" y="396849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07592" y="3913632"/>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主能力错选：词面命中但任务中心偏移</a:t>
            </a:r>
          </a:p>
        </p:txBody>
      </p:sp>
      <p:sp>
        <p:nvSpPr>
          <p:cNvPr id="33" name="Oval 32"/>
          <p:cNvSpPr/>
          <p:nvPr/>
        </p:nvSpPr>
        <p:spPr>
          <a:xfrm>
            <a:off x="1143000" y="422452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307592" y="4169664"/>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相关能力遗漏：次要诉求没有被识别</a:t>
            </a:r>
          </a:p>
        </p:txBody>
      </p:sp>
      <p:sp>
        <p:nvSpPr>
          <p:cNvPr id="35" name="Oval 34"/>
          <p:cNvSpPr/>
          <p:nvPr/>
        </p:nvSpPr>
        <p:spPr>
          <a:xfrm>
            <a:off x="1143000" y="448055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307592" y="4425696"/>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风险任务误派发：治理边界缺少复核</a:t>
            </a:r>
          </a:p>
        </p:txBody>
      </p:sp>
      <p:sp>
        <p:nvSpPr>
          <p:cNvPr id="37" name="Oval 36"/>
          <p:cNvSpPr/>
          <p:nvPr/>
        </p:nvSpPr>
        <p:spPr>
          <a:xfrm>
            <a:off x="1143000" y="473659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307592" y="4681728"/>
            <a:ext cx="3383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Microsoft YaHei"/>
              </a:rPr>
              <a:t>过程不可追溯：无法解释为何选这个 Agent</a:t>
            </a:r>
          </a:p>
        </p:txBody>
      </p:sp>
      <p:sp>
        <p:nvSpPr>
          <p:cNvPr id="39" name="Rounded Rectangle 38"/>
          <p:cNvSpPr/>
          <p:nvPr/>
        </p:nvSpPr>
        <p:spPr>
          <a:xfrm>
            <a:off x="5806440" y="3246120"/>
            <a:ext cx="4480560" cy="1499616"/>
          </a:xfrm>
          <a:prstGeom prst="roundRect">
            <a:avLst/>
          </a:prstGeom>
          <a:solidFill>
            <a:srgbClr val="FFFF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08192" y="3547872"/>
            <a:ext cx="10972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项目切入点</a:t>
            </a:r>
          </a:p>
        </p:txBody>
      </p:sp>
      <p:sp>
        <p:nvSpPr>
          <p:cNvPr id="41" name="Rectangle 40"/>
          <p:cNvSpPr/>
          <p:nvPr/>
        </p:nvSpPr>
        <p:spPr>
          <a:xfrm>
            <a:off x="6144768" y="3950208"/>
            <a:ext cx="3401568"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围绕互联网基础资源场景中的智能体能力组织与可信调用入口，构建“多智能体协作 + 可信认知标识”的验证框架。</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任务书目标与本项目聚焦：没有偏题，语义路由只是验证载体</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把任务书要求转成四类可验证技术对象：角色、共识、可信记录和真实标签反馈。</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417320"/>
            <a:ext cx="4572000" cy="96012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5840" y="1618488"/>
            <a:ext cx="1645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0B63CE"/>
                </a:solidFill>
                <a:latin typeface="Microsoft YaHei"/>
              </a:rPr>
              <a:t>多视角认知风格生成</a:t>
            </a:r>
          </a:p>
        </p:txBody>
      </p:sp>
      <p:sp>
        <p:nvSpPr>
          <p:cNvPr id="12" name="Rectangle 11"/>
          <p:cNvSpPr/>
          <p:nvPr/>
        </p:nvSpPr>
        <p:spPr>
          <a:xfrm>
            <a:off x="2724912" y="1581912"/>
            <a:ext cx="2148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任务匹配、治理风险、层级解析、用户偏好四类职责角色</a:t>
            </a:r>
          </a:p>
        </p:txBody>
      </p:sp>
      <p:sp>
        <p:nvSpPr>
          <p:cNvPr id="13" name="Rounded Rectangle 12"/>
          <p:cNvSpPr/>
          <p:nvPr/>
        </p:nvSpPr>
        <p:spPr>
          <a:xfrm>
            <a:off x="6135624" y="1417320"/>
            <a:ext cx="4572000" cy="96012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618488"/>
            <a:ext cx="1645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0E8A57"/>
                </a:solidFill>
                <a:latin typeface="Microsoft YaHei"/>
              </a:rPr>
              <a:t>多智能体交互与共识算法</a:t>
            </a:r>
          </a:p>
        </p:txBody>
      </p:sp>
      <p:sp>
        <p:nvSpPr>
          <p:cNvPr id="15" name="Rectangle 14"/>
          <p:cNvSpPr/>
          <p:nvPr/>
        </p:nvSpPr>
        <p:spPr>
          <a:xfrm>
            <a:off x="8074152" y="1581912"/>
            <a:ext cx="2148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角色并行复核、候选级证据聚合、二轮复核、显式授权改判</a:t>
            </a:r>
          </a:p>
        </p:txBody>
      </p:sp>
      <p:sp>
        <p:nvSpPr>
          <p:cNvPr id="16" name="Rounded Rectangle 15"/>
          <p:cNvSpPr/>
          <p:nvPr/>
        </p:nvSpPr>
        <p:spPr>
          <a:xfrm>
            <a:off x="786384" y="2715768"/>
            <a:ext cx="4572000" cy="96012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5840" y="2916936"/>
            <a:ext cx="1645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E97132"/>
                </a:solidFill>
                <a:latin typeface="Microsoft YaHei"/>
              </a:rPr>
              <a:t>智能体行为可信标识</a:t>
            </a:r>
          </a:p>
        </p:txBody>
      </p:sp>
      <p:sp>
        <p:nvSpPr>
          <p:cNvPr id="18" name="Rectangle 17"/>
          <p:cNvSpPr/>
          <p:nvPr/>
        </p:nvSpPr>
        <p:spPr>
          <a:xfrm>
            <a:off x="2724912" y="2880360"/>
            <a:ext cx="2148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候选快照、角色标识、结构化判断、授权结果、执行接口记录</a:t>
            </a:r>
          </a:p>
        </p:txBody>
      </p:sp>
      <p:sp>
        <p:nvSpPr>
          <p:cNvPr id="19" name="Rounded Rectangle 18"/>
          <p:cNvSpPr/>
          <p:nvPr/>
        </p:nvSpPr>
        <p:spPr>
          <a:xfrm>
            <a:off x="6135624" y="2715768"/>
            <a:ext cx="4572000" cy="96012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5080" y="2916936"/>
            <a:ext cx="1645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6B49C8"/>
                </a:solidFill>
                <a:latin typeface="Microsoft YaHei"/>
              </a:rPr>
              <a:t>真实标签反馈验证</a:t>
            </a:r>
          </a:p>
        </p:txBody>
      </p:sp>
      <p:sp>
        <p:nvSpPr>
          <p:cNvPr id="21" name="Rectangle 20"/>
          <p:cNvSpPr/>
          <p:nvPr/>
        </p:nvSpPr>
        <p:spPr>
          <a:xfrm>
            <a:off x="8074152" y="2880360"/>
            <a:ext cx="2148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53657A"/>
                </a:solidFill>
                <a:latin typeface="Microsoft YaHei"/>
              </a:rPr>
              <a:t>563 条样本、冻结 train/test、主结果、消融和诊断分析</a:t>
            </a:r>
          </a:p>
        </p:txBody>
      </p:sp>
      <p:sp>
        <p:nvSpPr>
          <p:cNvPr id="22" name="Rounded Rectangle 21"/>
          <p:cNvSpPr/>
          <p:nvPr/>
        </p:nvSpPr>
        <p:spPr>
          <a:xfrm>
            <a:off x="914400" y="4754880"/>
            <a:ext cx="9784080" cy="74980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4974336"/>
            <a:ext cx="10972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Microsoft YaHei"/>
              </a:rPr>
              <a:t>答辩防守点</a:t>
            </a:r>
          </a:p>
        </p:txBody>
      </p:sp>
      <p:sp>
        <p:nvSpPr>
          <p:cNvPr id="24" name="Rectangle 23"/>
          <p:cNvSpPr/>
          <p:nvPr/>
        </p:nvSpPr>
        <p:spPr>
          <a:xfrm>
            <a:off x="2331720" y="4965192"/>
            <a:ext cx="71780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项目主题是“大模型多智能体协作与可信认知标识”；语义路由承担场景验证和原型评测作用，不替代项目主题。</a:t>
            </a:r>
          </a:p>
        </p:txBody>
      </p:sp>
      <p:sp>
        <p:nvSpPr>
          <p:cNvPr id="25" name="Rectangle 2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7" name="Rectangle 2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典型验证场景：语义路由把项目主题落到可评测链路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能力命名、候选选择、协作复核、过程记录和执行映射在同一个受控样本空间内被验证。</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02920" y="1627632"/>
            <a:ext cx="1481328" cy="102412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 y="1847088"/>
            <a:ext cx="23774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0B63CE"/>
                </a:solidFill>
                <a:latin typeface="Arial"/>
              </a:rPr>
              <a:t>1</a:t>
            </a:r>
          </a:p>
        </p:txBody>
      </p:sp>
      <p:sp>
        <p:nvSpPr>
          <p:cNvPr id="12" name="Rectangle 11"/>
          <p:cNvSpPr/>
          <p:nvPr/>
        </p:nvSpPr>
        <p:spPr>
          <a:xfrm>
            <a:off x="896112" y="1828800"/>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0" b="1">
                <a:solidFill>
                  <a:srgbClr val="102033"/>
                </a:solidFill>
                <a:latin typeface="Microsoft YaHei"/>
              </a:rPr>
              <a:t>自然语言请求</a:t>
            </a:r>
          </a:p>
        </p:txBody>
      </p:sp>
      <p:sp>
        <p:nvSpPr>
          <p:cNvPr id="13" name="Rectangle 12"/>
          <p:cNvSpPr/>
          <p:nvPr/>
        </p:nvSpPr>
        <p:spPr>
          <a:xfrm>
            <a:off x="667512" y="2212848"/>
            <a:ext cx="10607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70" b="0">
                <a:solidFill>
                  <a:srgbClr val="53657A"/>
                </a:solidFill>
                <a:latin typeface="Microsoft YaHei"/>
              </a:rPr>
              <a:t>用户提出复杂任务</a:t>
            </a:r>
          </a:p>
        </p:txBody>
      </p:sp>
      <p:sp>
        <p:nvSpPr>
          <p:cNvPr id="14" name="Rectangle 13"/>
          <p:cNvSpPr/>
          <p:nvPr/>
        </p:nvSpPr>
        <p:spPr>
          <a:xfrm>
            <a:off x="2057400" y="201168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5" name="Rounded Rectangle 14"/>
          <p:cNvSpPr/>
          <p:nvPr/>
        </p:nvSpPr>
        <p:spPr>
          <a:xfrm>
            <a:off x="2386584" y="1627632"/>
            <a:ext cx="1481328" cy="102412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4600" y="1847088"/>
            <a:ext cx="23774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0E8A57"/>
                </a:solidFill>
                <a:latin typeface="Arial"/>
              </a:rPr>
              <a:t>2</a:t>
            </a:r>
          </a:p>
        </p:txBody>
      </p:sp>
      <p:sp>
        <p:nvSpPr>
          <p:cNvPr id="17" name="Rectangle 16"/>
          <p:cNvSpPr/>
          <p:nvPr/>
        </p:nvSpPr>
        <p:spPr>
          <a:xfrm>
            <a:off x="2779776" y="1828800"/>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0" b="1">
                <a:solidFill>
                  <a:srgbClr val="102033"/>
                </a:solidFill>
                <a:latin typeface="Microsoft YaHei"/>
              </a:rPr>
              <a:t>能力命名空间</a:t>
            </a:r>
          </a:p>
        </p:txBody>
      </p:sp>
      <p:sp>
        <p:nvSpPr>
          <p:cNvPr id="18" name="Rectangle 17"/>
          <p:cNvSpPr/>
          <p:nvPr/>
        </p:nvSpPr>
        <p:spPr>
          <a:xfrm>
            <a:off x="2551176" y="2212848"/>
            <a:ext cx="10607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70" b="0">
                <a:solidFill>
                  <a:srgbClr val="53657A"/>
                </a:solidFill>
                <a:latin typeface="Microsoft YaHei"/>
              </a:rPr>
              <a:t>能力对象如何组织</a:t>
            </a:r>
          </a:p>
        </p:txBody>
      </p:sp>
      <p:sp>
        <p:nvSpPr>
          <p:cNvPr id="19" name="Rectangle 18"/>
          <p:cNvSpPr/>
          <p:nvPr/>
        </p:nvSpPr>
        <p:spPr>
          <a:xfrm>
            <a:off x="3941064" y="201168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0" name="Rounded Rectangle 19"/>
          <p:cNvSpPr/>
          <p:nvPr/>
        </p:nvSpPr>
        <p:spPr>
          <a:xfrm>
            <a:off x="4270248" y="1627632"/>
            <a:ext cx="1481328" cy="102412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98264" y="1847088"/>
            <a:ext cx="23774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E97132"/>
                </a:solidFill>
                <a:latin typeface="Arial"/>
              </a:rPr>
              <a:t>3</a:t>
            </a:r>
          </a:p>
        </p:txBody>
      </p:sp>
      <p:sp>
        <p:nvSpPr>
          <p:cNvPr id="22" name="Rectangle 21"/>
          <p:cNvSpPr/>
          <p:nvPr/>
        </p:nvSpPr>
        <p:spPr>
          <a:xfrm>
            <a:off x="4663440" y="1828800"/>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0" b="1">
                <a:solidFill>
                  <a:srgbClr val="102033"/>
                </a:solidFill>
                <a:latin typeface="Microsoft YaHei"/>
              </a:rPr>
              <a:t>结构化语义路由</a:t>
            </a:r>
          </a:p>
        </p:txBody>
      </p:sp>
      <p:sp>
        <p:nvSpPr>
          <p:cNvPr id="23" name="Rectangle 22"/>
          <p:cNvSpPr/>
          <p:nvPr/>
        </p:nvSpPr>
        <p:spPr>
          <a:xfrm>
            <a:off x="4434840" y="2212848"/>
            <a:ext cx="10607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70" b="0">
                <a:solidFill>
                  <a:srgbClr val="53657A"/>
                </a:solidFill>
                <a:latin typeface="Microsoft YaHei"/>
              </a:rPr>
              <a:t>请求如何指向主能力和相关能力</a:t>
            </a:r>
          </a:p>
        </p:txBody>
      </p:sp>
      <p:sp>
        <p:nvSpPr>
          <p:cNvPr id="24" name="Rectangle 23"/>
          <p:cNvSpPr/>
          <p:nvPr/>
        </p:nvSpPr>
        <p:spPr>
          <a:xfrm>
            <a:off x="5824728" y="201168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5" name="Rounded Rectangle 24"/>
          <p:cNvSpPr/>
          <p:nvPr/>
        </p:nvSpPr>
        <p:spPr>
          <a:xfrm>
            <a:off x="6153912" y="1627632"/>
            <a:ext cx="1481328" cy="102412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81927" y="1847088"/>
            <a:ext cx="23774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6B49C8"/>
                </a:solidFill>
                <a:latin typeface="Arial"/>
              </a:rPr>
              <a:t>4</a:t>
            </a:r>
          </a:p>
        </p:txBody>
      </p:sp>
      <p:sp>
        <p:nvSpPr>
          <p:cNvPr id="27" name="Rectangle 26"/>
          <p:cNvSpPr/>
          <p:nvPr/>
        </p:nvSpPr>
        <p:spPr>
          <a:xfrm>
            <a:off x="6547103" y="1828800"/>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0" b="1">
                <a:solidFill>
                  <a:srgbClr val="102033"/>
                </a:solidFill>
                <a:latin typeface="Microsoft YaHei"/>
              </a:rPr>
              <a:t>多智能体复核</a:t>
            </a:r>
          </a:p>
        </p:txBody>
      </p:sp>
      <p:sp>
        <p:nvSpPr>
          <p:cNvPr id="28" name="Rectangle 27"/>
          <p:cNvSpPr/>
          <p:nvPr/>
        </p:nvSpPr>
        <p:spPr>
          <a:xfrm>
            <a:off x="6318503" y="2212848"/>
            <a:ext cx="10607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70" b="0">
                <a:solidFill>
                  <a:srgbClr val="53657A"/>
                </a:solidFill>
                <a:latin typeface="Microsoft YaHei"/>
              </a:rPr>
              <a:t>复杂边界样本如何受控改判</a:t>
            </a:r>
          </a:p>
        </p:txBody>
      </p:sp>
      <p:sp>
        <p:nvSpPr>
          <p:cNvPr id="29" name="Rectangle 28"/>
          <p:cNvSpPr/>
          <p:nvPr/>
        </p:nvSpPr>
        <p:spPr>
          <a:xfrm>
            <a:off x="7708392" y="201168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30" name="Rounded Rectangle 29"/>
          <p:cNvSpPr/>
          <p:nvPr/>
        </p:nvSpPr>
        <p:spPr>
          <a:xfrm>
            <a:off x="8037576" y="1627632"/>
            <a:ext cx="1481328" cy="1024128"/>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65592" y="1847088"/>
            <a:ext cx="23774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B93232"/>
                </a:solidFill>
                <a:latin typeface="Arial"/>
              </a:rPr>
              <a:t>5</a:t>
            </a:r>
          </a:p>
        </p:txBody>
      </p:sp>
      <p:sp>
        <p:nvSpPr>
          <p:cNvPr id="32" name="Rectangle 31"/>
          <p:cNvSpPr/>
          <p:nvPr/>
        </p:nvSpPr>
        <p:spPr>
          <a:xfrm>
            <a:off x="8430768" y="1828800"/>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0" b="1">
                <a:solidFill>
                  <a:srgbClr val="102033"/>
                </a:solidFill>
                <a:latin typeface="Microsoft YaHei"/>
              </a:rPr>
              <a:t>可信过程记录</a:t>
            </a:r>
          </a:p>
        </p:txBody>
      </p:sp>
      <p:sp>
        <p:nvSpPr>
          <p:cNvPr id="33" name="Rectangle 32"/>
          <p:cNvSpPr/>
          <p:nvPr/>
        </p:nvSpPr>
        <p:spPr>
          <a:xfrm>
            <a:off x="8202168" y="2212848"/>
            <a:ext cx="10607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70" b="0">
                <a:solidFill>
                  <a:srgbClr val="53657A"/>
                </a:solidFill>
                <a:latin typeface="Microsoft YaHei"/>
              </a:rPr>
              <a:t>判断过程如何核验</a:t>
            </a:r>
          </a:p>
        </p:txBody>
      </p:sp>
      <p:sp>
        <p:nvSpPr>
          <p:cNvPr id="34" name="Rectangle 33"/>
          <p:cNvSpPr/>
          <p:nvPr/>
        </p:nvSpPr>
        <p:spPr>
          <a:xfrm>
            <a:off x="9592056" y="201168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35" name="Rounded Rectangle 34"/>
          <p:cNvSpPr/>
          <p:nvPr/>
        </p:nvSpPr>
        <p:spPr>
          <a:xfrm>
            <a:off x="9921240" y="1627632"/>
            <a:ext cx="1481328" cy="1024128"/>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049256" y="1847088"/>
            <a:ext cx="23774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E83E6"/>
                </a:solidFill>
                <a:latin typeface="Arial"/>
              </a:rPr>
              <a:t>6</a:t>
            </a:r>
          </a:p>
        </p:txBody>
      </p:sp>
      <p:sp>
        <p:nvSpPr>
          <p:cNvPr id="37" name="Rectangle 36"/>
          <p:cNvSpPr/>
          <p:nvPr/>
        </p:nvSpPr>
        <p:spPr>
          <a:xfrm>
            <a:off x="10314432" y="1828800"/>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10" b="1">
                <a:solidFill>
                  <a:srgbClr val="102033"/>
                </a:solidFill>
                <a:latin typeface="Microsoft YaHei"/>
              </a:rPr>
              <a:t>执行实例映射</a:t>
            </a:r>
          </a:p>
        </p:txBody>
      </p:sp>
      <p:sp>
        <p:nvSpPr>
          <p:cNvPr id="38" name="Rectangle 37"/>
          <p:cNvSpPr/>
          <p:nvPr/>
        </p:nvSpPr>
        <p:spPr>
          <a:xfrm>
            <a:off x="10085832" y="2212848"/>
            <a:ext cx="106070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70" b="0">
                <a:solidFill>
                  <a:srgbClr val="53657A"/>
                </a:solidFill>
                <a:latin typeface="Microsoft YaHei"/>
              </a:rPr>
              <a:t>最终由哪个 Agent 承接</a:t>
            </a:r>
          </a:p>
        </p:txBody>
      </p:sp>
      <p:sp>
        <p:nvSpPr>
          <p:cNvPr id="39" name="Rounded Rectangle 38"/>
          <p:cNvSpPr/>
          <p:nvPr/>
        </p:nvSpPr>
        <p:spPr>
          <a:xfrm>
            <a:off x="822960" y="3493008"/>
            <a:ext cx="10012680" cy="8229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97280" y="3767328"/>
            <a:ext cx="9601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26B6FF"/>
                </a:solidFill>
                <a:latin typeface="Microsoft YaHei"/>
              </a:rPr>
              <a:t>边界说明</a:t>
            </a:r>
          </a:p>
        </p:txBody>
      </p:sp>
      <p:sp>
        <p:nvSpPr>
          <p:cNvPr id="41" name="Rectangle 40"/>
          <p:cNvSpPr/>
          <p:nvPr/>
        </p:nvSpPr>
        <p:spPr>
          <a:xfrm>
            <a:off x="2148840" y="3730752"/>
            <a:ext cx="7726679"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20" b="1">
                <a:solidFill>
                  <a:srgbClr val="FFFFFF"/>
                </a:solidFill>
                <a:latin typeface="Microsoft YaHei"/>
              </a:rPr>
              <a:t>本项目中的“命名、地址、发现、路由”均限定在智能体能力目录、候选选择和实例映射范围内，不涉及现网域名注册、权威解析或递归解析。</a:t>
            </a:r>
          </a:p>
        </p:txBody>
      </p:sp>
      <p:sp>
        <p:nvSpPr>
          <p:cNvPr id="42" name="Rounded Rectangle 41"/>
          <p:cNvSpPr/>
          <p:nvPr/>
        </p:nvSpPr>
        <p:spPr>
          <a:xfrm>
            <a:off x="1005840" y="4736592"/>
            <a:ext cx="9509760" cy="493776"/>
          </a:xfrm>
          <a:prstGeom prst="roundRect">
            <a:avLst/>
          </a:prstGeom>
          <a:solidFill>
            <a:srgbClr val="FFF8E8"/>
          </a:solidFill>
          <a:ln w="12700">
            <a:solidFill>
              <a:srgbClr val="F2D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98448" y="4901184"/>
            <a:ext cx="8046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102033"/>
                </a:solidFill>
                <a:latin typeface="Microsoft YaHei"/>
              </a:rPr>
              <a:t>一句话：语义路由是项目主题的典型验证载体，不是把项目建设成生产级 DNS 解析系统。</a:t>
            </a:r>
          </a:p>
        </p:txBody>
      </p:sp>
      <p:sp>
        <p:nvSpPr>
          <p:cNvPr id="44" name="Rectangle 4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6" name="Rectangle 4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总体技术路线：能力组织、结构化判断、协作复核、可信留痕形成闭环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一张图说明从请求输入到执行衔接的完整链路，也是整套答辩的核心图。</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457200" y="1143000"/>
            <a:ext cx="1508760" cy="71323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21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0B63CE"/>
                </a:solidFill>
                <a:latin typeface="Microsoft YaHei"/>
              </a:rPr>
              <a:t>请求输入</a:t>
            </a:r>
          </a:p>
        </p:txBody>
      </p:sp>
      <p:sp>
        <p:nvSpPr>
          <p:cNvPr id="12" name="Rectangle 11"/>
          <p:cNvSpPr/>
          <p:nvPr/>
        </p:nvSpPr>
        <p:spPr>
          <a:xfrm>
            <a:off x="59436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query / context</a:t>
            </a:r>
          </a:p>
        </p:txBody>
      </p:sp>
      <p:sp>
        <p:nvSpPr>
          <p:cNvPr id="13" name="Rectangle 12"/>
          <p:cNvSpPr/>
          <p:nvPr/>
        </p:nvSpPr>
        <p:spPr>
          <a:xfrm>
            <a:off x="202996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4" name="Rounded Rectangle 13"/>
          <p:cNvSpPr/>
          <p:nvPr/>
        </p:nvSpPr>
        <p:spPr>
          <a:xfrm>
            <a:off x="2331720" y="1143000"/>
            <a:ext cx="1508760" cy="7132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5973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0E8A57"/>
                </a:solidFill>
                <a:latin typeface="Microsoft YaHei"/>
              </a:rPr>
              <a:t>能力命名与候选组织</a:t>
            </a:r>
          </a:p>
        </p:txBody>
      </p:sp>
      <p:sp>
        <p:nvSpPr>
          <p:cNvPr id="16" name="Rectangle 15"/>
          <p:cNvSpPr/>
          <p:nvPr/>
        </p:nvSpPr>
        <p:spPr>
          <a:xfrm>
            <a:off x="2468879"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N, C(x)</a:t>
            </a:r>
          </a:p>
        </p:txBody>
      </p:sp>
      <p:sp>
        <p:nvSpPr>
          <p:cNvPr id="17" name="Rectangle 16"/>
          <p:cNvSpPr/>
          <p:nvPr/>
        </p:nvSpPr>
        <p:spPr>
          <a:xfrm>
            <a:off x="390448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18" name="Rounded Rectangle 17"/>
          <p:cNvSpPr/>
          <p:nvPr/>
        </p:nvSpPr>
        <p:spPr>
          <a:xfrm>
            <a:off x="4206240" y="1143000"/>
            <a:ext cx="1508760" cy="71323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34255"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E97132"/>
                </a:solidFill>
                <a:latin typeface="Microsoft YaHei"/>
              </a:rPr>
              <a:t>单智能体结构化判别</a:t>
            </a:r>
          </a:p>
        </p:txBody>
      </p:sp>
      <p:sp>
        <p:nvSpPr>
          <p:cNvPr id="20" name="Rectangle 19"/>
          <p:cNvSpPr/>
          <p:nvPr/>
        </p:nvSpPr>
        <p:spPr>
          <a:xfrm>
            <a:off x="434340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ŷ, R̂, score</a:t>
            </a:r>
          </a:p>
        </p:txBody>
      </p:sp>
      <p:sp>
        <p:nvSpPr>
          <p:cNvPr id="21" name="Rectangle 20"/>
          <p:cNvSpPr/>
          <p:nvPr/>
        </p:nvSpPr>
        <p:spPr>
          <a:xfrm>
            <a:off x="577900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2" name="Rounded Rectangle 21"/>
          <p:cNvSpPr/>
          <p:nvPr/>
        </p:nvSpPr>
        <p:spPr>
          <a:xfrm>
            <a:off x="6080759" y="1143000"/>
            <a:ext cx="1508760" cy="713232"/>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5"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6B49C8"/>
                </a:solidFill>
                <a:latin typeface="Microsoft YaHei"/>
              </a:rPr>
              <a:t>协作触发判断</a:t>
            </a:r>
          </a:p>
        </p:txBody>
      </p:sp>
      <p:sp>
        <p:nvSpPr>
          <p:cNvPr id="24" name="Rectangle 23"/>
          <p:cNvSpPr/>
          <p:nvPr/>
        </p:nvSpPr>
        <p:spPr>
          <a:xfrm>
            <a:off x="621792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low confidence / risk</a:t>
            </a:r>
          </a:p>
        </p:txBody>
      </p:sp>
      <p:sp>
        <p:nvSpPr>
          <p:cNvPr id="25" name="Rectangle 24"/>
          <p:cNvSpPr/>
          <p:nvPr/>
        </p:nvSpPr>
        <p:spPr>
          <a:xfrm>
            <a:off x="7653527"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26" name="Rounded Rectangle 25"/>
          <p:cNvSpPr/>
          <p:nvPr/>
        </p:nvSpPr>
        <p:spPr>
          <a:xfrm>
            <a:off x="7955279" y="1143000"/>
            <a:ext cx="1508760" cy="713232"/>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8329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B93232"/>
                </a:solidFill>
                <a:latin typeface="Microsoft YaHei"/>
              </a:rPr>
              <a:t>职责化复核 + 授权</a:t>
            </a:r>
          </a:p>
        </p:txBody>
      </p:sp>
      <p:sp>
        <p:nvSpPr>
          <p:cNvPr id="28" name="Rectangle 27"/>
          <p:cNvSpPr/>
          <p:nvPr/>
        </p:nvSpPr>
        <p:spPr>
          <a:xfrm>
            <a:off x="809244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votes / gate</a:t>
            </a:r>
          </a:p>
        </p:txBody>
      </p:sp>
      <p:sp>
        <p:nvSpPr>
          <p:cNvPr id="29" name="Rectangle 28"/>
          <p:cNvSpPr/>
          <p:nvPr/>
        </p:nvSpPr>
        <p:spPr>
          <a:xfrm>
            <a:off x="9528048" y="1417320"/>
            <a:ext cx="228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500" b="1">
                <a:solidFill>
                  <a:srgbClr val="53657A"/>
                </a:solidFill>
                <a:latin typeface="Arial"/>
              </a:rPr>
              <a:t>→</a:t>
            </a:r>
          </a:p>
        </p:txBody>
      </p:sp>
      <p:sp>
        <p:nvSpPr>
          <p:cNvPr id="30" name="Rounded Rectangle 29"/>
          <p:cNvSpPr/>
          <p:nvPr/>
        </p:nvSpPr>
        <p:spPr>
          <a:xfrm>
            <a:off x="9829800" y="1143000"/>
            <a:ext cx="1508760" cy="713232"/>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57816" y="1298448"/>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1">
                <a:solidFill>
                  <a:srgbClr val="1E83E6"/>
                </a:solidFill>
                <a:latin typeface="Microsoft YaHei"/>
              </a:rPr>
              <a:t>地址输出与执行衔接</a:t>
            </a:r>
          </a:p>
        </p:txBody>
      </p:sp>
      <p:sp>
        <p:nvSpPr>
          <p:cNvPr id="32" name="Rectangle 31"/>
          <p:cNvSpPr/>
          <p:nvPr/>
        </p:nvSpPr>
        <p:spPr>
          <a:xfrm>
            <a:off x="9966960" y="1572768"/>
            <a:ext cx="98755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0">
                <a:solidFill>
                  <a:srgbClr val="53657A"/>
                </a:solidFill>
                <a:latin typeface="Arial"/>
              </a:rPr>
              <a:t>ability / instance</a:t>
            </a:r>
          </a:p>
        </p:txBody>
      </p:sp>
      <p:sp>
        <p:nvSpPr>
          <p:cNvPr id="33" name="Rounded Rectangle 32"/>
          <p:cNvSpPr/>
          <p:nvPr/>
        </p:nvSpPr>
        <p:spPr>
          <a:xfrm>
            <a:off x="777240" y="2139696"/>
            <a:ext cx="9966960" cy="3840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60704" y="2267712"/>
            <a:ext cx="9144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0B63CE"/>
                </a:solidFill>
                <a:latin typeface="Microsoft YaHei"/>
              </a:rPr>
              <a:t>可信轨迹</a:t>
            </a:r>
          </a:p>
        </p:txBody>
      </p:sp>
      <p:sp>
        <p:nvSpPr>
          <p:cNvPr id="35" name="Rectangle 34"/>
          <p:cNvSpPr/>
          <p:nvPr/>
        </p:nvSpPr>
        <p:spPr>
          <a:xfrm>
            <a:off x="214884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候选快照</a:t>
            </a:r>
          </a:p>
        </p:txBody>
      </p:sp>
      <p:sp>
        <p:nvSpPr>
          <p:cNvPr id="36" name="Rectangle 35"/>
          <p:cNvSpPr/>
          <p:nvPr/>
        </p:nvSpPr>
        <p:spPr>
          <a:xfrm>
            <a:off x="338328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规则分数</a:t>
            </a:r>
          </a:p>
        </p:txBody>
      </p:sp>
      <p:sp>
        <p:nvSpPr>
          <p:cNvPr id="37" name="Rectangle 36"/>
          <p:cNvSpPr/>
          <p:nvPr/>
        </p:nvSpPr>
        <p:spPr>
          <a:xfrm>
            <a:off x="461772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结构化裁决</a:t>
            </a:r>
          </a:p>
        </p:txBody>
      </p:sp>
      <p:sp>
        <p:nvSpPr>
          <p:cNvPr id="38" name="Rectangle 37"/>
          <p:cNvSpPr/>
          <p:nvPr/>
        </p:nvSpPr>
        <p:spPr>
          <a:xfrm>
            <a:off x="585216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角色提案</a:t>
            </a:r>
          </a:p>
        </p:txBody>
      </p:sp>
      <p:sp>
        <p:nvSpPr>
          <p:cNvPr id="39" name="Rectangle 38"/>
          <p:cNvSpPr/>
          <p:nvPr/>
        </p:nvSpPr>
        <p:spPr>
          <a:xfrm>
            <a:off x="708660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授权判断</a:t>
            </a:r>
          </a:p>
        </p:txBody>
      </p:sp>
      <p:sp>
        <p:nvSpPr>
          <p:cNvPr id="40" name="Rectangle 39"/>
          <p:cNvSpPr/>
          <p:nvPr/>
        </p:nvSpPr>
        <p:spPr>
          <a:xfrm>
            <a:off x="8321040" y="2276856"/>
            <a:ext cx="804672"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20" b="1">
                <a:solidFill>
                  <a:srgbClr val="102033"/>
                </a:solidFill>
                <a:latin typeface="Microsoft YaHei"/>
              </a:rPr>
              <a:t>最终输出</a:t>
            </a:r>
          </a:p>
        </p:txBody>
      </p:sp>
      <p:pic>
        <p:nvPicPr>
          <p:cNvPr id="41" name="Picture 40" descr="fig1_framework.png"/>
          <p:cNvPicPr>
            <a:picLocks noChangeAspect="1"/>
          </p:cNvPicPr>
          <p:nvPr/>
        </p:nvPicPr>
        <p:blipFill>
          <a:blip r:embed="rId3"/>
          <a:stretch>
            <a:fillRect/>
          </a:stretch>
        </p:blipFill>
        <p:spPr>
          <a:xfrm>
            <a:off x="960120" y="2615184"/>
            <a:ext cx="9601200" cy="3456432"/>
          </a:xfrm>
          <a:prstGeom prst="rect">
            <a:avLst/>
          </a:prstGeom>
        </p:spPr>
      </p:pic>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关键技术一：能力命名空间与候选边界是可评测基础</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不是简单调 API，而是构建受限、可复核、可评测的能力空间。</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822960" y="1298448"/>
            <a:ext cx="9601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800" b="1">
                <a:solidFill>
                  <a:srgbClr val="0B63CE"/>
                </a:solidFill>
                <a:latin typeface="Arial"/>
              </a:rPr>
              <a:t>50</a:t>
            </a:r>
          </a:p>
        </p:txBody>
      </p:sp>
      <p:sp>
        <p:nvSpPr>
          <p:cNvPr id="11" name="Rectangle 10"/>
          <p:cNvSpPr/>
          <p:nvPr/>
        </p:nvSpPr>
        <p:spPr>
          <a:xfrm>
            <a:off x="868680" y="1737360"/>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能力节点</a:t>
            </a:r>
          </a:p>
        </p:txBody>
      </p:sp>
      <p:sp>
        <p:nvSpPr>
          <p:cNvPr id="12" name="Rectangle 11"/>
          <p:cNvSpPr/>
          <p:nvPr/>
        </p:nvSpPr>
        <p:spPr>
          <a:xfrm>
            <a:off x="2286000" y="1298448"/>
            <a:ext cx="9601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800" b="1">
                <a:solidFill>
                  <a:srgbClr val="0E8A57"/>
                </a:solidFill>
                <a:latin typeface="Arial"/>
              </a:rPr>
              <a:t>45</a:t>
            </a:r>
          </a:p>
        </p:txBody>
      </p:sp>
      <p:sp>
        <p:nvSpPr>
          <p:cNvPr id="13" name="Rectangle 12"/>
          <p:cNvSpPr/>
          <p:nvPr/>
        </p:nvSpPr>
        <p:spPr>
          <a:xfrm>
            <a:off x="2331720" y="1737360"/>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主标签</a:t>
            </a:r>
          </a:p>
        </p:txBody>
      </p:sp>
      <p:sp>
        <p:nvSpPr>
          <p:cNvPr id="14" name="Rectangle 13"/>
          <p:cNvSpPr/>
          <p:nvPr/>
        </p:nvSpPr>
        <p:spPr>
          <a:xfrm>
            <a:off x="3749040" y="1298448"/>
            <a:ext cx="96012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800" b="1">
                <a:solidFill>
                  <a:srgbClr val="E97132"/>
                </a:solidFill>
                <a:latin typeface="Arial"/>
              </a:rPr>
              <a:t>563</a:t>
            </a:r>
          </a:p>
        </p:txBody>
      </p:sp>
      <p:sp>
        <p:nvSpPr>
          <p:cNvPr id="15" name="Rectangle 14"/>
          <p:cNvSpPr/>
          <p:nvPr/>
        </p:nvSpPr>
        <p:spPr>
          <a:xfrm>
            <a:off x="3794760" y="1737360"/>
            <a:ext cx="100584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评测样本</a:t>
            </a:r>
          </a:p>
        </p:txBody>
      </p:sp>
      <p:sp>
        <p:nvSpPr>
          <p:cNvPr id="16" name="Rounded Rectangle 15"/>
          <p:cNvSpPr/>
          <p:nvPr/>
        </p:nvSpPr>
        <p:spPr>
          <a:xfrm>
            <a:off x="5486400" y="1170432"/>
            <a:ext cx="4023360" cy="42062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50992" y="1289304"/>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0B63CE"/>
                </a:solidFill>
                <a:latin typeface="Microsoft YaHei"/>
              </a:rPr>
              <a:t>一级能力域</a:t>
            </a:r>
          </a:p>
        </p:txBody>
      </p:sp>
      <p:sp>
        <p:nvSpPr>
          <p:cNvPr id="18" name="Rectangle 17"/>
          <p:cNvSpPr/>
          <p:nvPr/>
        </p:nvSpPr>
        <p:spPr>
          <a:xfrm>
            <a:off x="6912864" y="1289304"/>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travel / security / productivity</a:t>
            </a:r>
          </a:p>
        </p:txBody>
      </p:sp>
      <p:sp>
        <p:nvSpPr>
          <p:cNvPr id="19" name="Rounded Rectangle 18"/>
          <p:cNvSpPr/>
          <p:nvPr/>
        </p:nvSpPr>
        <p:spPr>
          <a:xfrm>
            <a:off x="5486400" y="1828800"/>
            <a:ext cx="4023360" cy="42062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50992" y="1947672"/>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0E8A57"/>
                </a:solidFill>
                <a:latin typeface="Microsoft YaHei"/>
              </a:rPr>
              <a:t>二级能力域</a:t>
            </a:r>
          </a:p>
        </p:txBody>
      </p:sp>
      <p:sp>
        <p:nvSpPr>
          <p:cNvPr id="21" name="Rectangle 20"/>
          <p:cNvSpPr/>
          <p:nvPr/>
        </p:nvSpPr>
        <p:spPr>
          <a:xfrm>
            <a:off x="6912864" y="1947672"/>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hotel / activity / docs</a:t>
            </a:r>
          </a:p>
        </p:txBody>
      </p:sp>
      <p:sp>
        <p:nvSpPr>
          <p:cNvPr id="22" name="Rounded Rectangle 21"/>
          <p:cNvSpPr/>
          <p:nvPr/>
        </p:nvSpPr>
        <p:spPr>
          <a:xfrm>
            <a:off x="5486400" y="2487168"/>
            <a:ext cx="4023360" cy="42062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50992" y="2606039"/>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E97132"/>
                </a:solidFill>
                <a:latin typeface="Microsoft YaHei"/>
              </a:rPr>
              <a:t>能力逻辑地址</a:t>
            </a:r>
          </a:p>
        </p:txBody>
      </p:sp>
      <p:sp>
        <p:nvSpPr>
          <p:cNvPr id="24" name="Rectangle 23"/>
          <p:cNvSpPr/>
          <p:nvPr/>
        </p:nvSpPr>
        <p:spPr>
          <a:xfrm>
            <a:off x="6912864" y="2606039"/>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activity.travel.cn</a:t>
            </a:r>
          </a:p>
        </p:txBody>
      </p:sp>
      <p:sp>
        <p:nvSpPr>
          <p:cNvPr id="25" name="Rounded Rectangle 24"/>
          <p:cNvSpPr/>
          <p:nvPr/>
        </p:nvSpPr>
        <p:spPr>
          <a:xfrm>
            <a:off x="5486400" y="3145536"/>
            <a:ext cx="4023360" cy="420624"/>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50992" y="3264408"/>
            <a:ext cx="11430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1">
                <a:solidFill>
                  <a:srgbClr val="6B49C8"/>
                </a:solidFill>
                <a:latin typeface="Microsoft YaHei"/>
              </a:rPr>
              <a:t>实例逻辑地址</a:t>
            </a:r>
          </a:p>
        </p:txBody>
      </p:sp>
      <p:sp>
        <p:nvSpPr>
          <p:cNvPr id="27" name="Rectangle 26"/>
          <p:cNvSpPr/>
          <p:nvPr/>
        </p:nvSpPr>
        <p:spPr>
          <a:xfrm>
            <a:off x="6912864" y="3264408"/>
            <a:ext cx="2084831"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53657A"/>
                </a:solidFill>
                <a:latin typeface="Arial"/>
              </a:rPr>
              <a:t>agent endpoint</a:t>
            </a:r>
          </a:p>
        </p:txBody>
      </p:sp>
      <p:sp>
        <p:nvSpPr>
          <p:cNvPr id="28" name="Rounded Rectangle 27"/>
          <p:cNvSpPr/>
          <p:nvPr/>
        </p:nvSpPr>
        <p:spPr>
          <a:xfrm>
            <a:off x="868680" y="2971800"/>
            <a:ext cx="4023360" cy="14173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43000" y="3246120"/>
            <a:ext cx="10972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技术约束</a:t>
            </a:r>
          </a:p>
        </p:txBody>
      </p:sp>
      <p:sp>
        <p:nvSpPr>
          <p:cNvPr id="30" name="Oval 29"/>
          <p:cNvSpPr/>
          <p:nvPr/>
        </p:nvSpPr>
        <p:spPr>
          <a:xfrm>
            <a:off x="1170432" y="365760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35024" y="3602736"/>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候选集合冻结，后续裁决不得发明候选外标签</a:t>
            </a:r>
          </a:p>
        </p:txBody>
      </p:sp>
      <p:sp>
        <p:nvSpPr>
          <p:cNvPr id="32" name="Oval 31"/>
          <p:cNvSpPr/>
          <p:nvPr/>
        </p:nvSpPr>
        <p:spPr>
          <a:xfrm>
            <a:off x="1170432" y="3950207"/>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335024" y="3895344"/>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能力地址表示哪类能力承接请求</a:t>
            </a:r>
          </a:p>
        </p:txBody>
      </p:sp>
      <p:sp>
        <p:nvSpPr>
          <p:cNvPr id="34" name="Oval 33"/>
          <p:cNvSpPr/>
          <p:nvPr/>
        </p:nvSpPr>
        <p:spPr>
          <a:xfrm>
            <a:off x="1170432" y="424281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335024" y="4187952"/>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实例地址表示最终哪个具体 Agent 执行</a:t>
            </a:r>
          </a:p>
        </p:txBody>
      </p:sp>
      <p:sp>
        <p:nvSpPr>
          <p:cNvPr id="36" name="Rounded Rectangle 35"/>
          <p:cNvSpPr/>
          <p:nvPr/>
        </p:nvSpPr>
        <p:spPr>
          <a:xfrm>
            <a:off x="5486400" y="4160520"/>
            <a:ext cx="4069080" cy="731520"/>
          </a:xfrm>
          <a:prstGeom prst="roundRect">
            <a:avLst/>
          </a:prstGeom>
          <a:solidFill>
            <a:srgbClr val="FFF8E8"/>
          </a:solidFill>
          <a:ln w="12700">
            <a:solidFill>
              <a:srgbClr val="F2D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742432" y="4407408"/>
            <a:ext cx="5029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E97132"/>
                </a:solidFill>
                <a:latin typeface="Microsoft YaHei"/>
              </a:rPr>
              <a:t>边界</a:t>
            </a:r>
          </a:p>
        </p:txBody>
      </p:sp>
      <p:sp>
        <p:nvSpPr>
          <p:cNvPr id="38" name="Rectangle 37"/>
          <p:cNvSpPr/>
          <p:nvPr/>
        </p:nvSpPr>
        <p:spPr>
          <a:xfrm>
            <a:off x="6355080" y="4407408"/>
            <a:ext cx="2633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Microsoft YaHei"/>
              </a:rPr>
              <a:t>能力目录和逻辑地址是原型内部实验对象，不是现网 DNS 资源。</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关键技术二：结构化语义路由把模型判断约束在候选集合内</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核心不是让模型自由生成，而是让模型输出可比较、可升级、可复核的候选级裁决。</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49808" y="1261872"/>
            <a:ext cx="4251960" cy="242316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1560" y="1572768"/>
            <a:ext cx="914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B93232"/>
                </a:solidFill>
                <a:latin typeface="Microsoft YaHei"/>
              </a:rPr>
              <a:t>规则路由</a:t>
            </a:r>
          </a:p>
        </p:txBody>
      </p:sp>
      <p:sp>
        <p:nvSpPr>
          <p:cNvPr id="12" name="Oval 11"/>
          <p:cNvSpPr/>
          <p:nvPr/>
        </p:nvSpPr>
        <p:spPr>
          <a:xfrm>
            <a:off x="1078992" y="2011680"/>
            <a:ext cx="68580" cy="68580"/>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43584" y="1956816"/>
            <a:ext cx="3017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关键词 / 别名 / 描述相似度</a:t>
            </a:r>
          </a:p>
        </p:txBody>
      </p:sp>
      <p:sp>
        <p:nvSpPr>
          <p:cNvPr id="14" name="Oval 13"/>
          <p:cNvSpPr/>
          <p:nvPr/>
        </p:nvSpPr>
        <p:spPr>
          <a:xfrm>
            <a:off x="1078992" y="2340864"/>
            <a:ext cx="68580" cy="68580"/>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43584" y="2286000"/>
            <a:ext cx="3017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层级信号和上下文命中</a:t>
            </a:r>
          </a:p>
        </p:txBody>
      </p:sp>
      <p:sp>
        <p:nvSpPr>
          <p:cNvPr id="16" name="Oval 15"/>
          <p:cNvSpPr/>
          <p:nvPr/>
        </p:nvSpPr>
        <p:spPr>
          <a:xfrm>
            <a:off x="1078992" y="2670048"/>
            <a:ext cx="68580" cy="68580"/>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43584" y="2615184"/>
            <a:ext cx="3017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问题：容易被表面词误拉偏</a:t>
            </a:r>
          </a:p>
        </p:txBody>
      </p:sp>
      <p:sp>
        <p:nvSpPr>
          <p:cNvPr id="18" name="Rounded Rectangle 17"/>
          <p:cNvSpPr/>
          <p:nvPr/>
        </p:nvSpPr>
        <p:spPr>
          <a:xfrm>
            <a:off x="5650992" y="1261872"/>
            <a:ext cx="4251960" cy="2423160"/>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61888" y="1572768"/>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结构化语义路由</a:t>
            </a:r>
          </a:p>
        </p:txBody>
      </p:sp>
      <p:sp>
        <p:nvSpPr>
          <p:cNvPr id="20" name="Oval 19"/>
          <p:cNvSpPr/>
          <p:nvPr/>
        </p:nvSpPr>
        <p:spPr>
          <a:xfrm>
            <a:off x="5989320" y="201168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53912" y="1956816"/>
            <a:ext cx="3200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主任务摘要 / 相关能力</a:t>
            </a:r>
          </a:p>
        </p:txBody>
      </p:sp>
      <p:sp>
        <p:nvSpPr>
          <p:cNvPr id="22" name="Oval 21"/>
          <p:cNvSpPr/>
          <p:nvPr/>
        </p:nvSpPr>
        <p:spPr>
          <a:xfrm>
            <a:off x="5989320" y="2340864"/>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53912" y="2286000"/>
            <a:ext cx="3200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置信度 / 风险提示 / 竞争候选说明</a:t>
            </a:r>
          </a:p>
        </p:txBody>
      </p:sp>
      <p:sp>
        <p:nvSpPr>
          <p:cNvPr id="24" name="Oval 23"/>
          <p:cNvSpPr/>
          <p:nvPr/>
        </p:nvSpPr>
        <p:spPr>
          <a:xfrm>
            <a:off x="5989320" y="2670048"/>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53912" y="2615184"/>
            <a:ext cx="3200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约束：只能从候选集合中选择</a:t>
            </a:r>
          </a:p>
        </p:txBody>
      </p:sp>
      <p:sp>
        <p:nvSpPr>
          <p:cNvPr id="26" name="Rounded Rectangle 25"/>
          <p:cNvSpPr/>
          <p:nvPr/>
        </p:nvSpPr>
        <p:spPr>
          <a:xfrm>
            <a:off x="914400" y="4434840"/>
            <a:ext cx="9098280" cy="658368"/>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8720" y="4645152"/>
            <a:ext cx="548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26B6FF"/>
                </a:solidFill>
                <a:latin typeface="Microsoft YaHei"/>
              </a:rPr>
              <a:t>结果</a:t>
            </a:r>
          </a:p>
        </p:txBody>
      </p:sp>
      <p:sp>
        <p:nvSpPr>
          <p:cNvPr id="28" name="Rectangle 27"/>
          <p:cNvSpPr/>
          <p:nvPr/>
        </p:nvSpPr>
        <p:spPr>
          <a:xfrm>
            <a:off x="1874519" y="4636008"/>
            <a:ext cx="70408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10" b="1">
                <a:solidFill>
                  <a:srgbClr val="FFFFFF"/>
                </a:solidFill>
                <a:latin typeface="Microsoft YaHei"/>
              </a:rPr>
              <a:t>规则路由主准确率 78.76%，结构化语义路由提升至 87.61%；主要收益来自候选内主任务比较能力。</a:t>
            </a:r>
          </a:p>
        </p:txBody>
      </p:sp>
      <p:sp>
        <p:nvSpPr>
          <p:cNvPr id="29" name="Rectangle 2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1" name="Rectangle 3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关键技术三：职责化多智能体复核把“讨论”变成受控改判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协作触发和最终改判分开；只有满足票数、证据强度、共识增益和风险确认条件才允许改判。</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261872"/>
            <a:ext cx="3154680" cy="78638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7552" y="1444751"/>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0B63CE"/>
                </a:solidFill>
                <a:latin typeface="Microsoft YaHei"/>
              </a:rPr>
              <a:t>任务匹配</a:t>
            </a:r>
          </a:p>
        </p:txBody>
      </p:sp>
      <p:sp>
        <p:nvSpPr>
          <p:cNvPr id="12" name="Rectangle 11"/>
          <p:cNvSpPr/>
          <p:nvPr/>
        </p:nvSpPr>
        <p:spPr>
          <a:xfrm>
            <a:off x="1993392" y="1444751"/>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谁最能承接主任务</a:t>
            </a:r>
          </a:p>
        </p:txBody>
      </p:sp>
      <p:sp>
        <p:nvSpPr>
          <p:cNvPr id="13" name="Rounded Rectangle 12"/>
          <p:cNvSpPr/>
          <p:nvPr/>
        </p:nvSpPr>
        <p:spPr>
          <a:xfrm>
            <a:off x="4535424" y="1261872"/>
            <a:ext cx="3154680" cy="786384"/>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36592" y="1444751"/>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B93232"/>
                </a:solidFill>
                <a:latin typeface="Microsoft YaHei"/>
              </a:rPr>
              <a:t>治理风险</a:t>
            </a:r>
          </a:p>
        </p:txBody>
      </p:sp>
      <p:sp>
        <p:nvSpPr>
          <p:cNvPr id="15" name="Rectangle 14"/>
          <p:cNvSpPr/>
          <p:nvPr/>
        </p:nvSpPr>
        <p:spPr>
          <a:xfrm>
            <a:off x="5742432" y="1444751"/>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审查高风险、跨域、敏感改判</a:t>
            </a:r>
          </a:p>
        </p:txBody>
      </p:sp>
      <p:sp>
        <p:nvSpPr>
          <p:cNvPr id="16" name="Rounded Rectangle 15"/>
          <p:cNvSpPr/>
          <p:nvPr/>
        </p:nvSpPr>
        <p:spPr>
          <a:xfrm>
            <a:off x="786384" y="2286000"/>
            <a:ext cx="3154680" cy="78638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87552" y="246888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0E8A57"/>
                </a:solidFill>
                <a:latin typeface="Microsoft YaHei"/>
              </a:rPr>
              <a:t>层级解析</a:t>
            </a:r>
          </a:p>
        </p:txBody>
      </p:sp>
      <p:sp>
        <p:nvSpPr>
          <p:cNvPr id="18" name="Rectangle 17"/>
          <p:cNvSpPr/>
          <p:nvPr/>
        </p:nvSpPr>
        <p:spPr>
          <a:xfrm>
            <a:off x="1993392" y="2468880"/>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处理父子节点和粒度冲突</a:t>
            </a:r>
          </a:p>
        </p:txBody>
      </p:sp>
      <p:sp>
        <p:nvSpPr>
          <p:cNvPr id="19" name="Rounded Rectangle 18"/>
          <p:cNvSpPr/>
          <p:nvPr/>
        </p:nvSpPr>
        <p:spPr>
          <a:xfrm>
            <a:off x="4535424" y="2286000"/>
            <a:ext cx="3154680" cy="78638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736592" y="246888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E97132"/>
                </a:solidFill>
                <a:latin typeface="Microsoft YaHei"/>
              </a:rPr>
              <a:t>用户偏好</a:t>
            </a:r>
          </a:p>
        </p:txBody>
      </p:sp>
      <p:sp>
        <p:nvSpPr>
          <p:cNvPr id="21" name="Rectangle 20"/>
          <p:cNvSpPr/>
          <p:nvPr/>
        </p:nvSpPr>
        <p:spPr>
          <a:xfrm>
            <a:off x="5742432" y="2468880"/>
            <a:ext cx="15727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区分主次意图和辅助诉求</a:t>
            </a:r>
          </a:p>
        </p:txBody>
      </p:sp>
      <p:sp>
        <p:nvSpPr>
          <p:cNvPr id="22" name="Rounded Rectangle 21"/>
          <p:cNvSpPr/>
          <p:nvPr/>
        </p:nvSpPr>
        <p:spPr>
          <a:xfrm>
            <a:off x="8183879" y="1417320"/>
            <a:ext cx="2240280" cy="187451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58200" y="1700784"/>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显式授权改判</a:t>
            </a:r>
          </a:p>
        </p:txBody>
      </p:sp>
      <p:sp>
        <p:nvSpPr>
          <p:cNvPr id="24" name="Oval 23"/>
          <p:cNvSpPr/>
          <p:nvPr/>
        </p:nvSpPr>
        <p:spPr>
          <a:xfrm>
            <a:off x="8485632" y="213969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50224" y="2084831"/>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≥3 票支持</a:t>
            </a:r>
          </a:p>
        </p:txBody>
      </p:sp>
      <p:sp>
        <p:nvSpPr>
          <p:cNvPr id="26" name="Oval 25"/>
          <p:cNvSpPr/>
          <p:nvPr/>
        </p:nvSpPr>
        <p:spPr>
          <a:xfrm>
            <a:off x="8485632" y="237744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50224" y="2322576"/>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共识分数增益 ≥0.08</a:t>
            </a:r>
          </a:p>
        </p:txBody>
      </p:sp>
      <p:sp>
        <p:nvSpPr>
          <p:cNvPr id="28" name="Oval 27"/>
          <p:cNvSpPr/>
          <p:nvPr/>
        </p:nvSpPr>
        <p:spPr>
          <a:xfrm>
            <a:off x="8485632" y="26151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50224" y="2560320"/>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显式主任务证据 ≥0.55</a:t>
            </a:r>
          </a:p>
        </p:txBody>
      </p:sp>
      <p:sp>
        <p:nvSpPr>
          <p:cNvPr id="30" name="Oval 29"/>
          <p:cNvSpPr/>
          <p:nvPr/>
        </p:nvSpPr>
        <p:spPr>
          <a:xfrm>
            <a:off x="8485632" y="2852927"/>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50224" y="2798063"/>
            <a:ext cx="1417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70" b="0">
                <a:solidFill>
                  <a:srgbClr val="D2E6FF"/>
                </a:solidFill>
                <a:latin typeface="Microsoft YaHei"/>
              </a:rPr>
              <a:t>高风险/跨域需额外确认</a:t>
            </a:r>
          </a:p>
        </p:txBody>
      </p:sp>
      <p:pic>
        <p:nvPicPr>
          <p:cNvPr id="32" name="Picture 31" descr="fig2_review_flow.png"/>
          <p:cNvPicPr>
            <a:picLocks noChangeAspect="1"/>
          </p:cNvPicPr>
          <p:nvPr/>
        </p:nvPicPr>
        <p:blipFill>
          <a:blip r:embed="rId3"/>
          <a:stretch>
            <a:fillRect/>
          </a:stretch>
        </p:blipFill>
        <p:spPr>
          <a:xfrm>
            <a:off x="914400" y="3886200"/>
            <a:ext cx="9646920" cy="1444752"/>
          </a:xfrm>
          <a:prstGeom prst="rect">
            <a:avLst/>
          </a:prstGeom>
        </p:spPr>
      </p:pic>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关键技术四：可信认知标识落到过程记录对象</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可信不是空泛概念，而是可记录、可回放、可解释、可核验。</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234440"/>
            <a:ext cx="2057400" cy="65836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输入请求</a:t>
            </a:r>
          </a:p>
        </p:txBody>
      </p:sp>
      <p:sp>
        <p:nvSpPr>
          <p:cNvPr id="12" name="Rectangle 11"/>
          <p:cNvSpPr/>
          <p:nvPr/>
        </p:nvSpPr>
        <p:spPr>
          <a:xfrm>
            <a:off x="166420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query</a:t>
            </a:r>
          </a:p>
        </p:txBody>
      </p:sp>
      <p:sp>
        <p:nvSpPr>
          <p:cNvPr id="13" name="Rounded Rectangle 12"/>
          <p:cNvSpPr/>
          <p:nvPr/>
        </p:nvSpPr>
        <p:spPr>
          <a:xfrm>
            <a:off x="3355848" y="1234440"/>
            <a:ext cx="2057400" cy="65836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215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候选集合</a:t>
            </a:r>
          </a:p>
        </p:txBody>
      </p:sp>
      <p:sp>
        <p:nvSpPr>
          <p:cNvPr id="15" name="Rectangle 14"/>
          <p:cNvSpPr/>
          <p:nvPr/>
        </p:nvSpPr>
        <p:spPr>
          <a:xfrm>
            <a:off x="436168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C(x)</a:t>
            </a:r>
          </a:p>
        </p:txBody>
      </p:sp>
      <p:sp>
        <p:nvSpPr>
          <p:cNvPr id="16" name="Rounded Rectangle 15"/>
          <p:cNvSpPr/>
          <p:nvPr/>
        </p:nvSpPr>
        <p:spPr>
          <a:xfrm>
            <a:off x="6053328" y="1234440"/>
            <a:ext cx="2057400" cy="65836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规则初判</a:t>
            </a:r>
          </a:p>
        </p:txBody>
      </p:sp>
      <p:sp>
        <p:nvSpPr>
          <p:cNvPr id="18" name="Rectangle 17"/>
          <p:cNvSpPr/>
          <p:nvPr/>
        </p:nvSpPr>
        <p:spPr>
          <a:xfrm>
            <a:off x="705916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rule score</a:t>
            </a:r>
          </a:p>
        </p:txBody>
      </p:sp>
      <p:sp>
        <p:nvSpPr>
          <p:cNvPr id="19" name="Rounded Rectangle 18"/>
          <p:cNvSpPr/>
          <p:nvPr/>
        </p:nvSpPr>
        <p:spPr>
          <a:xfrm>
            <a:off x="8750808" y="1234440"/>
            <a:ext cx="2057400" cy="65836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97112" y="139903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结构化裁决</a:t>
            </a:r>
          </a:p>
        </p:txBody>
      </p:sp>
      <p:sp>
        <p:nvSpPr>
          <p:cNvPr id="21" name="Rectangle 20"/>
          <p:cNvSpPr/>
          <p:nvPr/>
        </p:nvSpPr>
        <p:spPr>
          <a:xfrm>
            <a:off x="9756648" y="1417320"/>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decision packet</a:t>
            </a:r>
          </a:p>
        </p:txBody>
      </p:sp>
      <p:sp>
        <p:nvSpPr>
          <p:cNvPr id="22" name="Rounded Rectangle 21"/>
          <p:cNvSpPr/>
          <p:nvPr/>
        </p:nvSpPr>
        <p:spPr>
          <a:xfrm>
            <a:off x="658368" y="2221992"/>
            <a:ext cx="2057400" cy="65836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467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角色提案</a:t>
            </a:r>
          </a:p>
        </p:txBody>
      </p:sp>
      <p:sp>
        <p:nvSpPr>
          <p:cNvPr id="24" name="Rectangle 23"/>
          <p:cNvSpPr/>
          <p:nvPr/>
        </p:nvSpPr>
        <p:spPr>
          <a:xfrm>
            <a:off x="166420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agent votes</a:t>
            </a:r>
          </a:p>
        </p:txBody>
      </p:sp>
      <p:sp>
        <p:nvSpPr>
          <p:cNvPr id="25" name="Rounded Rectangle 24"/>
          <p:cNvSpPr/>
          <p:nvPr/>
        </p:nvSpPr>
        <p:spPr>
          <a:xfrm>
            <a:off x="3355848" y="2221992"/>
            <a:ext cx="2057400" cy="65836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0215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授权判断</a:t>
            </a:r>
          </a:p>
        </p:txBody>
      </p:sp>
      <p:sp>
        <p:nvSpPr>
          <p:cNvPr id="27" name="Rectangle 26"/>
          <p:cNvSpPr/>
          <p:nvPr/>
        </p:nvSpPr>
        <p:spPr>
          <a:xfrm>
            <a:off x="436168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trust gate</a:t>
            </a:r>
          </a:p>
        </p:txBody>
      </p:sp>
      <p:sp>
        <p:nvSpPr>
          <p:cNvPr id="28" name="Rounded Rectangle 27"/>
          <p:cNvSpPr/>
          <p:nvPr/>
        </p:nvSpPr>
        <p:spPr>
          <a:xfrm>
            <a:off x="6053328" y="2221992"/>
            <a:ext cx="2057400" cy="65836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963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最终能力地址</a:t>
            </a:r>
          </a:p>
        </p:txBody>
      </p:sp>
      <p:sp>
        <p:nvSpPr>
          <p:cNvPr id="30" name="Rectangle 29"/>
          <p:cNvSpPr/>
          <p:nvPr/>
        </p:nvSpPr>
        <p:spPr>
          <a:xfrm>
            <a:off x="705916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ability addr</a:t>
            </a:r>
          </a:p>
        </p:txBody>
      </p:sp>
      <p:sp>
        <p:nvSpPr>
          <p:cNvPr id="31" name="Rounded Rectangle 30"/>
          <p:cNvSpPr/>
          <p:nvPr/>
        </p:nvSpPr>
        <p:spPr>
          <a:xfrm>
            <a:off x="8750808" y="2221992"/>
            <a:ext cx="2057400" cy="65836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97112" y="2386584"/>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102033"/>
                </a:solidFill>
                <a:latin typeface="Microsoft YaHei"/>
              </a:rPr>
              <a:t>实例映射</a:t>
            </a:r>
          </a:p>
        </p:txBody>
      </p:sp>
      <p:sp>
        <p:nvSpPr>
          <p:cNvPr id="33" name="Rectangle 32"/>
          <p:cNvSpPr/>
          <p:nvPr/>
        </p:nvSpPr>
        <p:spPr>
          <a:xfrm>
            <a:off x="9756648" y="2404872"/>
            <a:ext cx="74980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Arial"/>
              </a:rPr>
              <a:t>agent endpoint</a:t>
            </a:r>
          </a:p>
        </p:txBody>
      </p:sp>
      <p:sp>
        <p:nvSpPr>
          <p:cNvPr id="34" name="Rounded Rectangle 33"/>
          <p:cNvSpPr/>
          <p:nvPr/>
        </p:nvSpPr>
        <p:spPr>
          <a:xfrm>
            <a:off x="841248" y="3822191"/>
            <a:ext cx="9875520" cy="9601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15568" y="4133087"/>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26B6FF"/>
                </a:solidFill>
                <a:latin typeface="Microsoft YaHei"/>
              </a:rPr>
              <a:t>复盘能力</a:t>
            </a:r>
          </a:p>
        </p:txBody>
      </p:sp>
      <p:sp>
        <p:nvSpPr>
          <p:cNvPr id="36" name="Rectangle 35"/>
          <p:cNvSpPr/>
          <p:nvPr/>
        </p:nvSpPr>
        <p:spPr>
          <a:xfrm>
            <a:off x="2304288" y="4114800"/>
            <a:ext cx="7360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40" b="1">
                <a:solidFill>
                  <a:srgbClr val="FFFFFF"/>
                </a:solidFill>
                <a:latin typeface="Microsoft YaHei"/>
              </a:rPr>
              <a:t>每条请求可还原：候选集合如何形成、初判为何选择、协作角色提出哪些支持或阻止信号、控制器为何允许或拒绝改判。</a:t>
            </a:r>
          </a:p>
        </p:txBody>
      </p:sp>
      <p:sp>
        <p:nvSpPr>
          <p:cNvPr id="37" name="Rectangle 3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9" name="Rectangle 3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实验设计与数据资产：冻结协议支撑项目验收与论文复现</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评委需要看到不是演示几个样例，而是有稳定样本、固定配置和可复现实验口径。</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822960" y="1389888"/>
            <a:ext cx="1600200" cy="82296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0B63CE"/>
                </a:solidFill>
                <a:latin typeface="Arial"/>
              </a:rPr>
              <a:t>563</a:t>
            </a:r>
          </a:p>
        </p:txBody>
      </p:sp>
      <p:sp>
        <p:nvSpPr>
          <p:cNvPr id="12" name="Rectangle 11"/>
          <p:cNvSpPr/>
          <p:nvPr/>
        </p:nvSpPr>
        <p:spPr>
          <a:xfrm>
            <a:off x="93268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样本总量</a:t>
            </a:r>
          </a:p>
        </p:txBody>
      </p:sp>
      <p:sp>
        <p:nvSpPr>
          <p:cNvPr id="13" name="Rounded Rectangle 12"/>
          <p:cNvSpPr/>
          <p:nvPr/>
        </p:nvSpPr>
        <p:spPr>
          <a:xfrm>
            <a:off x="2926079" y="1389888"/>
            <a:ext cx="1600200" cy="8229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3580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0E8A57"/>
                </a:solidFill>
                <a:latin typeface="Arial"/>
              </a:rPr>
              <a:t>450</a:t>
            </a:r>
          </a:p>
        </p:txBody>
      </p:sp>
      <p:sp>
        <p:nvSpPr>
          <p:cNvPr id="15" name="Rectangle 14"/>
          <p:cNvSpPr/>
          <p:nvPr/>
        </p:nvSpPr>
        <p:spPr>
          <a:xfrm>
            <a:off x="303580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train</a:t>
            </a:r>
          </a:p>
        </p:txBody>
      </p:sp>
      <p:sp>
        <p:nvSpPr>
          <p:cNvPr id="16" name="Rounded Rectangle 15"/>
          <p:cNvSpPr/>
          <p:nvPr/>
        </p:nvSpPr>
        <p:spPr>
          <a:xfrm>
            <a:off x="5029200" y="1389888"/>
            <a:ext cx="1600200" cy="8229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3892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E97132"/>
                </a:solidFill>
                <a:latin typeface="Arial"/>
              </a:rPr>
              <a:t>113</a:t>
            </a:r>
          </a:p>
        </p:txBody>
      </p:sp>
      <p:sp>
        <p:nvSpPr>
          <p:cNvPr id="18" name="Rectangle 17"/>
          <p:cNvSpPr/>
          <p:nvPr/>
        </p:nvSpPr>
        <p:spPr>
          <a:xfrm>
            <a:off x="513892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test</a:t>
            </a:r>
          </a:p>
        </p:txBody>
      </p:sp>
      <p:sp>
        <p:nvSpPr>
          <p:cNvPr id="19" name="Rounded Rectangle 18"/>
          <p:cNvSpPr/>
          <p:nvPr/>
        </p:nvSpPr>
        <p:spPr>
          <a:xfrm>
            <a:off x="7132320" y="1389888"/>
            <a:ext cx="1600200" cy="82296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42048" y="1572768"/>
            <a:ext cx="13258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6B49C8"/>
                </a:solidFill>
                <a:latin typeface="Arial"/>
              </a:rPr>
              <a:t>97.35%</a:t>
            </a:r>
          </a:p>
        </p:txBody>
      </p:sp>
      <p:sp>
        <p:nvSpPr>
          <p:cNvPr id="21" name="Rectangle 20"/>
          <p:cNvSpPr/>
          <p:nvPr/>
        </p:nvSpPr>
        <p:spPr>
          <a:xfrm>
            <a:off x="7242048" y="1920240"/>
            <a:ext cx="13258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top-8 gold 覆盖</a:t>
            </a:r>
          </a:p>
        </p:txBody>
      </p:sp>
      <p:sp>
        <p:nvSpPr>
          <p:cNvPr id="22" name="Rounded Rectangle 21"/>
          <p:cNvSpPr/>
          <p:nvPr/>
        </p:nvSpPr>
        <p:spPr>
          <a:xfrm>
            <a:off x="822960" y="2788920"/>
            <a:ext cx="452628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15568" y="3072384"/>
            <a:ext cx="9144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评价指标</a:t>
            </a:r>
          </a:p>
        </p:txBody>
      </p:sp>
      <p:sp>
        <p:nvSpPr>
          <p:cNvPr id="24" name="Oval 23"/>
          <p:cNvSpPr/>
          <p:nvPr/>
        </p:nvSpPr>
        <p:spPr>
          <a:xfrm>
            <a:off x="1143000" y="3493008"/>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07592" y="3438144"/>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主标签准确率</a:t>
            </a:r>
          </a:p>
        </p:txBody>
      </p:sp>
      <p:sp>
        <p:nvSpPr>
          <p:cNvPr id="26" name="Oval 25"/>
          <p:cNvSpPr/>
          <p:nvPr/>
        </p:nvSpPr>
        <p:spPr>
          <a:xfrm>
            <a:off x="1143000" y="3749039"/>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07592" y="3694176"/>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可接受准确率</a:t>
            </a:r>
          </a:p>
        </p:txBody>
      </p:sp>
      <p:sp>
        <p:nvSpPr>
          <p:cNvPr id="28" name="Oval 27"/>
          <p:cNvSpPr/>
          <p:nvPr/>
        </p:nvSpPr>
        <p:spPr>
          <a:xfrm>
            <a:off x="1143000" y="4005072"/>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07592" y="3950208"/>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相关能力召回/精确率</a:t>
            </a:r>
          </a:p>
        </p:txBody>
      </p:sp>
      <p:sp>
        <p:nvSpPr>
          <p:cNvPr id="30" name="Oval 29"/>
          <p:cNvSpPr/>
          <p:nvPr/>
        </p:nvSpPr>
        <p:spPr>
          <a:xfrm>
            <a:off x="1143000" y="4261103"/>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307592" y="4206240"/>
            <a:ext cx="2926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改判 / 纠错 / 误改</a:t>
            </a:r>
          </a:p>
        </p:txBody>
      </p:sp>
      <p:sp>
        <p:nvSpPr>
          <p:cNvPr id="32" name="Rounded Rectangle 31"/>
          <p:cNvSpPr/>
          <p:nvPr/>
        </p:nvSpPr>
        <p:spPr>
          <a:xfrm>
            <a:off x="5742432" y="2788920"/>
            <a:ext cx="452628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35040" y="3072384"/>
            <a:ext cx="9144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困难样本</a:t>
            </a:r>
          </a:p>
        </p:txBody>
      </p:sp>
      <p:sp>
        <p:nvSpPr>
          <p:cNvPr id="34" name="Oval 33"/>
          <p:cNvSpPr/>
          <p:nvPr/>
        </p:nvSpPr>
        <p:spPr>
          <a:xfrm>
            <a:off x="6062472" y="351129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27064" y="3456432"/>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层级竞争</a:t>
            </a:r>
          </a:p>
        </p:txBody>
      </p:sp>
      <p:sp>
        <p:nvSpPr>
          <p:cNvPr id="36" name="Oval 35"/>
          <p:cNvSpPr/>
          <p:nvPr/>
        </p:nvSpPr>
        <p:spPr>
          <a:xfrm>
            <a:off x="7662671" y="351129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827263" y="3456432"/>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跨域重叠</a:t>
            </a:r>
          </a:p>
        </p:txBody>
      </p:sp>
      <p:sp>
        <p:nvSpPr>
          <p:cNvPr id="38" name="Oval 37"/>
          <p:cNvSpPr/>
          <p:nvPr/>
        </p:nvSpPr>
        <p:spPr>
          <a:xfrm>
            <a:off x="6062472" y="380390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3749039"/>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主次意图拆分</a:t>
            </a:r>
          </a:p>
        </p:txBody>
      </p:sp>
      <p:sp>
        <p:nvSpPr>
          <p:cNvPr id="40" name="Oval 39"/>
          <p:cNvSpPr/>
          <p:nvPr/>
        </p:nvSpPr>
        <p:spPr>
          <a:xfrm>
            <a:off x="7662671" y="380390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827263" y="3749039"/>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Microsoft YaHei"/>
              </a:rPr>
              <a:t>高风险治理</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核心实验结果：结构化语义路由与协作复核显著提升复杂请求匹配准确率</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一页讲清 78.76% → 87.61% → 88.50% → 92.92%。</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7223760" cy="425196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pooled_test_waterfall.png"/>
          <p:cNvPicPr>
            <a:picLocks noChangeAspect="1"/>
          </p:cNvPicPr>
          <p:nvPr/>
        </p:nvPicPr>
        <p:blipFill>
          <a:blip r:embed="rId3"/>
          <a:stretch>
            <a:fillRect/>
          </a:stretch>
        </p:blipFill>
        <p:spPr>
          <a:xfrm>
            <a:off x="914400" y="1389888"/>
            <a:ext cx="6656832" cy="3611880"/>
          </a:xfrm>
          <a:prstGeom prst="rect">
            <a:avLst/>
          </a:prstGeom>
        </p:spPr>
      </p:pic>
      <p:sp>
        <p:nvSpPr>
          <p:cNvPr id="12" name="Rounded Rectangle 11"/>
          <p:cNvSpPr/>
          <p:nvPr/>
        </p:nvSpPr>
        <p:spPr>
          <a:xfrm>
            <a:off x="8183879" y="1170432"/>
            <a:ext cx="2560320" cy="65836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80" y="13258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53657A"/>
                </a:solidFill>
                <a:latin typeface="Arial"/>
              </a:rPr>
              <a:t>78.76%</a:t>
            </a:r>
          </a:p>
        </p:txBody>
      </p:sp>
      <p:sp>
        <p:nvSpPr>
          <p:cNvPr id="14" name="Rectangle 13"/>
          <p:cNvSpPr/>
          <p:nvPr/>
        </p:nvSpPr>
        <p:spPr>
          <a:xfrm>
            <a:off x="9528048" y="13533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规则路由基线</a:t>
            </a:r>
          </a:p>
        </p:txBody>
      </p:sp>
      <p:sp>
        <p:nvSpPr>
          <p:cNvPr id="15" name="Rounded Rectangle 14"/>
          <p:cNvSpPr/>
          <p:nvPr/>
        </p:nvSpPr>
        <p:spPr>
          <a:xfrm>
            <a:off x="8183879" y="2084832"/>
            <a:ext cx="2560320" cy="65836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2402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0B63CE"/>
                </a:solidFill>
                <a:latin typeface="Arial"/>
              </a:rPr>
              <a:t>87.61%</a:t>
            </a:r>
          </a:p>
        </p:txBody>
      </p:sp>
      <p:sp>
        <p:nvSpPr>
          <p:cNvPr id="17" name="Rectangle 16"/>
          <p:cNvSpPr/>
          <p:nvPr/>
        </p:nvSpPr>
        <p:spPr>
          <a:xfrm>
            <a:off x="9528048" y="22677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结构化语义路由</a:t>
            </a:r>
          </a:p>
        </p:txBody>
      </p:sp>
      <p:sp>
        <p:nvSpPr>
          <p:cNvPr id="18" name="Rounded Rectangle 17"/>
          <p:cNvSpPr/>
          <p:nvPr/>
        </p:nvSpPr>
        <p:spPr>
          <a:xfrm>
            <a:off x="8183879" y="2999232"/>
            <a:ext cx="2560320" cy="658368"/>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12480" y="31546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E97132"/>
                </a:solidFill>
                <a:latin typeface="Arial"/>
              </a:rPr>
              <a:t>88.50%</a:t>
            </a:r>
          </a:p>
        </p:txBody>
      </p:sp>
      <p:sp>
        <p:nvSpPr>
          <p:cNvPr id="20" name="Rectangle 19"/>
          <p:cNvSpPr/>
          <p:nvPr/>
        </p:nvSpPr>
        <p:spPr>
          <a:xfrm>
            <a:off x="9528048" y="31821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默认协作复核</a:t>
            </a:r>
          </a:p>
        </p:txBody>
      </p:sp>
      <p:sp>
        <p:nvSpPr>
          <p:cNvPr id="21" name="Rounded Rectangle 20"/>
          <p:cNvSpPr/>
          <p:nvPr/>
        </p:nvSpPr>
        <p:spPr>
          <a:xfrm>
            <a:off x="8183879" y="3913632"/>
            <a:ext cx="2560320" cy="658368"/>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4069080"/>
            <a:ext cx="10972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50" b="1">
                <a:solidFill>
                  <a:srgbClr val="B93232"/>
                </a:solidFill>
                <a:latin typeface="Arial"/>
              </a:rPr>
              <a:t>92.92%</a:t>
            </a:r>
          </a:p>
        </p:txBody>
      </p:sp>
      <p:sp>
        <p:nvSpPr>
          <p:cNvPr id="23" name="Rectangle 22"/>
          <p:cNvSpPr/>
          <p:nvPr/>
        </p:nvSpPr>
        <p:spPr>
          <a:xfrm>
            <a:off x="9528048" y="4096512"/>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Microsoft YaHei"/>
              </a:rPr>
              <a:t>扩展协作配置</a:t>
            </a:r>
          </a:p>
        </p:txBody>
      </p:sp>
      <p:sp>
        <p:nvSpPr>
          <p:cNvPr id="24" name="Rectangle 23"/>
          <p:cNvSpPr/>
          <p:nvPr/>
        </p:nvSpPr>
        <p:spPr>
          <a:xfrm>
            <a:off x="841248" y="5650992"/>
            <a:ext cx="9326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102033"/>
                </a:solidFill>
                <a:latin typeface="Microsoft YaHei"/>
              </a:rPr>
              <a:t>结论：结构化语义判别提供主要增益；职责化协作复核集中处理边界冲突，扩展配置 5 次改写全部有效修正、0 次误改。</a:t>
            </a:r>
          </a:p>
        </p:txBody>
      </p:sp>
      <p:sp>
        <p:nvSpPr>
          <p:cNvPr id="25" name="Rectangle 2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7" name="Rectangle 2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协作复核有效性：角色分工带来复杂样本受控净修正</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不重复主结果，用消融和案例证明多智能体不是堆角色。</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52144"/>
            <a:ext cx="5074920" cy="31546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17320"/>
            <a:ext cx="16459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102033"/>
                </a:solidFill>
                <a:latin typeface="Microsoft YaHei"/>
              </a:rPr>
              <a:t>配对消融测试准确率</a:t>
            </a:r>
          </a:p>
        </p:txBody>
      </p:sp>
      <p:sp>
        <p:nvSpPr>
          <p:cNvPr id="12" name="Rectangle 11"/>
          <p:cNvSpPr/>
          <p:nvPr/>
        </p:nvSpPr>
        <p:spPr>
          <a:xfrm>
            <a:off x="1280160" y="3586733"/>
            <a:ext cx="493776" cy="390906"/>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3000" y="3385565"/>
            <a:ext cx="7772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60" b="1">
                <a:solidFill>
                  <a:srgbClr val="0B63CE"/>
                </a:solidFill>
                <a:latin typeface="Arial"/>
              </a:rPr>
              <a:t>0.8625</a:t>
            </a:r>
          </a:p>
        </p:txBody>
      </p:sp>
      <p:sp>
        <p:nvSpPr>
          <p:cNvPr id="14" name="Rectangle 13"/>
          <p:cNvSpPr/>
          <p:nvPr/>
        </p:nvSpPr>
        <p:spPr>
          <a:xfrm>
            <a:off x="987551" y="4133087"/>
            <a:ext cx="10058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单角色</a:t>
            </a:r>
          </a:p>
        </p:txBody>
      </p:sp>
      <p:sp>
        <p:nvSpPr>
          <p:cNvPr id="15" name="Rectangle 14"/>
          <p:cNvSpPr/>
          <p:nvPr/>
        </p:nvSpPr>
        <p:spPr>
          <a:xfrm>
            <a:off x="2514600" y="3586733"/>
            <a:ext cx="493776" cy="390906"/>
          </a:xfrm>
          <a:prstGeom prst="rect">
            <a:avLst/>
          </a:prstGeom>
          <a:solidFill>
            <a:srgbClr val="6B49C8"/>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0" y="3385565"/>
            <a:ext cx="7772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60" b="1">
                <a:solidFill>
                  <a:srgbClr val="6B49C8"/>
                </a:solidFill>
                <a:latin typeface="Arial"/>
              </a:rPr>
              <a:t>0.8625</a:t>
            </a:r>
          </a:p>
        </p:txBody>
      </p:sp>
      <p:sp>
        <p:nvSpPr>
          <p:cNvPr id="17" name="Rectangle 16"/>
          <p:cNvSpPr/>
          <p:nvPr/>
        </p:nvSpPr>
        <p:spPr>
          <a:xfrm>
            <a:off x="2221992" y="4133087"/>
            <a:ext cx="10058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同质复核</a:t>
            </a:r>
          </a:p>
        </p:txBody>
      </p:sp>
      <p:sp>
        <p:nvSpPr>
          <p:cNvPr id="18" name="Rectangle 17"/>
          <p:cNvSpPr/>
          <p:nvPr/>
        </p:nvSpPr>
        <p:spPr>
          <a:xfrm>
            <a:off x="3749039" y="2500883"/>
            <a:ext cx="493776" cy="1476756"/>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11879" y="2299715"/>
            <a:ext cx="7772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60" b="1">
                <a:solidFill>
                  <a:srgbClr val="E97132"/>
                </a:solidFill>
                <a:latin typeface="Arial"/>
              </a:rPr>
              <a:t>0.9250</a:t>
            </a:r>
          </a:p>
        </p:txBody>
      </p:sp>
      <p:sp>
        <p:nvSpPr>
          <p:cNvPr id="20" name="Rectangle 19"/>
          <p:cNvSpPr/>
          <p:nvPr/>
        </p:nvSpPr>
        <p:spPr>
          <a:xfrm>
            <a:off x="3456432" y="4133087"/>
            <a:ext cx="10058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40" b="0">
                <a:solidFill>
                  <a:srgbClr val="53657A"/>
                </a:solidFill>
                <a:latin typeface="Microsoft YaHei"/>
              </a:rPr>
              <a:t>职责化协作</a:t>
            </a:r>
          </a:p>
        </p:txBody>
      </p:sp>
      <p:sp>
        <p:nvSpPr>
          <p:cNvPr id="21" name="Rounded Rectangle 20"/>
          <p:cNvSpPr/>
          <p:nvPr/>
        </p:nvSpPr>
        <p:spPr>
          <a:xfrm>
            <a:off x="6144768" y="1152144"/>
            <a:ext cx="4526280" cy="31546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46520" y="1417320"/>
            <a:ext cx="9144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E8A57"/>
                </a:solidFill>
                <a:latin typeface="Microsoft YaHei"/>
              </a:rPr>
              <a:t>典型案例</a:t>
            </a:r>
          </a:p>
        </p:txBody>
      </p:sp>
      <p:sp>
        <p:nvSpPr>
          <p:cNvPr id="23" name="Rectangle 22"/>
          <p:cNvSpPr/>
          <p:nvPr/>
        </p:nvSpPr>
        <p:spPr>
          <a:xfrm>
            <a:off x="6446520" y="1783080"/>
            <a:ext cx="32461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请求语义：请把驻场培训周内容压缩成一页领导评审材料，先搭材料骨架。</a:t>
            </a:r>
          </a:p>
        </p:txBody>
      </p:sp>
      <p:sp>
        <p:nvSpPr>
          <p:cNvPr id="24" name="Rectangle 23"/>
          <p:cNvSpPr/>
          <p:nvPr/>
        </p:nvSpPr>
        <p:spPr>
          <a:xfrm>
            <a:off x="6446520" y="2395728"/>
            <a:ext cx="96012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Microsoft YaHei"/>
              </a:rPr>
              <a:t>单智能体误判</a:t>
            </a:r>
          </a:p>
        </p:txBody>
      </p:sp>
      <p:sp>
        <p:nvSpPr>
          <p:cNvPr id="25" name="Rectangle 24"/>
          <p:cNvSpPr/>
          <p:nvPr/>
        </p:nvSpPr>
        <p:spPr>
          <a:xfrm>
            <a:off x="7388352" y="2377440"/>
            <a:ext cx="13716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B93232"/>
                </a:solidFill>
                <a:latin typeface="Arial"/>
              </a:rPr>
              <a:t>course.education.cn</a:t>
            </a:r>
          </a:p>
        </p:txBody>
      </p:sp>
      <p:sp>
        <p:nvSpPr>
          <p:cNvPr id="26" name="Rectangle 25"/>
          <p:cNvSpPr/>
          <p:nvPr/>
        </p:nvSpPr>
        <p:spPr>
          <a:xfrm>
            <a:off x="6446520" y="2761488"/>
            <a:ext cx="74980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Microsoft YaHei"/>
              </a:rPr>
              <a:t>协作修正</a:t>
            </a:r>
          </a:p>
        </p:txBody>
      </p:sp>
      <p:sp>
        <p:nvSpPr>
          <p:cNvPr id="27" name="Rectangle 26"/>
          <p:cNvSpPr/>
          <p:nvPr/>
        </p:nvSpPr>
        <p:spPr>
          <a:xfrm>
            <a:off x="7388352" y="2743200"/>
            <a:ext cx="137160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0E8A57"/>
                </a:solidFill>
                <a:latin typeface="Arial"/>
              </a:rPr>
              <a:t>docs.productivity.cn</a:t>
            </a:r>
          </a:p>
        </p:txBody>
      </p:sp>
      <p:sp>
        <p:nvSpPr>
          <p:cNvPr id="28" name="Rectangle 27"/>
          <p:cNvSpPr/>
          <p:nvPr/>
        </p:nvSpPr>
        <p:spPr>
          <a:xfrm>
            <a:off x="6446520" y="3182112"/>
            <a:ext cx="327355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0">
                <a:solidFill>
                  <a:srgbClr val="53657A"/>
                </a:solidFill>
                <a:latin typeface="Microsoft YaHei"/>
              </a:rPr>
              <a:t>修正依据：培训是背景词，主动作是搭骨架、压材料、梳结构。</a:t>
            </a:r>
          </a:p>
        </p:txBody>
      </p:sp>
      <p:sp>
        <p:nvSpPr>
          <p:cNvPr id="29" name="Rounded Rectangle 28"/>
          <p:cNvSpPr/>
          <p:nvPr/>
        </p:nvSpPr>
        <p:spPr>
          <a:xfrm>
            <a:off x="914400" y="4800600"/>
            <a:ext cx="950976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70432" y="5010912"/>
            <a:ext cx="8458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102033"/>
                </a:solidFill>
                <a:latin typeface="Microsoft YaHei"/>
              </a:rPr>
              <a:t>结论：单角色/同质复核测试侧没有超过基线；职责化协作复核提升 6.25 个百分点，测试侧改判/纠错/误改为 5/5/0。</a:t>
            </a:r>
          </a:p>
        </p:txBody>
      </p:sp>
      <p:sp>
        <p:nvSpPr>
          <p:cNvPr id="31" name="Rectangle 3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原型系统与成果产出：形成可演示、可归档、可提交的成果包</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让评委看到“做出来了”，同时看到论文、技术报告、专利材料和成果汇编已经成套。</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agentdnsdemo_risk_flow_adjusted.png"/>
          <p:cNvPicPr>
            <a:picLocks noChangeAspect="1"/>
          </p:cNvPicPr>
          <p:nvPr/>
        </p:nvPicPr>
        <p:blipFill>
          <a:blip r:embed="rId3"/>
          <a:stretch>
            <a:fillRect/>
          </a:stretch>
        </p:blipFill>
        <p:spPr>
          <a:xfrm>
            <a:off x="658368" y="1170432"/>
            <a:ext cx="6126480" cy="3520440"/>
          </a:xfrm>
          <a:prstGeom prst="rect">
            <a:avLst/>
          </a:prstGeom>
        </p:spPr>
      </p:pic>
      <p:sp>
        <p:nvSpPr>
          <p:cNvPr id="11" name="Rounded Rectangle 10"/>
          <p:cNvSpPr/>
          <p:nvPr/>
        </p:nvSpPr>
        <p:spPr>
          <a:xfrm>
            <a:off x="7114032" y="1170432"/>
            <a:ext cx="3520440" cy="352044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06640" y="1463040"/>
            <a:ext cx="9144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成果包</a:t>
            </a:r>
          </a:p>
        </p:txBody>
      </p:sp>
      <p:sp>
        <p:nvSpPr>
          <p:cNvPr id="13" name="Oval 12"/>
          <p:cNvSpPr/>
          <p:nvPr/>
        </p:nvSpPr>
        <p:spPr>
          <a:xfrm>
            <a:off x="7424927" y="192024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89519" y="1865376"/>
            <a:ext cx="2468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智能体能力命名与语义路由原型系统</a:t>
            </a:r>
          </a:p>
        </p:txBody>
      </p:sp>
      <p:sp>
        <p:nvSpPr>
          <p:cNvPr id="15" name="Oval 14"/>
          <p:cNvSpPr/>
          <p:nvPr/>
        </p:nvSpPr>
        <p:spPr>
          <a:xfrm>
            <a:off x="7424927" y="221284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19" y="2157984"/>
            <a:ext cx="2468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技术报告 v1.3</a:t>
            </a:r>
          </a:p>
        </p:txBody>
      </p:sp>
      <p:sp>
        <p:nvSpPr>
          <p:cNvPr id="17" name="Oval 16"/>
          <p:cNvSpPr/>
          <p:nvPr/>
        </p:nvSpPr>
        <p:spPr>
          <a:xfrm>
            <a:off x="7424927" y="25054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89519" y="2450592"/>
            <a:ext cx="2468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论文投稿稿</a:t>
            </a:r>
          </a:p>
        </p:txBody>
      </p:sp>
      <p:sp>
        <p:nvSpPr>
          <p:cNvPr id="19" name="Oval 18"/>
          <p:cNvSpPr/>
          <p:nvPr/>
        </p:nvSpPr>
        <p:spPr>
          <a:xfrm>
            <a:off x="7424927" y="279806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89519" y="2743200"/>
            <a:ext cx="2468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发明专利申请相关材料</a:t>
            </a:r>
          </a:p>
        </p:txBody>
      </p:sp>
      <p:sp>
        <p:nvSpPr>
          <p:cNvPr id="21" name="Oval 20"/>
          <p:cNvSpPr/>
          <p:nvPr/>
        </p:nvSpPr>
        <p:spPr>
          <a:xfrm>
            <a:off x="7424927" y="309067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89519" y="3035808"/>
            <a:ext cx="2468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563 样本与实验图表资产</a:t>
            </a:r>
          </a:p>
        </p:txBody>
      </p:sp>
      <p:sp>
        <p:nvSpPr>
          <p:cNvPr id="23" name="Oval 22"/>
          <p:cNvSpPr/>
          <p:nvPr/>
        </p:nvSpPr>
        <p:spPr>
          <a:xfrm>
            <a:off x="7424927" y="338328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19" y="3328416"/>
            <a:ext cx="2468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D2E6FF"/>
                </a:solidFill>
                <a:latin typeface="Microsoft YaHei"/>
              </a:rPr>
              <a:t>成果汇编、宣传稿、验收报告</a:t>
            </a:r>
          </a:p>
        </p:txBody>
      </p:sp>
      <p:sp>
        <p:nvSpPr>
          <p:cNvPr id="25" name="Rectangle 24"/>
          <p:cNvSpPr/>
          <p:nvPr/>
        </p:nvSpPr>
        <p:spPr>
          <a:xfrm>
            <a:off x="786384" y="5166360"/>
            <a:ext cx="9509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80" b="1">
                <a:solidFill>
                  <a:srgbClr val="102033"/>
                </a:solidFill>
                <a:latin typeface="Microsoft YaHei"/>
              </a:rPr>
              <a:t>原型覆盖：请求输入、候选能力召回、结构化裁决、协作复核、主能力/相关能力输出、候选 Agent 排序、执行状态和过程记录回放。</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考核指标完成情况：任务书要求均已落到证明材料</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少写形容词，多写完成情况和证明材料；专利正式受理号、展示证明按最终附件补充。</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13232" y="1225296"/>
            <a:ext cx="274320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1335024"/>
            <a:ext cx="259689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考核要求</a:t>
            </a:r>
          </a:p>
        </p:txBody>
      </p:sp>
      <p:sp>
        <p:nvSpPr>
          <p:cNvPr id="12" name="Rectangle 11"/>
          <p:cNvSpPr/>
          <p:nvPr/>
        </p:nvSpPr>
        <p:spPr>
          <a:xfrm>
            <a:off x="3456432" y="1225296"/>
            <a:ext cx="1417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29584" y="1335024"/>
            <a:ext cx="127101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完成情况</a:t>
            </a:r>
          </a:p>
        </p:txBody>
      </p:sp>
      <p:sp>
        <p:nvSpPr>
          <p:cNvPr id="14" name="Rectangle 13"/>
          <p:cNvSpPr/>
          <p:nvPr/>
        </p:nvSpPr>
        <p:spPr>
          <a:xfrm>
            <a:off x="4873752" y="1225296"/>
            <a:ext cx="635508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46904" y="1335024"/>
            <a:ext cx="620877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证明材料</a:t>
            </a:r>
          </a:p>
        </p:txBody>
      </p:sp>
      <p:sp>
        <p:nvSpPr>
          <p:cNvPr id="16" name="Rectangle 15"/>
          <p:cNvSpPr/>
          <p:nvPr/>
        </p:nvSpPr>
        <p:spPr>
          <a:xfrm>
            <a:off x="713232" y="1645920"/>
            <a:ext cx="274320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892808"/>
            <a:ext cx="252374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多智能体协作原型框架</a:t>
            </a:r>
          </a:p>
        </p:txBody>
      </p:sp>
      <p:sp>
        <p:nvSpPr>
          <p:cNvPr id="18" name="Rectangle 17"/>
          <p:cNvSpPr/>
          <p:nvPr/>
        </p:nvSpPr>
        <p:spPr>
          <a:xfrm>
            <a:off x="3456432" y="1645920"/>
            <a:ext cx="141732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66160" y="1892808"/>
            <a:ext cx="119786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0E8A57"/>
                </a:solidFill>
                <a:latin typeface="Microsoft YaHei"/>
              </a:rPr>
              <a:t>已完成</a:t>
            </a:r>
          </a:p>
        </p:txBody>
      </p:sp>
      <p:sp>
        <p:nvSpPr>
          <p:cNvPr id="20" name="Rectangle 19"/>
          <p:cNvSpPr/>
          <p:nvPr/>
        </p:nvSpPr>
        <p:spPr>
          <a:xfrm>
            <a:off x="4873752" y="1645920"/>
            <a:ext cx="635508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83480" y="1892808"/>
            <a:ext cx="613562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能力命名与语义路由控制台、原型截图/演示记录</a:t>
            </a:r>
          </a:p>
        </p:txBody>
      </p:sp>
      <p:sp>
        <p:nvSpPr>
          <p:cNvPr id="22" name="Rectangle 21"/>
          <p:cNvSpPr/>
          <p:nvPr/>
        </p:nvSpPr>
        <p:spPr>
          <a:xfrm>
            <a:off x="713232" y="2414016"/>
            <a:ext cx="274320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 y="2660904"/>
            <a:ext cx="252374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技术研究报告或论文</a:t>
            </a:r>
          </a:p>
        </p:txBody>
      </p:sp>
      <p:sp>
        <p:nvSpPr>
          <p:cNvPr id="24" name="Rectangle 23"/>
          <p:cNvSpPr/>
          <p:nvPr/>
        </p:nvSpPr>
        <p:spPr>
          <a:xfrm>
            <a:off x="3456432" y="2414016"/>
            <a:ext cx="141732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566160" y="2660904"/>
            <a:ext cx="119786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0E8A57"/>
                </a:solidFill>
                <a:latin typeface="Microsoft YaHei"/>
              </a:rPr>
              <a:t>已完成</a:t>
            </a:r>
          </a:p>
        </p:txBody>
      </p:sp>
      <p:sp>
        <p:nvSpPr>
          <p:cNvPr id="26" name="Rectangle 25"/>
          <p:cNvSpPr/>
          <p:nvPr/>
        </p:nvSpPr>
        <p:spPr>
          <a:xfrm>
            <a:off x="4873752" y="2414016"/>
            <a:ext cx="635508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83480" y="2660904"/>
            <a:ext cx="613562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技术报告、论文投稿稿、成果汇编、验收报告填写版</a:t>
            </a:r>
          </a:p>
        </p:txBody>
      </p:sp>
      <p:sp>
        <p:nvSpPr>
          <p:cNvPr id="28" name="Rectangle 27"/>
          <p:cNvSpPr/>
          <p:nvPr/>
        </p:nvSpPr>
        <p:spPr>
          <a:xfrm>
            <a:off x="713232" y="3182112"/>
            <a:ext cx="274320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3429000"/>
            <a:ext cx="252374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发明专利</a:t>
            </a:r>
          </a:p>
        </p:txBody>
      </p:sp>
      <p:sp>
        <p:nvSpPr>
          <p:cNvPr id="30" name="Rectangle 29"/>
          <p:cNvSpPr/>
          <p:nvPr/>
        </p:nvSpPr>
        <p:spPr>
          <a:xfrm>
            <a:off x="3456432" y="3182112"/>
            <a:ext cx="141732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66160" y="3429000"/>
            <a:ext cx="119786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E97132"/>
                </a:solidFill>
                <a:latin typeface="Microsoft YaHei"/>
              </a:rPr>
              <a:t>材料已形成</a:t>
            </a:r>
          </a:p>
        </p:txBody>
      </p:sp>
      <p:sp>
        <p:nvSpPr>
          <p:cNvPr id="32" name="Rectangle 31"/>
          <p:cNvSpPr/>
          <p:nvPr/>
        </p:nvSpPr>
        <p:spPr>
          <a:xfrm>
            <a:off x="4873752" y="3182112"/>
            <a:ext cx="635508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983480" y="3429000"/>
            <a:ext cx="613562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交底书、权利要求、说明书摘要、附图；受理证明待补</a:t>
            </a:r>
          </a:p>
        </p:txBody>
      </p:sp>
      <p:sp>
        <p:nvSpPr>
          <p:cNvPr id="34" name="Rectangle 33"/>
          <p:cNvSpPr/>
          <p:nvPr/>
        </p:nvSpPr>
        <p:spPr>
          <a:xfrm>
            <a:off x="713232" y="3950208"/>
            <a:ext cx="274320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4197096"/>
            <a:ext cx="252374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对内成果展示或汇报演示</a:t>
            </a:r>
          </a:p>
        </p:txBody>
      </p:sp>
      <p:sp>
        <p:nvSpPr>
          <p:cNvPr id="36" name="Rectangle 35"/>
          <p:cNvSpPr/>
          <p:nvPr/>
        </p:nvSpPr>
        <p:spPr>
          <a:xfrm>
            <a:off x="3456432" y="3950208"/>
            <a:ext cx="141732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566160" y="4197096"/>
            <a:ext cx="119786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E97132"/>
                </a:solidFill>
                <a:latin typeface="Microsoft YaHei"/>
              </a:rPr>
              <a:t>已形成支撑</a:t>
            </a:r>
          </a:p>
        </p:txBody>
      </p:sp>
      <p:sp>
        <p:nvSpPr>
          <p:cNvPr id="38" name="Rectangle 37"/>
          <p:cNvSpPr/>
          <p:nvPr/>
        </p:nvSpPr>
        <p:spPr>
          <a:xfrm>
            <a:off x="4873752" y="3950208"/>
            <a:ext cx="6355080" cy="768096"/>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983480" y="4197096"/>
            <a:ext cx="6135624"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Microsoft YaHei"/>
              </a:rPr>
              <a:t>答辩 PPT、成果汇编、宣传稿、图表材料、演示截图</a:t>
            </a:r>
          </a:p>
        </p:txBody>
      </p:sp>
      <p:sp>
        <p:nvSpPr>
          <p:cNvPr id="40" name="Rounded Rectangle 39"/>
          <p:cNvSpPr/>
          <p:nvPr/>
        </p:nvSpPr>
        <p:spPr>
          <a:xfrm>
            <a:off x="868680" y="5010912"/>
            <a:ext cx="982980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15568" y="5230368"/>
            <a:ext cx="8046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40" b="1">
                <a:solidFill>
                  <a:srgbClr val="102033"/>
                </a:solidFill>
                <a:latin typeface="Microsoft YaHei"/>
              </a:rPr>
              <a:t>验收材料包：原型系统、算法方法、数据实验、论文报告、知识产权、成果展示证明。</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4944" y="841248"/>
            <a:ext cx="256032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900" b="1">
                <a:solidFill>
                  <a:srgbClr val="FFFFFF"/>
                </a:solidFill>
                <a:latin typeface="Microsoft YaHei"/>
              </a:rPr>
              <a:t>总结与后续工作</a:t>
            </a:r>
          </a:p>
        </p:txBody>
      </p:sp>
      <p:sp>
        <p:nvSpPr>
          <p:cNvPr id="4" name="Rectangle 3"/>
          <p:cNvSpPr/>
          <p:nvPr/>
        </p:nvSpPr>
        <p:spPr>
          <a:xfrm>
            <a:off x="713232" y="1371600"/>
            <a:ext cx="137160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874519"/>
            <a:ext cx="310896" cy="310896"/>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1956815"/>
            <a:ext cx="310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00" b="1">
                <a:solidFill>
                  <a:srgbClr val="061A46"/>
                </a:solidFill>
                <a:latin typeface="Arial"/>
              </a:rPr>
              <a:t>1</a:t>
            </a:r>
          </a:p>
        </p:txBody>
      </p:sp>
      <p:sp>
        <p:nvSpPr>
          <p:cNvPr id="7" name="Rectangle 6"/>
          <p:cNvSpPr/>
          <p:nvPr/>
        </p:nvSpPr>
        <p:spPr>
          <a:xfrm>
            <a:off x="1353312" y="1874519"/>
            <a:ext cx="1005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完成闭环</a:t>
            </a:r>
          </a:p>
        </p:txBody>
      </p:sp>
      <p:sp>
        <p:nvSpPr>
          <p:cNvPr id="8" name="Rectangle 7"/>
          <p:cNvSpPr/>
          <p:nvPr/>
        </p:nvSpPr>
        <p:spPr>
          <a:xfrm>
            <a:off x="2468880" y="1892807"/>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D2E6FF"/>
                </a:solidFill>
                <a:latin typeface="Microsoft YaHei"/>
              </a:rPr>
              <a:t>构建面向互联网基础资源场景的能力命名、语义路由、协作复核和可信留痕原型链路。</a:t>
            </a:r>
          </a:p>
        </p:txBody>
      </p:sp>
      <p:sp>
        <p:nvSpPr>
          <p:cNvPr id="9" name="Oval 8"/>
          <p:cNvSpPr/>
          <p:nvPr/>
        </p:nvSpPr>
        <p:spPr>
          <a:xfrm>
            <a:off x="877824" y="2587752"/>
            <a:ext cx="310896" cy="310896"/>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7824" y="2670048"/>
            <a:ext cx="310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00" b="1">
                <a:solidFill>
                  <a:srgbClr val="061A46"/>
                </a:solidFill>
                <a:latin typeface="Arial"/>
              </a:rPr>
              <a:t>2</a:t>
            </a:r>
          </a:p>
        </p:txBody>
      </p:sp>
      <p:sp>
        <p:nvSpPr>
          <p:cNvPr id="11" name="Rectangle 10"/>
          <p:cNvSpPr/>
          <p:nvPr/>
        </p:nvSpPr>
        <p:spPr>
          <a:xfrm>
            <a:off x="1353312" y="2587752"/>
            <a:ext cx="1005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形成方法</a:t>
            </a:r>
          </a:p>
        </p:txBody>
      </p:sp>
      <p:sp>
        <p:nvSpPr>
          <p:cNvPr id="12" name="Rectangle 11"/>
          <p:cNvSpPr/>
          <p:nvPr/>
        </p:nvSpPr>
        <p:spPr>
          <a:xfrm>
            <a:off x="2468880" y="2606040"/>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D2E6FF"/>
                </a:solidFill>
                <a:latin typeface="Microsoft YaHei"/>
              </a:rPr>
              <a:t>结构化语义判别与职责化协作复核结合，实现复杂样本受控净修正。</a:t>
            </a:r>
          </a:p>
        </p:txBody>
      </p:sp>
      <p:sp>
        <p:nvSpPr>
          <p:cNvPr id="13" name="Oval 12"/>
          <p:cNvSpPr/>
          <p:nvPr/>
        </p:nvSpPr>
        <p:spPr>
          <a:xfrm>
            <a:off x="877824" y="3300984"/>
            <a:ext cx="310896" cy="31089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7824" y="3383279"/>
            <a:ext cx="31089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00" b="1">
                <a:solidFill>
                  <a:srgbClr val="061A46"/>
                </a:solidFill>
                <a:latin typeface="Arial"/>
              </a:rPr>
              <a:t>3</a:t>
            </a:r>
          </a:p>
        </p:txBody>
      </p:sp>
      <p:sp>
        <p:nvSpPr>
          <p:cNvPr id="15" name="Rectangle 14"/>
          <p:cNvSpPr/>
          <p:nvPr/>
        </p:nvSpPr>
        <p:spPr>
          <a:xfrm>
            <a:off x="1353312" y="3300984"/>
            <a:ext cx="1005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FFFFFF"/>
                </a:solidFill>
                <a:latin typeface="Microsoft YaHei"/>
              </a:rPr>
              <a:t>沉淀成果</a:t>
            </a:r>
          </a:p>
        </p:txBody>
      </p:sp>
      <p:sp>
        <p:nvSpPr>
          <p:cNvPr id="16" name="Rectangle 15"/>
          <p:cNvSpPr/>
          <p:nvPr/>
        </p:nvSpPr>
        <p:spPr>
          <a:xfrm>
            <a:off x="2468880" y="3319272"/>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D2E6FF"/>
                </a:solidFill>
                <a:latin typeface="Microsoft YaHei"/>
              </a:rPr>
              <a:t>形成原型系统、实验数据、论文报告、专利申请材料和成果汇编。</a:t>
            </a:r>
          </a:p>
        </p:txBody>
      </p:sp>
      <p:sp>
        <p:nvSpPr>
          <p:cNvPr id="17" name="Rounded Rectangle 16"/>
          <p:cNvSpPr/>
          <p:nvPr/>
        </p:nvSpPr>
        <p:spPr>
          <a:xfrm>
            <a:off x="749808" y="4572000"/>
            <a:ext cx="8458200" cy="78638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4828032"/>
            <a:ext cx="1005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26B6FF"/>
                </a:solidFill>
                <a:latin typeface="Microsoft YaHei"/>
              </a:rPr>
              <a:t>后续方向</a:t>
            </a:r>
          </a:p>
        </p:txBody>
      </p:sp>
      <p:sp>
        <p:nvSpPr>
          <p:cNvPr id="19" name="Rectangle 18"/>
          <p:cNvSpPr/>
          <p:nvPr/>
        </p:nvSpPr>
        <p:spPr>
          <a:xfrm>
            <a:off x="2148840" y="4828032"/>
            <a:ext cx="598932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FFFFFF"/>
                </a:solidFill>
                <a:latin typeface="Microsoft YaHei"/>
              </a:rPr>
              <a:t>扩展跨命名空间样本；补充时延、成本、失败恢复等在线指标；推进真实业务系统、可信审计机制和标准化接口联动。</a:t>
            </a:r>
          </a:p>
        </p:txBody>
      </p:sp>
      <p:sp>
        <p:nvSpPr>
          <p:cNvPr id="20" name="Rectangle 19"/>
          <p:cNvSpPr/>
          <p:nvPr/>
        </p:nvSpPr>
        <p:spPr>
          <a:xfrm>
            <a:off x="713232" y="5897880"/>
            <a:ext cx="3474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谢谢，请各位专家批评指正</a:t>
            </a:r>
          </a:p>
        </p:txBody>
      </p:sp>
      <p:sp>
        <p:nvSpPr>
          <p:cNvPr id="21" name="Rectangle 20"/>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2" name="Rectangle 21"/>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