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21792"/>
            <a:ext cx="32461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重点项目验收答辩｜成果汇编口径版</a:t>
            </a:r>
          </a:p>
        </p:txBody>
      </p:sp>
      <p:sp>
        <p:nvSpPr>
          <p:cNvPr id="4" name="Rectangle 3"/>
          <p:cNvSpPr/>
          <p:nvPr/>
        </p:nvSpPr>
        <p:spPr>
          <a:xfrm>
            <a:off x="658368" y="969264"/>
            <a:ext cx="1572768"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316736"/>
            <a:ext cx="7680960" cy="9326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面向互联网基础资源的大模型多智能体协作与可信认知标识技术研究</a:t>
            </a:r>
          </a:p>
        </p:txBody>
      </p:sp>
      <p:sp>
        <p:nvSpPr>
          <p:cNvPr id="6" name="Rectangle 5"/>
          <p:cNvSpPr/>
          <p:nvPr/>
        </p:nvSpPr>
        <p:spPr>
          <a:xfrm>
            <a:off x="685800" y="2487168"/>
            <a:ext cx="81381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80" b="0">
                <a:solidFill>
                  <a:srgbClr val="CFE4FF"/>
                </a:solidFill>
                <a:latin typeface="Microsoft YaHei"/>
              </a:rPr>
              <a:t>以智能体能力命名与语义路由为典型验证场景，形成协作复核、可信留痕和原型验证闭环</a:t>
            </a:r>
          </a:p>
        </p:txBody>
      </p:sp>
      <p:sp>
        <p:nvSpPr>
          <p:cNvPr id="7" name="Rounded Rectangle 6"/>
          <p:cNvSpPr/>
          <p:nvPr/>
        </p:nvSpPr>
        <p:spPr>
          <a:xfrm>
            <a:off x="713232"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563</a:t>
            </a:r>
          </a:p>
        </p:txBody>
      </p:sp>
      <p:sp>
        <p:nvSpPr>
          <p:cNvPr id="9" name="Rectangle 8"/>
          <p:cNvSpPr/>
          <p:nvPr/>
        </p:nvSpPr>
        <p:spPr>
          <a:xfrm>
            <a:off x="786384"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真实样本冻结集</a:t>
            </a:r>
          </a:p>
        </p:txBody>
      </p:sp>
      <p:sp>
        <p:nvSpPr>
          <p:cNvPr id="10" name="Rounded Rectangle 9"/>
          <p:cNvSpPr/>
          <p:nvPr/>
        </p:nvSpPr>
        <p:spPr>
          <a:xfrm>
            <a:off x="2706624"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79776"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50/45</a:t>
            </a:r>
          </a:p>
        </p:txBody>
      </p:sp>
      <p:sp>
        <p:nvSpPr>
          <p:cNvPr id="12" name="Rectangle 11"/>
          <p:cNvSpPr/>
          <p:nvPr/>
        </p:nvSpPr>
        <p:spPr>
          <a:xfrm>
            <a:off x="2779776"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节点/主标签</a:t>
            </a:r>
          </a:p>
        </p:txBody>
      </p:sp>
      <p:sp>
        <p:nvSpPr>
          <p:cNvPr id="13" name="Rounded Rectangle 12"/>
          <p:cNvSpPr/>
          <p:nvPr/>
        </p:nvSpPr>
        <p:spPr>
          <a:xfrm>
            <a:off x="4700016"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73168"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44.25%</a:t>
            </a:r>
          </a:p>
        </p:txBody>
      </p:sp>
      <p:sp>
        <p:nvSpPr>
          <p:cNvPr id="15" name="Rectangle 14"/>
          <p:cNvSpPr/>
          <p:nvPr/>
        </p:nvSpPr>
        <p:spPr>
          <a:xfrm>
            <a:off x="4773168"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默认协作触发率</a:t>
            </a:r>
          </a:p>
        </p:txBody>
      </p:sp>
      <p:sp>
        <p:nvSpPr>
          <p:cNvPr id="16" name="Rounded Rectangle 15"/>
          <p:cNvSpPr/>
          <p:nvPr/>
        </p:nvSpPr>
        <p:spPr>
          <a:xfrm>
            <a:off x="6693408"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5/5/0</a:t>
            </a:r>
          </a:p>
        </p:txBody>
      </p:sp>
      <p:sp>
        <p:nvSpPr>
          <p:cNvPr id="18" name="Rectangle 17"/>
          <p:cNvSpPr/>
          <p:nvPr/>
        </p:nvSpPr>
        <p:spPr>
          <a:xfrm>
            <a:off x="6766560"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改判/纠错/误改</a:t>
            </a:r>
          </a:p>
        </p:txBody>
      </p:sp>
      <p:sp>
        <p:nvSpPr>
          <p:cNvPr id="19" name="Rectangle 18"/>
          <p:cNvSpPr/>
          <p:nvPr/>
        </p:nvSpPr>
        <p:spPr>
          <a:xfrm>
            <a:off x="676656" y="6053328"/>
            <a:ext cx="676656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承研处所：技术发展所    项目负责人：邓斯宇    起止时间：2025年5月-2026年4月</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成果汇编主线：从研究目标到验收证据的闭环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PPT 按成果汇编重排：研究背景、研究重点、研究成果、研究产出、考核对应和成果边界一线贯通。</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078992"/>
            <a:ext cx="13716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答辩判断</a:t>
            </a:r>
          </a:p>
        </p:txBody>
      </p:sp>
      <p:sp>
        <p:nvSpPr>
          <p:cNvPr id="11" name="Rectangle 10"/>
          <p:cNvSpPr/>
          <p:nvPr/>
        </p:nvSpPr>
        <p:spPr>
          <a:xfrm>
            <a:off x="658368" y="1444752"/>
            <a:ext cx="99212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20" b="1">
                <a:solidFill>
                  <a:srgbClr val="102033"/>
                </a:solidFill>
                <a:latin typeface="Microsoft YaHei"/>
              </a:rPr>
              <a:t>用成果汇编做母本，技术报告负责机制深度，论文负责实验硬证据，PPT 负责把“已完成什么、为什么有技术含量、凭什么可验收”讲清楚。</a:t>
            </a:r>
          </a:p>
        </p:txBody>
      </p:sp>
      <p:sp>
        <p:nvSpPr>
          <p:cNvPr id="12" name="Rounded Rectangle 11"/>
          <p:cNvSpPr/>
          <p:nvPr/>
        </p:nvSpPr>
        <p:spPr>
          <a:xfrm>
            <a:off x="713232" y="2212848"/>
            <a:ext cx="2331720" cy="115214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782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G</a:t>
            </a:r>
          </a:p>
        </p:txBody>
      </p:sp>
      <p:sp>
        <p:nvSpPr>
          <p:cNvPr id="14" name="Rectangle 13"/>
          <p:cNvSpPr/>
          <p:nvPr/>
        </p:nvSpPr>
        <p:spPr>
          <a:xfrm>
            <a:off x="164592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研究目标</a:t>
            </a:r>
          </a:p>
        </p:txBody>
      </p:sp>
      <p:sp>
        <p:nvSpPr>
          <p:cNvPr id="15" name="Rectangle 14"/>
          <p:cNvSpPr/>
          <p:nvPr/>
        </p:nvSpPr>
        <p:spPr>
          <a:xfrm>
            <a:off x="89611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能力命名、语义路由、协作复核、可信记录</a:t>
            </a:r>
          </a:p>
        </p:txBody>
      </p:sp>
      <p:sp>
        <p:nvSpPr>
          <p:cNvPr id="16" name="Rectangle 15"/>
          <p:cNvSpPr/>
          <p:nvPr/>
        </p:nvSpPr>
        <p:spPr>
          <a:xfrm>
            <a:off x="310896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2212848"/>
            <a:ext cx="2331720" cy="11521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6674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R</a:t>
            </a:r>
          </a:p>
        </p:txBody>
      </p:sp>
      <p:sp>
        <p:nvSpPr>
          <p:cNvPr id="19" name="Rectangle 18"/>
          <p:cNvSpPr/>
          <p:nvPr/>
        </p:nvSpPr>
        <p:spPr>
          <a:xfrm>
            <a:off x="443484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研究成果</a:t>
            </a:r>
          </a:p>
        </p:txBody>
      </p:sp>
      <p:sp>
        <p:nvSpPr>
          <p:cNvPr id="20" name="Rectangle 19"/>
          <p:cNvSpPr/>
          <p:nvPr/>
        </p:nvSpPr>
        <p:spPr>
          <a:xfrm>
            <a:off x="368503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命名空间、算法、原型、实验资产</a:t>
            </a:r>
          </a:p>
        </p:txBody>
      </p:sp>
      <p:sp>
        <p:nvSpPr>
          <p:cNvPr id="21" name="Rectangle 20"/>
          <p:cNvSpPr/>
          <p:nvPr/>
        </p:nvSpPr>
        <p:spPr>
          <a:xfrm>
            <a:off x="589788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91072" y="2212848"/>
            <a:ext cx="2331720" cy="115214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5566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Arial"/>
              </a:rPr>
              <a:t>O</a:t>
            </a:r>
          </a:p>
        </p:txBody>
      </p:sp>
      <p:sp>
        <p:nvSpPr>
          <p:cNvPr id="24" name="Rectangle 23"/>
          <p:cNvSpPr/>
          <p:nvPr/>
        </p:nvSpPr>
        <p:spPr>
          <a:xfrm>
            <a:off x="722376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成果产出</a:t>
            </a:r>
          </a:p>
        </p:txBody>
      </p:sp>
      <p:sp>
        <p:nvSpPr>
          <p:cNvPr id="25" name="Rectangle 24"/>
          <p:cNvSpPr/>
          <p:nvPr/>
        </p:nvSpPr>
        <p:spPr>
          <a:xfrm>
            <a:off x="647395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原型、报告、论文、专利、数据实验</a:t>
            </a:r>
          </a:p>
        </p:txBody>
      </p:sp>
      <p:sp>
        <p:nvSpPr>
          <p:cNvPr id="26" name="Rectangle 25"/>
          <p:cNvSpPr/>
          <p:nvPr/>
        </p:nvSpPr>
        <p:spPr>
          <a:xfrm>
            <a:off x="868680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79991" y="2212848"/>
            <a:ext cx="2331720" cy="1152144"/>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44583"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Arial"/>
              </a:rPr>
              <a:t>A</a:t>
            </a:r>
          </a:p>
        </p:txBody>
      </p:sp>
      <p:sp>
        <p:nvSpPr>
          <p:cNvPr id="29" name="Rectangle 28"/>
          <p:cNvSpPr/>
          <p:nvPr/>
        </p:nvSpPr>
        <p:spPr>
          <a:xfrm>
            <a:off x="10012679"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考核对应</a:t>
            </a:r>
          </a:p>
        </p:txBody>
      </p:sp>
      <p:sp>
        <p:nvSpPr>
          <p:cNvPr id="30" name="Rectangle 29"/>
          <p:cNvSpPr/>
          <p:nvPr/>
        </p:nvSpPr>
        <p:spPr>
          <a:xfrm>
            <a:off x="9262871"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任务书指标逐项落到证明材料</a:t>
            </a:r>
          </a:p>
        </p:txBody>
      </p:sp>
      <p:sp>
        <p:nvSpPr>
          <p:cNvPr id="31" name="Rounded Rectangle 30"/>
          <p:cNvSpPr/>
          <p:nvPr/>
        </p:nvSpPr>
        <p:spPr>
          <a:xfrm>
            <a:off x="749808" y="3886200"/>
            <a:ext cx="4663440" cy="621792"/>
          </a:xfrm>
          <a:prstGeom prst="roundRect">
            <a:avLst/>
          </a:prstGeom>
          <a:solidFill>
            <a:srgbClr val="F8FB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 y="4050791"/>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0B63CE"/>
                </a:solidFill>
                <a:latin typeface="Microsoft YaHei"/>
              </a:rPr>
              <a:t>原型系统</a:t>
            </a:r>
          </a:p>
        </p:txBody>
      </p:sp>
      <p:sp>
        <p:nvSpPr>
          <p:cNvPr id="33" name="Rectangle 32"/>
          <p:cNvSpPr/>
          <p:nvPr/>
        </p:nvSpPr>
        <p:spPr>
          <a:xfrm>
            <a:off x="2075688" y="4023360"/>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自然语言请求、候选组织、结构化裁决、协作复核、过程记录和执行映射。</a:t>
            </a:r>
          </a:p>
        </p:txBody>
      </p:sp>
      <p:sp>
        <p:nvSpPr>
          <p:cNvPr id="34" name="Rounded Rectangle 33"/>
          <p:cNvSpPr/>
          <p:nvPr/>
        </p:nvSpPr>
        <p:spPr>
          <a:xfrm>
            <a:off x="6144768" y="3886200"/>
            <a:ext cx="4663440" cy="621792"/>
          </a:xfrm>
          <a:prstGeom prst="roundRect">
            <a:avLst/>
          </a:prstGeom>
          <a:solidFill>
            <a:srgbClr val="F8FB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4050791"/>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0E8A57"/>
                </a:solidFill>
                <a:latin typeface="Microsoft YaHei"/>
              </a:rPr>
              <a:t>数据实验</a:t>
            </a:r>
          </a:p>
        </p:txBody>
      </p:sp>
      <p:sp>
        <p:nvSpPr>
          <p:cNvPr id="36" name="Rectangle 35"/>
          <p:cNvSpPr/>
          <p:nvPr/>
        </p:nvSpPr>
        <p:spPr>
          <a:xfrm>
            <a:off x="7470648" y="4023360"/>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563 样本、50 节点、45 主标签、冻结 train/test、配对消融和稳定性分析。</a:t>
            </a:r>
          </a:p>
        </p:txBody>
      </p:sp>
      <p:sp>
        <p:nvSpPr>
          <p:cNvPr id="37" name="Rounded Rectangle 36"/>
          <p:cNvSpPr/>
          <p:nvPr/>
        </p:nvSpPr>
        <p:spPr>
          <a:xfrm>
            <a:off x="749808" y="4727448"/>
            <a:ext cx="4663440" cy="621792"/>
          </a:xfrm>
          <a:prstGeom prst="roundRect">
            <a:avLst/>
          </a:prstGeom>
          <a:solidFill>
            <a:srgbClr val="F8FB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892040"/>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E97132"/>
                </a:solidFill>
                <a:latin typeface="Microsoft YaHei"/>
              </a:rPr>
              <a:t>论文报告</a:t>
            </a:r>
          </a:p>
        </p:txBody>
      </p:sp>
      <p:sp>
        <p:nvSpPr>
          <p:cNvPr id="39" name="Rectangle 38"/>
          <p:cNvSpPr/>
          <p:nvPr/>
        </p:nvSpPr>
        <p:spPr>
          <a:xfrm>
            <a:off x="2075688" y="4864608"/>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技术报告承接任务书，论文提供问题定义、方法机制和实验验证。</a:t>
            </a:r>
          </a:p>
        </p:txBody>
      </p:sp>
      <p:sp>
        <p:nvSpPr>
          <p:cNvPr id="40" name="Rounded Rectangle 39"/>
          <p:cNvSpPr/>
          <p:nvPr/>
        </p:nvSpPr>
        <p:spPr>
          <a:xfrm>
            <a:off x="6144768" y="4727448"/>
            <a:ext cx="4663440" cy="621792"/>
          </a:xfrm>
          <a:prstGeom prst="roundRect">
            <a:avLst/>
          </a:prstGeom>
          <a:solidFill>
            <a:srgbClr val="F8FB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4892040"/>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6B49C8"/>
                </a:solidFill>
                <a:latin typeface="Microsoft YaHei"/>
              </a:rPr>
              <a:t>专利材料</a:t>
            </a:r>
          </a:p>
        </p:txBody>
      </p:sp>
      <p:sp>
        <p:nvSpPr>
          <p:cNvPr id="42" name="Rectangle 41"/>
          <p:cNvSpPr/>
          <p:nvPr/>
        </p:nvSpPr>
        <p:spPr>
          <a:xfrm>
            <a:off x="7470648" y="4864608"/>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交底书、权利要求、说明书摘要和附图已形成，正式状态待补证明。</a:t>
            </a:r>
          </a:p>
        </p:txBody>
      </p:sp>
      <p:sp>
        <p:nvSpPr>
          <p:cNvPr id="43" name="Rectangle 4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5" name="Rectangle 4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58368"/>
            <a:ext cx="20116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答辩提纲</a:t>
            </a:r>
          </a:p>
        </p:txBody>
      </p:sp>
      <p:sp>
        <p:nvSpPr>
          <p:cNvPr id="4" name="Rectangle 3"/>
          <p:cNvSpPr/>
          <p:nvPr/>
        </p:nvSpPr>
        <p:spPr>
          <a:xfrm>
            <a:off x="676656" y="1207008"/>
            <a:ext cx="146304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600200"/>
            <a:ext cx="310896" cy="310896"/>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55064"/>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一</a:t>
            </a:r>
          </a:p>
        </p:txBody>
      </p:sp>
      <p:sp>
        <p:nvSpPr>
          <p:cNvPr id="7" name="Rectangle 6"/>
          <p:cNvSpPr/>
          <p:nvPr/>
        </p:nvSpPr>
        <p:spPr>
          <a:xfrm>
            <a:off x="1444752" y="1572768"/>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研究背景与目标</a:t>
            </a:r>
          </a:p>
        </p:txBody>
      </p:sp>
      <p:sp>
        <p:nvSpPr>
          <p:cNvPr id="8" name="Rectangle 7"/>
          <p:cNvSpPr/>
          <p:nvPr/>
        </p:nvSpPr>
        <p:spPr>
          <a:xfrm>
            <a:off x="3383280" y="1600200"/>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互联网基础资源智能化演进下的能力组织与可信调用问题</a:t>
            </a:r>
          </a:p>
        </p:txBody>
      </p:sp>
      <p:sp>
        <p:nvSpPr>
          <p:cNvPr id="9" name="Oval 8"/>
          <p:cNvSpPr/>
          <p:nvPr/>
        </p:nvSpPr>
        <p:spPr>
          <a:xfrm>
            <a:off x="914400" y="2404872"/>
            <a:ext cx="310896" cy="310896"/>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59736"/>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二</a:t>
            </a:r>
          </a:p>
        </p:txBody>
      </p:sp>
      <p:sp>
        <p:nvSpPr>
          <p:cNvPr id="11" name="Rectangle 10"/>
          <p:cNvSpPr/>
          <p:nvPr/>
        </p:nvSpPr>
        <p:spPr>
          <a:xfrm>
            <a:off x="1444752" y="2377440"/>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研究重点与路线</a:t>
            </a:r>
          </a:p>
        </p:txBody>
      </p:sp>
      <p:sp>
        <p:nvSpPr>
          <p:cNvPr id="12" name="Rectangle 11"/>
          <p:cNvSpPr/>
          <p:nvPr/>
        </p:nvSpPr>
        <p:spPr>
          <a:xfrm>
            <a:off x="3383280" y="2404872"/>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能力命名、结构化判别、职责化复核、过程留痕</a:t>
            </a:r>
          </a:p>
        </p:txBody>
      </p:sp>
      <p:sp>
        <p:nvSpPr>
          <p:cNvPr id="13" name="Oval 12"/>
          <p:cNvSpPr/>
          <p:nvPr/>
        </p:nvSpPr>
        <p:spPr>
          <a:xfrm>
            <a:off x="914400" y="3209544"/>
            <a:ext cx="310896" cy="31089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264408"/>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三</a:t>
            </a:r>
          </a:p>
        </p:txBody>
      </p:sp>
      <p:sp>
        <p:nvSpPr>
          <p:cNvPr id="15" name="Rectangle 14"/>
          <p:cNvSpPr/>
          <p:nvPr/>
        </p:nvSpPr>
        <p:spPr>
          <a:xfrm>
            <a:off x="1444752" y="3182112"/>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研究成果与验证</a:t>
            </a:r>
          </a:p>
        </p:txBody>
      </p:sp>
      <p:sp>
        <p:nvSpPr>
          <p:cNvPr id="16" name="Rectangle 15"/>
          <p:cNvSpPr/>
          <p:nvPr/>
        </p:nvSpPr>
        <p:spPr>
          <a:xfrm>
            <a:off x="3383280" y="3209544"/>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原型系统、数据资产、算法结果、协作过程和典型案例</a:t>
            </a:r>
          </a:p>
        </p:txBody>
      </p:sp>
      <p:sp>
        <p:nvSpPr>
          <p:cNvPr id="17" name="Oval 16"/>
          <p:cNvSpPr/>
          <p:nvPr/>
        </p:nvSpPr>
        <p:spPr>
          <a:xfrm>
            <a:off x="914400" y="4014216"/>
            <a:ext cx="310896" cy="310896"/>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4069080"/>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四</a:t>
            </a:r>
          </a:p>
        </p:txBody>
      </p:sp>
      <p:sp>
        <p:nvSpPr>
          <p:cNvPr id="19" name="Rectangle 18"/>
          <p:cNvSpPr/>
          <p:nvPr/>
        </p:nvSpPr>
        <p:spPr>
          <a:xfrm>
            <a:off x="1444752" y="3986784"/>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成果产出与考核</a:t>
            </a:r>
          </a:p>
        </p:txBody>
      </p:sp>
      <p:sp>
        <p:nvSpPr>
          <p:cNvPr id="20" name="Rectangle 19"/>
          <p:cNvSpPr/>
          <p:nvPr/>
        </p:nvSpPr>
        <p:spPr>
          <a:xfrm>
            <a:off x="3383280" y="4014216"/>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报告、论文、专利、实验资产、展示材料逐项对应任务书</a:t>
            </a:r>
          </a:p>
        </p:txBody>
      </p:sp>
      <p:sp>
        <p:nvSpPr>
          <p:cNvPr id="21" name="Oval 20"/>
          <p:cNvSpPr/>
          <p:nvPr/>
        </p:nvSpPr>
        <p:spPr>
          <a:xfrm>
            <a:off x="914400" y="4818888"/>
            <a:ext cx="310896" cy="310896"/>
          </a:xfrm>
          <a:prstGeom prst="ellipse">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873751"/>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五</a:t>
            </a:r>
          </a:p>
        </p:txBody>
      </p:sp>
      <p:sp>
        <p:nvSpPr>
          <p:cNvPr id="23" name="Rectangle 22"/>
          <p:cNvSpPr/>
          <p:nvPr/>
        </p:nvSpPr>
        <p:spPr>
          <a:xfrm>
            <a:off x="1444752" y="4791455"/>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成果边界与后续</a:t>
            </a:r>
          </a:p>
        </p:txBody>
      </p:sp>
      <p:sp>
        <p:nvSpPr>
          <p:cNvPr id="24" name="Rectangle 23"/>
          <p:cNvSpPr/>
          <p:nvPr/>
        </p:nvSpPr>
        <p:spPr>
          <a:xfrm>
            <a:off x="3383280" y="4818888"/>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明确原型边界、待补证明和后续深化方向</a:t>
            </a:r>
          </a:p>
        </p:txBody>
      </p:sp>
      <p:sp>
        <p:nvSpPr>
          <p:cNvPr id="25" name="Rectangle 24"/>
          <p:cNvSpPr/>
          <p:nvPr/>
        </p:nvSpPr>
        <p:spPr>
          <a:xfrm>
            <a:off x="713232" y="5961888"/>
            <a:ext cx="804672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D2E6FF"/>
                </a:solidFill>
                <a:latin typeface="Microsoft YaHei"/>
              </a:rPr>
              <a:t>主线：成果汇编管总，技术报告讲机制，论文给指标，PPT 把验收证据链讲成一条线。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攻关难点：不是做一次分类，而是把可控候选决策做成系统能力</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论文更新后，技术难点已经清晰收敛到固定能力集合内的主能力选择、相关能力识别和受控复核。</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115568"/>
            <a:ext cx="1828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四个硬约束</a:t>
            </a:r>
          </a:p>
        </p:txBody>
      </p:sp>
      <p:sp>
        <p:nvSpPr>
          <p:cNvPr id="11" name="Rounded Rectangle 10"/>
          <p:cNvSpPr/>
          <p:nvPr/>
        </p:nvSpPr>
        <p:spPr>
          <a:xfrm>
            <a:off x="713232" y="1627632"/>
            <a:ext cx="4800600" cy="102412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2688"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B63CE"/>
                </a:solidFill>
                <a:latin typeface="Arial"/>
              </a:rPr>
              <a:t>01</a:t>
            </a:r>
          </a:p>
        </p:txBody>
      </p:sp>
      <p:sp>
        <p:nvSpPr>
          <p:cNvPr id="13" name="Rectangle 12"/>
          <p:cNvSpPr/>
          <p:nvPr/>
        </p:nvSpPr>
        <p:spPr>
          <a:xfrm>
            <a:off x="1517904"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候选固定</a:t>
            </a:r>
          </a:p>
        </p:txBody>
      </p:sp>
      <p:sp>
        <p:nvSpPr>
          <p:cNvPr id="14" name="Rectangle 13"/>
          <p:cNvSpPr/>
          <p:nvPr/>
        </p:nvSpPr>
        <p:spPr>
          <a:xfrm>
            <a:off x="1517904"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平台已经给出能力目录，算法不能自由生成候选外地址，必须在候选内稳定比较。</a:t>
            </a:r>
          </a:p>
        </p:txBody>
      </p:sp>
      <p:sp>
        <p:nvSpPr>
          <p:cNvPr id="15" name="Rounded Rectangle 14"/>
          <p:cNvSpPr/>
          <p:nvPr/>
        </p:nvSpPr>
        <p:spPr>
          <a:xfrm>
            <a:off x="6272784" y="1627632"/>
            <a:ext cx="4800600" cy="102412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E97132"/>
                </a:solidFill>
                <a:latin typeface="Arial"/>
              </a:rPr>
              <a:t>02</a:t>
            </a:r>
          </a:p>
        </p:txBody>
      </p:sp>
      <p:sp>
        <p:nvSpPr>
          <p:cNvPr id="17" name="Rectangle 16"/>
          <p:cNvSpPr/>
          <p:nvPr/>
        </p:nvSpPr>
        <p:spPr>
          <a:xfrm>
            <a:off x="7077456"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语义复合</a:t>
            </a:r>
          </a:p>
        </p:txBody>
      </p:sp>
      <p:sp>
        <p:nvSpPr>
          <p:cNvPr id="18" name="Rectangle 17"/>
          <p:cNvSpPr/>
          <p:nvPr/>
        </p:nvSpPr>
        <p:spPr>
          <a:xfrm>
            <a:off x="7077456"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请求包含主任务、次要诉求、场景线索和治理约束，单一关键词规则容易误判。</a:t>
            </a:r>
          </a:p>
        </p:txBody>
      </p:sp>
      <p:sp>
        <p:nvSpPr>
          <p:cNvPr id="19" name="Rounded Rectangle 18"/>
          <p:cNvSpPr/>
          <p:nvPr/>
        </p:nvSpPr>
        <p:spPr>
          <a:xfrm>
            <a:off x="713232" y="2980944"/>
            <a:ext cx="4800600" cy="102412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2688"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E8A57"/>
                </a:solidFill>
                <a:latin typeface="Arial"/>
              </a:rPr>
              <a:t>03</a:t>
            </a:r>
          </a:p>
        </p:txBody>
      </p:sp>
      <p:sp>
        <p:nvSpPr>
          <p:cNvPr id="21" name="Rectangle 20"/>
          <p:cNvSpPr/>
          <p:nvPr/>
        </p:nvSpPr>
        <p:spPr>
          <a:xfrm>
            <a:off x="1517904"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层级冲突</a:t>
            </a:r>
          </a:p>
        </p:txBody>
      </p:sp>
      <p:sp>
        <p:nvSpPr>
          <p:cNvPr id="22" name="Rectangle 21"/>
          <p:cNvSpPr/>
          <p:nvPr/>
        </p:nvSpPr>
        <p:spPr>
          <a:xfrm>
            <a:off x="1517904"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父子节点、同层竞争和可接受回落并存，需要区分合理回落与粒度错误。</a:t>
            </a:r>
          </a:p>
        </p:txBody>
      </p:sp>
      <p:sp>
        <p:nvSpPr>
          <p:cNvPr id="23" name="Rounded Rectangle 22"/>
          <p:cNvSpPr/>
          <p:nvPr/>
        </p:nvSpPr>
        <p:spPr>
          <a:xfrm>
            <a:off x="6272784" y="2980944"/>
            <a:ext cx="4800600" cy="102412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6B49C8"/>
                </a:solidFill>
                <a:latin typeface="Arial"/>
              </a:rPr>
              <a:t>04</a:t>
            </a:r>
          </a:p>
        </p:txBody>
      </p:sp>
      <p:sp>
        <p:nvSpPr>
          <p:cNvPr id="25" name="Rectangle 24"/>
          <p:cNvSpPr/>
          <p:nvPr/>
        </p:nvSpPr>
        <p:spPr>
          <a:xfrm>
            <a:off x="7077456"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复核受控</a:t>
            </a:r>
          </a:p>
        </p:txBody>
      </p:sp>
      <p:sp>
        <p:nvSpPr>
          <p:cNvPr id="26" name="Rectangle 25"/>
          <p:cNvSpPr/>
          <p:nvPr/>
        </p:nvSpPr>
        <p:spPr>
          <a:xfrm>
            <a:off x="7077456"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多智能体不能无边界讨论，必须有触发条件、职责视图和改判授权门槛。</a:t>
            </a:r>
          </a:p>
        </p:txBody>
      </p:sp>
      <p:sp>
        <p:nvSpPr>
          <p:cNvPr id="27" name="Rounded Rectangle 26"/>
          <p:cNvSpPr/>
          <p:nvPr/>
        </p:nvSpPr>
        <p:spPr>
          <a:xfrm>
            <a:off x="822960" y="4572000"/>
            <a:ext cx="10241280" cy="98755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43000" y="4846320"/>
            <a:ext cx="12801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攻关抓手</a:t>
            </a:r>
          </a:p>
        </p:txBody>
      </p:sp>
      <p:sp>
        <p:nvSpPr>
          <p:cNvPr id="29" name="Rectangle 28"/>
          <p:cNvSpPr/>
          <p:nvPr/>
        </p:nvSpPr>
        <p:spPr>
          <a:xfrm>
            <a:off x="2487168" y="4754880"/>
            <a:ext cx="763524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把“自然语言请求到能力地址”定义为受限能力命名空间下的语义路由问题。</a:t>
            </a:r>
          </a:p>
        </p:txBody>
      </p:sp>
      <p:sp>
        <p:nvSpPr>
          <p:cNvPr id="30" name="Rectangle 29"/>
          <p:cNvSpPr/>
          <p:nvPr/>
        </p:nvSpPr>
        <p:spPr>
          <a:xfrm>
            <a:off x="2496312" y="5193792"/>
            <a:ext cx="74523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30" b="0">
                <a:solidFill>
                  <a:srgbClr val="D2E6FF"/>
                </a:solidFill>
                <a:latin typeface="Microsoft YaHei"/>
              </a:rPr>
              <a:t>项目难度在于同时保证候选边界、语义判别、协作纠错、执行落点和过程审计五件事成立。</a:t>
            </a:r>
          </a:p>
        </p:txBody>
      </p:sp>
      <p:sp>
        <p:nvSpPr>
          <p:cNvPr id="31" name="Rectangle 3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任务书到攻关闭环：每个考核点都对应技术难题和突破证据</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重点项目验收不只看材料是否齐备，更要看任务书要求如何转化为可验证的攻关成果。</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207008"/>
            <a:ext cx="2560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316736"/>
            <a:ext cx="2414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任务书要求</a:t>
            </a:r>
          </a:p>
        </p:txBody>
      </p:sp>
      <p:sp>
        <p:nvSpPr>
          <p:cNvPr id="12" name="Rectangle 11"/>
          <p:cNvSpPr/>
          <p:nvPr/>
        </p:nvSpPr>
        <p:spPr>
          <a:xfrm>
            <a:off x="3218687" y="1207008"/>
            <a:ext cx="3703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39" y="1316736"/>
            <a:ext cx="3557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攻关难点</a:t>
            </a:r>
          </a:p>
        </p:txBody>
      </p:sp>
      <p:sp>
        <p:nvSpPr>
          <p:cNvPr id="14" name="Rectangle 13"/>
          <p:cNvSpPr/>
          <p:nvPr/>
        </p:nvSpPr>
        <p:spPr>
          <a:xfrm>
            <a:off x="6922007" y="1207008"/>
            <a:ext cx="425196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59" y="1316736"/>
            <a:ext cx="410565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突破结果与评审证据</a:t>
            </a:r>
          </a:p>
        </p:txBody>
      </p:sp>
      <p:sp>
        <p:nvSpPr>
          <p:cNvPr id="16" name="Rectangle 15"/>
          <p:cNvSpPr/>
          <p:nvPr/>
        </p:nvSpPr>
        <p:spPr>
          <a:xfrm>
            <a:off x="658368" y="1627632"/>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1801368"/>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多智能体协作原型</a:t>
            </a:r>
          </a:p>
        </p:txBody>
      </p:sp>
      <p:sp>
        <p:nvSpPr>
          <p:cNvPr id="18" name="Rectangle 17"/>
          <p:cNvSpPr/>
          <p:nvPr/>
        </p:nvSpPr>
        <p:spPr>
          <a:xfrm>
            <a:off x="3218687" y="1627632"/>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28415" y="1801368"/>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多角色只有形成互补职责并受授权约束才有净收益</a:t>
            </a:r>
          </a:p>
        </p:txBody>
      </p:sp>
      <p:sp>
        <p:nvSpPr>
          <p:cNvPr id="20" name="Rectangle 19"/>
          <p:cNvSpPr/>
          <p:nvPr/>
        </p:nvSpPr>
        <p:spPr>
          <a:xfrm>
            <a:off x="6922007" y="1627632"/>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31736" y="1801368"/>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Stage B 四职责复核、第二轮定向比较、override gate</a:t>
            </a:r>
          </a:p>
        </p:txBody>
      </p:sp>
      <p:sp>
        <p:nvSpPr>
          <p:cNvPr id="22" name="Rectangle 21"/>
          <p:cNvSpPr/>
          <p:nvPr/>
        </p:nvSpPr>
        <p:spPr>
          <a:xfrm>
            <a:off x="658368" y="2295144"/>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 y="2468879"/>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可信认知标识</a:t>
            </a:r>
          </a:p>
        </p:txBody>
      </p:sp>
      <p:sp>
        <p:nvSpPr>
          <p:cNvPr id="24" name="Rectangle 23"/>
          <p:cNvSpPr/>
          <p:nvPr/>
        </p:nvSpPr>
        <p:spPr>
          <a:xfrm>
            <a:off x="3218687" y="2295144"/>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2468879"/>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可信要落在过程对象，而不是只给最终标签</a:t>
            </a:r>
          </a:p>
        </p:txBody>
      </p:sp>
      <p:sp>
        <p:nvSpPr>
          <p:cNvPr id="26" name="Rectangle 25"/>
          <p:cNvSpPr/>
          <p:nvPr/>
        </p:nvSpPr>
        <p:spPr>
          <a:xfrm>
            <a:off x="6922007" y="2295144"/>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31736" y="2468879"/>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candidate snapshot、decision packet、trust trace、selection trace</a:t>
            </a:r>
          </a:p>
        </p:txBody>
      </p:sp>
      <p:sp>
        <p:nvSpPr>
          <p:cNvPr id="28" name="Rectangle 27"/>
          <p:cNvSpPr/>
          <p:nvPr/>
        </p:nvSpPr>
        <p:spPr>
          <a:xfrm>
            <a:off x="658368" y="2962656"/>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 y="3136392"/>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真实标签反馈约束</a:t>
            </a:r>
          </a:p>
        </p:txBody>
      </p:sp>
      <p:sp>
        <p:nvSpPr>
          <p:cNvPr id="30" name="Rectangle 29"/>
          <p:cNvSpPr/>
          <p:nvPr/>
        </p:nvSpPr>
        <p:spPr>
          <a:xfrm>
            <a:off x="3218687" y="2962656"/>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28415" y="3136392"/>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无现成 benchmark，需要冻结协议并防止后验调参</a:t>
            </a:r>
          </a:p>
        </p:txBody>
      </p:sp>
      <p:sp>
        <p:nvSpPr>
          <p:cNvPr id="32" name="Rectangle 31"/>
          <p:cNvSpPr/>
          <p:nvPr/>
        </p:nvSpPr>
        <p:spPr>
          <a:xfrm>
            <a:off x="6922007" y="2962656"/>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31736" y="3136392"/>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563 条真实样本、train=450/test=113、累计稳定性分析</a:t>
            </a:r>
          </a:p>
        </p:txBody>
      </p:sp>
      <p:sp>
        <p:nvSpPr>
          <p:cNvPr id="34" name="Rectangle 33"/>
          <p:cNvSpPr/>
          <p:nvPr/>
        </p:nvSpPr>
        <p:spPr>
          <a:xfrm>
            <a:off x="658368" y="3630168"/>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803904"/>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报告或论文</a:t>
            </a:r>
          </a:p>
        </p:txBody>
      </p:sp>
      <p:sp>
        <p:nvSpPr>
          <p:cNvPr id="36" name="Rectangle 35"/>
          <p:cNvSpPr/>
          <p:nvPr/>
        </p:nvSpPr>
        <p:spPr>
          <a:xfrm>
            <a:off x="3218687" y="3630168"/>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28415" y="3803904"/>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前沿题目要有问题定义、方法公式和实验边界</a:t>
            </a:r>
          </a:p>
        </p:txBody>
      </p:sp>
      <p:sp>
        <p:nvSpPr>
          <p:cNvPr id="38" name="Rectangle 37"/>
          <p:cNvSpPr/>
          <p:nvPr/>
        </p:nvSpPr>
        <p:spPr>
          <a:xfrm>
            <a:off x="6922007" y="3630168"/>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31736" y="3803904"/>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新版投稿稿、主结果表、补充配置、消融、案例分析</a:t>
            </a:r>
          </a:p>
        </p:txBody>
      </p:sp>
      <p:sp>
        <p:nvSpPr>
          <p:cNvPr id="40" name="Rectangle 39"/>
          <p:cNvSpPr/>
          <p:nvPr/>
        </p:nvSpPr>
        <p:spPr>
          <a:xfrm>
            <a:off x="658368" y="4297680"/>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6" y="4471416"/>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发明专利</a:t>
            </a:r>
          </a:p>
        </p:txBody>
      </p:sp>
      <p:sp>
        <p:nvSpPr>
          <p:cNvPr id="42" name="Rectangle 41"/>
          <p:cNvSpPr/>
          <p:nvPr/>
        </p:nvSpPr>
        <p:spPr>
          <a:xfrm>
            <a:off x="3218687" y="4297680"/>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28415" y="4471416"/>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系统流程要凝练成可保护的技术特征</a:t>
            </a:r>
          </a:p>
        </p:txBody>
      </p:sp>
      <p:sp>
        <p:nvSpPr>
          <p:cNvPr id="44" name="Rectangle 43"/>
          <p:cNvSpPr/>
          <p:nvPr/>
        </p:nvSpPr>
        <p:spPr>
          <a:xfrm>
            <a:off x="6922007" y="4297680"/>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31736" y="4471416"/>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交底书、权利要求书、说明书摘要、系统结构与协同决策附图</a:t>
            </a:r>
          </a:p>
        </p:txBody>
      </p:sp>
      <p:sp>
        <p:nvSpPr>
          <p:cNvPr id="46" name="Rectangle 45"/>
          <p:cNvSpPr/>
          <p:nvPr/>
        </p:nvSpPr>
        <p:spPr>
          <a:xfrm>
            <a:off x="749808" y="5650992"/>
            <a:ext cx="8412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答辩讲法：把“任务书要求—技术难点—突破证据”串成一条链，突出重点项目攻关属性。</a:t>
            </a:r>
          </a:p>
        </p:txBody>
      </p:sp>
      <p:sp>
        <p:nvSpPr>
          <p:cNvPr id="47" name="Rectangle 4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9" name="Rectangle 4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问题定义：受限能力命名空间内的能力地址语义路由</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给定请求 x 和候选集合 N，系统输出主能力 ŷ、相关能力 R̂ 和执行实例 â；正文重点评估前两项。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31520" y="1335024"/>
            <a:ext cx="4480560" cy="297180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24128" y="1664208"/>
            <a:ext cx="26517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B63CE"/>
                </a:solidFill>
                <a:latin typeface="Arial"/>
              </a:rPr>
              <a:t>能力地址 routing_fqdn</a:t>
            </a:r>
          </a:p>
        </p:txBody>
      </p:sp>
      <p:sp>
        <p:nvSpPr>
          <p:cNvPr id="12" name="Rectangle 11"/>
          <p:cNvSpPr/>
          <p:nvPr/>
        </p:nvSpPr>
        <p:spPr>
          <a:xfrm>
            <a:off x="10241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回答“哪一类能力应处理请求”</a:t>
            </a:r>
          </a:p>
        </p:txBody>
      </p:sp>
      <p:sp>
        <p:nvSpPr>
          <p:cNvPr id="13" name="Rectangle 12"/>
          <p:cNvSpPr/>
          <p:nvPr/>
        </p:nvSpPr>
        <p:spPr>
          <a:xfrm>
            <a:off x="1051560" y="2487168"/>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policy.gov.cn</a:t>
            </a:r>
          </a:p>
        </p:txBody>
      </p:sp>
      <p:sp>
        <p:nvSpPr>
          <p:cNvPr id="14" name="Rectangle 13"/>
          <p:cNvSpPr/>
          <p:nvPr/>
        </p:nvSpPr>
        <p:spPr>
          <a:xfrm>
            <a:off x="1051560" y="2834640"/>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coupon.commerce.cn</a:t>
            </a:r>
          </a:p>
        </p:txBody>
      </p:sp>
      <p:sp>
        <p:nvSpPr>
          <p:cNvPr id="15" name="Rectangle 14"/>
          <p:cNvSpPr/>
          <p:nvPr/>
        </p:nvSpPr>
        <p:spPr>
          <a:xfrm>
            <a:off x="1051560" y="3182112"/>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docs.productivity.cn</a:t>
            </a:r>
          </a:p>
        </p:txBody>
      </p:sp>
      <p:sp>
        <p:nvSpPr>
          <p:cNvPr id="16" name="Rectangle 15"/>
          <p:cNvSpPr/>
          <p:nvPr/>
        </p:nvSpPr>
        <p:spPr>
          <a:xfrm>
            <a:off x="1051560" y="3529584"/>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activity.travel.cn</a:t>
            </a:r>
          </a:p>
        </p:txBody>
      </p:sp>
      <p:sp>
        <p:nvSpPr>
          <p:cNvPr id="17" name="Rounded Rectangle 16"/>
          <p:cNvSpPr/>
          <p:nvPr/>
        </p:nvSpPr>
        <p:spPr>
          <a:xfrm>
            <a:off x="6675120" y="1335024"/>
            <a:ext cx="4480560" cy="297180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67728" y="1664208"/>
            <a:ext cx="24688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E8A57"/>
                </a:solidFill>
                <a:latin typeface="Arial"/>
              </a:rPr>
              <a:t>实例地址 agent_fqdn</a:t>
            </a:r>
          </a:p>
        </p:txBody>
      </p:sp>
      <p:sp>
        <p:nvSpPr>
          <p:cNvPr id="19" name="Rectangle 18"/>
          <p:cNvSpPr/>
          <p:nvPr/>
        </p:nvSpPr>
        <p:spPr>
          <a:xfrm>
            <a:off x="69677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回答“由哪个具体智能体执行”</a:t>
            </a:r>
          </a:p>
        </p:txBody>
      </p:sp>
      <p:sp>
        <p:nvSpPr>
          <p:cNvPr id="20" name="Rectangle 19"/>
          <p:cNvSpPr/>
          <p:nvPr/>
        </p:nvSpPr>
        <p:spPr>
          <a:xfrm>
            <a:off x="6995160" y="2487168"/>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agent-xxx.agent.policy.gov.cn</a:t>
            </a:r>
          </a:p>
        </p:txBody>
      </p:sp>
      <p:sp>
        <p:nvSpPr>
          <p:cNvPr id="21" name="Rectangle 20"/>
          <p:cNvSpPr/>
          <p:nvPr/>
        </p:nvSpPr>
        <p:spPr>
          <a:xfrm>
            <a:off x="6995160" y="2834640"/>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endpoint / schema / health</a:t>
            </a:r>
          </a:p>
        </p:txBody>
      </p:sp>
      <p:sp>
        <p:nvSpPr>
          <p:cNvPr id="22" name="Rectangle 21"/>
          <p:cNvSpPr/>
          <p:nvPr/>
        </p:nvSpPr>
        <p:spPr>
          <a:xfrm>
            <a:off x="6995160" y="3182112"/>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exact routing_fqdn match</a:t>
            </a:r>
          </a:p>
        </p:txBody>
      </p:sp>
      <p:sp>
        <p:nvSpPr>
          <p:cNvPr id="23" name="Rectangle 22"/>
          <p:cNvSpPr/>
          <p:nvPr/>
        </p:nvSpPr>
        <p:spPr>
          <a:xfrm>
            <a:off x="6995160" y="3529584"/>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不在执行层改写能力地址</a:t>
            </a:r>
          </a:p>
        </p:txBody>
      </p:sp>
      <p:sp>
        <p:nvSpPr>
          <p:cNvPr id="24" name="Rectangle 23"/>
          <p:cNvSpPr/>
          <p:nvPr/>
        </p:nvSpPr>
        <p:spPr>
          <a:xfrm>
            <a:off x="5394960" y="2798064"/>
            <a:ext cx="1005840" cy="3175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58384" y="2432304"/>
            <a:ext cx="1115568"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00" b="1">
                <a:solidFill>
                  <a:srgbClr val="0B63CE"/>
                </a:solidFill>
                <a:latin typeface="Microsoft YaHei"/>
              </a:rPr>
              <a:t>分层解耦</a:t>
            </a:r>
          </a:p>
        </p:txBody>
      </p:sp>
      <p:sp>
        <p:nvSpPr>
          <p:cNvPr id="26" name="Rounded Rectangle 25"/>
          <p:cNvSpPr/>
          <p:nvPr/>
        </p:nvSpPr>
        <p:spPr>
          <a:xfrm>
            <a:off x="960120" y="4773168"/>
            <a:ext cx="9875520" cy="877824"/>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8720" y="5010912"/>
            <a:ext cx="79552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Arial"/>
              </a:rPr>
              <a:t>形式化约束：ŷ(x)∈N，R̂(x)⊆N\{ŷ(x)}，â(x) 只在 A(ŷ) 内选择。</a:t>
            </a:r>
          </a:p>
        </p:txBody>
      </p:sp>
      <p:sp>
        <p:nvSpPr>
          <p:cNvPr id="28" name="Rectangle 27"/>
          <p:cNvSpPr/>
          <p:nvPr/>
        </p:nvSpPr>
        <p:spPr>
          <a:xfrm>
            <a:off x="1188720" y="5321808"/>
            <a:ext cx="8046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53657A"/>
                </a:solidFill>
                <a:latin typeface="Microsoft YaHei"/>
              </a:rPr>
              <a:t>这使 Stage R miss、Stage A 语义误判、Stage B 授权改判和 Stage C 实例过滤可以分别归因。</a:t>
            </a:r>
          </a:p>
        </p:txBody>
      </p:sp>
      <p:sp>
        <p:nvSpPr>
          <p:cNvPr id="29" name="Rectangle 2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1" name="Rectangle 3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总体架构：四阶段路由链路 + 全程可信轨迹</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一条链路同时覆盖自然语言请求、候选集合、结构化裁决、协作复核、执行落点和过程记录。</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143000"/>
            <a:ext cx="11064240" cy="3703320"/>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1_framework.png"/>
          <p:cNvPicPr>
            <a:picLocks noChangeAspect="1"/>
          </p:cNvPicPr>
          <p:nvPr/>
        </p:nvPicPr>
        <p:blipFill>
          <a:blip r:embed="rId3"/>
          <a:stretch>
            <a:fillRect/>
          </a:stretch>
        </p:blipFill>
        <p:spPr>
          <a:xfrm>
            <a:off x="822960" y="1417320"/>
            <a:ext cx="10515600" cy="3063240"/>
          </a:xfrm>
          <a:prstGeom prst="rect">
            <a:avLst/>
          </a:prstGeom>
        </p:spPr>
      </p:pic>
      <p:sp>
        <p:nvSpPr>
          <p:cNvPr id="12" name="Rectangle 11"/>
          <p:cNvSpPr/>
          <p:nvPr/>
        </p:nvSpPr>
        <p:spPr>
          <a:xfrm>
            <a:off x="75895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Arial"/>
              </a:rPr>
              <a:t>Stage R</a:t>
            </a:r>
          </a:p>
        </p:txBody>
      </p:sp>
      <p:sp>
        <p:nvSpPr>
          <p:cNvPr id="13" name="Rectangle 12"/>
          <p:cNvSpPr/>
          <p:nvPr/>
        </p:nvSpPr>
        <p:spPr>
          <a:xfrm>
            <a:off x="149047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候选集合构造</a:t>
            </a:r>
          </a:p>
        </p:txBody>
      </p:sp>
      <p:sp>
        <p:nvSpPr>
          <p:cNvPr id="14" name="Rectangle 13"/>
          <p:cNvSpPr/>
          <p:nvPr/>
        </p:nvSpPr>
        <p:spPr>
          <a:xfrm>
            <a:off x="75895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9923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E8A57"/>
                </a:solidFill>
                <a:latin typeface="Arial"/>
              </a:rPr>
              <a:t>Stage A</a:t>
            </a:r>
          </a:p>
        </p:txBody>
      </p:sp>
      <p:sp>
        <p:nvSpPr>
          <p:cNvPr id="16" name="Rectangle 15"/>
          <p:cNvSpPr/>
          <p:nvPr/>
        </p:nvSpPr>
        <p:spPr>
          <a:xfrm>
            <a:off x="373075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结构化语义路由</a:t>
            </a:r>
          </a:p>
        </p:txBody>
      </p:sp>
      <p:sp>
        <p:nvSpPr>
          <p:cNvPr id="17" name="Rectangle 16"/>
          <p:cNvSpPr/>
          <p:nvPr/>
        </p:nvSpPr>
        <p:spPr>
          <a:xfrm>
            <a:off x="299923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3951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E97132"/>
                </a:solidFill>
                <a:latin typeface="Arial"/>
              </a:rPr>
              <a:t>Stage B</a:t>
            </a:r>
          </a:p>
        </p:txBody>
      </p:sp>
      <p:sp>
        <p:nvSpPr>
          <p:cNvPr id="19" name="Rectangle 18"/>
          <p:cNvSpPr/>
          <p:nvPr/>
        </p:nvSpPr>
        <p:spPr>
          <a:xfrm>
            <a:off x="597103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职责化复核</a:t>
            </a:r>
          </a:p>
        </p:txBody>
      </p:sp>
      <p:sp>
        <p:nvSpPr>
          <p:cNvPr id="20" name="Rectangle 19"/>
          <p:cNvSpPr/>
          <p:nvPr/>
        </p:nvSpPr>
        <p:spPr>
          <a:xfrm>
            <a:off x="523951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979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6B49C8"/>
                </a:solidFill>
                <a:latin typeface="Arial"/>
              </a:rPr>
              <a:t>Stage C</a:t>
            </a:r>
          </a:p>
        </p:txBody>
      </p:sp>
      <p:sp>
        <p:nvSpPr>
          <p:cNvPr id="22" name="Rectangle 21"/>
          <p:cNvSpPr/>
          <p:nvPr/>
        </p:nvSpPr>
        <p:spPr>
          <a:xfrm>
            <a:off x="821131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执行落点解析</a:t>
            </a:r>
          </a:p>
        </p:txBody>
      </p:sp>
      <p:sp>
        <p:nvSpPr>
          <p:cNvPr id="23" name="Rectangle 22"/>
          <p:cNvSpPr/>
          <p:nvPr/>
        </p:nvSpPr>
        <p:spPr>
          <a:xfrm>
            <a:off x="747979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2007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E83E6"/>
                </a:solidFill>
                <a:latin typeface="Arial"/>
              </a:rPr>
              <a:t>Trace</a:t>
            </a:r>
          </a:p>
        </p:txBody>
      </p:sp>
      <p:sp>
        <p:nvSpPr>
          <p:cNvPr id="25" name="Rectangle 24"/>
          <p:cNvSpPr/>
          <p:nvPr/>
        </p:nvSpPr>
        <p:spPr>
          <a:xfrm>
            <a:off x="1045159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统一过程记录</a:t>
            </a:r>
          </a:p>
        </p:txBody>
      </p:sp>
      <p:sp>
        <p:nvSpPr>
          <p:cNvPr id="26" name="Rectangle 25"/>
          <p:cNvSpPr/>
          <p:nvPr/>
        </p:nvSpPr>
        <p:spPr>
          <a:xfrm>
            <a:off x="972007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6384" y="5806440"/>
            <a:ext cx="6949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架构价值：以能力组织、语义裁决、协作复核和执行落点构成可演示闭环。</a:t>
            </a:r>
          </a:p>
        </p:txBody>
      </p:sp>
      <p:sp>
        <p:nvSpPr>
          <p:cNvPr id="28" name="Rectangle 2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0" name="Rectangle 2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复核架构：职责化协作复核流程与授权改判门禁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第二张论文架构图用于说明 Stage B 内部如何从升级样本走到多角色提案、定向复核和最终授权。</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097280"/>
            <a:ext cx="11064240" cy="3977639"/>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2_review_flow.png"/>
          <p:cNvPicPr>
            <a:picLocks noChangeAspect="1"/>
          </p:cNvPicPr>
          <p:nvPr/>
        </p:nvPicPr>
        <p:blipFill>
          <a:blip r:embed="rId3"/>
          <a:stretch>
            <a:fillRect/>
          </a:stretch>
        </p:blipFill>
        <p:spPr>
          <a:xfrm>
            <a:off x="786384" y="1353312"/>
            <a:ext cx="10607040" cy="3520440"/>
          </a:xfrm>
          <a:prstGeom prst="rect">
            <a:avLst/>
          </a:prstGeom>
        </p:spPr>
      </p:pic>
      <p:sp>
        <p:nvSpPr>
          <p:cNvPr id="12" name="Rounded Rectangle 11"/>
          <p:cNvSpPr/>
          <p:nvPr/>
        </p:nvSpPr>
        <p:spPr>
          <a:xfrm>
            <a:off x="786384" y="5340096"/>
            <a:ext cx="2926080" cy="58521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E97132"/>
                </a:solidFill>
                <a:latin typeface="Microsoft YaHei"/>
              </a:rPr>
              <a:t>入口</a:t>
            </a:r>
          </a:p>
        </p:txBody>
      </p:sp>
      <p:sp>
        <p:nvSpPr>
          <p:cNvPr id="14" name="Rectangle 13"/>
          <p:cNvSpPr/>
          <p:nvPr/>
        </p:nvSpPr>
        <p:spPr>
          <a:xfrm>
            <a:off x="157276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低置信 / 小 margin / 高风险 / 多意图冲突</a:t>
            </a:r>
          </a:p>
        </p:txBody>
      </p:sp>
      <p:sp>
        <p:nvSpPr>
          <p:cNvPr id="15" name="Rounded Rectangle 14"/>
          <p:cNvSpPr/>
          <p:nvPr/>
        </p:nvSpPr>
        <p:spPr>
          <a:xfrm>
            <a:off x="4352544" y="5340096"/>
            <a:ext cx="2926080" cy="58521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35424"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E8A57"/>
                </a:solidFill>
                <a:latin typeface="Microsoft YaHei"/>
              </a:rPr>
              <a:t>角色</a:t>
            </a:r>
          </a:p>
        </p:txBody>
      </p:sp>
      <p:sp>
        <p:nvSpPr>
          <p:cNvPr id="17" name="Rectangle 16"/>
          <p:cNvSpPr/>
          <p:nvPr/>
        </p:nvSpPr>
        <p:spPr>
          <a:xfrm>
            <a:off x="513892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任务匹配、治理风险、层级解析、用户偏好</a:t>
            </a:r>
          </a:p>
        </p:txBody>
      </p:sp>
      <p:sp>
        <p:nvSpPr>
          <p:cNvPr id="18" name="Rounded Rectangle 17"/>
          <p:cNvSpPr/>
          <p:nvPr/>
        </p:nvSpPr>
        <p:spPr>
          <a:xfrm>
            <a:off x="7918704" y="5340096"/>
            <a:ext cx="2926080" cy="58521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3"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B63CE"/>
                </a:solidFill>
                <a:latin typeface="Microsoft YaHei"/>
              </a:rPr>
              <a:t>门禁</a:t>
            </a:r>
          </a:p>
        </p:txBody>
      </p:sp>
      <p:sp>
        <p:nvSpPr>
          <p:cNvPr id="20" name="Rectangle 19"/>
          <p:cNvSpPr/>
          <p:nvPr/>
        </p:nvSpPr>
        <p:spPr>
          <a:xfrm>
            <a:off x="870508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票数、共识增益、显式证据、敏感改判二轮确认</a:t>
            </a:r>
          </a:p>
        </p:txBody>
      </p:sp>
      <p:sp>
        <p:nvSpPr>
          <p:cNvPr id="21" name="Rectangle 20"/>
          <p:cNvSpPr/>
          <p:nvPr/>
        </p:nvSpPr>
        <p:spPr>
          <a:xfrm>
            <a:off x="841248" y="6199632"/>
            <a:ext cx="9784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40" b="1">
                <a:solidFill>
                  <a:srgbClr val="102033"/>
                </a:solidFill>
                <a:latin typeface="Microsoft YaHei"/>
              </a:rPr>
              <a:t>这页补足第二张论文架构图：证明协作复核不是“再问一遍模型”，而是有入口、有分工、有门禁的受控纠错机制。</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研究成果一（1/2）：建立统一评测样本集</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成果汇编优先呈现数据资产：563 条样本、50 个能力节点、45 类主标签和冻结 train/test 口径。</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132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B63CE"/>
                </a:solidFill>
                <a:latin typeface="Arial"/>
              </a:rPr>
              <a:t>563</a:t>
            </a:r>
          </a:p>
        </p:txBody>
      </p:sp>
      <p:sp>
        <p:nvSpPr>
          <p:cNvPr id="11" name="Rectangle 10"/>
          <p:cNvSpPr/>
          <p:nvPr/>
        </p:nvSpPr>
        <p:spPr>
          <a:xfrm>
            <a:off x="7406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总样本</a:t>
            </a:r>
          </a:p>
        </p:txBody>
      </p:sp>
      <p:sp>
        <p:nvSpPr>
          <p:cNvPr id="12" name="Rectangle 11"/>
          <p:cNvSpPr/>
          <p:nvPr/>
        </p:nvSpPr>
        <p:spPr>
          <a:xfrm>
            <a:off x="20848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E8A57"/>
                </a:solidFill>
                <a:latin typeface="Arial"/>
              </a:rPr>
              <a:t>450</a:t>
            </a:r>
          </a:p>
        </p:txBody>
      </p:sp>
      <p:sp>
        <p:nvSpPr>
          <p:cNvPr id="13" name="Rectangle 12"/>
          <p:cNvSpPr/>
          <p:nvPr/>
        </p:nvSpPr>
        <p:spPr>
          <a:xfrm>
            <a:off x="21122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train</a:t>
            </a:r>
          </a:p>
        </p:txBody>
      </p:sp>
      <p:sp>
        <p:nvSpPr>
          <p:cNvPr id="14" name="Rectangle 13"/>
          <p:cNvSpPr/>
          <p:nvPr/>
        </p:nvSpPr>
        <p:spPr>
          <a:xfrm>
            <a:off x="34564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E97132"/>
                </a:solidFill>
                <a:latin typeface="Arial"/>
              </a:rPr>
              <a:t>113</a:t>
            </a:r>
          </a:p>
        </p:txBody>
      </p:sp>
      <p:sp>
        <p:nvSpPr>
          <p:cNvPr id="15" name="Rectangle 14"/>
          <p:cNvSpPr/>
          <p:nvPr/>
        </p:nvSpPr>
        <p:spPr>
          <a:xfrm>
            <a:off x="34838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test</a:t>
            </a:r>
          </a:p>
        </p:txBody>
      </p:sp>
      <p:sp>
        <p:nvSpPr>
          <p:cNvPr id="16" name="Rectangle 15"/>
          <p:cNvSpPr/>
          <p:nvPr/>
        </p:nvSpPr>
        <p:spPr>
          <a:xfrm>
            <a:off x="48280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6B49C8"/>
                </a:solidFill>
                <a:latin typeface="Arial"/>
              </a:rPr>
              <a:t>50</a:t>
            </a:r>
          </a:p>
        </p:txBody>
      </p:sp>
      <p:sp>
        <p:nvSpPr>
          <p:cNvPr id="17" name="Rectangle 16"/>
          <p:cNvSpPr/>
          <p:nvPr/>
        </p:nvSpPr>
        <p:spPr>
          <a:xfrm>
            <a:off x="48554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命名空间节点</a:t>
            </a:r>
          </a:p>
        </p:txBody>
      </p:sp>
      <p:sp>
        <p:nvSpPr>
          <p:cNvPr id="18" name="Rectangle 17"/>
          <p:cNvSpPr/>
          <p:nvPr/>
        </p:nvSpPr>
        <p:spPr>
          <a:xfrm>
            <a:off x="61996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B93232"/>
                </a:solidFill>
                <a:latin typeface="Arial"/>
              </a:rPr>
              <a:t>45</a:t>
            </a:r>
          </a:p>
        </p:txBody>
      </p:sp>
      <p:sp>
        <p:nvSpPr>
          <p:cNvPr id="19" name="Rectangle 18"/>
          <p:cNvSpPr/>
          <p:nvPr/>
        </p:nvSpPr>
        <p:spPr>
          <a:xfrm>
            <a:off x="62270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主标签</a:t>
            </a:r>
          </a:p>
        </p:txBody>
      </p:sp>
      <p:sp>
        <p:nvSpPr>
          <p:cNvPr id="20" name="Rounded Rectangle 19"/>
          <p:cNvSpPr/>
          <p:nvPr/>
        </p:nvSpPr>
        <p:spPr>
          <a:xfrm>
            <a:off x="786384" y="2514600"/>
            <a:ext cx="5486400"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测试集领域分布</a:t>
            </a:r>
          </a:p>
        </p:txBody>
      </p:sp>
      <p:sp>
        <p:nvSpPr>
          <p:cNvPr id="22" name="Rectangle 21"/>
          <p:cNvSpPr/>
          <p:nvPr/>
        </p:nvSpPr>
        <p:spPr>
          <a:xfrm>
            <a:off x="1051560" y="31546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finance</a:t>
            </a:r>
          </a:p>
        </p:txBody>
      </p:sp>
      <p:sp>
        <p:nvSpPr>
          <p:cNvPr id="23" name="Rectangle 22"/>
          <p:cNvSpPr/>
          <p:nvPr/>
        </p:nvSpPr>
        <p:spPr>
          <a:xfrm>
            <a:off x="1901952" y="3182112"/>
            <a:ext cx="301752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74920" y="31363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28</a:t>
            </a:r>
          </a:p>
        </p:txBody>
      </p:sp>
      <p:sp>
        <p:nvSpPr>
          <p:cNvPr id="25" name="Rectangle 24"/>
          <p:cNvSpPr/>
          <p:nvPr/>
        </p:nvSpPr>
        <p:spPr>
          <a:xfrm>
            <a:off x="1051560" y="33375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travel</a:t>
            </a:r>
          </a:p>
        </p:txBody>
      </p:sp>
      <p:sp>
        <p:nvSpPr>
          <p:cNvPr id="26" name="Rectangle 25"/>
          <p:cNvSpPr/>
          <p:nvPr/>
        </p:nvSpPr>
        <p:spPr>
          <a:xfrm>
            <a:off x="1901952" y="3364992"/>
            <a:ext cx="258644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33192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24</a:t>
            </a:r>
          </a:p>
        </p:txBody>
      </p:sp>
      <p:sp>
        <p:nvSpPr>
          <p:cNvPr id="28" name="Rectangle 27"/>
          <p:cNvSpPr/>
          <p:nvPr/>
        </p:nvSpPr>
        <p:spPr>
          <a:xfrm>
            <a:off x="1051560" y="35204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security</a:t>
            </a:r>
          </a:p>
        </p:txBody>
      </p:sp>
      <p:sp>
        <p:nvSpPr>
          <p:cNvPr id="29" name="Rectangle 28"/>
          <p:cNvSpPr/>
          <p:nvPr/>
        </p:nvSpPr>
        <p:spPr>
          <a:xfrm>
            <a:off x="1901952" y="3547872"/>
            <a:ext cx="1724297"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74920" y="35021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16</a:t>
            </a:r>
          </a:p>
        </p:txBody>
      </p:sp>
      <p:sp>
        <p:nvSpPr>
          <p:cNvPr id="31" name="Rectangle 30"/>
          <p:cNvSpPr/>
          <p:nvPr/>
        </p:nvSpPr>
        <p:spPr>
          <a:xfrm>
            <a:off x="1051560" y="37033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productivity</a:t>
            </a:r>
          </a:p>
        </p:txBody>
      </p:sp>
      <p:sp>
        <p:nvSpPr>
          <p:cNvPr id="32" name="Rectangle 31"/>
          <p:cNvSpPr/>
          <p:nvPr/>
        </p:nvSpPr>
        <p:spPr>
          <a:xfrm>
            <a:off x="1901952" y="3730752"/>
            <a:ext cx="150876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4920" y="36850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14</a:t>
            </a:r>
          </a:p>
        </p:txBody>
      </p:sp>
      <p:sp>
        <p:nvSpPr>
          <p:cNvPr id="34" name="Rectangle 33"/>
          <p:cNvSpPr/>
          <p:nvPr/>
        </p:nvSpPr>
        <p:spPr>
          <a:xfrm>
            <a:off x="1051560" y="388620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gov</a:t>
            </a:r>
          </a:p>
        </p:txBody>
      </p:sp>
      <p:sp>
        <p:nvSpPr>
          <p:cNvPr id="35" name="Rectangle 34"/>
          <p:cNvSpPr/>
          <p:nvPr/>
        </p:nvSpPr>
        <p:spPr>
          <a:xfrm>
            <a:off x="1901952" y="3913632"/>
            <a:ext cx="1185454"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386791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11</a:t>
            </a:r>
          </a:p>
        </p:txBody>
      </p:sp>
      <p:sp>
        <p:nvSpPr>
          <p:cNvPr id="37" name="Rectangle 36"/>
          <p:cNvSpPr/>
          <p:nvPr/>
        </p:nvSpPr>
        <p:spPr>
          <a:xfrm>
            <a:off x="1051560" y="40690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commerce</a:t>
            </a:r>
          </a:p>
        </p:txBody>
      </p:sp>
      <p:sp>
        <p:nvSpPr>
          <p:cNvPr id="38" name="Rectangle 37"/>
          <p:cNvSpPr/>
          <p:nvPr/>
        </p:nvSpPr>
        <p:spPr>
          <a:xfrm>
            <a:off x="1901952" y="4096512"/>
            <a:ext cx="75438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4920" y="40507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7</a:t>
            </a:r>
          </a:p>
        </p:txBody>
      </p:sp>
      <p:sp>
        <p:nvSpPr>
          <p:cNvPr id="40" name="Rectangle 39"/>
          <p:cNvSpPr/>
          <p:nvPr/>
        </p:nvSpPr>
        <p:spPr>
          <a:xfrm>
            <a:off x="1051560" y="42519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health</a:t>
            </a:r>
          </a:p>
        </p:txBody>
      </p:sp>
      <p:sp>
        <p:nvSpPr>
          <p:cNvPr id="41" name="Rectangle 40"/>
          <p:cNvSpPr/>
          <p:nvPr/>
        </p:nvSpPr>
        <p:spPr>
          <a:xfrm>
            <a:off x="1901952" y="427939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42336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3" name="Rectangle 42"/>
          <p:cNvSpPr/>
          <p:nvPr/>
        </p:nvSpPr>
        <p:spPr>
          <a:xfrm>
            <a:off x="1051560" y="44348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education</a:t>
            </a:r>
          </a:p>
        </p:txBody>
      </p:sp>
      <p:sp>
        <p:nvSpPr>
          <p:cNvPr id="44" name="Rectangle 43"/>
          <p:cNvSpPr/>
          <p:nvPr/>
        </p:nvSpPr>
        <p:spPr>
          <a:xfrm>
            <a:off x="1901952" y="446227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74920" y="44165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6" name="Rectangle 45"/>
          <p:cNvSpPr/>
          <p:nvPr/>
        </p:nvSpPr>
        <p:spPr>
          <a:xfrm>
            <a:off x="1051560" y="46177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weather</a:t>
            </a:r>
          </a:p>
        </p:txBody>
      </p:sp>
      <p:sp>
        <p:nvSpPr>
          <p:cNvPr id="47" name="Rectangle 46"/>
          <p:cNvSpPr/>
          <p:nvPr/>
        </p:nvSpPr>
        <p:spPr>
          <a:xfrm>
            <a:off x="1901952" y="4645152"/>
            <a:ext cx="32330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74920" y="45994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3</a:t>
            </a:r>
          </a:p>
        </p:txBody>
      </p:sp>
      <p:sp>
        <p:nvSpPr>
          <p:cNvPr id="49" name="Rounded Rectangle 48"/>
          <p:cNvSpPr/>
          <p:nvPr/>
        </p:nvSpPr>
        <p:spPr>
          <a:xfrm>
            <a:off x="6858000" y="2514600"/>
            <a:ext cx="3977639"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14032"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复杂样本标签</a:t>
            </a:r>
          </a:p>
        </p:txBody>
      </p:sp>
      <p:sp>
        <p:nvSpPr>
          <p:cNvPr id="51" name="Rectangle 50"/>
          <p:cNvSpPr/>
          <p:nvPr/>
        </p:nvSpPr>
        <p:spPr>
          <a:xfrm>
            <a:off x="7150608" y="3246120"/>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E97132"/>
                </a:solidFill>
                <a:latin typeface="Arial"/>
              </a:rPr>
              <a:t>multi_intent</a:t>
            </a:r>
          </a:p>
        </p:txBody>
      </p:sp>
      <p:sp>
        <p:nvSpPr>
          <p:cNvPr id="52" name="Rectangle 51"/>
          <p:cNvSpPr/>
          <p:nvPr/>
        </p:nvSpPr>
        <p:spPr>
          <a:xfrm>
            <a:off x="8613648" y="325526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test=12</a:t>
            </a:r>
          </a:p>
        </p:txBody>
      </p:sp>
      <p:sp>
        <p:nvSpPr>
          <p:cNvPr id="53" name="Rectangle 52"/>
          <p:cNvSpPr/>
          <p:nvPr/>
        </p:nvSpPr>
        <p:spPr>
          <a:xfrm>
            <a:off x="7150608" y="381304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B93232"/>
                </a:solidFill>
                <a:latin typeface="Arial"/>
              </a:rPr>
              <a:t>high_risk</a:t>
            </a:r>
          </a:p>
        </p:txBody>
      </p:sp>
      <p:sp>
        <p:nvSpPr>
          <p:cNvPr id="54" name="Rectangle 53"/>
          <p:cNvSpPr/>
          <p:nvPr/>
        </p:nvSpPr>
        <p:spPr>
          <a:xfrm>
            <a:off x="8613648" y="3822191"/>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test=4</a:t>
            </a:r>
          </a:p>
        </p:txBody>
      </p:sp>
      <p:sp>
        <p:nvSpPr>
          <p:cNvPr id="55" name="Rectangle 54"/>
          <p:cNvSpPr/>
          <p:nvPr/>
        </p:nvSpPr>
        <p:spPr>
          <a:xfrm>
            <a:off x="822960" y="5715000"/>
            <a:ext cx="94183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30" b="1">
                <a:solidFill>
                  <a:srgbClr val="102033"/>
                </a:solidFill>
                <a:latin typeface="Microsoft YaHei"/>
              </a:rPr>
              <a:t>最新报告口径：563 条样本、50 个命名空间节点、45 类主标签，测试集含 38 条相关能力标注、12 条多意图、4 条高风险样本。</a:t>
            </a:r>
          </a:p>
        </p:txBody>
      </p:sp>
      <p:sp>
        <p:nvSpPr>
          <p:cNvPr id="56" name="Rectangle 5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8" name="Rectangle 5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评测协议：冻结主口径，区分主结果、诊断结果与探索结果</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成果汇编把实验资产作为验收证据，必须说明 train/test、配置选择和复现边界。</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统一样本池</a:t>
            </a:r>
          </a:p>
        </p:txBody>
      </p:sp>
      <p:sp>
        <p:nvSpPr>
          <p:cNvPr id="12" name="Rectangle 11"/>
          <p:cNvSpPr/>
          <p:nvPr/>
        </p:nvSpPr>
        <p:spPr>
          <a:xfrm>
            <a:off x="9418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dev + blind + challenge + holdout2 + holdout3 = 563</a:t>
            </a:r>
          </a:p>
        </p:txBody>
      </p:sp>
      <p:sp>
        <p:nvSpPr>
          <p:cNvPr id="13" name="Rounded Rectangle 12"/>
          <p:cNvSpPr/>
          <p:nvPr/>
        </p:nvSpPr>
        <p:spPr>
          <a:xfrm>
            <a:off x="35204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850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train=450</a:t>
            </a:r>
          </a:p>
        </p:txBody>
      </p:sp>
      <p:sp>
        <p:nvSpPr>
          <p:cNvPr id="15" name="Rectangle 14"/>
          <p:cNvSpPr/>
          <p:nvPr/>
        </p:nvSpPr>
        <p:spPr>
          <a:xfrm>
            <a:off x="36850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方案开发 / 阈值选择 / 配置选择</a:t>
            </a:r>
          </a:p>
        </p:txBody>
      </p:sp>
      <p:sp>
        <p:nvSpPr>
          <p:cNvPr id="16" name="Rounded Rectangle 15"/>
          <p:cNvSpPr/>
          <p:nvPr/>
        </p:nvSpPr>
        <p:spPr>
          <a:xfrm>
            <a:off x="62636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28231"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test=113</a:t>
            </a:r>
          </a:p>
        </p:txBody>
      </p:sp>
      <p:sp>
        <p:nvSpPr>
          <p:cNvPr id="18" name="Rectangle 17"/>
          <p:cNvSpPr/>
          <p:nvPr/>
        </p:nvSpPr>
        <p:spPr>
          <a:xfrm>
            <a:off x="6428231"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一次性主结果报告</a:t>
            </a:r>
          </a:p>
        </p:txBody>
      </p:sp>
      <p:sp>
        <p:nvSpPr>
          <p:cNvPr id="19" name="Rounded Rectangle 18"/>
          <p:cNvSpPr/>
          <p:nvPr/>
        </p:nvSpPr>
        <p:spPr>
          <a:xfrm>
            <a:off x="90068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714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6B49C8"/>
                </a:solidFill>
                <a:latin typeface="Microsoft YaHei"/>
              </a:rPr>
              <a:t>配对消融</a:t>
            </a:r>
          </a:p>
        </p:txBody>
      </p:sp>
      <p:sp>
        <p:nvSpPr>
          <p:cNvPr id="21" name="Rectangle 20"/>
          <p:cNvSpPr/>
          <p:nvPr/>
        </p:nvSpPr>
        <p:spPr>
          <a:xfrm>
            <a:off x="91714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train=320 / test=80，三类复核记录完整</a:t>
            </a:r>
          </a:p>
        </p:txBody>
      </p:sp>
      <p:sp>
        <p:nvSpPr>
          <p:cNvPr id="22" name="Rounded Rectangle 21"/>
          <p:cNvSpPr/>
          <p:nvPr/>
        </p:nvSpPr>
        <p:spPr>
          <a:xfrm>
            <a:off x="914400" y="3154680"/>
            <a:ext cx="4754880" cy="14173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3456432"/>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防泄漏与可复现</a:t>
            </a:r>
          </a:p>
        </p:txBody>
      </p:sp>
      <p:sp>
        <p:nvSpPr>
          <p:cNvPr id="24" name="Oval 23"/>
          <p:cNvSpPr/>
          <p:nvPr/>
        </p:nvSpPr>
        <p:spPr>
          <a:xfrm>
            <a:off x="1188720" y="3877055"/>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53312" y="3822191"/>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候选快照与 gold 标签分离</a:t>
            </a:r>
          </a:p>
        </p:txBody>
      </p:sp>
      <p:sp>
        <p:nvSpPr>
          <p:cNvPr id="26" name="Oval 25"/>
          <p:cNvSpPr/>
          <p:nvPr/>
        </p:nvSpPr>
        <p:spPr>
          <a:xfrm>
            <a:off x="1188720" y="411479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53312" y="4059935"/>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主结果只讲冻结 train/test</a:t>
            </a:r>
          </a:p>
        </p:txBody>
      </p:sp>
      <p:sp>
        <p:nvSpPr>
          <p:cNvPr id="28" name="Oval 27"/>
          <p:cNvSpPr/>
          <p:nvPr/>
        </p:nvSpPr>
        <p:spPr>
          <a:xfrm>
            <a:off x="1188720" y="435254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53312" y="4297679"/>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历史 split 只作诊断材料</a:t>
            </a:r>
          </a:p>
        </p:txBody>
      </p:sp>
      <p:sp>
        <p:nvSpPr>
          <p:cNvPr id="30" name="Rounded Rectangle 29"/>
          <p:cNvSpPr/>
          <p:nvPr/>
        </p:nvSpPr>
        <p:spPr>
          <a:xfrm>
            <a:off x="6400800" y="3154680"/>
            <a:ext cx="416052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3456432"/>
            <a:ext cx="914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指标</a:t>
            </a:r>
          </a:p>
        </p:txBody>
      </p:sp>
      <p:sp>
        <p:nvSpPr>
          <p:cNvPr id="32" name="Rectangle 31"/>
          <p:cNvSpPr/>
          <p:nvPr/>
        </p:nvSpPr>
        <p:spPr>
          <a:xfrm>
            <a:off x="672084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PrimaryAcc@1</a:t>
            </a:r>
          </a:p>
        </p:txBody>
      </p:sp>
      <p:sp>
        <p:nvSpPr>
          <p:cNvPr id="33" name="Rectangle 32"/>
          <p:cNvSpPr/>
          <p:nvPr/>
        </p:nvSpPr>
        <p:spPr>
          <a:xfrm>
            <a:off x="836676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Acceptable@1</a:t>
            </a:r>
          </a:p>
        </p:txBody>
      </p:sp>
      <p:sp>
        <p:nvSpPr>
          <p:cNvPr id="34" name="Rectangle 33"/>
          <p:cNvSpPr/>
          <p:nvPr/>
        </p:nvSpPr>
        <p:spPr>
          <a:xfrm>
            <a:off x="672084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RelatedRecall</a:t>
            </a:r>
          </a:p>
        </p:txBody>
      </p:sp>
      <p:sp>
        <p:nvSpPr>
          <p:cNvPr id="35" name="Rectangle 34"/>
          <p:cNvSpPr/>
          <p:nvPr/>
        </p:nvSpPr>
        <p:spPr>
          <a:xfrm>
            <a:off x="836676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RelatedPrecision</a:t>
            </a:r>
          </a:p>
        </p:txBody>
      </p:sp>
      <p:sp>
        <p:nvSpPr>
          <p:cNvPr id="36" name="Rectangle 35"/>
          <p:cNvSpPr/>
          <p:nvPr/>
        </p:nvSpPr>
        <p:spPr>
          <a:xfrm>
            <a:off x="6720840" y="4334256"/>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Changed/Fix/Regress</a:t>
            </a:r>
          </a:p>
        </p:txBody>
      </p:sp>
      <p:sp>
        <p:nvSpPr>
          <p:cNvPr id="37" name="Rectangle 3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9" name="Rectangle 3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研究成果一（2/2）：能力命名空间与候选边界</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成果汇编中的第一类研究成果：形成受控能力目录、候选召回和冻结快照，避免候选外发明。</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52144"/>
            <a:ext cx="4983480" cy="37947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1732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候选召回规则</a:t>
            </a:r>
          </a:p>
        </p:txBody>
      </p:sp>
      <p:sp>
        <p:nvSpPr>
          <p:cNvPr id="12" name="Rectangle 11"/>
          <p:cNvSpPr/>
          <p:nvPr/>
        </p:nvSpPr>
        <p:spPr>
          <a:xfrm>
            <a:off x="969264" y="1810512"/>
            <a:ext cx="4160520" cy="15727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0">
                <a:solidFill>
                  <a:srgbClr val="D2E6FF"/>
                </a:solidFill>
                <a:latin typeface="Menlo"/>
              </a:rPr>
              <a:t>for node in namespace:
  score_r = alias + desc + context
            + hierarchy_bonus
            - overspecific_penalty
            - weak_parent_penalty
select diversified top-k candidates
freeze candidate snapshot</a:t>
            </a:r>
          </a:p>
        </p:txBody>
      </p:sp>
      <p:sp>
        <p:nvSpPr>
          <p:cNvPr id="13" name="Rectangle 12"/>
          <p:cNvSpPr/>
          <p:nvPr/>
        </p:nvSpPr>
        <p:spPr>
          <a:xfrm>
            <a:off x="969264" y="3657600"/>
            <a:ext cx="420624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94106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0432" y="388620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不读历史样例，避免 benchmark 泄漏</a:t>
            </a:r>
          </a:p>
        </p:txBody>
      </p:sp>
      <p:sp>
        <p:nvSpPr>
          <p:cNvPr id="16" name="Oval 15"/>
          <p:cNvSpPr/>
          <p:nvPr/>
        </p:nvSpPr>
        <p:spPr>
          <a:xfrm>
            <a:off x="1005840" y="421538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0432" y="416052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召回来源保留 alias / desc_overlap / segment_node</a:t>
            </a:r>
          </a:p>
        </p:txBody>
      </p:sp>
      <p:sp>
        <p:nvSpPr>
          <p:cNvPr id="18" name="Oval 17"/>
          <p:cNvSpPr/>
          <p:nvPr/>
        </p:nvSpPr>
        <p:spPr>
          <a:xfrm>
            <a:off x="1005840" y="448970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70432" y="443484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ground truth 未进入候选集可直接归因为 Stage R miss</a:t>
            </a:r>
          </a:p>
        </p:txBody>
      </p:sp>
      <p:sp>
        <p:nvSpPr>
          <p:cNvPr id="20" name="Rounded Rectangle 19"/>
          <p:cNvSpPr/>
          <p:nvPr/>
        </p:nvSpPr>
        <p:spPr>
          <a:xfrm>
            <a:off x="6126480" y="1152144"/>
            <a:ext cx="5166360" cy="1874519"/>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19088" y="1426464"/>
            <a:ext cx="2331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candidate_snapshot</a:t>
            </a:r>
          </a:p>
        </p:txBody>
      </p:sp>
      <p:sp>
        <p:nvSpPr>
          <p:cNvPr id="22" name="Rectangle 21"/>
          <p:cNvSpPr/>
          <p:nvPr/>
        </p:nvSpPr>
        <p:spPr>
          <a:xfrm>
            <a:off x="6419088" y="1664208"/>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关键字段</a:t>
            </a:r>
          </a:p>
        </p:txBody>
      </p:sp>
      <p:sp>
        <p:nvSpPr>
          <p:cNvPr id="23" name="Rectangle 22"/>
          <p:cNvSpPr/>
          <p:nvPr/>
        </p:nvSpPr>
        <p:spPr>
          <a:xfrm>
            <a:off x="645566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fqdn</a:t>
            </a:r>
          </a:p>
        </p:txBody>
      </p:sp>
      <p:sp>
        <p:nvSpPr>
          <p:cNvPr id="24" name="Rectangle 23"/>
          <p:cNvSpPr/>
          <p:nvPr/>
        </p:nvSpPr>
        <p:spPr>
          <a:xfrm>
            <a:off x="860450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score_r</a:t>
            </a:r>
          </a:p>
        </p:txBody>
      </p:sp>
      <p:sp>
        <p:nvSpPr>
          <p:cNvPr id="25" name="Rectangle 24"/>
          <p:cNvSpPr/>
          <p:nvPr/>
        </p:nvSpPr>
        <p:spPr>
          <a:xfrm>
            <a:off x="645566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source[]</a:t>
            </a:r>
          </a:p>
        </p:txBody>
      </p:sp>
      <p:sp>
        <p:nvSpPr>
          <p:cNvPr id="26" name="Rectangle 25"/>
          <p:cNvSpPr/>
          <p:nvPr/>
        </p:nvSpPr>
        <p:spPr>
          <a:xfrm>
            <a:off x="860450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matched_phrases</a:t>
            </a:r>
          </a:p>
        </p:txBody>
      </p:sp>
      <p:sp>
        <p:nvSpPr>
          <p:cNvPr id="27" name="Rectangle 26"/>
          <p:cNvSpPr/>
          <p:nvPr/>
        </p:nvSpPr>
        <p:spPr>
          <a:xfrm>
            <a:off x="645566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components</a:t>
            </a:r>
          </a:p>
        </p:txBody>
      </p:sp>
      <p:sp>
        <p:nvSpPr>
          <p:cNvPr id="28" name="Rectangle 27"/>
          <p:cNvSpPr/>
          <p:nvPr/>
        </p:nvSpPr>
        <p:spPr>
          <a:xfrm>
            <a:off x="860450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candidate_recall_hit</a:t>
            </a:r>
          </a:p>
        </p:txBody>
      </p:sp>
      <p:sp>
        <p:nvSpPr>
          <p:cNvPr id="29" name="Rounded Rectangle 28"/>
          <p:cNvSpPr/>
          <p:nvPr/>
        </p:nvSpPr>
        <p:spPr>
          <a:xfrm>
            <a:off x="6126480" y="3310128"/>
            <a:ext cx="516636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19088" y="3566160"/>
            <a:ext cx="2423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Arial"/>
              </a:rPr>
              <a:t>样例: holdout3_000213</a:t>
            </a:r>
          </a:p>
        </p:txBody>
      </p:sp>
      <p:sp>
        <p:nvSpPr>
          <p:cNvPr id="31" name="Rectangle 30"/>
          <p:cNvSpPr/>
          <p:nvPr/>
        </p:nvSpPr>
        <p:spPr>
          <a:xfrm>
            <a:off x="6419088" y="3913632"/>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coupon.commerce.cn</a:t>
            </a:r>
          </a:p>
        </p:txBody>
      </p:sp>
      <p:sp>
        <p:nvSpPr>
          <p:cNvPr id="32" name="Rectangle 31"/>
          <p:cNvSpPr/>
          <p:nvPr/>
        </p:nvSpPr>
        <p:spPr>
          <a:xfrm>
            <a:off x="8211312" y="3913632"/>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3" name="Rectangle 32"/>
          <p:cNvSpPr/>
          <p:nvPr/>
        </p:nvSpPr>
        <p:spPr>
          <a:xfrm>
            <a:off x="8851392" y="3913632"/>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query:优惠</a:t>
            </a:r>
          </a:p>
        </p:txBody>
      </p:sp>
      <p:sp>
        <p:nvSpPr>
          <p:cNvPr id="34" name="Rectangle 33"/>
          <p:cNvSpPr/>
          <p:nvPr/>
        </p:nvSpPr>
        <p:spPr>
          <a:xfrm>
            <a:off x="6419088" y="4169664"/>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price.commerce.cn</a:t>
            </a:r>
          </a:p>
        </p:txBody>
      </p:sp>
      <p:sp>
        <p:nvSpPr>
          <p:cNvPr id="35" name="Rectangle 34"/>
          <p:cNvSpPr/>
          <p:nvPr/>
        </p:nvSpPr>
        <p:spPr>
          <a:xfrm>
            <a:off x="8211312" y="4169664"/>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6" name="Rectangle 35"/>
          <p:cNvSpPr/>
          <p:nvPr/>
        </p:nvSpPr>
        <p:spPr>
          <a:xfrm>
            <a:off x="8851392" y="4169664"/>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query:价格</a:t>
            </a:r>
          </a:p>
        </p:txBody>
      </p:sp>
      <p:sp>
        <p:nvSpPr>
          <p:cNvPr id="37" name="Rectangle 36"/>
          <p:cNvSpPr/>
          <p:nvPr/>
        </p:nvSpPr>
        <p:spPr>
          <a:xfrm>
            <a:off x="6419088" y="4425696"/>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meeting.productivity.cn</a:t>
            </a:r>
          </a:p>
        </p:txBody>
      </p:sp>
      <p:sp>
        <p:nvSpPr>
          <p:cNvPr id="38" name="Rectangle 37"/>
          <p:cNvSpPr/>
          <p:nvPr/>
        </p:nvSpPr>
        <p:spPr>
          <a:xfrm>
            <a:off x="8211312" y="4425696"/>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9" name="Rectangle 38"/>
          <p:cNvSpPr/>
          <p:nvPr/>
        </p:nvSpPr>
        <p:spPr>
          <a:xfrm>
            <a:off x="8851392" y="4425696"/>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query:会议</a:t>
            </a:r>
          </a:p>
        </p:txBody>
      </p:sp>
      <p:sp>
        <p:nvSpPr>
          <p:cNvPr id="40" name="Rectangle 39"/>
          <p:cNvSpPr/>
          <p:nvPr/>
        </p:nvSpPr>
        <p:spPr>
          <a:xfrm>
            <a:off x="841248" y="5650992"/>
            <a:ext cx="8686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技术价值：后续所有裁决都在冻结候选集合内进行，错误类型可以被精确拆分。</a:t>
            </a:r>
          </a:p>
        </p:txBody>
      </p:sp>
      <p:sp>
        <p:nvSpPr>
          <p:cNvPr id="41" name="Rectangle 4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3" name="Rectangle 4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研究成果二：结构化语义路由算法</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成果汇编中的第二类研究成果：在固定候选集合内完成主能力、相关能力和竞争候选说明。</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5166360" cy="187451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13716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主能力评分融合</a:t>
            </a:r>
          </a:p>
        </p:txBody>
      </p:sp>
      <p:sp>
        <p:nvSpPr>
          <p:cNvPr id="12" name="Rectangle 11"/>
          <p:cNvSpPr/>
          <p:nvPr/>
        </p:nvSpPr>
        <p:spPr>
          <a:xfrm>
            <a:off x="950976" y="1737360"/>
            <a:ext cx="4160520" cy="8961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60" b="0">
                <a:solidFill>
                  <a:srgbClr val="D2E6FF"/>
                </a:solidFill>
                <a:latin typeface="Menlo"/>
              </a:rPr>
              <a:t>score_a = 0.55*base_primary
        + 0.15*stage_r
        + 0.15*llm_task_fit
        + 0.10*llm_primary_fit
        + bonus - penalty</a:t>
            </a:r>
          </a:p>
        </p:txBody>
      </p:sp>
      <p:sp>
        <p:nvSpPr>
          <p:cNvPr id="13" name="Rounded Rectangle 12"/>
          <p:cNvSpPr/>
          <p:nvPr/>
        </p:nvSpPr>
        <p:spPr>
          <a:xfrm>
            <a:off x="6199632" y="1115568"/>
            <a:ext cx="5074920" cy="1874519"/>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371600"/>
            <a:ext cx="2148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E97132"/>
                </a:solidFill>
                <a:latin typeface="Microsoft YaHei"/>
              </a:rPr>
              <a:t>Stage B 升级判据</a:t>
            </a:r>
          </a:p>
        </p:txBody>
      </p:sp>
      <p:sp>
        <p:nvSpPr>
          <p:cNvPr id="15" name="Rectangle 14"/>
          <p:cNvSpPr/>
          <p:nvPr/>
        </p:nvSpPr>
        <p:spPr>
          <a:xfrm>
            <a:off x="651052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confidence &lt; 0.62</a:t>
            </a:r>
          </a:p>
        </p:txBody>
      </p:sp>
      <p:sp>
        <p:nvSpPr>
          <p:cNvPr id="16" name="Rectangle 15"/>
          <p:cNvSpPr/>
          <p:nvPr/>
        </p:nvSpPr>
        <p:spPr>
          <a:xfrm>
            <a:off x="865936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margin &lt; 0.08</a:t>
            </a:r>
          </a:p>
        </p:txBody>
      </p:sp>
      <p:sp>
        <p:nvSpPr>
          <p:cNvPr id="17" name="Rectangle 16"/>
          <p:cNvSpPr/>
          <p:nvPr/>
        </p:nvSpPr>
        <p:spPr>
          <a:xfrm>
            <a:off x="651052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llm_requested</a:t>
            </a:r>
          </a:p>
        </p:txBody>
      </p:sp>
      <p:sp>
        <p:nvSpPr>
          <p:cNvPr id="18" name="Rectangle 17"/>
          <p:cNvSpPr/>
          <p:nvPr/>
        </p:nvSpPr>
        <p:spPr>
          <a:xfrm>
            <a:off x="865936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high_risk 且 margin &lt; 0.14</a:t>
            </a:r>
          </a:p>
        </p:txBody>
      </p:sp>
      <p:sp>
        <p:nvSpPr>
          <p:cNvPr id="19" name="Rectangle 18"/>
          <p:cNvSpPr/>
          <p:nvPr/>
        </p:nvSpPr>
        <p:spPr>
          <a:xfrm>
            <a:off x="6510528" y="2377440"/>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multi_intent_conflict</a:t>
            </a:r>
          </a:p>
        </p:txBody>
      </p:sp>
      <p:sp>
        <p:nvSpPr>
          <p:cNvPr id="20" name="Rounded Rectangle 19"/>
          <p:cNvSpPr/>
          <p:nvPr/>
        </p:nvSpPr>
        <p:spPr>
          <a:xfrm>
            <a:off x="658368" y="3310128"/>
            <a:ext cx="5166360" cy="162763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 y="3547872"/>
            <a:ext cx="19202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decision packet</a:t>
            </a:r>
          </a:p>
        </p:txBody>
      </p:sp>
      <p:sp>
        <p:nvSpPr>
          <p:cNvPr id="22" name="Rectangle 21"/>
          <p:cNvSpPr/>
          <p:nvPr/>
        </p:nvSpPr>
        <p:spPr>
          <a:xfrm>
            <a:off x="932688" y="377647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关键字段</a:t>
            </a:r>
          </a:p>
        </p:txBody>
      </p:sp>
      <p:sp>
        <p:nvSpPr>
          <p:cNvPr id="23" name="Rectangle 22"/>
          <p:cNvSpPr/>
          <p:nvPr/>
        </p:nvSpPr>
        <p:spPr>
          <a:xfrm>
            <a:off x="95097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selected_primary_fqdn</a:t>
            </a:r>
          </a:p>
        </p:txBody>
      </p:sp>
      <p:sp>
        <p:nvSpPr>
          <p:cNvPr id="24" name="Rectangle 23"/>
          <p:cNvSpPr/>
          <p:nvPr/>
        </p:nvSpPr>
        <p:spPr>
          <a:xfrm>
            <a:off x="309981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selected_related_fqdns</a:t>
            </a:r>
          </a:p>
        </p:txBody>
      </p:sp>
      <p:sp>
        <p:nvSpPr>
          <p:cNvPr id="25" name="Rectangle 24"/>
          <p:cNvSpPr/>
          <p:nvPr/>
        </p:nvSpPr>
        <p:spPr>
          <a:xfrm>
            <a:off x="95097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routing_top_k</a:t>
            </a:r>
          </a:p>
        </p:txBody>
      </p:sp>
      <p:sp>
        <p:nvSpPr>
          <p:cNvPr id="26" name="Rectangle 25"/>
          <p:cNvSpPr/>
          <p:nvPr/>
        </p:nvSpPr>
        <p:spPr>
          <a:xfrm>
            <a:off x="309981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confidence / margin</a:t>
            </a:r>
          </a:p>
        </p:txBody>
      </p:sp>
      <p:sp>
        <p:nvSpPr>
          <p:cNvPr id="27" name="Rectangle 26"/>
          <p:cNvSpPr/>
          <p:nvPr/>
        </p:nvSpPr>
        <p:spPr>
          <a:xfrm>
            <a:off x="95097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candidate_scores</a:t>
            </a:r>
          </a:p>
        </p:txBody>
      </p:sp>
      <p:sp>
        <p:nvSpPr>
          <p:cNvPr id="28" name="Rectangle 27"/>
          <p:cNvSpPr/>
          <p:nvPr/>
        </p:nvSpPr>
        <p:spPr>
          <a:xfrm>
            <a:off x="309981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constraint_check</a:t>
            </a:r>
          </a:p>
        </p:txBody>
      </p:sp>
      <p:sp>
        <p:nvSpPr>
          <p:cNvPr id="29" name="Rounded Rectangle 28"/>
          <p:cNvSpPr/>
          <p:nvPr/>
        </p:nvSpPr>
        <p:spPr>
          <a:xfrm>
            <a:off x="6199632" y="3310128"/>
            <a:ext cx="507492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3547872"/>
            <a:ext cx="2194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E8A57"/>
                </a:solidFill>
                <a:latin typeface="Microsoft YaHei"/>
              </a:rPr>
              <a:t>Stage B 语义卡</a:t>
            </a:r>
          </a:p>
        </p:txBody>
      </p:sp>
      <p:sp>
        <p:nvSpPr>
          <p:cNvPr id="31" name="Rectangle 30"/>
          <p:cNvSpPr/>
          <p:nvPr/>
        </p:nvSpPr>
        <p:spPr>
          <a:xfrm>
            <a:off x="6492240" y="3776472"/>
            <a:ext cx="14173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从 Stage A 下传</a:t>
            </a:r>
          </a:p>
        </p:txBody>
      </p:sp>
      <p:sp>
        <p:nvSpPr>
          <p:cNvPr id="32" name="Rectangle 31"/>
          <p:cNvSpPr/>
          <p:nvPr/>
        </p:nvSpPr>
        <p:spPr>
          <a:xfrm>
            <a:off x="651052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primary_rationale</a:t>
            </a:r>
          </a:p>
        </p:txBody>
      </p:sp>
      <p:sp>
        <p:nvSpPr>
          <p:cNvPr id="33" name="Rectangle 32"/>
          <p:cNvSpPr/>
          <p:nvPr/>
        </p:nvSpPr>
        <p:spPr>
          <a:xfrm>
            <a:off x="861364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secondary_rationale</a:t>
            </a:r>
          </a:p>
        </p:txBody>
      </p:sp>
      <p:sp>
        <p:nvSpPr>
          <p:cNvPr id="34" name="Rectangle 33"/>
          <p:cNvSpPr/>
          <p:nvPr/>
        </p:nvSpPr>
        <p:spPr>
          <a:xfrm>
            <a:off x="651052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challenger_notes</a:t>
            </a:r>
          </a:p>
        </p:txBody>
      </p:sp>
      <p:sp>
        <p:nvSpPr>
          <p:cNvPr id="35" name="Rectangle 34"/>
          <p:cNvSpPr/>
          <p:nvPr/>
        </p:nvSpPr>
        <p:spPr>
          <a:xfrm>
            <a:off x="861364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uncertainty_summary</a:t>
            </a:r>
          </a:p>
        </p:txBody>
      </p:sp>
      <p:sp>
        <p:nvSpPr>
          <p:cNvPr id="36" name="Rectangle 35"/>
          <p:cNvSpPr/>
          <p:nvPr/>
        </p:nvSpPr>
        <p:spPr>
          <a:xfrm>
            <a:off x="651052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confusion_points</a:t>
            </a:r>
          </a:p>
        </p:txBody>
      </p:sp>
      <p:sp>
        <p:nvSpPr>
          <p:cNvPr id="37" name="Rectangle 36"/>
          <p:cNvSpPr/>
          <p:nvPr/>
        </p:nvSpPr>
        <p:spPr>
          <a:xfrm>
            <a:off x="861364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override_sensitivity</a:t>
            </a:r>
          </a:p>
        </p:txBody>
      </p:sp>
      <p:sp>
        <p:nvSpPr>
          <p:cNvPr id="38" name="Rectangle 37"/>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102033"/>
                </a:solidFill>
                <a:latin typeface="Microsoft YaHei"/>
              </a:rPr>
              <a:t>技术价值：模型输出不作为最终答案直出，而被转成可计算分数、升级理由和可审计证据包。</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实验验证：结构化判别是主台阶，协作复核提供边界修正</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统一 train/test 主协议下，测试集 PrimaryAcc@1 从 0.7876 提升到 0.8850；补充扩展配置达到 0.9292。</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7223760" cy="425196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pooled_test_waterfall.png"/>
          <p:cNvPicPr>
            <a:picLocks noChangeAspect="1"/>
          </p:cNvPicPr>
          <p:nvPr/>
        </p:nvPicPr>
        <p:blipFill>
          <a:blip r:embed="rId3"/>
          <a:stretch>
            <a:fillRect/>
          </a:stretch>
        </p:blipFill>
        <p:spPr>
          <a:xfrm>
            <a:off x="914400" y="1389888"/>
            <a:ext cx="6656832" cy="3611880"/>
          </a:xfrm>
          <a:prstGeom prst="rect">
            <a:avLst/>
          </a:prstGeom>
        </p:spPr>
      </p:pic>
      <p:sp>
        <p:nvSpPr>
          <p:cNvPr id="12" name="Rounded Rectangle 11"/>
          <p:cNvSpPr/>
          <p:nvPr/>
        </p:nvSpPr>
        <p:spPr>
          <a:xfrm>
            <a:off x="8183879" y="1188720"/>
            <a:ext cx="2834640" cy="89611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4192" y="1389888"/>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900" b="1">
                <a:solidFill>
                  <a:srgbClr val="0E8A57"/>
                </a:solidFill>
                <a:latin typeface="Arial"/>
              </a:rPr>
              <a:t>0.7876 → 0.8761</a:t>
            </a:r>
          </a:p>
        </p:txBody>
      </p:sp>
      <p:sp>
        <p:nvSpPr>
          <p:cNvPr id="14" name="Rectangle 13"/>
          <p:cNvSpPr/>
          <p:nvPr/>
        </p:nvSpPr>
        <p:spPr>
          <a:xfrm>
            <a:off x="8430768" y="1719072"/>
            <a:ext cx="2240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102033"/>
                </a:solidFill>
                <a:latin typeface="Microsoft YaHei"/>
              </a:rPr>
              <a:t>规则路由到结构化语义路由</a:t>
            </a:r>
          </a:p>
        </p:txBody>
      </p:sp>
      <p:sp>
        <p:nvSpPr>
          <p:cNvPr id="15" name="Rounded Rectangle 14"/>
          <p:cNvSpPr/>
          <p:nvPr/>
        </p:nvSpPr>
        <p:spPr>
          <a:xfrm>
            <a:off x="8183879" y="2331720"/>
            <a:ext cx="2834640" cy="89611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2514600"/>
            <a:ext cx="15544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300" b="1">
                <a:solidFill>
                  <a:srgbClr val="E97132"/>
                </a:solidFill>
                <a:latin typeface="Arial"/>
              </a:rPr>
              <a:t>0.8850</a:t>
            </a:r>
          </a:p>
        </p:txBody>
      </p:sp>
      <p:sp>
        <p:nvSpPr>
          <p:cNvPr id="17" name="Rectangle 16"/>
          <p:cNvSpPr/>
          <p:nvPr/>
        </p:nvSpPr>
        <p:spPr>
          <a:xfrm>
            <a:off x="8439912" y="2852928"/>
            <a:ext cx="2240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0">
                <a:solidFill>
                  <a:srgbClr val="53657A"/>
                </a:solidFill>
                <a:latin typeface="Microsoft YaHei"/>
              </a:rPr>
              <a:t>默认协作复核 / 零回归</a:t>
            </a:r>
          </a:p>
        </p:txBody>
      </p:sp>
      <p:sp>
        <p:nvSpPr>
          <p:cNvPr id="18" name="Rounded Rectangle 17"/>
          <p:cNvSpPr/>
          <p:nvPr/>
        </p:nvSpPr>
        <p:spPr>
          <a:xfrm>
            <a:off x="8183879" y="3474720"/>
            <a:ext cx="2834640" cy="896112"/>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3657600"/>
            <a:ext cx="15544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300" b="1">
                <a:solidFill>
                  <a:srgbClr val="B93232"/>
                </a:solidFill>
                <a:latin typeface="Arial"/>
              </a:rPr>
              <a:t>0.9292</a:t>
            </a:r>
          </a:p>
        </p:txBody>
      </p:sp>
      <p:sp>
        <p:nvSpPr>
          <p:cNvPr id="20" name="Rectangle 19"/>
          <p:cNvSpPr/>
          <p:nvPr/>
        </p:nvSpPr>
        <p:spPr>
          <a:xfrm>
            <a:off x="8339327" y="3995928"/>
            <a:ext cx="2468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0">
                <a:solidFill>
                  <a:srgbClr val="53657A"/>
                </a:solidFill>
                <a:latin typeface="Microsoft YaHei"/>
              </a:rPr>
              <a:t>扩展配置 / 5 次改写全部修正</a:t>
            </a:r>
          </a:p>
        </p:txBody>
      </p:sp>
      <p:sp>
        <p:nvSpPr>
          <p:cNvPr id="21" name="Rectangle 20"/>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技术解释：先用结构化候选级证据解决大部分判别问题，再让协作复核只处理低置信、高风险和多意图冲突样本。</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研究成果三：职责化协作复核与授权改判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成果汇编中的第三类研究成果：低置信、高风险、多意图和层级竞争样本进入多角色复核。</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40080" y="1078992"/>
            <a:ext cx="3246120" cy="40233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1353312"/>
            <a:ext cx="1508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角色不是摆设</a:t>
            </a:r>
          </a:p>
        </p:txBody>
      </p:sp>
      <p:sp>
        <p:nvSpPr>
          <p:cNvPr id="12" name="Rectangle 11"/>
          <p:cNvSpPr/>
          <p:nvPr/>
        </p:nvSpPr>
        <p:spPr>
          <a:xfrm>
            <a:off x="914400" y="1755648"/>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DomainExpert</a:t>
            </a:r>
          </a:p>
        </p:txBody>
      </p:sp>
      <p:sp>
        <p:nvSpPr>
          <p:cNvPr id="13" name="Rectangle 12"/>
          <p:cNvSpPr/>
          <p:nvPr/>
        </p:nvSpPr>
        <p:spPr>
          <a:xfrm>
            <a:off x="2176272" y="1755648"/>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core_task_match</a:t>
            </a:r>
          </a:p>
        </p:txBody>
      </p:sp>
      <p:sp>
        <p:nvSpPr>
          <p:cNvPr id="14" name="Rectangle 13"/>
          <p:cNvSpPr/>
          <p:nvPr/>
        </p:nvSpPr>
        <p:spPr>
          <a:xfrm>
            <a:off x="914400" y="2267712"/>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GovernanceRisk</a:t>
            </a:r>
          </a:p>
        </p:txBody>
      </p:sp>
      <p:sp>
        <p:nvSpPr>
          <p:cNvPr id="15" name="Rectangle 14"/>
          <p:cNvSpPr/>
          <p:nvPr/>
        </p:nvSpPr>
        <p:spPr>
          <a:xfrm>
            <a:off x="2176272" y="2267712"/>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risk_boundary_check</a:t>
            </a:r>
          </a:p>
        </p:txBody>
      </p:sp>
      <p:sp>
        <p:nvSpPr>
          <p:cNvPr id="16" name="Rectangle 15"/>
          <p:cNvSpPr/>
          <p:nvPr/>
        </p:nvSpPr>
        <p:spPr>
          <a:xfrm>
            <a:off x="914400" y="2779776"/>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HierarchyResolver</a:t>
            </a:r>
          </a:p>
        </p:txBody>
      </p:sp>
      <p:sp>
        <p:nvSpPr>
          <p:cNvPr id="17" name="Rectangle 16"/>
          <p:cNvSpPr/>
          <p:nvPr/>
        </p:nvSpPr>
        <p:spPr>
          <a:xfrm>
            <a:off x="2176272" y="2779776"/>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hierarchy_granularity</a:t>
            </a:r>
          </a:p>
        </p:txBody>
      </p:sp>
      <p:sp>
        <p:nvSpPr>
          <p:cNvPr id="18" name="Rectangle 17"/>
          <p:cNvSpPr/>
          <p:nvPr/>
        </p:nvSpPr>
        <p:spPr>
          <a:xfrm>
            <a:off x="914400" y="3291840"/>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UserPreference</a:t>
            </a:r>
          </a:p>
        </p:txBody>
      </p:sp>
      <p:sp>
        <p:nvSpPr>
          <p:cNvPr id="19" name="Rectangle 18"/>
          <p:cNvSpPr/>
          <p:nvPr/>
        </p:nvSpPr>
        <p:spPr>
          <a:xfrm>
            <a:off x="2176272" y="3291840"/>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primary_secondary_split</a:t>
            </a:r>
          </a:p>
        </p:txBody>
      </p:sp>
      <p:sp>
        <p:nvSpPr>
          <p:cNvPr id="20" name="Rectangle 19"/>
          <p:cNvSpPr/>
          <p:nvPr/>
        </p:nvSpPr>
        <p:spPr>
          <a:xfrm>
            <a:off x="914400" y="3986784"/>
            <a:ext cx="251460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224528"/>
            <a:ext cx="25146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D2E6FF"/>
                </a:solidFill>
                <a:latin typeface="Microsoft YaHei"/>
              </a:rPr>
              <a:t>每个角色只看与职责相关的 packet 视图，避免四个 agent 重复同一种判断。</a:t>
            </a:r>
          </a:p>
        </p:txBody>
      </p:sp>
      <p:sp>
        <p:nvSpPr>
          <p:cNvPr id="22" name="Rounded Rectangle 21"/>
          <p:cNvSpPr/>
          <p:nvPr/>
        </p:nvSpPr>
        <p:spPr>
          <a:xfrm>
            <a:off x="4251960" y="1078992"/>
            <a:ext cx="3154680" cy="40233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35424" y="1353312"/>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Microsoft YaHei"/>
              </a:rPr>
              <a:t>改判授权门槛</a:t>
            </a:r>
          </a:p>
        </p:txBody>
      </p:sp>
      <p:sp>
        <p:nvSpPr>
          <p:cNvPr id="24" name="Oval 23"/>
          <p:cNvSpPr/>
          <p:nvPr/>
        </p:nvSpPr>
        <p:spPr>
          <a:xfrm>
            <a:off x="4553712" y="183794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18304" y="1783080"/>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override_vote_count &gt;= 3</a:t>
            </a:r>
          </a:p>
        </p:txBody>
      </p:sp>
      <p:sp>
        <p:nvSpPr>
          <p:cNvPr id="26" name="Oval 25"/>
          <p:cNvSpPr/>
          <p:nvPr/>
        </p:nvSpPr>
        <p:spPr>
          <a:xfrm>
            <a:off x="4553712" y="223113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18304" y="2176272"/>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consensus_score &gt;= stage_a + 0.08</a:t>
            </a:r>
          </a:p>
        </p:txBody>
      </p:sp>
      <p:sp>
        <p:nvSpPr>
          <p:cNvPr id="28" name="Oval 27"/>
          <p:cNvSpPr/>
          <p:nvPr/>
        </p:nvSpPr>
        <p:spPr>
          <a:xfrm>
            <a:off x="4553712" y="2624328"/>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8304" y="2569464"/>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explicit_support &gt;= 0.55</a:t>
            </a:r>
          </a:p>
        </p:txBody>
      </p:sp>
      <p:sp>
        <p:nvSpPr>
          <p:cNvPr id="30" name="Oval 29"/>
          <p:cNvSpPr/>
          <p:nvPr/>
        </p:nvSpPr>
        <p:spPr>
          <a:xfrm>
            <a:off x="4553712" y="3017520"/>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18304" y="2962656"/>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sensitive case 需要 round2 共识</a:t>
            </a:r>
          </a:p>
        </p:txBody>
      </p:sp>
      <p:sp>
        <p:nvSpPr>
          <p:cNvPr id="32" name="Oval 31"/>
          <p:cNvSpPr/>
          <p:nvPr/>
        </p:nvSpPr>
        <p:spPr>
          <a:xfrm>
            <a:off x="4553712" y="3410712"/>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18304" y="3355848"/>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cross_l1 需额外 score gain</a:t>
            </a:r>
          </a:p>
        </p:txBody>
      </p:sp>
      <p:sp>
        <p:nvSpPr>
          <p:cNvPr id="34" name="Rectangle 33"/>
          <p:cNvSpPr/>
          <p:nvPr/>
        </p:nvSpPr>
        <p:spPr>
          <a:xfrm>
            <a:off x="4553712" y="4224528"/>
            <a:ext cx="233172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Microsoft YaHei"/>
              </a:rPr>
              <a:t>未满足门槛：保留 Stage A 原判，并写入 override_block_reasons。</a:t>
            </a:r>
          </a:p>
        </p:txBody>
      </p:sp>
      <p:sp>
        <p:nvSpPr>
          <p:cNvPr id="35" name="Rounded Rectangle 34"/>
          <p:cNvSpPr/>
          <p:nvPr/>
        </p:nvSpPr>
        <p:spPr>
          <a:xfrm>
            <a:off x="7818120" y="1078992"/>
            <a:ext cx="3337560" cy="40233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3" y="1353312"/>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Microsoft YaHei"/>
              </a:rPr>
              <a:t>共识得分与 trace</a:t>
            </a:r>
          </a:p>
        </p:txBody>
      </p:sp>
      <p:sp>
        <p:nvSpPr>
          <p:cNvPr id="37" name="Rectangle 36"/>
          <p:cNvSpPr/>
          <p:nvPr/>
        </p:nvSpPr>
        <p:spPr>
          <a:xfrm>
            <a:off x="8119872" y="1737360"/>
            <a:ext cx="2468880" cy="8412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Menlo"/>
              </a:rPr>
              <a:t>s_rev^(1) =
  0.40*v(c)
+ 0.25*rho(c)
+ 0.15*s_sem
+ 0.10*e(c)
+ 0.10*r(c) + sigma</a:t>
            </a:r>
          </a:p>
        </p:txBody>
      </p:sp>
      <p:sp>
        <p:nvSpPr>
          <p:cNvPr id="38" name="Rectangle 37"/>
          <p:cNvSpPr/>
          <p:nvPr/>
        </p:nvSpPr>
        <p:spPr>
          <a:xfrm>
            <a:off x="8138160" y="276148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stage_a_selected_primary</a:t>
            </a:r>
          </a:p>
        </p:txBody>
      </p:sp>
      <p:sp>
        <p:nvSpPr>
          <p:cNvPr id="39" name="Rectangle 38"/>
          <p:cNvSpPr/>
          <p:nvPr/>
        </p:nvSpPr>
        <p:spPr>
          <a:xfrm>
            <a:off x="8138160" y="3017520"/>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escalation_reasons</a:t>
            </a:r>
          </a:p>
        </p:txBody>
      </p:sp>
      <p:sp>
        <p:nvSpPr>
          <p:cNvPr id="40" name="Rectangle 39"/>
          <p:cNvSpPr/>
          <p:nvPr/>
        </p:nvSpPr>
        <p:spPr>
          <a:xfrm>
            <a:off x="8138160" y="3273552"/>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agent_votes</a:t>
            </a:r>
          </a:p>
        </p:txBody>
      </p:sp>
      <p:sp>
        <p:nvSpPr>
          <p:cNvPr id="41" name="Rectangle 40"/>
          <p:cNvSpPr/>
          <p:nvPr/>
        </p:nvSpPr>
        <p:spPr>
          <a:xfrm>
            <a:off x="8138160" y="3529584"/>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override_allowed</a:t>
            </a:r>
          </a:p>
        </p:txBody>
      </p:sp>
      <p:sp>
        <p:nvSpPr>
          <p:cNvPr id="42" name="Rectangle 41"/>
          <p:cNvSpPr/>
          <p:nvPr/>
        </p:nvSpPr>
        <p:spPr>
          <a:xfrm>
            <a:off x="8138160" y="3785616"/>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override_basis_histogram</a:t>
            </a:r>
          </a:p>
        </p:txBody>
      </p:sp>
      <p:sp>
        <p:nvSpPr>
          <p:cNvPr id="43" name="Rectangle 42"/>
          <p:cNvSpPr/>
          <p:nvPr/>
        </p:nvSpPr>
        <p:spPr>
          <a:xfrm>
            <a:off x="8138160" y="404164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final_primary_fqdn</a:t>
            </a:r>
          </a:p>
        </p:txBody>
      </p:sp>
      <p:sp>
        <p:nvSpPr>
          <p:cNvPr id="44" name="Rectangle 4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技术价值：慢路径不是“再问一遍模型”，而是带门禁的候选内复核器。</a:t>
            </a:r>
          </a:p>
        </p:txBody>
      </p:sp>
      <p:sp>
        <p:nvSpPr>
          <p:cNvPr id="45" name="Rectangle 4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7" name="Rectangle 4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配对消融：收益不是“多问几个智能体”，而是职责分工与授权控制</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成果汇编将配对消融作为多智能体协作增益的核心证据：训练侧 13/13/0，测试侧 5/5/0。</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70432"/>
            <a:ext cx="6172200" cy="41605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44752"/>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配对消融准确率</a:t>
            </a:r>
          </a:p>
        </p:txBody>
      </p:sp>
      <p:sp>
        <p:nvSpPr>
          <p:cNvPr id="12" name="Rectangle 11"/>
          <p:cNvSpPr/>
          <p:nvPr/>
        </p:nvSpPr>
        <p:spPr>
          <a:xfrm>
            <a:off x="1234440" y="3757041"/>
            <a:ext cx="310896" cy="1107567"/>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8136" y="3555873"/>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0B63CE"/>
                </a:solidFill>
                <a:latin typeface="Arial"/>
              </a:rPr>
              <a:t>0.8875</a:t>
            </a:r>
          </a:p>
        </p:txBody>
      </p:sp>
      <p:sp>
        <p:nvSpPr>
          <p:cNvPr id="14" name="Rectangle 13"/>
          <p:cNvSpPr/>
          <p:nvPr/>
        </p:nvSpPr>
        <p:spPr>
          <a:xfrm>
            <a:off x="1197864"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train</a:t>
            </a:r>
          </a:p>
        </p:txBody>
      </p:sp>
      <p:sp>
        <p:nvSpPr>
          <p:cNvPr id="15" name="Rectangle 14"/>
          <p:cNvSpPr/>
          <p:nvPr/>
        </p:nvSpPr>
        <p:spPr>
          <a:xfrm>
            <a:off x="1655064" y="4339970"/>
            <a:ext cx="310896" cy="524637"/>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08760" y="4138802"/>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E97132"/>
                </a:solidFill>
                <a:latin typeface="Arial"/>
              </a:rPr>
              <a:t>0.8625</a:t>
            </a:r>
          </a:p>
        </p:txBody>
      </p:sp>
      <p:sp>
        <p:nvSpPr>
          <p:cNvPr id="17" name="Rectangle 16"/>
          <p:cNvSpPr/>
          <p:nvPr/>
        </p:nvSpPr>
        <p:spPr>
          <a:xfrm>
            <a:off x="1618488"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test</a:t>
            </a:r>
          </a:p>
        </p:txBody>
      </p:sp>
      <p:sp>
        <p:nvSpPr>
          <p:cNvPr id="18" name="Rectangle 17"/>
          <p:cNvSpPr/>
          <p:nvPr/>
        </p:nvSpPr>
        <p:spPr>
          <a:xfrm>
            <a:off x="1033272" y="5102352"/>
            <a:ext cx="117043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单角色复核</a:t>
            </a:r>
          </a:p>
        </p:txBody>
      </p:sp>
      <p:sp>
        <p:nvSpPr>
          <p:cNvPr id="19" name="Rectangle 18"/>
          <p:cNvSpPr/>
          <p:nvPr/>
        </p:nvSpPr>
        <p:spPr>
          <a:xfrm>
            <a:off x="2834640" y="3829324"/>
            <a:ext cx="310896" cy="1035283"/>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88336" y="3628156"/>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0B63CE"/>
                </a:solidFill>
                <a:latin typeface="Arial"/>
              </a:rPr>
              <a:t>0.8844</a:t>
            </a:r>
          </a:p>
        </p:txBody>
      </p:sp>
      <p:sp>
        <p:nvSpPr>
          <p:cNvPr id="21" name="Rectangle 20"/>
          <p:cNvSpPr/>
          <p:nvPr/>
        </p:nvSpPr>
        <p:spPr>
          <a:xfrm>
            <a:off x="2798064"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train</a:t>
            </a:r>
          </a:p>
        </p:txBody>
      </p:sp>
      <p:sp>
        <p:nvSpPr>
          <p:cNvPr id="22" name="Rectangle 21"/>
          <p:cNvSpPr/>
          <p:nvPr/>
        </p:nvSpPr>
        <p:spPr>
          <a:xfrm>
            <a:off x="3255264" y="4339970"/>
            <a:ext cx="310896" cy="524637"/>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0" y="4138802"/>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E97132"/>
                </a:solidFill>
                <a:latin typeface="Arial"/>
              </a:rPr>
              <a:t>0.8625</a:t>
            </a:r>
          </a:p>
        </p:txBody>
      </p:sp>
      <p:sp>
        <p:nvSpPr>
          <p:cNvPr id="24" name="Rectangle 23"/>
          <p:cNvSpPr/>
          <p:nvPr/>
        </p:nvSpPr>
        <p:spPr>
          <a:xfrm>
            <a:off x="3218688"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test</a:t>
            </a:r>
          </a:p>
        </p:txBody>
      </p:sp>
      <p:sp>
        <p:nvSpPr>
          <p:cNvPr id="25" name="Rectangle 24"/>
          <p:cNvSpPr/>
          <p:nvPr/>
        </p:nvSpPr>
        <p:spPr>
          <a:xfrm>
            <a:off x="2633472" y="5102352"/>
            <a:ext cx="117043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同质复核</a:t>
            </a:r>
          </a:p>
        </p:txBody>
      </p:sp>
      <p:sp>
        <p:nvSpPr>
          <p:cNvPr id="26" name="Rectangle 25"/>
          <p:cNvSpPr/>
          <p:nvPr/>
        </p:nvSpPr>
        <p:spPr>
          <a:xfrm>
            <a:off x="4434840" y="3029544"/>
            <a:ext cx="310896" cy="1835063"/>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88536" y="2828376"/>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0B63CE"/>
                </a:solidFill>
                <a:latin typeface="Arial"/>
              </a:rPr>
              <a:t>0.9187</a:t>
            </a:r>
          </a:p>
        </p:txBody>
      </p:sp>
      <p:sp>
        <p:nvSpPr>
          <p:cNvPr id="28" name="Rectangle 27"/>
          <p:cNvSpPr/>
          <p:nvPr/>
        </p:nvSpPr>
        <p:spPr>
          <a:xfrm>
            <a:off x="4398264"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train</a:t>
            </a:r>
          </a:p>
        </p:txBody>
      </p:sp>
      <p:sp>
        <p:nvSpPr>
          <p:cNvPr id="29" name="Rectangle 28"/>
          <p:cNvSpPr/>
          <p:nvPr/>
        </p:nvSpPr>
        <p:spPr>
          <a:xfrm>
            <a:off x="4855464" y="2882645"/>
            <a:ext cx="310896" cy="1981962"/>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9159" y="2681477"/>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E97132"/>
                </a:solidFill>
                <a:latin typeface="Arial"/>
              </a:rPr>
              <a:t>0.9250</a:t>
            </a:r>
          </a:p>
        </p:txBody>
      </p:sp>
      <p:sp>
        <p:nvSpPr>
          <p:cNvPr id="31" name="Rectangle 30"/>
          <p:cNvSpPr/>
          <p:nvPr/>
        </p:nvSpPr>
        <p:spPr>
          <a:xfrm>
            <a:off x="4818888"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test</a:t>
            </a:r>
          </a:p>
        </p:txBody>
      </p:sp>
      <p:sp>
        <p:nvSpPr>
          <p:cNvPr id="32" name="Rectangle 31"/>
          <p:cNvSpPr/>
          <p:nvPr/>
        </p:nvSpPr>
        <p:spPr>
          <a:xfrm>
            <a:off x="4233672" y="5102352"/>
            <a:ext cx="117043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职责化协作</a:t>
            </a:r>
          </a:p>
        </p:txBody>
      </p:sp>
      <p:sp>
        <p:nvSpPr>
          <p:cNvPr id="33" name="Rounded Rectangle 32"/>
          <p:cNvSpPr/>
          <p:nvPr/>
        </p:nvSpPr>
        <p:spPr>
          <a:xfrm>
            <a:off x="7178040" y="1298448"/>
            <a:ext cx="3520440" cy="96012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52360" y="1517904"/>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300" b="1">
                <a:solidFill>
                  <a:srgbClr val="B93232"/>
                </a:solidFill>
                <a:latin typeface="Arial"/>
              </a:rPr>
              <a:t>13/13/0</a:t>
            </a:r>
          </a:p>
        </p:txBody>
      </p:sp>
      <p:sp>
        <p:nvSpPr>
          <p:cNvPr id="35" name="Rectangle 34"/>
          <p:cNvSpPr/>
          <p:nvPr/>
        </p:nvSpPr>
        <p:spPr>
          <a:xfrm>
            <a:off x="8887968" y="1572768"/>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Microsoft YaHei"/>
              </a:rPr>
              <a:t>训练侧职责化协作改判/纠错/误改</a:t>
            </a:r>
          </a:p>
        </p:txBody>
      </p:sp>
      <p:sp>
        <p:nvSpPr>
          <p:cNvPr id="36" name="Rounded Rectangle 35"/>
          <p:cNvSpPr/>
          <p:nvPr/>
        </p:nvSpPr>
        <p:spPr>
          <a:xfrm>
            <a:off x="7178040" y="2487168"/>
            <a:ext cx="3520440" cy="8046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43800" y="2670048"/>
            <a:ext cx="2377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800" b="1">
                <a:solidFill>
                  <a:srgbClr val="B93232"/>
                </a:solidFill>
                <a:latin typeface="Arial"/>
              </a:rPr>
              <a:t>0.8625 → 0.9250</a:t>
            </a:r>
          </a:p>
        </p:txBody>
      </p:sp>
      <p:sp>
        <p:nvSpPr>
          <p:cNvPr id="38" name="Rectangle 37"/>
          <p:cNvSpPr/>
          <p:nvPr/>
        </p:nvSpPr>
        <p:spPr>
          <a:xfrm>
            <a:off x="7699248" y="2980944"/>
            <a:ext cx="2103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0">
                <a:solidFill>
                  <a:srgbClr val="53657A"/>
                </a:solidFill>
                <a:latin typeface="Microsoft YaHei"/>
              </a:rPr>
              <a:t>测试侧职责化协作提升 +0.0625</a:t>
            </a:r>
          </a:p>
        </p:txBody>
      </p:sp>
      <p:sp>
        <p:nvSpPr>
          <p:cNvPr id="39" name="Rounded Rectangle 38"/>
          <p:cNvSpPr/>
          <p:nvPr/>
        </p:nvSpPr>
        <p:spPr>
          <a:xfrm>
            <a:off x="7178040" y="3611880"/>
            <a:ext cx="3520440" cy="1508760"/>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52360" y="3886200"/>
            <a:ext cx="8229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硬结论</a:t>
            </a:r>
          </a:p>
        </p:txBody>
      </p:sp>
      <p:sp>
        <p:nvSpPr>
          <p:cNvPr id="41" name="Oval 40"/>
          <p:cNvSpPr/>
          <p:nvPr/>
        </p:nvSpPr>
        <p:spPr>
          <a:xfrm>
            <a:off x="7479792" y="4279392"/>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44383" y="4224528"/>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00" b="0">
                <a:solidFill>
                  <a:srgbClr val="102033"/>
                </a:solidFill>
                <a:latin typeface="Microsoft YaHei"/>
              </a:rPr>
              <a:t>配对样本要求三类复核记录完整，口径更严谨</a:t>
            </a:r>
          </a:p>
        </p:txBody>
      </p:sp>
      <p:sp>
        <p:nvSpPr>
          <p:cNvPr id="43" name="Oval 42"/>
          <p:cNvSpPr/>
          <p:nvPr/>
        </p:nvSpPr>
        <p:spPr>
          <a:xfrm>
            <a:off x="7479792" y="457200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44383" y="4517136"/>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00" b="0">
                <a:solidFill>
                  <a:srgbClr val="102033"/>
                </a:solidFill>
                <a:latin typeface="Microsoft YaHei"/>
              </a:rPr>
              <a:t>单角色/同质复核测试侧没有超过基线</a:t>
            </a:r>
          </a:p>
        </p:txBody>
      </p:sp>
      <p:sp>
        <p:nvSpPr>
          <p:cNvPr id="45" name="Oval 44"/>
          <p:cNvSpPr/>
          <p:nvPr/>
        </p:nvSpPr>
        <p:spPr>
          <a:xfrm>
            <a:off x="7479792" y="48646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644383" y="4809744"/>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00" b="0">
                <a:solidFill>
                  <a:srgbClr val="102033"/>
                </a:solidFill>
                <a:latin typeface="Microsoft YaHei"/>
              </a:rPr>
              <a:t>职责化分工 + 结构化证据 + 授权门槛共同形成收益</a:t>
            </a:r>
          </a:p>
        </p:txBody>
      </p:sp>
      <p:sp>
        <p:nvSpPr>
          <p:cNvPr id="47" name="Rectangle 4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9" name="Rectangle 4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典型案例：样本语义揭示具体冲突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成果汇编中的典型案例负责把实验指标落到“能处理什么复杂语义问题”。</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932688" y="1115568"/>
            <a:ext cx="12984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53657A"/>
                </a:solidFill>
                <a:latin typeface="Microsoft YaHei"/>
              </a:rPr>
              <a:t>样本表达（整理）</a:t>
            </a:r>
          </a:p>
        </p:txBody>
      </p:sp>
      <p:sp>
        <p:nvSpPr>
          <p:cNvPr id="11" name="Rectangle 10"/>
          <p:cNvSpPr/>
          <p:nvPr/>
        </p:nvSpPr>
        <p:spPr>
          <a:xfrm>
            <a:off x="5193792" y="1115568"/>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40" b="1">
                <a:solidFill>
                  <a:srgbClr val="53657A"/>
                </a:solidFill>
                <a:latin typeface="Microsoft YaHei"/>
              </a:rPr>
              <a:t>误判路径</a:t>
            </a:r>
          </a:p>
        </p:txBody>
      </p:sp>
      <p:sp>
        <p:nvSpPr>
          <p:cNvPr id="12" name="Rectangle 11"/>
          <p:cNvSpPr/>
          <p:nvPr/>
        </p:nvSpPr>
        <p:spPr>
          <a:xfrm>
            <a:off x="7818120" y="1115568"/>
            <a:ext cx="12984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40" b="1">
                <a:solidFill>
                  <a:srgbClr val="53657A"/>
                </a:solidFill>
                <a:latin typeface="Microsoft YaHei"/>
              </a:rPr>
              <a:t>复核抓住的主任务</a:t>
            </a:r>
          </a:p>
        </p:txBody>
      </p:sp>
      <p:sp>
        <p:nvSpPr>
          <p:cNvPr id="13" name="Rounded Rectangle 12"/>
          <p:cNvSpPr/>
          <p:nvPr/>
        </p:nvSpPr>
        <p:spPr>
          <a:xfrm>
            <a:off x="658368" y="1371600"/>
            <a:ext cx="10771632" cy="1042415"/>
          </a:xfrm>
          <a:prstGeom prst="round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1371600"/>
            <a:ext cx="109728" cy="1042415"/>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1517904"/>
            <a:ext cx="24871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B63CE"/>
                </a:solidFill>
                <a:latin typeface="Microsoft YaHei"/>
              </a:rPr>
              <a:t>holdout3_000038 / 跨域竞争</a:t>
            </a:r>
          </a:p>
        </p:txBody>
      </p:sp>
      <p:sp>
        <p:nvSpPr>
          <p:cNvPr id="16" name="Rectangle 15"/>
          <p:cNvSpPr/>
          <p:nvPr/>
        </p:nvSpPr>
        <p:spPr>
          <a:xfrm>
            <a:off x="914400" y="1755648"/>
            <a:ext cx="38862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1">
                <a:solidFill>
                  <a:srgbClr val="102033"/>
                </a:solidFill>
                <a:latin typeface="Microsoft YaHei"/>
              </a:rPr>
              <a:t>请把驻场培训周内容压缩成一页领导评审材料，先搭材料骨架、梳理整体结构。</a:t>
            </a:r>
          </a:p>
        </p:txBody>
      </p:sp>
      <p:sp>
        <p:nvSpPr>
          <p:cNvPr id="17" name="Rectangle 16"/>
          <p:cNvSpPr/>
          <p:nvPr/>
        </p:nvSpPr>
        <p:spPr>
          <a:xfrm>
            <a:off x="5184648" y="1554480"/>
            <a:ext cx="786384"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单智能体</a:t>
            </a:r>
          </a:p>
        </p:txBody>
      </p:sp>
      <p:sp>
        <p:nvSpPr>
          <p:cNvPr id="18" name="Rectangle 17"/>
          <p:cNvSpPr/>
          <p:nvPr/>
        </p:nvSpPr>
        <p:spPr>
          <a:xfrm>
            <a:off x="4818888" y="1810512"/>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B93232"/>
                </a:solidFill>
                <a:latin typeface="Arial"/>
              </a:rPr>
              <a:t>course.education.cn</a:t>
            </a:r>
          </a:p>
        </p:txBody>
      </p:sp>
      <p:sp>
        <p:nvSpPr>
          <p:cNvPr id="19" name="Rectangle 18"/>
          <p:cNvSpPr/>
          <p:nvPr/>
        </p:nvSpPr>
        <p:spPr>
          <a:xfrm>
            <a:off x="6400800" y="1783080"/>
            <a:ext cx="237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50" b="1">
                <a:solidFill>
                  <a:srgbClr val="53657A"/>
                </a:solidFill>
                <a:latin typeface="Arial"/>
              </a:rPr>
              <a:t>→</a:t>
            </a:r>
          </a:p>
        </p:txBody>
      </p:sp>
      <p:sp>
        <p:nvSpPr>
          <p:cNvPr id="20" name="Rectangle 19"/>
          <p:cNvSpPr/>
          <p:nvPr/>
        </p:nvSpPr>
        <p:spPr>
          <a:xfrm>
            <a:off x="6784848" y="1554480"/>
            <a:ext cx="12984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expanded 放行后修正</a:t>
            </a:r>
          </a:p>
        </p:txBody>
      </p:sp>
      <p:sp>
        <p:nvSpPr>
          <p:cNvPr id="21" name="Rectangle 20"/>
          <p:cNvSpPr/>
          <p:nvPr/>
        </p:nvSpPr>
        <p:spPr>
          <a:xfrm>
            <a:off x="6565392" y="1810512"/>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0E8A57"/>
                </a:solidFill>
                <a:latin typeface="Arial"/>
              </a:rPr>
              <a:t>docs.productivity.cn</a:t>
            </a:r>
          </a:p>
        </p:txBody>
      </p:sp>
      <p:sp>
        <p:nvSpPr>
          <p:cNvPr id="22" name="Rectangle 21"/>
          <p:cNvSpPr/>
          <p:nvPr/>
        </p:nvSpPr>
        <p:spPr>
          <a:xfrm>
            <a:off x="8631936" y="1609344"/>
            <a:ext cx="2743200" cy="4206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表面词“培训”牵引到课程域；主动作是搭骨架、压材料、梳结构，应落文档处理。</a:t>
            </a:r>
          </a:p>
        </p:txBody>
      </p:sp>
      <p:sp>
        <p:nvSpPr>
          <p:cNvPr id="23" name="Rounded Rectangle 22"/>
          <p:cNvSpPr/>
          <p:nvPr/>
        </p:nvSpPr>
        <p:spPr>
          <a:xfrm>
            <a:off x="658368" y="2596896"/>
            <a:ext cx="10771632" cy="1042415"/>
          </a:xfrm>
          <a:prstGeom prst="round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2596896"/>
            <a:ext cx="109728" cy="1042415"/>
          </a:xfrm>
          <a:prstGeom prst="rect">
            <a:avLst/>
          </a:prstGeom>
          <a:solidFill>
            <a:srgbClr val="0E8A57"/>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 y="2743200"/>
            <a:ext cx="24871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E8A57"/>
                </a:solidFill>
                <a:latin typeface="Microsoft YaHei"/>
              </a:rPr>
              <a:t>holdout3_000173 / 主次意图拆分</a:t>
            </a:r>
          </a:p>
        </p:txBody>
      </p:sp>
      <p:sp>
        <p:nvSpPr>
          <p:cNvPr id="26" name="Rectangle 25"/>
          <p:cNvSpPr/>
          <p:nvPr/>
        </p:nvSpPr>
        <p:spPr>
          <a:xfrm>
            <a:off x="914400" y="2980944"/>
            <a:ext cx="38862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1">
                <a:solidFill>
                  <a:srgbClr val="102033"/>
                </a:solidFill>
                <a:latin typeface="Microsoft YaHei"/>
              </a:rPr>
              <a:t>到西安后还要二次换乘，先看哪种接驳最省事；航班和活动顺手再核对。</a:t>
            </a:r>
          </a:p>
        </p:txBody>
      </p:sp>
      <p:sp>
        <p:nvSpPr>
          <p:cNvPr id="27" name="Rectangle 26"/>
          <p:cNvSpPr/>
          <p:nvPr/>
        </p:nvSpPr>
        <p:spPr>
          <a:xfrm>
            <a:off x="5184648" y="2779776"/>
            <a:ext cx="786384"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单智能体</a:t>
            </a:r>
          </a:p>
        </p:txBody>
      </p:sp>
      <p:sp>
        <p:nvSpPr>
          <p:cNvPr id="28" name="Rectangle 27"/>
          <p:cNvSpPr/>
          <p:nvPr/>
        </p:nvSpPr>
        <p:spPr>
          <a:xfrm>
            <a:off x="4818888" y="3035808"/>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B93232"/>
                </a:solidFill>
                <a:latin typeface="Arial"/>
              </a:rPr>
              <a:t>flight.travel.cn</a:t>
            </a:r>
          </a:p>
        </p:txBody>
      </p:sp>
      <p:sp>
        <p:nvSpPr>
          <p:cNvPr id="29" name="Rectangle 28"/>
          <p:cNvSpPr/>
          <p:nvPr/>
        </p:nvSpPr>
        <p:spPr>
          <a:xfrm>
            <a:off x="6400800" y="3008376"/>
            <a:ext cx="237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50" b="1">
                <a:solidFill>
                  <a:srgbClr val="53657A"/>
                </a:solidFill>
                <a:latin typeface="Arial"/>
              </a:rPr>
              <a:t>→</a:t>
            </a:r>
          </a:p>
        </p:txBody>
      </p:sp>
      <p:sp>
        <p:nvSpPr>
          <p:cNvPr id="30" name="Rectangle 29"/>
          <p:cNvSpPr/>
          <p:nvPr/>
        </p:nvSpPr>
        <p:spPr>
          <a:xfrm>
            <a:off x="6784848" y="2779776"/>
            <a:ext cx="12984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single_v2 / expanded 修正</a:t>
            </a:r>
          </a:p>
        </p:txBody>
      </p:sp>
      <p:sp>
        <p:nvSpPr>
          <p:cNvPr id="31" name="Rectangle 30"/>
          <p:cNvSpPr/>
          <p:nvPr/>
        </p:nvSpPr>
        <p:spPr>
          <a:xfrm>
            <a:off x="6565392" y="3035808"/>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0E8A57"/>
                </a:solidFill>
                <a:latin typeface="Arial"/>
              </a:rPr>
              <a:t>transport.travel.cn</a:t>
            </a:r>
          </a:p>
        </p:txBody>
      </p:sp>
      <p:sp>
        <p:nvSpPr>
          <p:cNvPr id="32" name="Rectangle 31"/>
          <p:cNvSpPr/>
          <p:nvPr/>
        </p:nvSpPr>
        <p:spPr>
          <a:xfrm>
            <a:off x="8631936" y="2834639"/>
            <a:ext cx="2743200" cy="4206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航班、活动是并列背景；主任务由“接驳最省事”“二次换乘”限定为交通接驳。</a:t>
            </a:r>
          </a:p>
        </p:txBody>
      </p:sp>
      <p:sp>
        <p:nvSpPr>
          <p:cNvPr id="33" name="Rounded Rectangle 32"/>
          <p:cNvSpPr/>
          <p:nvPr/>
        </p:nvSpPr>
        <p:spPr>
          <a:xfrm>
            <a:off x="658368" y="3822191"/>
            <a:ext cx="10771632" cy="1042415"/>
          </a:xfrm>
          <a:prstGeom prst="round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8368" y="3822191"/>
            <a:ext cx="109728" cy="1042415"/>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 y="3968496"/>
            <a:ext cx="24871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E97132"/>
                </a:solidFill>
                <a:latin typeface="Microsoft YaHei"/>
              </a:rPr>
              <a:t>holdout3_000303 / 跨域重叠</a:t>
            </a:r>
          </a:p>
        </p:txBody>
      </p:sp>
      <p:sp>
        <p:nvSpPr>
          <p:cNvPr id="36" name="Rectangle 35"/>
          <p:cNvSpPr/>
          <p:nvPr/>
        </p:nvSpPr>
        <p:spPr>
          <a:xfrm>
            <a:off x="914400" y="4206240"/>
            <a:ext cx="38862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1">
                <a:solidFill>
                  <a:srgbClr val="102033"/>
                </a:solidFill>
                <a:latin typeface="Microsoft YaHei"/>
              </a:rPr>
              <a:t>杭州临时多出一个晚上，帮我挑一个不折腾的活动；住处是否需要调整也顺手看一下。</a:t>
            </a:r>
          </a:p>
        </p:txBody>
      </p:sp>
      <p:sp>
        <p:nvSpPr>
          <p:cNvPr id="37" name="Rectangle 36"/>
          <p:cNvSpPr/>
          <p:nvPr/>
        </p:nvSpPr>
        <p:spPr>
          <a:xfrm>
            <a:off x="5184648" y="4005072"/>
            <a:ext cx="786384"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单智能体</a:t>
            </a:r>
          </a:p>
        </p:txBody>
      </p:sp>
      <p:sp>
        <p:nvSpPr>
          <p:cNvPr id="38" name="Rectangle 37"/>
          <p:cNvSpPr/>
          <p:nvPr/>
        </p:nvSpPr>
        <p:spPr>
          <a:xfrm>
            <a:off x="4818888" y="4261104"/>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B93232"/>
                </a:solidFill>
                <a:latin typeface="Arial"/>
              </a:rPr>
              <a:t>hotel.travel.cn</a:t>
            </a:r>
          </a:p>
        </p:txBody>
      </p:sp>
      <p:sp>
        <p:nvSpPr>
          <p:cNvPr id="39" name="Rectangle 38"/>
          <p:cNvSpPr/>
          <p:nvPr/>
        </p:nvSpPr>
        <p:spPr>
          <a:xfrm>
            <a:off x="6400800" y="4233672"/>
            <a:ext cx="237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50" b="1">
                <a:solidFill>
                  <a:srgbClr val="53657A"/>
                </a:solidFill>
                <a:latin typeface="Arial"/>
              </a:rPr>
              <a:t>→</a:t>
            </a:r>
          </a:p>
        </p:txBody>
      </p:sp>
      <p:sp>
        <p:nvSpPr>
          <p:cNvPr id="40" name="Rectangle 39"/>
          <p:cNvSpPr/>
          <p:nvPr/>
        </p:nvSpPr>
        <p:spPr>
          <a:xfrm>
            <a:off x="6784848" y="4005072"/>
            <a:ext cx="12984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职责化复核稳定修正</a:t>
            </a:r>
          </a:p>
        </p:txBody>
      </p:sp>
      <p:sp>
        <p:nvSpPr>
          <p:cNvPr id="41" name="Rectangle 40"/>
          <p:cNvSpPr/>
          <p:nvPr/>
        </p:nvSpPr>
        <p:spPr>
          <a:xfrm>
            <a:off x="6565392" y="426110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0E8A57"/>
                </a:solidFill>
                <a:latin typeface="Arial"/>
              </a:rPr>
              <a:t>activity.travel.cn</a:t>
            </a:r>
          </a:p>
        </p:txBody>
      </p:sp>
      <p:sp>
        <p:nvSpPr>
          <p:cNvPr id="42" name="Rectangle 41"/>
          <p:cNvSpPr/>
          <p:nvPr/>
        </p:nvSpPr>
        <p:spPr>
          <a:xfrm>
            <a:off x="8631936" y="4059935"/>
            <a:ext cx="2743200" cy="4206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住处调整只是附带检查；主动作是挑活动，复核后把住宿从主标签降为干扰项。</a:t>
            </a:r>
          </a:p>
        </p:txBody>
      </p:sp>
      <p:sp>
        <p:nvSpPr>
          <p:cNvPr id="43" name="Rounded Rectangle 42"/>
          <p:cNvSpPr/>
          <p:nvPr/>
        </p:nvSpPr>
        <p:spPr>
          <a:xfrm>
            <a:off x="749808" y="5230368"/>
            <a:ext cx="10040112" cy="53035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87552" y="5376672"/>
            <a:ext cx="9006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案例价值：不是把样本堆满，而是用“样本语义 + trace 改判路径”证明系统能处理跨域竞争、主次拆分和重叠意图。</a:t>
            </a:r>
          </a:p>
        </p:txBody>
      </p:sp>
      <p:sp>
        <p:nvSpPr>
          <p:cNvPr id="45" name="Rectangle 44"/>
          <p:cNvSpPr/>
          <p:nvPr/>
        </p:nvSpPr>
        <p:spPr>
          <a:xfrm>
            <a:off x="1005840" y="5596128"/>
            <a:ext cx="65836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注：页面话术为答辩可读化整理，原始样本与完整 trace 已在实验记录中留存。</a:t>
            </a:r>
          </a:p>
        </p:txBody>
      </p:sp>
      <p:sp>
        <p:nvSpPr>
          <p:cNvPr id="46" name="Rectangle 4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8" name="Rectangle 4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协作复核可视化：多角色讨论把改判变成可审计过程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以 holdout3_000303 为例：Stage A 将主任务误判为住宿，Stage B 通过角色投票、证据归因和授权门槛完成改判。</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060704"/>
            <a:ext cx="10744200" cy="53035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234440"/>
            <a:ext cx="7315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26B6FF"/>
                </a:solidFill>
                <a:latin typeface="Microsoft YaHei"/>
              </a:rPr>
              <a:t>样本语义</a:t>
            </a:r>
          </a:p>
        </p:txBody>
      </p:sp>
      <p:sp>
        <p:nvSpPr>
          <p:cNvPr id="12" name="Rectangle 11"/>
          <p:cNvSpPr/>
          <p:nvPr/>
        </p:nvSpPr>
        <p:spPr>
          <a:xfrm>
            <a:off x="1783080" y="1207008"/>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FFFFFF"/>
                </a:solidFill>
                <a:latin typeface="Microsoft YaHei"/>
              </a:rPr>
              <a:t>杭州临时多出一晚：先挑一个不折腾的活动；住处是否调整只是顺手检查。</a:t>
            </a:r>
          </a:p>
        </p:txBody>
      </p:sp>
      <p:sp>
        <p:nvSpPr>
          <p:cNvPr id="13" name="Rectangle 12"/>
          <p:cNvSpPr/>
          <p:nvPr/>
        </p:nvSpPr>
        <p:spPr>
          <a:xfrm>
            <a:off x="7635240" y="1234440"/>
            <a:ext cx="3108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D2E6FF"/>
                </a:solidFill>
                <a:latin typeface="Arial"/>
              </a:rPr>
              <a:t>trace fields: agent_votes / raw_response / trust_trace / feedback_scores</a:t>
            </a:r>
          </a:p>
        </p:txBody>
      </p:sp>
      <p:sp>
        <p:nvSpPr>
          <p:cNvPr id="14" name="Rounded Rectangle 13"/>
          <p:cNvSpPr/>
          <p:nvPr/>
        </p:nvSpPr>
        <p:spPr>
          <a:xfrm>
            <a:off x="749808" y="1847088"/>
            <a:ext cx="1664208" cy="768096"/>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Stage A 初判</a:t>
            </a:r>
          </a:p>
        </p:txBody>
      </p:sp>
      <p:sp>
        <p:nvSpPr>
          <p:cNvPr id="16" name="Rectangle 15"/>
          <p:cNvSpPr/>
          <p:nvPr/>
        </p:nvSpPr>
        <p:spPr>
          <a:xfrm>
            <a:off x="859536"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B93232"/>
                </a:solidFill>
                <a:latin typeface="Arial"/>
              </a:rPr>
              <a:t>hotel.travel.cn</a:t>
            </a:r>
          </a:p>
        </p:txBody>
      </p:sp>
      <p:sp>
        <p:nvSpPr>
          <p:cNvPr id="17" name="Rectangle 16"/>
          <p:cNvSpPr/>
          <p:nvPr/>
        </p:nvSpPr>
        <p:spPr>
          <a:xfrm>
            <a:off x="859536"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表面词：住处</a:t>
            </a:r>
          </a:p>
        </p:txBody>
      </p:sp>
      <p:sp>
        <p:nvSpPr>
          <p:cNvPr id="18" name="Rectangle 17"/>
          <p:cNvSpPr/>
          <p:nvPr/>
        </p:nvSpPr>
        <p:spPr>
          <a:xfrm>
            <a:off x="2542032"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19" name="Rounded Rectangle 18"/>
          <p:cNvSpPr/>
          <p:nvPr/>
        </p:nvSpPr>
        <p:spPr>
          <a:xfrm>
            <a:off x="2926079" y="1847088"/>
            <a:ext cx="1664208" cy="76809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35808"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触发复核</a:t>
            </a:r>
          </a:p>
        </p:txBody>
      </p:sp>
      <p:sp>
        <p:nvSpPr>
          <p:cNvPr id="21" name="Rectangle 20"/>
          <p:cNvSpPr/>
          <p:nvPr/>
        </p:nvSpPr>
        <p:spPr>
          <a:xfrm>
            <a:off x="3035808"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E97132"/>
                </a:solidFill>
                <a:latin typeface="Arial"/>
              </a:rPr>
              <a:t>low confidence</a:t>
            </a:r>
          </a:p>
        </p:txBody>
      </p:sp>
      <p:sp>
        <p:nvSpPr>
          <p:cNvPr id="22" name="Rectangle 21"/>
          <p:cNvSpPr/>
          <p:nvPr/>
        </p:nvSpPr>
        <p:spPr>
          <a:xfrm>
            <a:off x="3035808"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多意图 + close score</a:t>
            </a:r>
          </a:p>
        </p:txBody>
      </p:sp>
      <p:sp>
        <p:nvSpPr>
          <p:cNvPr id="23" name="Rectangle 22"/>
          <p:cNvSpPr/>
          <p:nvPr/>
        </p:nvSpPr>
        <p:spPr>
          <a:xfrm>
            <a:off x="4718304"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24" name="Rounded Rectangle 23"/>
          <p:cNvSpPr/>
          <p:nvPr/>
        </p:nvSpPr>
        <p:spPr>
          <a:xfrm>
            <a:off x="5102352" y="1847088"/>
            <a:ext cx="1664208" cy="76809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12080"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角色讨论</a:t>
            </a:r>
          </a:p>
        </p:txBody>
      </p:sp>
      <p:sp>
        <p:nvSpPr>
          <p:cNvPr id="26" name="Rectangle 25"/>
          <p:cNvSpPr/>
          <p:nvPr/>
        </p:nvSpPr>
        <p:spPr>
          <a:xfrm>
            <a:off x="5212080"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B63CE"/>
                </a:solidFill>
                <a:latin typeface="Arial"/>
              </a:rPr>
              <a:t>4 agents</a:t>
            </a:r>
          </a:p>
        </p:txBody>
      </p:sp>
      <p:sp>
        <p:nvSpPr>
          <p:cNvPr id="27" name="Rectangle 26"/>
          <p:cNvSpPr/>
          <p:nvPr/>
        </p:nvSpPr>
        <p:spPr>
          <a:xfrm>
            <a:off x="5212080"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主任务/风险/层级/偏好</a:t>
            </a:r>
          </a:p>
        </p:txBody>
      </p:sp>
      <p:sp>
        <p:nvSpPr>
          <p:cNvPr id="28" name="Rectangle 27"/>
          <p:cNvSpPr/>
          <p:nvPr/>
        </p:nvSpPr>
        <p:spPr>
          <a:xfrm>
            <a:off x="6894576"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29" name="Rounded Rectangle 28"/>
          <p:cNvSpPr/>
          <p:nvPr/>
        </p:nvSpPr>
        <p:spPr>
          <a:xfrm>
            <a:off x="7278624" y="1847088"/>
            <a:ext cx="1664208" cy="768096"/>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88352"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授权门槛</a:t>
            </a:r>
          </a:p>
        </p:txBody>
      </p:sp>
      <p:sp>
        <p:nvSpPr>
          <p:cNvPr id="31" name="Rectangle 30"/>
          <p:cNvSpPr/>
          <p:nvPr/>
        </p:nvSpPr>
        <p:spPr>
          <a:xfrm>
            <a:off x="7388352"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6B49C8"/>
                </a:solidFill>
                <a:latin typeface="Arial"/>
              </a:rPr>
              <a:t>3 : 1</a:t>
            </a:r>
          </a:p>
        </p:txBody>
      </p:sp>
      <p:sp>
        <p:nvSpPr>
          <p:cNvPr id="32" name="Rectangle 31"/>
          <p:cNvSpPr/>
          <p:nvPr/>
        </p:nvSpPr>
        <p:spPr>
          <a:xfrm>
            <a:off x="7388352"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override allowed</a:t>
            </a:r>
          </a:p>
        </p:txBody>
      </p:sp>
      <p:sp>
        <p:nvSpPr>
          <p:cNvPr id="33" name="Rectangle 32"/>
          <p:cNvSpPr/>
          <p:nvPr/>
        </p:nvSpPr>
        <p:spPr>
          <a:xfrm>
            <a:off x="9070848"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34" name="Rounded Rectangle 33"/>
          <p:cNvSpPr/>
          <p:nvPr/>
        </p:nvSpPr>
        <p:spPr>
          <a:xfrm>
            <a:off x="9454896" y="1847088"/>
            <a:ext cx="1664208" cy="76809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64624"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最终落点</a:t>
            </a:r>
          </a:p>
        </p:txBody>
      </p:sp>
      <p:sp>
        <p:nvSpPr>
          <p:cNvPr id="36" name="Rectangle 35"/>
          <p:cNvSpPr/>
          <p:nvPr/>
        </p:nvSpPr>
        <p:spPr>
          <a:xfrm>
            <a:off x="9564624"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E8A57"/>
                </a:solidFill>
                <a:latin typeface="Arial"/>
              </a:rPr>
              <a:t>activity.travel.cn</a:t>
            </a:r>
          </a:p>
        </p:txBody>
      </p:sp>
      <p:sp>
        <p:nvSpPr>
          <p:cNvPr id="37" name="Rectangle 36"/>
          <p:cNvSpPr/>
          <p:nvPr/>
        </p:nvSpPr>
        <p:spPr>
          <a:xfrm>
            <a:off x="9564624"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主任务：挑活动</a:t>
            </a:r>
          </a:p>
        </p:txBody>
      </p:sp>
      <p:sp>
        <p:nvSpPr>
          <p:cNvPr id="38" name="Rounded Rectangle 37"/>
          <p:cNvSpPr/>
          <p:nvPr/>
        </p:nvSpPr>
        <p:spPr>
          <a:xfrm>
            <a:off x="841248" y="2971800"/>
            <a:ext cx="4242816" cy="6949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42416" y="3172968"/>
            <a:ext cx="219456" cy="21945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42416" y="3236976"/>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1</a:t>
            </a:r>
          </a:p>
        </p:txBody>
      </p:sp>
      <p:sp>
        <p:nvSpPr>
          <p:cNvPr id="41" name="Rectangle 40"/>
          <p:cNvSpPr/>
          <p:nvPr/>
        </p:nvSpPr>
        <p:spPr>
          <a:xfrm>
            <a:off x="1371600" y="3108960"/>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DomainExpert</a:t>
            </a:r>
          </a:p>
        </p:txBody>
      </p:sp>
      <p:sp>
        <p:nvSpPr>
          <p:cNvPr id="42" name="Rectangle 41"/>
          <p:cNvSpPr/>
          <p:nvPr/>
        </p:nvSpPr>
        <p:spPr>
          <a:xfrm>
            <a:off x="2468880" y="3118104"/>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主任务匹配</a:t>
            </a:r>
          </a:p>
        </p:txBody>
      </p:sp>
      <p:sp>
        <p:nvSpPr>
          <p:cNvPr id="43" name="Rectangle 42"/>
          <p:cNvSpPr/>
          <p:nvPr/>
        </p:nvSpPr>
        <p:spPr>
          <a:xfrm>
            <a:off x="3364991" y="3099816"/>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0E8A57"/>
                </a:solidFill>
                <a:latin typeface="Arial"/>
              </a:rPr>
              <a:t>activity.travel.cn</a:t>
            </a:r>
          </a:p>
        </p:txBody>
      </p:sp>
      <p:sp>
        <p:nvSpPr>
          <p:cNvPr id="44" name="Rectangle 43"/>
          <p:cNvSpPr/>
          <p:nvPr/>
        </p:nvSpPr>
        <p:spPr>
          <a:xfrm>
            <a:off x="1371600" y="3364992"/>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“活动”直接命中主任务，住处是附带检查</a:t>
            </a:r>
          </a:p>
        </p:txBody>
      </p:sp>
      <p:sp>
        <p:nvSpPr>
          <p:cNvPr id="45" name="Rounded Rectangle 44"/>
          <p:cNvSpPr/>
          <p:nvPr/>
        </p:nvSpPr>
        <p:spPr>
          <a:xfrm>
            <a:off x="5458968" y="2971800"/>
            <a:ext cx="4242816" cy="694944"/>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660136" y="3172968"/>
            <a:ext cx="219456" cy="219456"/>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0136" y="3236976"/>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2</a:t>
            </a:r>
          </a:p>
        </p:txBody>
      </p:sp>
      <p:sp>
        <p:nvSpPr>
          <p:cNvPr id="48" name="Rectangle 47"/>
          <p:cNvSpPr/>
          <p:nvPr/>
        </p:nvSpPr>
        <p:spPr>
          <a:xfrm>
            <a:off x="5989320" y="3108960"/>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GovernanceRisk</a:t>
            </a:r>
          </a:p>
        </p:txBody>
      </p:sp>
      <p:sp>
        <p:nvSpPr>
          <p:cNvPr id="49" name="Rectangle 48"/>
          <p:cNvSpPr/>
          <p:nvPr/>
        </p:nvSpPr>
        <p:spPr>
          <a:xfrm>
            <a:off x="7086600" y="3118104"/>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风险边界</a:t>
            </a:r>
          </a:p>
        </p:txBody>
      </p:sp>
      <p:sp>
        <p:nvSpPr>
          <p:cNvPr id="50" name="Rectangle 49"/>
          <p:cNvSpPr/>
          <p:nvPr/>
        </p:nvSpPr>
        <p:spPr>
          <a:xfrm>
            <a:off x="7982712" y="3099816"/>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B93232"/>
                </a:solidFill>
                <a:latin typeface="Arial"/>
              </a:rPr>
              <a:t>hotel.travel.cn</a:t>
            </a:r>
          </a:p>
        </p:txBody>
      </p:sp>
      <p:sp>
        <p:nvSpPr>
          <p:cNvPr id="51" name="Rectangle 50"/>
          <p:cNvSpPr/>
          <p:nvPr/>
        </p:nvSpPr>
        <p:spPr>
          <a:xfrm>
            <a:off x="5989320" y="3364992"/>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无高风险，保守支持 Stage A 原判</a:t>
            </a:r>
          </a:p>
        </p:txBody>
      </p:sp>
      <p:sp>
        <p:nvSpPr>
          <p:cNvPr id="52" name="Rounded Rectangle 51"/>
          <p:cNvSpPr/>
          <p:nvPr/>
        </p:nvSpPr>
        <p:spPr>
          <a:xfrm>
            <a:off x="841248" y="3867912"/>
            <a:ext cx="4242816" cy="6949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42416" y="4069080"/>
            <a:ext cx="219456" cy="21945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2416" y="4133088"/>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3</a:t>
            </a:r>
          </a:p>
        </p:txBody>
      </p:sp>
      <p:sp>
        <p:nvSpPr>
          <p:cNvPr id="55" name="Rectangle 54"/>
          <p:cNvSpPr/>
          <p:nvPr/>
        </p:nvSpPr>
        <p:spPr>
          <a:xfrm>
            <a:off x="1371600" y="4005072"/>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HierarchyResolver</a:t>
            </a:r>
          </a:p>
        </p:txBody>
      </p:sp>
      <p:sp>
        <p:nvSpPr>
          <p:cNvPr id="56" name="Rectangle 55"/>
          <p:cNvSpPr/>
          <p:nvPr/>
        </p:nvSpPr>
        <p:spPr>
          <a:xfrm>
            <a:off x="2468880" y="4014216"/>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层级/粒度</a:t>
            </a:r>
          </a:p>
        </p:txBody>
      </p:sp>
      <p:sp>
        <p:nvSpPr>
          <p:cNvPr id="57" name="Rectangle 56"/>
          <p:cNvSpPr/>
          <p:nvPr/>
        </p:nvSpPr>
        <p:spPr>
          <a:xfrm>
            <a:off x="3364991" y="3995928"/>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0E8A57"/>
                </a:solidFill>
                <a:latin typeface="Arial"/>
              </a:rPr>
              <a:t>activity.travel.cn</a:t>
            </a:r>
          </a:p>
        </p:txBody>
      </p:sp>
      <p:sp>
        <p:nvSpPr>
          <p:cNvPr id="58" name="Rectangle 57"/>
          <p:cNvSpPr/>
          <p:nvPr/>
        </p:nvSpPr>
        <p:spPr>
          <a:xfrm>
            <a:off x="1371600" y="4261104"/>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住宿节点更像 related，活动才是 primary</a:t>
            </a:r>
          </a:p>
        </p:txBody>
      </p:sp>
      <p:sp>
        <p:nvSpPr>
          <p:cNvPr id="59" name="Rounded Rectangle 58"/>
          <p:cNvSpPr/>
          <p:nvPr/>
        </p:nvSpPr>
        <p:spPr>
          <a:xfrm>
            <a:off x="5458968" y="3867912"/>
            <a:ext cx="4242816" cy="6949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660136" y="4069080"/>
            <a:ext cx="219456" cy="21945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660136" y="4133088"/>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4</a:t>
            </a:r>
          </a:p>
        </p:txBody>
      </p:sp>
      <p:sp>
        <p:nvSpPr>
          <p:cNvPr id="62" name="Rectangle 61"/>
          <p:cNvSpPr/>
          <p:nvPr/>
        </p:nvSpPr>
        <p:spPr>
          <a:xfrm>
            <a:off x="5989320" y="4005072"/>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UserPreference</a:t>
            </a:r>
          </a:p>
        </p:txBody>
      </p:sp>
      <p:sp>
        <p:nvSpPr>
          <p:cNvPr id="63" name="Rectangle 62"/>
          <p:cNvSpPr/>
          <p:nvPr/>
        </p:nvSpPr>
        <p:spPr>
          <a:xfrm>
            <a:off x="7086600" y="4014216"/>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用户偏好</a:t>
            </a:r>
          </a:p>
        </p:txBody>
      </p:sp>
      <p:sp>
        <p:nvSpPr>
          <p:cNvPr id="64" name="Rectangle 63"/>
          <p:cNvSpPr/>
          <p:nvPr/>
        </p:nvSpPr>
        <p:spPr>
          <a:xfrm>
            <a:off x="7982712" y="3995928"/>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0E8A57"/>
                </a:solidFill>
                <a:latin typeface="Arial"/>
              </a:rPr>
              <a:t>activity.travel.cn</a:t>
            </a:r>
          </a:p>
        </p:txBody>
      </p:sp>
      <p:sp>
        <p:nvSpPr>
          <p:cNvPr id="65" name="Rectangle 64"/>
          <p:cNvSpPr/>
          <p:nvPr/>
        </p:nvSpPr>
        <p:spPr>
          <a:xfrm>
            <a:off x="5989320" y="4261104"/>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“重点/顺手”明确主次，活动优先</a:t>
            </a:r>
          </a:p>
        </p:txBody>
      </p:sp>
      <p:sp>
        <p:nvSpPr>
          <p:cNvPr id="66" name="Rounded Rectangle 65"/>
          <p:cNvSpPr/>
          <p:nvPr/>
        </p:nvSpPr>
        <p:spPr>
          <a:xfrm>
            <a:off x="9802368" y="2971800"/>
            <a:ext cx="1664208" cy="1591056"/>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049256" y="3182112"/>
            <a:ext cx="107899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50" b="1">
                <a:solidFill>
                  <a:srgbClr val="B93232"/>
                </a:solidFill>
                <a:latin typeface="Arial"/>
              </a:rPr>
              <a:t>TRUST GATE</a:t>
            </a:r>
          </a:p>
        </p:txBody>
      </p:sp>
      <p:sp>
        <p:nvSpPr>
          <p:cNvPr id="68" name="Rectangle 67"/>
          <p:cNvSpPr/>
          <p:nvPr/>
        </p:nvSpPr>
        <p:spPr>
          <a:xfrm>
            <a:off x="10076688" y="3493008"/>
            <a:ext cx="86868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00" b="0">
                <a:solidFill>
                  <a:srgbClr val="53657A"/>
                </a:solidFill>
                <a:latin typeface="Arial"/>
              </a:rPr>
              <a:t>override votes</a:t>
            </a:r>
          </a:p>
        </p:txBody>
      </p:sp>
      <p:sp>
        <p:nvSpPr>
          <p:cNvPr id="69" name="Rectangle 68"/>
          <p:cNvSpPr/>
          <p:nvPr/>
        </p:nvSpPr>
        <p:spPr>
          <a:xfrm>
            <a:off x="9930384" y="3639312"/>
            <a:ext cx="384048"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0E8A57"/>
                </a:solidFill>
                <a:latin typeface="Arial"/>
              </a:rPr>
              <a:t>3</a:t>
            </a:r>
          </a:p>
        </p:txBody>
      </p:sp>
      <p:sp>
        <p:nvSpPr>
          <p:cNvPr id="70" name="Rectangle 69"/>
          <p:cNvSpPr/>
          <p:nvPr/>
        </p:nvSpPr>
        <p:spPr>
          <a:xfrm>
            <a:off x="10323576" y="3685032"/>
            <a:ext cx="10972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00" b="1">
                <a:solidFill>
                  <a:srgbClr val="53657A"/>
                </a:solidFill>
                <a:latin typeface="Arial"/>
              </a:rPr>
              <a:t>:</a:t>
            </a:r>
          </a:p>
        </p:txBody>
      </p:sp>
      <p:sp>
        <p:nvSpPr>
          <p:cNvPr id="71" name="Rectangle 70"/>
          <p:cNvSpPr/>
          <p:nvPr/>
        </p:nvSpPr>
        <p:spPr>
          <a:xfrm>
            <a:off x="10460736" y="3639312"/>
            <a:ext cx="384048"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B93232"/>
                </a:solidFill>
                <a:latin typeface="Arial"/>
              </a:rPr>
              <a:t>1</a:t>
            </a:r>
          </a:p>
        </p:txBody>
      </p:sp>
      <p:sp>
        <p:nvSpPr>
          <p:cNvPr id="72" name="Rectangle 71"/>
          <p:cNvSpPr/>
          <p:nvPr/>
        </p:nvSpPr>
        <p:spPr>
          <a:xfrm>
            <a:off x="9957816" y="3986784"/>
            <a:ext cx="11430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00" b="0">
                <a:solidFill>
                  <a:srgbClr val="53657A"/>
                </a:solidFill>
                <a:latin typeface="Arial"/>
              </a:rPr>
              <a:t>support Stage A</a:t>
            </a:r>
          </a:p>
        </p:txBody>
      </p:sp>
      <p:sp>
        <p:nvSpPr>
          <p:cNvPr id="73" name="Rectangle 72"/>
          <p:cNvSpPr/>
          <p:nvPr/>
        </p:nvSpPr>
        <p:spPr>
          <a:xfrm>
            <a:off x="10113264" y="4251960"/>
            <a:ext cx="8046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40" b="1">
                <a:solidFill>
                  <a:srgbClr val="0E8A57"/>
                </a:solidFill>
                <a:latin typeface="Arial"/>
              </a:rPr>
              <a:t>allowed</a:t>
            </a:r>
          </a:p>
        </p:txBody>
      </p:sp>
      <p:sp>
        <p:nvSpPr>
          <p:cNvPr id="74" name="Rounded Rectangle 73"/>
          <p:cNvSpPr/>
          <p:nvPr/>
        </p:nvSpPr>
        <p:spPr>
          <a:xfrm>
            <a:off x="822960" y="5074920"/>
            <a:ext cx="10021824" cy="62179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78992" y="5266944"/>
            <a:ext cx="8686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40" b="1">
                <a:solidFill>
                  <a:srgbClr val="0B63CE"/>
                </a:solidFill>
                <a:latin typeface="Microsoft YaHei"/>
              </a:rPr>
              <a:t>可审计证据</a:t>
            </a:r>
          </a:p>
        </p:txBody>
      </p:sp>
      <p:sp>
        <p:nvSpPr>
          <p:cNvPr id="76" name="Oval 75"/>
          <p:cNvSpPr/>
          <p:nvPr/>
        </p:nvSpPr>
        <p:spPr>
          <a:xfrm>
            <a:off x="2148840" y="52852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313432" y="52303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agent_votes 保存每个角色的投票</a:t>
            </a:r>
          </a:p>
        </p:txBody>
      </p:sp>
      <p:sp>
        <p:nvSpPr>
          <p:cNvPr id="78" name="Oval 77"/>
          <p:cNvSpPr/>
          <p:nvPr/>
        </p:nvSpPr>
        <p:spPr>
          <a:xfrm>
            <a:off x="6126479" y="52852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291071" y="52303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raw_response 保存 LLM 原始结构化回复</a:t>
            </a:r>
          </a:p>
        </p:txBody>
      </p:sp>
      <p:sp>
        <p:nvSpPr>
          <p:cNvPr id="80" name="Oval 79"/>
          <p:cNvSpPr/>
          <p:nvPr/>
        </p:nvSpPr>
        <p:spPr>
          <a:xfrm>
            <a:off x="2148840" y="55138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313432" y="54589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trust_trace 记录分歧、票数和授权结果</a:t>
            </a:r>
          </a:p>
        </p:txBody>
      </p:sp>
      <p:sp>
        <p:nvSpPr>
          <p:cNvPr id="82" name="Oval 81"/>
          <p:cNvSpPr/>
          <p:nvPr/>
        </p:nvSpPr>
        <p:spPr>
          <a:xfrm>
            <a:off x="6126479" y="55138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291071" y="54589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feedback_scores 记录候选得分和共识增益</a:t>
            </a:r>
          </a:p>
        </p:txBody>
      </p:sp>
      <p:sp>
        <p:nvSpPr>
          <p:cNvPr id="84" name="Rectangle 8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86" name="Rectangle 8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研究成果四：可信过程轨迹可回放</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成果汇编中的第四类研究成果：候选快照、结构化裁决、角色提案、授权判断和最终落点均可追溯。</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21792" y="1097280"/>
            <a:ext cx="3429000" cy="482803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96112" y="1353312"/>
            <a:ext cx="1005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用户请求</a:t>
            </a:r>
          </a:p>
        </p:txBody>
      </p:sp>
      <p:sp>
        <p:nvSpPr>
          <p:cNvPr id="12" name="Rectangle 11"/>
          <p:cNvSpPr/>
          <p:nvPr/>
        </p:nvSpPr>
        <p:spPr>
          <a:xfrm>
            <a:off x="896112" y="1755648"/>
            <a:ext cx="2697480" cy="98755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买会议麦克风这单如果不看优惠规则，明显会多花一笔。
主问句：先看看有什么券或优惠能用
顺带：比一眼价格</a:t>
            </a:r>
          </a:p>
        </p:txBody>
      </p:sp>
      <p:sp>
        <p:nvSpPr>
          <p:cNvPr id="13" name="Rectangle 12"/>
          <p:cNvSpPr/>
          <p:nvPr/>
        </p:nvSpPr>
        <p:spPr>
          <a:xfrm>
            <a:off x="896112" y="2999232"/>
            <a:ext cx="269748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6112" y="3236976"/>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26B6FF"/>
                </a:solidFill>
                <a:latin typeface="Microsoft YaHei"/>
              </a:rPr>
              <a:t>Stage R 候选快照</a:t>
            </a:r>
          </a:p>
        </p:txBody>
      </p:sp>
      <p:sp>
        <p:nvSpPr>
          <p:cNvPr id="15" name="Oval 14"/>
          <p:cNvSpPr/>
          <p:nvPr/>
        </p:nvSpPr>
        <p:spPr>
          <a:xfrm>
            <a:off x="914400" y="3630168"/>
            <a:ext cx="73152" cy="7315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8992" y="3584448"/>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coupon.commerce.cn</a:t>
            </a:r>
          </a:p>
        </p:txBody>
      </p:sp>
      <p:sp>
        <p:nvSpPr>
          <p:cNvPr id="17" name="Rectangle 16"/>
          <p:cNvSpPr/>
          <p:nvPr/>
        </p:nvSpPr>
        <p:spPr>
          <a:xfrm>
            <a:off x="2697480" y="3584448"/>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优惠命中</a:t>
            </a:r>
          </a:p>
        </p:txBody>
      </p:sp>
      <p:sp>
        <p:nvSpPr>
          <p:cNvPr id="18" name="Oval 17"/>
          <p:cNvSpPr/>
          <p:nvPr/>
        </p:nvSpPr>
        <p:spPr>
          <a:xfrm>
            <a:off x="914400" y="4014215"/>
            <a:ext cx="73152" cy="73152"/>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78992" y="3968496"/>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price.commerce.cn</a:t>
            </a:r>
          </a:p>
        </p:txBody>
      </p:sp>
      <p:sp>
        <p:nvSpPr>
          <p:cNvPr id="20" name="Rectangle 19"/>
          <p:cNvSpPr/>
          <p:nvPr/>
        </p:nvSpPr>
        <p:spPr>
          <a:xfrm>
            <a:off x="2697480" y="3968496"/>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价格命中</a:t>
            </a:r>
          </a:p>
        </p:txBody>
      </p:sp>
      <p:sp>
        <p:nvSpPr>
          <p:cNvPr id="21" name="Oval 20"/>
          <p:cNvSpPr/>
          <p:nvPr/>
        </p:nvSpPr>
        <p:spPr>
          <a:xfrm>
            <a:off x="914400" y="4398264"/>
            <a:ext cx="73152" cy="73152"/>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4352544"/>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meeting.productivity.cn</a:t>
            </a:r>
          </a:p>
        </p:txBody>
      </p:sp>
      <p:sp>
        <p:nvSpPr>
          <p:cNvPr id="23" name="Rectangle 22"/>
          <p:cNvSpPr/>
          <p:nvPr/>
        </p:nvSpPr>
        <p:spPr>
          <a:xfrm>
            <a:off x="2697480" y="435254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会议词面</a:t>
            </a:r>
          </a:p>
        </p:txBody>
      </p:sp>
      <p:sp>
        <p:nvSpPr>
          <p:cNvPr id="24" name="Rectangle 23"/>
          <p:cNvSpPr/>
          <p:nvPr/>
        </p:nvSpPr>
        <p:spPr>
          <a:xfrm>
            <a:off x="896112" y="4937760"/>
            <a:ext cx="2514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Arial"/>
              </a:rPr>
              <a:t>candidate_count = 10    primary_in_top_k = true</a:t>
            </a:r>
          </a:p>
        </p:txBody>
      </p:sp>
      <p:sp>
        <p:nvSpPr>
          <p:cNvPr id="25" name="Rounded Rectangle 24"/>
          <p:cNvSpPr/>
          <p:nvPr/>
        </p:nvSpPr>
        <p:spPr>
          <a:xfrm>
            <a:off x="4572000" y="1225296"/>
            <a:ext cx="2788920"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73168" y="1426464"/>
            <a:ext cx="237744" cy="237744"/>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73168" y="149047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1</a:t>
            </a:r>
          </a:p>
        </p:txBody>
      </p:sp>
      <p:sp>
        <p:nvSpPr>
          <p:cNvPr id="28" name="Rectangle 27"/>
          <p:cNvSpPr/>
          <p:nvPr/>
        </p:nvSpPr>
        <p:spPr>
          <a:xfrm>
            <a:off x="5102352" y="138988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Stage A 初判</a:t>
            </a:r>
          </a:p>
        </p:txBody>
      </p:sp>
      <p:sp>
        <p:nvSpPr>
          <p:cNvPr id="29" name="Rectangle 28"/>
          <p:cNvSpPr/>
          <p:nvPr/>
        </p:nvSpPr>
        <p:spPr>
          <a:xfrm>
            <a:off x="5102352" y="166420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price.commerce.cn</a:t>
            </a:r>
          </a:p>
        </p:txBody>
      </p:sp>
      <p:sp>
        <p:nvSpPr>
          <p:cNvPr id="30" name="Rectangle 29"/>
          <p:cNvSpPr/>
          <p:nvPr/>
        </p:nvSpPr>
        <p:spPr>
          <a:xfrm>
            <a:off x="5102352" y="188366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conf=0.519 / margin=0.064</a:t>
            </a:r>
          </a:p>
        </p:txBody>
      </p:sp>
      <p:sp>
        <p:nvSpPr>
          <p:cNvPr id="31" name="Rectangle 30"/>
          <p:cNvSpPr/>
          <p:nvPr/>
        </p:nvSpPr>
        <p:spPr>
          <a:xfrm>
            <a:off x="5102352" y="204825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触发原因：low_confidence + small_margin</a:t>
            </a:r>
          </a:p>
        </p:txBody>
      </p:sp>
      <p:sp>
        <p:nvSpPr>
          <p:cNvPr id="32" name="Rectangle 31"/>
          <p:cNvSpPr/>
          <p:nvPr/>
        </p:nvSpPr>
        <p:spPr>
          <a:xfrm>
            <a:off x="5943600" y="229514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72000" y="2642616"/>
            <a:ext cx="2788920" cy="98755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73168" y="2843784"/>
            <a:ext cx="237744" cy="237744"/>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73168" y="290779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2</a:t>
            </a:r>
          </a:p>
        </p:txBody>
      </p:sp>
      <p:sp>
        <p:nvSpPr>
          <p:cNvPr id="36" name="Rectangle 35"/>
          <p:cNvSpPr/>
          <p:nvPr/>
        </p:nvSpPr>
        <p:spPr>
          <a:xfrm>
            <a:off x="5102352" y="280720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Stage B 复核</a:t>
            </a:r>
          </a:p>
        </p:txBody>
      </p:sp>
      <p:sp>
        <p:nvSpPr>
          <p:cNvPr id="37" name="Rectangle 36"/>
          <p:cNvSpPr/>
          <p:nvPr/>
        </p:nvSpPr>
        <p:spPr>
          <a:xfrm>
            <a:off x="5102352" y="308152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3 票提议改判 / 1 票保守</a:t>
            </a:r>
          </a:p>
        </p:txBody>
      </p:sp>
      <p:sp>
        <p:nvSpPr>
          <p:cNvPr id="38" name="Rectangle 37"/>
          <p:cNvSpPr/>
          <p:nvPr/>
        </p:nvSpPr>
        <p:spPr>
          <a:xfrm>
            <a:off x="5102352" y="330098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override_vote_count = 3</a:t>
            </a:r>
          </a:p>
        </p:txBody>
      </p:sp>
      <p:sp>
        <p:nvSpPr>
          <p:cNvPr id="39" name="Rectangle 38"/>
          <p:cNvSpPr/>
          <p:nvPr/>
        </p:nvSpPr>
        <p:spPr>
          <a:xfrm>
            <a:off x="5102352" y="346557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证据集中在“优惠为主、价格为辅”</a:t>
            </a:r>
          </a:p>
        </p:txBody>
      </p:sp>
      <p:sp>
        <p:nvSpPr>
          <p:cNvPr id="40" name="Rectangle 39"/>
          <p:cNvSpPr/>
          <p:nvPr/>
        </p:nvSpPr>
        <p:spPr>
          <a:xfrm>
            <a:off x="5943600" y="371246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572000" y="4059936"/>
            <a:ext cx="2788920"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73168" y="4261104"/>
            <a:ext cx="237744" cy="237744"/>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73168" y="432511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3</a:t>
            </a:r>
          </a:p>
        </p:txBody>
      </p:sp>
      <p:sp>
        <p:nvSpPr>
          <p:cNvPr id="44" name="Rectangle 43"/>
          <p:cNvSpPr/>
          <p:nvPr/>
        </p:nvSpPr>
        <p:spPr>
          <a:xfrm>
            <a:off x="5102352" y="422452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授权改判</a:t>
            </a:r>
          </a:p>
        </p:txBody>
      </p:sp>
      <p:sp>
        <p:nvSpPr>
          <p:cNvPr id="45" name="Rectangle 44"/>
          <p:cNvSpPr/>
          <p:nvPr/>
        </p:nvSpPr>
        <p:spPr>
          <a:xfrm>
            <a:off x="5102352" y="449884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override_allowed = true</a:t>
            </a:r>
          </a:p>
        </p:txBody>
      </p:sp>
      <p:sp>
        <p:nvSpPr>
          <p:cNvPr id="46" name="Rectangle 45"/>
          <p:cNvSpPr/>
          <p:nvPr/>
        </p:nvSpPr>
        <p:spPr>
          <a:xfrm>
            <a:off x="5102352" y="471830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basis: explicit_primary_evidence</a:t>
            </a:r>
          </a:p>
        </p:txBody>
      </p:sp>
      <p:sp>
        <p:nvSpPr>
          <p:cNvPr id="47" name="Rectangle 46"/>
          <p:cNvSpPr/>
          <p:nvPr/>
        </p:nvSpPr>
        <p:spPr>
          <a:xfrm>
            <a:off x="5102352" y="488289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主意图从“比价”校正为“优惠规则”</a:t>
            </a:r>
          </a:p>
        </p:txBody>
      </p:sp>
      <p:sp>
        <p:nvSpPr>
          <p:cNvPr id="48" name="Rounded Rectangle 47"/>
          <p:cNvSpPr/>
          <p:nvPr/>
        </p:nvSpPr>
        <p:spPr>
          <a:xfrm>
            <a:off x="7973568" y="1143000"/>
            <a:ext cx="3246120" cy="1874519"/>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47888" y="1444752"/>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B93232"/>
                </a:solidFill>
                <a:latin typeface="Microsoft YaHei"/>
              </a:rPr>
              <a:t>最终路由</a:t>
            </a:r>
          </a:p>
        </p:txBody>
      </p:sp>
      <p:sp>
        <p:nvSpPr>
          <p:cNvPr id="50" name="Rectangle 49"/>
          <p:cNvSpPr/>
          <p:nvPr/>
        </p:nvSpPr>
        <p:spPr>
          <a:xfrm>
            <a:off x="8183879" y="1810512"/>
            <a:ext cx="26517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B93232"/>
                </a:solidFill>
                <a:latin typeface="Arial"/>
              </a:rPr>
              <a:t>coupon.commerce.cn</a:t>
            </a:r>
          </a:p>
        </p:txBody>
      </p:sp>
      <p:sp>
        <p:nvSpPr>
          <p:cNvPr id="51" name="Rectangle 50"/>
          <p:cNvSpPr/>
          <p:nvPr/>
        </p:nvSpPr>
        <p:spPr>
          <a:xfrm>
            <a:off x="8247888" y="2157984"/>
            <a:ext cx="2057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Arial"/>
              </a:rPr>
              <a:t>final_decision_source = stage_b</a:t>
            </a:r>
          </a:p>
        </p:txBody>
      </p:sp>
      <p:sp>
        <p:nvSpPr>
          <p:cNvPr id="52" name="Rectangle 51"/>
          <p:cNvSpPr/>
          <p:nvPr/>
        </p:nvSpPr>
        <p:spPr>
          <a:xfrm>
            <a:off x="8247888" y="2441448"/>
            <a:ext cx="2514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0" b="0">
                <a:solidFill>
                  <a:srgbClr val="102033"/>
                </a:solidFill>
                <a:latin typeface="Microsoft YaHei"/>
              </a:rPr>
              <a:t>可解释结论：优惠可用性是主任务，价格比较作为相关诉求保留。</a:t>
            </a:r>
          </a:p>
        </p:txBody>
      </p:sp>
      <p:sp>
        <p:nvSpPr>
          <p:cNvPr id="53" name="Rounded Rectangle 52"/>
          <p:cNvSpPr/>
          <p:nvPr/>
        </p:nvSpPr>
        <p:spPr>
          <a:xfrm>
            <a:off x="7973568" y="3310128"/>
            <a:ext cx="3246120" cy="12984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47888" y="3566160"/>
            <a:ext cx="15544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评审能看到什么</a:t>
            </a:r>
          </a:p>
        </p:txBody>
      </p:sp>
      <p:sp>
        <p:nvSpPr>
          <p:cNvPr id="55" name="Oval 54"/>
          <p:cNvSpPr/>
          <p:nvPr/>
        </p:nvSpPr>
        <p:spPr>
          <a:xfrm>
            <a:off x="8247888" y="39502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12480" y="3895344"/>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错因：候选内主次意图误判</a:t>
            </a:r>
          </a:p>
        </p:txBody>
      </p:sp>
      <p:sp>
        <p:nvSpPr>
          <p:cNvPr id="57" name="Oval 56"/>
          <p:cNvSpPr/>
          <p:nvPr/>
        </p:nvSpPr>
        <p:spPr>
          <a:xfrm>
            <a:off x="8247888" y="4169663"/>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412480" y="4114800"/>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修正：职责化角色给出证据</a:t>
            </a:r>
          </a:p>
        </p:txBody>
      </p:sp>
      <p:sp>
        <p:nvSpPr>
          <p:cNvPr id="59" name="Oval 58"/>
          <p:cNvSpPr/>
          <p:nvPr/>
        </p:nvSpPr>
        <p:spPr>
          <a:xfrm>
            <a:off x="8247888" y="438912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412480" y="4334256"/>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边界：改判需通过授权检查</a:t>
            </a:r>
          </a:p>
        </p:txBody>
      </p:sp>
      <p:sp>
        <p:nvSpPr>
          <p:cNvPr id="61" name="Rounded Rectangle 60"/>
          <p:cNvSpPr/>
          <p:nvPr/>
        </p:nvSpPr>
        <p:spPr>
          <a:xfrm>
            <a:off x="749808" y="6016752"/>
            <a:ext cx="10287000" cy="3474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0976" y="6108192"/>
            <a:ext cx="97383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0" b="0">
                <a:solidFill>
                  <a:srgbClr val="53657A"/>
                </a:solidFill>
                <a:latin typeface="Arial"/>
              </a:rPr>
              <a:t>Trace contract 字段：stage_r.fqdn_candidates / stage_a.routing_top_k / stage_b.agent_votes / stage_b.trust_trace / final_primary_fqdn</a:t>
            </a:r>
          </a:p>
        </p:txBody>
      </p:sp>
      <p:sp>
        <p:nvSpPr>
          <p:cNvPr id="63" name="Rectangle 6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65" name="Rectangle 6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原型系统：能力地址到执行实例的硬过滤与可解释排序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成果汇编中的原型系统覆盖请求输入、候选组织、路由高亮、候选 Agent 排序和执行状态展示。</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94944" y="1170432"/>
            <a:ext cx="3337560" cy="374903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9264" y="144475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硬过滤条件</a:t>
            </a:r>
          </a:p>
        </p:txBody>
      </p:sp>
      <p:sp>
        <p:nvSpPr>
          <p:cNvPr id="12" name="Oval 11"/>
          <p:cNvSpPr/>
          <p:nvPr/>
        </p:nvSpPr>
        <p:spPr>
          <a:xfrm>
            <a:off x="987552" y="19293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2144" y="1874519"/>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routing_fqdn exact match</a:t>
            </a:r>
          </a:p>
        </p:txBody>
      </p:sp>
      <p:sp>
        <p:nvSpPr>
          <p:cNvPr id="14" name="Oval 13"/>
          <p:cNvSpPr/>
          <p:nvPr/>
        </p:nvSpPr>
        <p:spPr>
          <a:xfrm>
            <a:off x="987552" y="235000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2144" y="2295144"/>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endpoint exists</a:t>
            </a:r>
          </a:p>
        </p:txBody>
      </p:sp>
      <p:sp>
        <p:nvSpPr>
          <p:cNvPr id="16" name="Oval 15"/>
          <p:cNvSpPr/>
          <p:nvPr/>
        </p:nvSpPr>
        <p:spPr>
          <a:xfrm>
            <a:off x="987552" y="277063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2144" y="2715768"/>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status in online/ready/available</a:t>
            </a:r>
          </a:p>
        </p:txBody>
      </p:sp>
      <p:sp>
        <p:nvSpPr>
          <p:cNvPr id="18" name="Oval 17"/>
          <p:cNvSpPr/>
          <p:nvPr/>
        </p:nvSpPr>
        <p:spPr>
          <a:xfrm>
            <a:off x="987552" y="31912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2144" y="3136391"/>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input/output schema covered</a:t>
            </a:r>
          </a:p>
        </p:txBody>
      </p:sp>
      <p:sp>
        <p:nvSpPr>
          <p:cNvPr id="20" name="Rectangle 19"/>
          <p:cNvSpPr/>
          <p:nvPr/>
        </p:nvSpPr>
        <p:spPr>
          <a:xfrm>
            <a:off x="987552" y="3913632"/>
            <a:ext cx="25146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被过滤对象写入 filtered_out_reasons，避免执行层悄悄兜底。</a:t>
            </a:r>
          </a:p>
        </p:txBody>
      </p:sp>
      <p:sp>
        <p:nvSpPr>
          <p:cNvPr id="21" name="Rounded Rectangle 20"/>
          <p:cNvSpPr/>
          <p:nvPr/>
        </p:nvSpPr>
        <p:spPr>
          <a:xfrm>
            <a:off x="4370832" y="1170432"/>
            <a:ext cx="3154680" cy="3749039"/>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45152" y="1444752"/>
            <a:ext cx="1234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Microsoft YaHei"/>
              </a:rPr>
              <a:t>排序评分</a:t>
            </a:r>
          </a:p>
        </p:txBody>
      </p:sp>
      <p:sp>
        <p:nvSpPr>
          <p:cNvPr id="23" name="Rectangle 22"/>
          <p:cNvSpPr/>
          <p:nvPr/>
        </p:nvSpPr>
        <p:spPr>
          <a:xfrm>
            <a:off x="4645152" y="1847088"/>
            <a:ext cx="2514600" cy="1417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102033"/>
                </a:solidFill>
                <a:latin typeface="Menlo"/>
              </a:rPr>
              <a:t>base = 0.55*S_match
     + 0.25*S_schema
     + 0.20*S_tag
final = base * health
      * fair_agent
      * fair_provider</a:t>
            </a:r>
          </a:p>
        </p:txBody>
      </p:sp>
      <p:sp>
        <p:nvSpPr>
          <p:cNvPr id="24" name="Rectangle 23"/>
          <p:cNvSpPr/>
          <p:nvPr/>
        </p:nvSpPr>
        <p:spPr>
          <a:xfrm>
            <a:off x="4645152" y="3730752"/>
            <a:ext cx="23317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53657A"/>
                </a:solidFill>
                <a:latin typeface="Microsoft YaHei"/>
              </a:rPr>
              <a:t>health 按 heartbeat 半衰期衰减；fairness 抑制单 agent / provider 过度曝光。</a:t>
            </a:r>
          </a:p>
        </p:txBody>
      </p:sp>
      <p:sp>
        <p:nvSpPr>
          <p:cNvPr id="25" name="Rounded Rectangle 24"/>
          <p:cNvSpPr/>
          <p:nvPr/>
        </p:nvSpPr>
        <p:spPr>
          <a:xfrm>
            <a:off x="8028431" y="1170432"/>
            <a:ext cx="2971800" cy="3749039"/>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02752" y="1444752"/>
            <a:ext cx="1600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selection_trace</a:t>
            </a:r>
          </a:p>
        </p:txBody>
      </p:sp>
      <p:sp>
        <p:nvSpPr>
          <p:cNvPr id="27" name="Rectangle 26"/>
          <p:cNvSpPr/>
          <p:nvPr/>
        </p:nvSpPr>
        <p:spPr>
          <a:xfrm>
            <a:off x="8302752" y="184708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candidate_count_before_filter</a:t>
            </a:r>
          </a:p>
        </p:txBody>
      </p:sp>
      <p:sp>
        <p:nvSpPr>
          <p:cNvPr id="28" name="Rectangle 27"/>
          <p:cNvSpPr/>
          <p:nvPr/>
        </p:nvSpPr>
        <p:spPr>
          <a:xfrm>
            <a:off x="8302752" y="2157984"/>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candidate_count_after_filter</a:t>
            </a:r>
          </a:p>
        </p:txBody>
      </p:sp>
      <p:sp>
        <p:nvSpPr>
          <p:cNvPr id="29" name="Rectangle 28"/>
          <p:cNvSpPr/>
          <p:nvPr/>
        </p:nvSpPr>
        <p:spPr>
          <a:xfrm>
            <a:off x="8302752" y="2468880"/>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filtered_out_reasons</a:t>
            </a:r>
          </a:p>
        </p:txBody>
      </p:sp>
      <p:sp>
        <p:nvSpPr>
          <p:cNvPr id="30" name="Rectangle 29"/>
          <p:cNvSpPr/>
          <p:nvPr/>
        </p:nvSpPr>
        <p:spPr>
          <a:xfrm>
            <a:off x="8302752" y="2779776"/>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chosen_agent_fqdn</a:t>
            </a:r>
          </a:p>
        </p:txBody>
      </p:sp>
      <p:sp>
        <p:nvSpPr>
          <p:cNvPr id="31" name="Rectangle 30"/>
          <p:cNvSpPr/>
          <p:nvPr/>
        </p:nvSpPr>
        <p:spPr>
          <a:xfrm>
            <a:off x="8302752" y="3090672"/>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selection_latency_ms</a:t>
            </a:r>
          </a:p>
        </p:txBody>
      </p:sp>
      <p:sp>
        <p:nvSpPr>
          <p:cNvPr id="32" name="Rectangle 31"/>
          <p:cNvSpPr/>
          <p:nvPr/>
        </p:nvSpPr>
        <p:spPr>
          <a:xfrm>
            <a:off x="8302752" y="340156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tie_break_applied</a:t>
            </a:r>
          </a:p>
        </p:txBody>
      </p:sp>
      <p:sp>
        <p:nvSpPr>
          <p:cNvPr id="33" name="Rectangle 32"/>
          <p:cNvSpPr/>
          <p:nvPr/>
        </p:nvSpPr>
        <p:spPr>
          <a:xfrm>
            <a:off x="8302752" y="3986784"/>
            <a:ext cx="2148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0E8A57"/>
                </a:solidFill>
                <a:latin typeface="Arial"/>
              </a:rPr>
              <a:t>输出：chosen_agent_fqdn -&gt; endpoint</a:t>
            </a:r>
          </a:p>
        </p:txBody>
      </p:sp>
      <p:sp>
        <p:nvSpPr>
          <p:cNvPr id="34" name="Rectangle 3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技术价值：把“语义正确”推进到“可执行、可审计、可解释选择”。</a:t>
            </a:r>
          </a:p>
        </p:txBody>
      </p:sp>
      <p:sp>
        <p:nvSpPr>
          <p:cNvPr id="35" name="Rectangle 3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7" name="Rectangle 3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原型支撑：研究链路已经沉淀为可运行模块和测试用例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成果汇编中的原型系统不是概念图，已经对应到模块、脚本、测试和实验资产。</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417320"/>
            <a:ext cx="1874519" cy="107899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B63CE"/>
                </a:solidFill>
                <a:latin typeface="Arial"/>
              </a:rPr>
              <a:t>namespace.py</a:t>
            </a:r>
          </a:p>
        </p:txBody>
      </p:sp>
      <p:sp>
        <p:nvSpPr>
          <p:cNvPr id="12" name="Rectangle 11"/>
          <p:cNvSpPr/>
          <p:nvPr/>
        </p:nvSpPr>
        <p:spPr>
          <a:xfrm>
            <a:off x="813816"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能力节点 / FQDN / 层级</a:t>
            </a:r>
          </a:p>
        </p:txBody>
      </p:sp>
      <p:sp>
        <p:nvSpPr>
          <p:cNvPr id="13" name="Rounded Rectangle 12"/>
          <p:cNvSpPr/>
          <p:nvPr/>
        </p:nvSpPr>
        <p:spPr>
          <a:xfrm>
            <a:off x="2953512" y="1417320"/>
            <a:ext cx="1874519" cy="1078992"/>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81528"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E83E6"/>
                </a:solidFill>
                <a:latin typeface="Arial"/>
              </a:rPr>
              <a:t>stage_r_clean.py</a:t>
            </a:r>
          </a:p>
        </p:txBody>
      </p:sp>
      <p:sp>
        <p:nvSpPr>
          <p:cNvPr id="15" name="Rectangle 14"/>
          <p:cNvSpPr/>
          <p:nvPr/>
        </p:nvSpPr>
        <p:spPr>
          <a:xfrm>
            <a:off x="3081528"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命名空间候选召回</a:t>
            </a:r>
          </a:p>
        </p:txBody>
      </p:sp>
      <p:sp>
        <p:nvSpPr>
          <p:cNvPr id="16" name="Rounded Rectangle 15"/>
          <p:cNvSpPr/>
          <p:nvPr/>
        </p:nvSpPr>
        <p:spPr>
          <a:xfrm>
            <a:off x="5221224" y="1417320"/>
            <a:ext cx="1874519" cy="107899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49240"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Arial"/>
              </a:rPr>
              <a:t>stage_a_llm.py</a:t>
            </a:r>
          </a:p>
        </p:txBody>
      </p:sp>
      <p:sp>
        <p:nvSpPr>
          <p:cNvPr id="18" name="Rectangle 17"/>
          <p:cNvSpPr/>
          <p:nvPr/>
        </p:nvSpPr>
        <p:spPr>
          <a:xfrm>
            <a:off x="5349240"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结构化语义裁决</a:t>
            </a:r>
          </a:p>
        </p:txBody>
      </p:sp>
      <p:sp>
        <p:nvSpPr>
          <p:cNvPr id="19" name="Rounded Rectangle 18"/>
          <p:cNvSpPr/>
          <p:nvPr/>
        </p:nvSpPr>
        <p:spPr>
          <a:xfrm>
            <a:off x="7488936" y="1417320"/>
            <a:ext cx="1874519" cy="107899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16952"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E97132"/>
                </a:solidFill>
                <a:latin typeface="Arial"/>
              </a:rPr>
              <a:t>stage_b_consensus.py</a:t>
            </a:r>
          </a:p>
        </p:txBody>
      </p:sp>
      <p:sp>
        <p:nvSpPr>
          <p:cNvPr id="21" name="Rectangle 20"/>
          <p:cNvSpPr/>
          <p:nvPr/>
        </p:nvSpPr>
        <p:spPr>
          <a:xfrm>
            <a:off x="7616952"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职责化复核与授权</a:t>
            </a:r>
          </a:p>
        </p:txBody>
      </p:sp>
      <p:sp>
        <p:nvSpPr>
          <p:cNvPr id="22" name="Rounded Rectangle 21"/>
          <p:cNvSpPr/>
          <p:nvPr/>
        </p:nvSpPr>
        <p:spPr>
          <a:xfrm>
            <a:off x="9756648" y="1417320"/>
            <a:ext cx="1874519" cy="1078992"/>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884664"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6B49C8"/>
                </a:solidFill>
                <a:latin typeface="Arial"/>
              </a:rPr>
              <a:t>stage_c_selector.py</a:t>
            </a:r>
          </a:p>
        </p:txBody>
      </p:sp>
      <p:sp>
        <p:nvSpPr>
          <p:cNvPr id="24" name="Rectangle 23"/>
          <p:cNvSpPr/>
          <p:nvPr/>
        </p:nvSpPr>
        <p:spPr>
          <a:xfrm>
            <a:off x="9884664"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实例过滤与排序</a:t>
            </a:r>
          </a:p>
        </p:txBody>
      </p:sp>
      <p:sp>
        <p:nvSpPr>
          <p:cNvPr id="25" name="Rounded Rectangle 24"/>
          <p:cNvSpPr/>
          <p:nvPr/>
        </p:nvSpPr>
        <p:spPr>
          <a:xfrm>
            <a:off x="786384" y="3154680"/>
            <a:ext cx="5303520" cy="15544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3447288"/>
            <a:ext cx="1280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运行入口</a:t>
            </a:r>
          </a:p>
        </p:txBody>
      </p:sp>
      <p:sp>
        <p:nvSpPr>
          <p:cNvPr id="27" name="Rectangle 26"/>
          <p:cNvSpPr/>
          <p:nvPr/>
        </p:nvSpPr>
        <p:spPr>
          <a:xfrm>
            <a:off x="1060704" y="3822191"/>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run_stage_r_clean_snapshot.py</a:t>
            </a:r>
          </a:p>
        </p:txBody>
      </p:sp>
      <p:sp>
        <p:nvSpPr>
          <p:cNvPr id="28" name="Rectangle 27"/>
          <p:cNvSpPr/>
          <p:nvPr/>
        </p:nvSpPr>
        <p:spPr>
          <a:xfrm>
            <a:off x="1060704" y="4059935"/>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run_stage_a_llm.py</a:t>
            </a:r>
          </a:p>
        </p:txBody>
      </p:sp>
      <p:sp>
        <p:nvSpPr>
          <p:cNvPr id="29" name="Rectangle 28"/>
          <p:cNvSpPr/>
          <p:nvPr/>
        </p:nvSpPr>
        <p:spPr>
          <a:xfrm>
            <a:off x="1060704" y="4297679"/>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run_stage_b.py</a:t>
            </a:r>
          </a:p>
        </p:txBody>
      </p:sp>
      <p:sp>
        <p:nvSpPr>
          <p:cNvPr id="30" name="Rectangle 29"/>
          <p:cNvSpPr/>
          <p:nvPr/>
        </p:nvSpPr>
        <p:spPr>
          <a:xfrm>
            <a:off x="1060704" y="4535424"/>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run_routing_service.py</a:t>
            </a:r>
          </a:p>
        </p:txBody>
      </p:sp>
      <p:sp>
        <p:nvSpPr>
          <p:cNvPr id="31" name="Rounded Rectangle 30"/>
          <p:cNvSpPr/>
          <p:nvPr/>
        </p:nvSpPr>
        <p:spPr>
          <a:xfrm>
            <a:off x="6629400" y="3154680"/>
            <a:ext cx="4251960" cy="15544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03720" y="3447288"/>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验证与规模</a:t>
            </a:r>
          </a:p>
        </p:txBody>
      </p:sp>
      <p:sp>
        <p:nvSpPr>
          <p:cNvPr id="33" name="Rectangle 32"/>
          <p:cNvSpPr/>
          <p:nvPr/>
        </p:nvSpPr>
        <p:spPr>
          <a:xfrm>
            <a:off x="69037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12</a:t>
            </a:r>
          </a:p>
        </p:txBody>
      </p:sp>
      <p:sp>
        <p:nvSpPr>
          <p:cNvPr id="34" name="Rectangle 33"/>
          <p:cNvSpPr/>
          <p:nvPr/>
        </p:nvSpPr>
        <p:spPr>
          <a:xfrm>
            <a:off x="68762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核心模块</a:t>
            </a:r>
          </a:p>
        </p:txBody>
      </p:sp>
      <p:sp>
        <p:nvSpPr>
          <p:cNvPr id="35" name="Rectangle 34"/>
          <p:cNvSpPr/>
          <p:nvPr/>
        </p:nvSpPr>
        <p:spPr>
          <a:xfrm>
            <a:off x="78181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5</a:t>
            </a:r>
          </a:p>
        </p:txBody>
      </p:sp>
      <p:sp>
        <p:nvSpPr>
          <p:cNvPr id="36" name="Rectangle 35"/>
          <p:cNvSpPr/>
          <p:nvPr/>
        </p:nvSpPr>
        <p:spPr>
          <a:xfrm>
            <a:off x="77906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运行脚本</a:t>
            </a:r>
          </a:p>
        </p:txBody>
      </p:sp>
      <p:sp>
        <p:nvSpPr>
          <p:cNvPr id="37" name="Rectangle 36"/>
          <p:cNvSpPr/>
          <p:nvPr/>
        </p:nvSpPr>
        <p:spPr>
          <a:xfrm>
            <a:off x="87325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Arial"/>
              </a:rPr>
              <a:t>5</a:t>
            </a:r>
          </a:p>
        </p:txBody>
      </p:sp>
      <p:sp>
        <p:nvSpPr>
          <p:cNvPr id="38" name="Rectangle 37"/>
          <p:cNvSpPr/>
          <p:nvPr/>
        </p:nvSpPr>
        <p:spPr>
          <a:xfrm>
            <a:off x="87050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测试文件</a:t>
            </a:r>
          </a:p>
        </p:txBody>
      </p:sp>
      <p:sp>
        <p:nvSpPr>
          <p:cNvPr id="39" name="Rectangle 38"/>
          <p:cNvSpPr/>
          <p:nvPr/>
        </p:nvSpPr>
        <p:spPr>
          <a:xfrm>
            <a:off x="96469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B93232"/>
                </a:solidFill>
                <a:latin typeface="Arial"/>
              </a:rPr>
              <a:t>9,787</a:t>
            </a:r>
          </a:p>
        </p:txBody>
      </p:sp>
      <p:sp>
        <p:nvSpPr>
          <p:cNvPr id="40" name="Rectangle 39"/>
          <p:cNvSpPr/>
          <p:nvPr/>
        </p:nvSpPr>
        <p:spPr>
          <a:xfrm>
            <a:off x="96194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代码与测试行数</a:t>
            </a:r>
          </a:p>
        </p:txBody>
      </p:sp>
      <p:sp>
        <p:nvSpPr>
          <p:cNvPr id="41" name="Rectangle 40"/>
          <p:cNvSpPr/>
          <p:nvPr/>
        </p:nvSpPr>
        <p:spPr>
          <a:xfrm>
            <a:off x="822960" y="5806440"/>
            <a:ext cx="6766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代码证明项目已经从方案说明进入可运行、可测试、可复现实验状态。</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样本池稳定性：新增样本增加复杂度，但没有推翻方法排序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成果汇编中的图表资产用于回答“样本是否太少、结论是否偶然”的评审追问。</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03504" y="1078992"/>
            <a:ext cx="7543800" cy="443484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historical_cumulative_train_test.png"/>
          <p:cNvPicPr>
            <a:picLocks noChangeAspect="1"/>
          </p:cNvPicPr>
          <p:nvPr/>
        </p:nvPicPr>
        <p:blipFill>
          <a:blip r:embed="rId3"/>
          <a:stretch>
            <a:fillRect/>
          </a:stretch>
        </p:blipFill>
        <p:spPr>
          <a:xfrm>
            <a:off x="859536" y="1389888"/>
            <a:ext cx="7040880" cy="3703320"/>
          </a:xfrm>
          <a:prstGeom prst="rect">
            <a:avLst/>
          </a:prstGeom>
        </p:spPr>
      </p:pic>
      <p:sp>
        <p:nvSpPr>
          <p:cNvPr id="12" name="Rounded Rectangle 11"/>
          <p:cNvSpPr/>
          <p:nvPr/>
        </p:nvSpPr>
        <p:spPr>
          <a:xfrm>
            <a:off x="8458200" y="1225296"/>
            <a:ext cx="2542032"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1444752"/>
            <a:ext cx="15087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测试集 113 条</a:t>
            </a:r>
          </a:p>
        </p:txBody>
      </p:sp>
      <p:sp>
        <p:nvSpPr>
          <p:cNvPr id="14" name="Rectangle 13"/>
          <p:cNvSpPr/>
          <p:nvPr/>
        </p:nvSpPr>
        <p:spPr>
          <a:xfrm>
            <a:off x="8732520" y="1719072"/>
            <a:ext cx="178308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Arial"/>
              </a:rPr>
              <a:t>结构化语义路由 0.8761
默认协作复核 0.8850
扩展配置 0.9292</a:t>
            </a:r>
          </a:p>
        </p:txBody>
      </p:sp>
      <p:sp>
        <p:nvSpPr>
          <p:cNvPr id="15" name="Rounded Rectangle 14"/>
          <p:cNvSpPr/>
          <p:nvPr/>
        </p:nvSpPr>
        <p:spPr>
          <a:xfrm>
            <a:off x="8458200" y="2542032"/>
            <a:ext cx="2542032"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2761488"/>
            <a:ext cx="13258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稳定性含义</a:t>
            </a:r>
          </a:p>
        </p:txBody>
      </p:sp>
      <p:sp>
        <p:nvSpPr>
          <p:cNvPr id="17" name="Rectangle 16"/>
          <p:cNvSpPr/>
          <p:nvPr/>
        </p:nvSpPr>
        <p:spPr>
          <a:xfrm>
            <a:off x="8732520" y="3035808"/>
            <a:ext cx="178308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53657A"/>
                </a:solidFill>
                <a:latin typeface="Microsoft YaHei"/>
              </a:rPr>
              <a:t>累计到 73、93、113 条时，三条方法曲线保持相对排序，没有因新增样本出现反转。</a:t>
            </a:r>
          </a:p>
        </p:txBody>
      </p:sp>
      <p:sp>
        <p:nvSpPr>
          <p:cNvPr id="18" name="Rounded Rectangle 17"/>
          <p:cNvSpPr/>
          <p:nvPr/>
        </p:nvSpPr>
        <p:spPr>
          <a:xfrm>
            <a:off x="8458200" y="3785615"/>
            <a:ext cx="2542032" cy="118872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407822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B93232"/>
                </a:solidFill>
                <a:latin typeface="Microsoft YaHei"/>
              </a:rPr>
              <a:t>答辩话术</a:t>
            </a:r>
          </a:p>
        </p:txBody>
      </p:sp>
      <p:sp>
        <p:nvSpPr>
          <p:cNvPr id="20" name="Rectangle 19"/>
          <p:cNvSpPr/>
          <p:nvPr/>
        </p:nvSpPr>
        <p:spPr>
          <a:xfrm>
            <a:off x="8732520" y="4334256"/>
            <a:ext cx="17830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0" b="0">
                <a:solidFill>
                  <a:srgbClr val="53657A"/>
                </a:solidFill>
                <a:latin typeface="Microsoft YaHei"/>
              </a:rPr>
              <a:t>不声称覆盖全部未来命名空间；当前 563 样本用于排除“少量早期样本偶然支撑”的解释。</a:t>
            </a:r>
          </a:p>
        </p:txBody>
      </p:sp>
      <p:sp>
        <p:nvSpPr>
          <p:cNvPr id="21" name="Rectangle 20"/>
          <p:cNvSpPr/>
          <p:nvPr/>
        </p:nvSpPr>
        <p:spPr>
          <a:xfrm>
            <a:off x="841248" y="5742432"/>
            <a:ext cx="9326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这一页是新版论文的关键补强：把“项目样本规模是否支撑结论”从口头解释变成可视化证据。</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突破创新：把多智能体协作与可信认知标识压实到可验证链路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最新报告口径强调项目不是单点算法，而是能力组织、协作共识、可信留痕和原型验证的组合突破。</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417320"/>
            <a:ext cx="3154680" cy="105156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B63CE"/>
                </a:solidFill>
                <a:latin typeface="Arial"/>
              </a:rPr>
              <a:t>01</a:t>
            </a:r>
          </a:p>
        </p:txBody>
      </p:sp>
      <p:sp>
        <p:nvSpPr>
          <p:cNvPr id="12" name="Rectangle 11"/>
          <p:cNvSpPr/>
          <p:nvPr/>
        </p:nvSpPr>
        <p:spPr>
          <a:xfrm>
            <a:off x="14356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能力命名突破</a:t>
            </a:r>
          </a:p>
        </p:txBody>
      </p:sp>
      <p:sp>
        <p:nvSpPr>
          <p:cNvPr id="13" name="Rectangle 12"/>
          <p:cNvSpPr/>
          <p:nvPr/>
        </p:nvSpPr>
        <p:spPr>
          <a:xfrm>
            <a:off x="14356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构建能力逻辑地址与实例逻辑地址分层表达，支撑候选组织</a:t>
            </a:r>
          </a:p>
        </p:txBody>
      </p:sp>
      <p:sp>
        <p:nvSpPr>
          <p:cNvPr id="14" name="Rounded Rectangle 13"/>
          <p:cNvSpPr/>
          <p:nvPr/>
        </p:nvSpPr>
        <p:spPr>
          <a:xfrm>
            <a:off x="4434840" y="1417320"/>
            <a:ext cx="3154680" cy="10515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994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E8A57"/>
                </a:solidFill>
                <a:latin typeface="Arial"/>
              </a:rPr>
              <a:t>02</a:t>
            </a:r>
          </a:p>
        </p:txBody>
      </p:sp>
      <p:sp>
        <p:nvSpPr>
          <p:cNvPr id="16" name="Rectangle 15"/>
          <p:cNvSpPr/>
          <p:nvPr/>
        </p:nvSpPr>
        <p:spPr>
          <a:xfrm>
            <a:off x="50932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结构化判别突破</a:t>
            </a:r>
          </a:p>
        </p:txBody>
      </p:sp>
      <p:sp>
        <p:nvSpPr>
          <p:cNvPr id="17" name="Rectangle 16"/>
          <p:cNvSpPr/>
          <p:nvPr/>
        </p:nvSpPr>
        <p:spPr>
          <a:xfrm>
            <a:off x="50932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将大模型判断压缩为 decision packet、score、margin 和冲突摘要</a:t>
            </a:r>
          </a:p>
        </p:txBody>
      </p:sp>
      <p:sp>
        <p:nvSpPr>
          <p:cNvPr id="18" name="Rounded Rectangle 17"/>
          <p:cNvSpPr/>
          <p:nvPr/>
        </p:nvSpPr>
        <p:spPr>
          <a:xfrm>
            <a:off x="8092440" y="1417320"/>
            <a:ext cx="3154680" cy="10515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570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E97132"/>
                </a:solidFill>
                <a:latin typeface="Arial"/>
              </a:rPr>
              <a:t>03</a:t>
            </a:r>
          </a:p>
        </p:txBody>
      </p:sp>
      <p:sp>
        <p:nvSpPr>
          <p:cNvPr id="20" name="Rectangle 19"/>
          <p:cNvSpPr/>
          <p:nvPr/>
        </p:nvSpPr>
        <p:spPr>
          <a:xfrm>
            <a:off x="8750808"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职责化协作突破</a:t>
            </a:r>
          </a:p>
        </p:txBody>
      </p:sp>
      <p:sp>
        <p:nvSpPr>
          <p:cNvPr id="21" name="Rectangle 20"/>
          <p:cNvSpPr/>
          <p:nvPr/>
        </p:nvSpPr>
        <p:spPr>
          <a:xfrm>
            <a:off x="8750808"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任务匹配、治理风险、层级解析、用户偏好形成异质证据视图</a:t>
            </a:r>
          </a:p>
        </p:txBody>
      </p:sp>
      <p:sp>
        <p:nvSpPr>
          <p:cNvPr id="22" name="Rounded Rectangle 21"/>
          <p:cNvSpPr/>
          <p:nvPr/>
        </p:nvSpPr>
        <p:spPr>
          <a:xfrm>
            <a:off x="777240" y="2862072"/>
            <a:ext cx="3154680" cy="105156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1832"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6B49C8"/>
                </a:solidFill>
                <a:latin typeface="Arial"/>
              </a:rPr>
              <a:t>04</a:t>
            </a:r>
          </a:p>
        </p:txBody>
      </p:sp>
      <p:sp>
        <p:nvSpPr>
          <p:cNvPr id="24" name="Rectangle 23"/>
          <p:cNvSpPr/>
          <p:nvPr/>
        </p:nvSpPr>
        <p:spPr>
          <a:xfrm>
            <a:off x="14356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显式授权突破</a:t>
            </a:r>
          </a:p>
        </p:txBody>
      </p:sp>
      <p:sp>
        <p:nvSpPr>
          <p:cNvPr id="25" name="Rectangle 24"/>
          <p:cNvSpPr/>
          <p:nvPr/>
        </p:nvSpPr>
        <p:spPr>
          <a:xfrm>
            <a:off x="14356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复核触发与最终改判解耦，用票数、共识增益和证据门槛控制误改</a:t>
            </a:r>
          </a:p>
        </p:txBody>
      </p:sp>
      <p:sp>
        <p:nvSpPr>
          <p:cNvPr id="26" name="Rounded Rectangle 25"/>
          <p:cNvSpPr/>
          <p:nvPr/>
        </p:nvSpPr>
        <p:spPr>
          <a:xfrm>
            <a:off x="4434840" y="2862072"/>
            <a:ext cx="3154680" cy="1051560"/>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99431"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B93232"/>
                </a:solidFill>
                <a:latin typeface="Arial"/>
              </a:rPr>
              <a:t>05</a:t>
            </a:r>
          </a:p>
        </p:txBody>
      </p:sp>
      <p:sp>
        <p:nvSpPr>
          <p:cNvPr id="28" name="Rectangle 27"/>
          <p:cNvSpPr/>
          <p:nvPr/>
        </p:nvSpPr>
        <p:spPr>
          <a:xfrm>
            <a:off x="50932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可信留痕突破</a:t>
            </a:r>
          </a:p>
        </p:txBody>
      </p:sp>
      <p:sp>
        <p:nvSpPr>
          <p:cNvPr id="29" name="Rectangle 28"/>
          <p:cNvSpPr/>
          <p:nvPr/>
        </p:nvSpPr>
        <p:spPr>
          <a:xfrm>
            <a:off x="50932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候选、判断、复核、授权、执行落点全链路记录，支撑回放和审计</a:t>
            </a:r>
          </a:p>
        </p:txBody>
      </p:sp>
      <p:sp>
        <p:nvSpPr>
          <p:cNvPr id="30" name="Rounded Rectangle 29"/>
          <p:cNvSpPr/>
          <p:nvPr/>
        </p:nvSpPr>
        <p:spPr>
          <a:xfrm>
            <a:off x="914400" y="4956048"/>
            <a:ext cx="9875520" cy="71323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88720" y="5157216"/>
            <a:ext cx="85953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102033"/>
                </a:solidFill>
                <a:latin typeface="Microsoft YaHei"/>
              </a:rPr>
              <a:t>攻关结果：形成“能力命名—结构化判别—职责化复核—可信过程记录—执行落点衔接”的可复用技术链条。</a:t>
            </a:r>
          </a:p>
        </p:txBody>
      </p:sp>
      <p:sp>
        <p:nvSpPr>
          <p:cNvPr id="32" name="Rectangle 31"/>
          <p:cNvSpPr/>
          <p:nvPr/>
        </p:nvSpPr>
        <p:spPr>
          <a:xfrm>
            <a:off x="1188720" y="5422392"/>
            <a:ext cx="7955279"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实验层面用 563 冻结样本、累计稳定性、配对消融和典型案例证明该链条不是概念拼接。</a:t>
            </a:r>
          </a:p>
        </p:txBody>
      </p:sp>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研究产出：五类成果进入验收材料包</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按成果汇编口径组织，不把论文、报告、专利、原型和数据实验割裂展示。</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evidence_wall.png"/>
          <p:cNvPicPr>
            <a:picLocks noChangeAspect="1"/>
          </p:cNvPicPr>
          <p:nvPr/>
        </p:nvPicPr>
        <p:blipFill>
          <a:blip r:embed="rId3"/>
          <a:stretch>
            <a:fillRect/>
          </a:stretch>
        </p:blipFill>
        <p:spPr>
          <a:xfrm>
            <a:off x="566928" y="1115568"/>
            <a:ext cx="7680960" cy="4023360"/>
          </a:xfrm>
          <a:prstGeom prst="rect">
            <a:avLst/>
          </a:prstGeom>
        </p:spPr>
      </p:pic>
      <p:sp>
        <p:nvSpPr>
          <p:cNvPr id="11" name="Rounded Rectangle 10"/>
          <p:cNvSpPr/>
          <p:nvPr/>
        </p:nvSpPr>
        <p:spPr>
          <a:xfrm>
            <a:off x="8549640" y="1371600"/>
            <a:ext cx="2377440" cy="33832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1691640"/>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成果清单</a:t>
            </a:r>
          </a:p>
        </p:txBody>
      </p:sp>
      <p:sp>
        <p:nvSpPr>
          <p:cNvPr id="13" name="Oval 12"/>
          <p:cNvSpPr/>
          <p:nvPr/>
        </p:nvSpPr>
        <p:spPr>
          <a:xfrm>
            <a:off x="8851392" y="217627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15984" y="2121408"/>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原型系统</a:t>
            </a:r>
          </a:p>
        </p:txBody>
      </p:sp>
      <p:sp>
        <p:nvSpPr>
          <p:cNvPr id="15" name="Oval 14"/>
          <p:cNvSpPr/>
          <p:nvPr/>
        </p:nvSpPr>
        <p:spPr>
          <a:xfrm>
            <a:off x="8851392" y="248716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15984" y="2432303"/>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技术报告</a:t>
            </a:r>
          </a:p>
        </p:txBody>
      </p:sp>
      <p:sp>
        <p:nvSpPr>
          <p:cNvPr id="17" name="Oval 16"/>
          <p:cNvSpPr/>
          <p:nvPr/>
        </p:nvSpPr>
        <p:spPr>
          <a:xfrm>
            <a:off x="8851392" y="279806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15984" y="27432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论文投稿稿</a:t>
            </a:r>
          </a:p>
        </p:txBody>
      </p:sp>
      <p:sp>
        <p:nvSpPr>
          <p:cNvPr id="19" name="Oval 18"/>
          <p:cNvSpPr/>
          <p:nvPr/>
        </p:nvSpPr>
        <p:spPr>
          <a:xfrm>
            <a:off x="8851392" y="310896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3054096"/>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发明专利材料</a:t>
            </a:r>
          </a:p>
        </p:txBody>
      </p:sp>
      <p:sp>
        <p:nvSpPr>
          <p:cNvPr id="21" name="Oval 20"/>
          <p:cNvSpPr/>
          <p:nvPr/>
        </p:nvSpPr>
        <p:spPr>
          <a:xfrm>
            <a:off x="8851392" y="34198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15984" y="3364991"/>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数据与实验资产</a:t>
            </a:r>
          </a:p>
        </p:txBody>
      </p:sp>
      <p:sp>
        <p:nvSpPr>
          <p:cNvPr id="23" name="Oval 22"/>
          <p:cNvSpPr/>
          <p:nvPr/>
        </p:nvSpPr>
        <p:spPr>
          <a:xfrm>
            <a:off x="8851392" y="3730751"/>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5984" y="3675887"/>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成果汇编/宣传稿</a:t>
            </a:r>
          </a:p>
        </p:txBody>
      </p:sp>
      <p:sp>
        <p:nvSpPr>
          <p:cNvPr id="25" name="Rectangle 24"/>
          <p:cNvSpPr/>
          <p:nvPr/>
        </p:nvSpPr>
        <p:spPr>
          <a:xfrm>
            <a:off x="777240" y="5715000"/>
            <a:ext cx="95097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102033"/>
                </a:solidFill>
                <a:latin typeface="Microsoft YaHei"/>
              </a:rPr>
              <a:t>成果汇编作为“证据总账”：原型、报告、论文、专利和实验资产均有对应材料，正式受理/展示证明按管理口径补齐。</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考核指标对应：成果汇编已逐项落到证明材料</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把任务书指标转成验收表，而不是只列技术亮点。专利正式受理号、展示证明等以最终附件补充。</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49808" y="1234440"/>
            <a:ext cx="23317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59" y="1344168"/>
            <a:ext cx="2185415"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考核指标</a:t>
            </a:r>
          </a:p>
        </p:txBody>
      </p:sp>
      <p:sp>
        <p:nvSpPr>
          <p:cNvPr id="12" name="Rectangle 11"/>
          <p:cNvSpPr/>
          <p:nvPr/>
        </p:nvSpPr>
        <p:spPr>
          <a:xfrm>
            <a:off x="3081527" y="1234440"/>
            <a:ext cx="123444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54679" y="1344168"/>
            <a:ext cx="108813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状态</a:t>
            </a:r>
          </a:p>
        </p:txBody>
      </p:sp>
      <p:sp>
        <p:nvSpPr>
          <p:cNvPr id="14" name="Rectangle 13"/>
          <p:cNvSpPr/>
          <p:nvPr/>
        </p:nvSpPr>
        <p:spPr>
          <a:xfrm>
            <a:off x="4315968" y="1234440"/>
            <a:ext cx="658368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344168"/>
            <a:ext cx="643737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证据说明</a:t>
            </a:r>
          </a:p>
        </p:txBody>
      </p:sp>
      <p:sp>
        <p:nvSpPr>
          <p:cNvPr id="16" name="Rectangle 15"/>
          <p:cNvSpPr/>
          <p:nvPr/>
        </p:nvSpPr>
        <p:spPr>
          <a:xfrm>
            <a:off x="749808" y="1655064"/>
            <a:ext cx="233172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1856232"/>
            <a:ext cx="211226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102033"/>
                </a:solidFill>
                <a:latin typeface="Microsoft YaHei"/>
              </a:rPr>
              <a:t>原型系统</a:t>
            </a:r>
          </a:p>
        </p:txBody>
      </p:sp>
      <p:sp>
        <p:nvSpPr>
          <p:cNvPr id="18" name="Rectangle 17"/>
          <p:cNvSpPr/>
          <p:nvPr/>
        </p:nvSpPr>
        <p:spPr>
          <a:xfrm>
            <a:off x="3081527" y="1655064"/>
            <a:ext cx="123444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91256" y="1856232"/>
            <a:ext cx="10149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0E8A57"/>
                </a:solidFill>
                <a:latin typeface="Microsoft YaHei"/>
              </a:rPr>
              <a:t>已完成</a:t>
            </a:r>
          </a:p>
        </p:txBody>
      </p:sp>
      <p:sp>
        <p:nvSpPr>
          <p:cNvPr id="20" name="Rectangle 19"/>
          <p:cNvSpPr/>
          <p:nvPr/>
        </p:nvSpPr>
        <p:spPr>
          <a:xfrm>
            <a:off x="4315968" y="1655064"/>
            <a:ext cx="658368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25696" y="1856232"/>
            <a:ext cx="63642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102033"/>
                </a:solidFill>
                <a:latin typeface="Microsoft YaHei"/>
              </a:rPr>
              <a:t>能力命名与语义路由控制台，覆盖请求输入、候选组织、协作复核、过程记录和执行映射</a:t>
            </a:r>
          </a:p>
        </p:txBody>
      </p:sp>
      <p:sp>
        <p:nvSpPr>
          <p:cNvPr id="22" name="Rectangle 21"/>
          <p:cNvSpPr/>
          <p:nvPr/>
        </p:nvSpPr>
        <p:spPr>
          <a:xfrm>
            <a:off x="749808" y="2331720"/>
            <a:ext cx="233172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 y="2532888"/>
            <a:ext cx="211226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102033"/>
                </a:solidFill>
                <a:latin typeface="Microsoft YaHei"/>
              </a:rPr>
              <a:t>算法方法</a:t>
            </a:r>
          </a:p>
        </p:txBody>
      </p:sp>
      <p:sp>
        <p:nvSpPr>
          <p:cNvPr id="24" name="Rectangle 23"/>
          <p:cNvSpPr/>
          <p:nvPr/>
        </p:nvSpPr>
        <p:spPr>
          <a:xfrm>
            <a:off x="3081527" y="2331720"/>
            <a:ext cx="123444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91256" y="2532888"/>
            <a:ext cx="10149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0E8A57"/>
                </a:solidFill>
                <a:latin typeface="Microsoft YaHei"/>
              </a:rPr>
              <a:t>已完成</a:t>
            </a:r>
          </a:p>
        </p:txBody>
      </p:sp>
      <p:sp>
        <p:nvSpPr>
          <p:cNvPr id="26" name="Rectangle 25"/>
          <p:cNvSpPr/>
          <p:nvPr/>
        </p:nvSpPr>
        <p:spPr>
          <a:xfrm>
            <a:off x="4315968" y="2331720"/>
            <a:ext cx="658368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25696" y="2532888"/>
            <a:ext cx="63642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102033"/>
                </a:solidFill>
                <a:latin typeface="Microsoft YaHei"/>
              </a:rPr>
              <a:t>结构化语义路由、职责化协作复核、执行实例过滤和过程轨迹模型</a:t>
            </a:r>
          </a:p>
        </p:txBody>
      </p:sp>
      <p:sp>
        <p:nvSpPr>
          <p:cNvPr id="28" name="Rectangle 27"/>
          <p:cNvSpPr/>
          <p:nvPr/>
        </p:nvSpPr>
        <p:spPr>
          <a:xfrm>
            <a:off x="749808" y="3008376"/>
            <a:ext cx="233172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9536" y="3209544"/>
            <a:ext cx="211226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102033"/>
                </a:solidFill>
                <a:latin typeface="Microsoft YaHei"/>
              </a:rPr>
              <a:t>数据实验</a:t>
            </a:r>
          </a:p>
        </p:txBody>
      </p:sp>
      <p:sp>
        <p:nvSpPr>
          <p:cNvPr id="30" name="Rectangle 29"/>
          <p:cNvSpPr/>
          <p:nvPr/>
        </p:nvSpPr>
        <p:spPr>
          <a:xfrm>
            <a:off x="3081527" y="3008376"/>
            <a:ext cx="123444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91256" y="3209544"/>
            <a:ext cx="10149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0E8A57"/>
                </a:solidFill>
                <a:latin typeface="Microsoft YaHei"/>
              </a:rPr>
              <a:t>已完成</a:t>
            </a:r>
          </a:p>
        </p:txBody>
      </p:sp>
      <p:sp>
        <p:nvSpPr>
          <p:cNvPr id="32" name="Rectangle 31"/>
          <p:cNvSpPr/>
          <p:nvPr/>
        </p:nvSpPr>
        <p:spPr>
          <a:xfrm>
            <a:off x="4315968" y="3008376"/>
            <a:ext cx="658368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25696" y="3209544"/>
            <a:ext cx="63642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102033"/>
                </a:solidFill>
                <a:latin typeface="Microsoft YaHei"/>
              </a:rPr>
              <a:t>563 样本、50 个能力节点、45 类主标签，完成冻结 train/test、配对消融和稳定性分析</a:t>
            </a:r>
          </a:p>
        </p:txBody>
      </p:sp>
      <p:sp>
        <p:nvSpPr>
          <p:cNvPr id="34" name="Rectangle 33"/>
          <p:cNvSpPr/>
          <p:nvPr/>
        </p:nvSpPr>
        <p:spPr>
          <a:xfrm>
            <a:off x="749808" y="3685031"/>
            <a:ext cx="233172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 y="3886199"/>
            <a:ext cx="211226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102033"/>
                </a:solidFill>
                <a:latin typeface="Microsoft YaHei"/>
              </a:rPr>
              <a:t>论文报告</a:t>
            </a:r>
          </a:p>
        </p:txBody>
      </p:sp>
      <p:sp>
        <p:nvSpPr>
          <p:cNvPr id="36" name="Rectangle 35"/>
          <p:cNvSpPr/>
          <p:nvPr/>
        </p:nvSpPr>
        <p:spPr>
          <a:xfrm>
            <a:off x="3081527" y="3685031"/>
            <a:ext cx="123444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191256" y="3886199"/>
            <a:ext cx="10149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0E8A57"/>
                </a:solidFill>
                <a:latin typeface="Microsoft YaHei"/>
              </a:rPr>
              <a:t>已完成</a:t>
            </a:r>
          </a:p>
        </p:txBody>
      </p:sp>
      <p:sp>
        <p:nvSpPr>
          <p:cNvPr id="38" name="Rectangle 37"/>
          <p:cNvSpPr/>
          <p:nvPr/>
        </p:nvSpPr>
        <p:spPr>
          <a:xfrm>
            <a:off x="4315968" y="3685031"/>
            <a:ext cx="658368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3886199"/>
            <a:ext cx="63642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102033"/>
                </a:solidFill>
                <a:latin typeface="Microsoft YaHei"/>
              </a:rPr>
              <a:t>技术报告、论文投稿稿、成果汇编和验收报告填写版已经形成</a:t>
            </a:r>
          </a:p>
        </p:txBody>
      </p:sp>
      <p:sp>
        <p:nvSpPr>
          <p:cNvPr id="40" name="Rectangle 39"/>
          <p:cNvSpPr/>
          <p:nvPr/>
        </p:nvSpPr>
        <p:spPr>
          <a:xfrm>
            <a:off x="749808" y="4361688"/>
            <a:ext cx="233172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9536" y="4562855"/>
            <a:ext cx="211226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102033"/>
                </a:solidFill>
                <a:latin typeface="Microsoft YaHei"/>
              </a:rPr>
              <a:t>知识产权</a:t>
            </a:r>
          </a:p>
        </p:txBody>
      </p:sp>
      <p:sp>
        <p:nvSpPr>
          <p:cNvPr id="42" name="Rectangle 41"/>
          <p:cNvSpPr/>
          <p:nvPr/>
        </p:nvSpPr>
        <p:spPr>
          <a:xfrm>
            <a:off x="3081527" y="4361688"/>
            <a:ext cx="123444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191256" y="4562855"/>
            <a:ext cx="101498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E97132"/>
                </a:solidFill>
                <a:latin typeface="Microsoft YaHei"/>
              </a:rPr>
              <a:t>状态待补</a:t>
            </a:r>
          </a:p>
        </p:txBody>
      </p:sp>
      <p:sp>
        <p:nvSpPr>
          <p:cNvPr id="44" name="Rectangle 43"/>
          <p:cNvSpPr/>
          <p:nvPr/>
        </p:nvSpPr>
        <p:spPr>
          <a:xfrm>
            <a:off x="4315968" y="4361688"/>
            <a:ext cx="6583680" cy="67665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25696" y="4562855"/>
            <a:ext cx="63642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102033"/>
                </a:solidFill>
                <a:latin typeface="Microsoft YaHei"/>
              </a:rPr>
              <a:t>专利申请材料、交底书、权利要求、说明书摘要和附图已形成，受理证明待正式补充</a:t>
            </a:r>
          </a:p>
        </p:txBody>
      </p:sp>
      <p:sp>
        <p:nvSpPr>
          <p:cNvPr id="46" name="Rounded Rectangle 45"/>
          <p:cNvSpPr/>
          <p:nvPr/>
        </p:nvSpPr>
        <p:spPr>
          <a:xfrm>
            <a:off x="914400" y="5212080"/>
            <a:ext cx="960120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70432" y="5413248"/>
            <a:ext cx="8503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102033"/>
                </a:solidFill>
                <a:latin typeface="Microsoft YaHei"/>
              </a:rPr>
              <a:t>验收提交包建议按成果汇编目录组装：原型系统、算法方法、数据实验、论文报告、知识产权、展示证明。</a:t>
            </a:r>
          </a:p>
        </p:txBody>
      </p:sp>
      <p:sp>
        <p:nvSpPr>
          <p:cNvPr id="48" name="Rectangle 4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0" name="Rectangle 4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问题边界与下一步：保留严谨表述，避免过度承诺</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评审往往会追问规模化、成本、外推性和端到端联调，这页提前回答。</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417320"/>
            <a:ext cx="4526280" cy="100584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3"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外推性</a:t>
            </a:r>
          </a:p>
        </p:txBody>
      </p:sp>
      <p:sp>
        <p:nvSpPr>
          <p:cNvPr id="12" name="Rectangle 11"/>
          <p:cNvSpPr/>
          <p:nvPr/>
        </p:nvSpPr>
        <p:spPr>
          <a:xfrm>
            <a:off x="2048255"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现有结果建立在冻结样本与后验诊断池上，后续需扩展独立验证样本。</a:t>
            </a:r>
          </a:p>
        </p:txBody>
      </p:sp>
      <p:sp>
        <p:nvSpPr>
          <p:cNvPr id="13" name="Rounded Rectangle 12"/>
          <p:cNvSpPr/>
          <p:nvPr/>
        </p:nvSpPr>
        <p:spPr>
          <a:xfrm>
            <a:off x="6044184" y="1417320"/>
            <a:ext cx="4526280" cy="100584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2784"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运行成本</a:t>
            </a:r>
          </a:p>
        </p:txBody>
      </p:sp>
      <p:sp>
        <p:nvSpPr>
          <p:cNvPr id="15" name="Rectangle 14"/>
          <p:cNvSpPr/>
          <p:nvPr/>
        </p:nvSpPr>
        <p:spPr>
          <a:xfrm>
            <a:off x="7306056"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已用慢路径率与修正收益做代理，真实 token、时延、稳定性仍需统一记录。</a:t>
            </a:r>
          </a:p>
        </p:txBody>
      </p:sp>
      <p:sp>
        <p:nvSpPr>
          <p:cNvPr id="16" name="Rounded Rectangle 15"/>
          <p:cNvSpPr/>
          <p:nvPr/>
        </p:nvSpPr>
        <p:spPr>
          <a:xfrm>
            <a:off x="786384" y="2834640"/>
            <a:ext cx="4526280" cy="100584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4983"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E8A57"/>
                </a:solidFill>
                <a:latin typeface="Microsoft YaHei"/>
              </a:rPr>
              <a:t>系统联调</a:t>
            </a:r>
          </a:p>
        </p:txBody>
      </p:sp>
      <p:sp>
        <p:nvSpPr>
          <p:cNvPr id="18" name="Rectangle 17"/>
          <p:cNvSpPr/>
          <p:nvPr/>
        </p:nvSpPr>
        <p:spPr>
          <a:xfrm>
            <a:off x="2048255"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Stage C 已有原型设计与测试，完整业务端到端联调需继续推进。</a:t>
            </a:r>
          </a:p>
        </p:txBody>
      </p:sp>
      <p:sp>
        <p:nvSpPr>
          <p:cNvPr id="19" name="Rounded Rectangle 18"/>
          <p:cNvSpPr/>
          <p:nvPr/>
        </p:nvSpPr>
        <p:spPr>
          <a:xfrm>
            <a:off x="6044184" y="2834640"/>
            <a:ext cx="4526280" cy="100584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2784"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6B49C8"/>
                </a:solidFill>
                <a:latin typeface="Microsoft YaHei"/>
              </a:rPr>
              <a:t>可信强度</a:t>
            </a:r>
          </a:p>
        </p:txBody>
      </p:sp>
      <p:sp>
        <p:nvSpPr>
          <p:cNvPr id="21" name="Rectangle 20"/>
          <p:cNvSpPr/>
          <p:nvPr/>
        </p:nvSpPr>
        <p:spPr>
          <a:xfrm>
            <a:off x="7306056"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当前是工程审计能力，后续可加入 hash-chain 与篡改检测。</a:t>
            </a:r>
          </a:p>
        </p:txBody>
      </p:sp>
      <p:sp>
        <p:nvSpPr>
          <p:cNvPr id="22" name="Rounded Rectangle 21"/>
          <p:cNvSpPr/>
          <p:nvPr/>
        </p:nvSpPr>
        <p:spPr>
          <a:xfrm>
            <a:off x="914400" y="4800600"/>
            <a:ext cx="9875520" cy="78638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0432" y="5074920"/>
            <a:ext cx="8503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FFFFFF"/>
                </a:solidFill>
                <a:latin typeface="Microsoft YaHei"/>
              </a:rPr>
              <a:t>后续重点：扩大验证范围、完善质量/成本/时延日志、推动演示端联调、凝练标准化表达与业务试点。</a:t>
            </a:r>
          </a:p>
        </p:txBody>
      </p:sp>
      <p:sp>
        <p:nvSpPr>
          <p:cNvPr id="24" name="Rectangle 2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6" name="Rectangle 2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4944" y="841248"/>
            <a:ext cx="10972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总结</a:t>
            </a:r>
          </a:p>
        </p:txBody>
      </p:sp>
      <p:sp>
        <p:nvSpPr>
          <p:cNvPr id="4" name="Rectangle 3"/>
          <p:cNvSpPr/>
          <p:nvPr/>
        </p:nvSpPr>
        <p:spPr>
          <a:xfrm>
            <a:off x="713232" y="1371600"/>
            <a:ext cx="137160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965960"/>
            <a:ext cx="347472" cy="347472"/>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2066543"/>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1</a:t>
            </a:r>
          </a:p>
        </p:txBody>
      </p:sp>
      <p:sp>
        <p:nvSpPr>
          <p:cNvPr id="7" name="Rectangle 6"/>
          <p:cNvSpPr/>
          <p:nvPr/>
        </p:nvSpPr>
        <p:spPr>
          <a:xfrm>
            <a:off x="1417320" y="19842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完成验收指标</a:t>
            </a:r>
          </a:p>
        </p:txBody>
      </p:sp>
      <p:sp>
        <p:nvSpPr>
          <p:cNvPr id="8" name="Rectangle 7"/>
          <p:cNvSpPr/>
          <p:nvPr/>
        </p:nvSpPr>
        <p:spPr>
          <a:xfrm>
            <a:off x="1426464" y="23500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原型、报告/论文、专利材料、展示支撑均已形成。</a:t>
            </a:r>
          </a:p>
        </p:txBody>
      </p:sp>
      <p:sp>
        <p:nvSpPr>
          <p:cNvPr id="9" name="Oval 8"/>
          <p:cNvSpPr/>
          <p:nvPr/>
        </p:nvSpPr>
        <p:spPr>
          <a:xfrm>
            <a:off x="877824" y="2880360"/>
            <a:ext cx="347472" cy="347472"/>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7824" y="29809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2</a:t>
            </a:r>
          </a:p>
        </p:txBody>
      </p:sp>
      <p:sp>
        <p:nvSpPr>
          <p:cNvPr id="11" name="Rectangle 10"/>
          <p:cNvSpPr/>
          <p:nvPr/>
        </p:nvSpPr>
        <p:spPr>
          <a:xfrm>
            <a:off x="1417320" y="28986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形成技术闭环</a:t>
            </a:r>
          </a:p>
        </p:txBody>
      </p:sp>
      <p:sp>
        <p:nvSpPr>
          <p:cNvPr id="12" name="Rectangle 11"/>
          <p:cNvSpPr/>
          <p:nvPr/>
        </p:nvSpPr>
        <p:spPr>
          <a:xfrm>
            <a:off x="1426464" y="32644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能力命名、语义路由、职责化复核、执行落点和过程轨迹贯通。</a:t>
            </a:r>
          </a:p>
        </p:txBody>
      </p:sp>
      <p:sp>
        <p:nvSpPr>
          <p:cNvPr id="13" name="Oval 12"/>
          <p:cNvSpPr/>
          <p:nvPr/>
        </p:nvSpPr>
        <p:spPr>
          <a:xfrm>
            <a:off x="877824" y="3794760"/>
            <a:ext cx="347472" cy="34747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7824" y="38953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3</a:t>
            </a:r>
          </a:p>
        </p:txBody>
      </p:sp>
      <p:sp>
        <p:nvSpPr>
          <p:cNvPr id="15" name="Rectangle 14"/>
          <p:cNvSpPr/>
          <p:nvPr/>
        </p:nvSpPr>
        <p:spPr>
          <a:xfrm>
            <a:off x="1417320" y="38130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具备延展价值</a:t>
            </a:r>
          </a:p>
        </p:txBody>
      </p:sp>
      <p:sp>
        <p:nvSpPr>
          <p:cNvPr id="16" name="Rectangle 15"/>
          <p:cNvSpPr/>
          <p:nvPr/>
        </p:nvSpPr>
        <p:spPr>
          <a:xfrm>
            <a:off x="1426464" y="41788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可继续支撑 AgentDNS、智能体标识、服务发现与治理审计方向。</a:t>
            </a:r>
          </a:p>
        </p:txBody>
      </p:sp>
      <p:sp>
        <p:nvSpPr>
          <p:cNvPr id="17" name="Rectangle 16"/>
          <p:cNvSpPr/>
          <p:nvPr/>
        </p:nvSpPr>
        <p:spPr>
          <a:xfrm>
            <a:off x="713232" y="5833872"/>
            <a:ext cx="3474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谢谢，请各位专家批评指正</a:t>
            </a:r>
          </a:p>
        </p:txBody>
      </p:sp>
      <p:sp>
        <p:nvSpPr>
          <p:cNvPr id="18" name="Rectangle 17"/>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19" name="Rectangle 18"/>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