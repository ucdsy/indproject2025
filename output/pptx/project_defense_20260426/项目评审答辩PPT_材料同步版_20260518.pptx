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58368" y="621792"/>
            <a:ext cx="29718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26B6FF"/>
                </a:solidFill>
                <a:latin typeface="Microsoft YaHei"/>
              </a:rPr>
              <a:t>重点项目验收答辩｜材料同步版</a:t>
            </a:r>
          </a:p>
        </p:txBody>
      </p:sp>
      <p:sp>
        <p:nvSpPr>
          <p:cNvPr id="4" name="Rectangle 3"/>
          <p:cNvSpPr/>
          <p:nvPr/>
        </p:nvSpPr>
        <p:spPr>
          <a:xfrm>
            <a:off x="658368" y="969264"/>
            <a:ext cx="1572768"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316736"/>
            <a:ext cx="7680960" cy="93268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面向互联网基础资源的大模型多智能体协作与可信认知标识技术研究</a:t>
            </a:r>
          </a:p>
        </p:txBody>
      </p:sp>
      <p:sp>
        <p:nvSpPr>
          <p:cNvPr id="6" name="Rectangle 5"/>
          <p:cNvSpPr/>
          <p:nvPr/>
        </p:nvSpPr>
        <p:spPr>
          <a:xfrm>
            <a:off x="685800" y="2487168"/>
            <a:ext cx="8138160" cy="3200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80" b="0">
                <a:solidFill>
                  <a:srgbClr val="CFE4FF"/>
                </a:solidFill>
                <a:latin typeface="Microsoft YaHei"/>
              </a:rPr>
              <a:t>以智能体能力命名与语义路由为典型验证场景，形成协作复核、可信留痕和原型验证闭环</a:t>
            </a:r>
          </a:p>
        </p:txBody>
      </p:sp>
      <p:sp>
        <p:nvSpPr>
          <p:cNvPr id="7" name="Rounded Rectangle 6"/>
          <p:cNvSpPr/>
          <p:nvPr/>
        </p:nvSpPr>
        <p:spPr>
          <a:xfrm>
            <a:off x="713232"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86384"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563</a:t>
            </a:r>
          </a:p>
        </p:txBody>
      </p:sp>
      <p:sp>
        <p:nvSpPr>
          <p:cNvPr id="9" name="Rectangle 8"/>
          <p:cNvSpPr/>
          <p:nvPr/>
        </p:nvSpPr>
        <p:spPr>
          <a:xfrm>
            <a:off x="786384"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真实样本冻结集</a:t>
            </a:r>
          </a:p>
        </p:txBody>
      </p:sp>
      <p:sp>
        <p:nvSpPr>
          <p:cNvPr id="10" name="Rounded Rectangle 9"/>
          <p:cNvSpPr/>
          <p:nvPr/>
        </p:nvSpPr>
        <p:spPr>
          <a:xfrm>
            <a:off x="2706624"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779776"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50/45</a:t>
            </a:r>
          </a:p>
        </p:txBody>
      </p:sp>
      <p:sp>
        <p:nvSpPr>
          <p:cNvPr id="12" name="Rectangle 11"/>
          <p:cNvSpPr/>
          <p:nvPr/>
        </p:nvSpPr>
        <p:spPr>
          <a:xfrm>
            <a:off x="2779776"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节点/主标签</a:t>
            </a:r>
          </a:p>
        </p:txBody>
      </p:sp>
      <p:sp>
        <p:nvSpPr>
          <p:cNvPr id="13" name="Rounded Rectangle 12"/>
          <p:cNvSpPr/>
          <p:nvPr/>
        </p:nvSpPr>
        <p:spPr>
          <a:xfrm>
            <a:off x="4700016"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73168"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44.25%</a:t>
            </a:r>
          </a:p>
        </p:txBody>
      </p:sp>
      <p:sp>
        <p:nvSpPr>
          <p:cNvPr id="15" name="Rectangle 14"/>
          <p:cNvSpPr/>
          <p:nvPr/>
        </p:nvSpPr>
        <p:spPr>
          <a:xfrm>
            <a:off x="4773168"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默认协作触发率</a:t>
            </a:r>
          </a:p>
        </p:txBody>
      </p:sp>
      <p:sp>
        <p:nvSpPr>
          <p:cNvPr id="16" name="Rounded Rectangle 15"/>
          <p:cNvSpPr/>
          <p:nvPr/>
        </p:nvSpPr>
        <p:spPr>
          <a:xfrm>
            <a:off x="6693408" y="3886200"/>
            <a:ext cx="1700784" cy="694944"/>
          </a:xfrm>
          <a:prstGeom prst="roundRect">
            <a:avLst/>
          </a:prstGeom>
          <a:solidFill>
            <a:srgbClr val="0B3C7C"/>
          </a:solidFill>
          <a:ln w="12700">
            <a:solidFill>
              <a:srgbClr val="4C96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66560" y="3995928"/>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000" b="1">
                <a:solidFill>
                  <a:srgbClr val="FFFFFF"/>
                </a:solidFill>
                <a:latin typeface="Arial"/>
              </a:rPr>
              <a:t>5/5/0</a:t>
            </a:r>
          </a:p>
        </p:txBody>
      </p:sp>
      <p:sp>
        <p:nvSpPr>
          <p:cNvPr id="18" name="Rectangle 17"/>
          <p:cNvSpPr/>
          <p:nvPr/>
        </p:nvSpPr>
        <p:spPr>
          <a:xfrm>
            <a:off x="6766560" y="4315968"/>
            <a:ext cx="15544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60" b="0">
                <a:solidFill>
                  <a:srgbClr val="D2E6FF"/>
                </a:solidFill>
                <a:latin typeface="Microsoft YaHei"/>
              </a:rPr>
              <a:t>改判/纠错/误改</a:t>
            </a:r>
          </a:p>
        </p:txBody>
      </p:sp>
      <p:sp>
        <p:nvSpPr>
          <p:cNvPr id="19" name="Rectangle 18"/>
          <p:cNvSpPr/>
          <p:nvPr/>
        </p:nvSpPr>
        <p:spPr>
          <a:xfrm>
            <a:off x="676656" y="6053328"/>
            <a:ext cx="676656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D2E6FF"/>
                </a:solidFill>
                <a:latin typeface="Microsoft YaHei"/>
              </a:rPr>
              <a:t>承研处所：技术发展所    项目负责人：邓斯宇    起止时间：2025年5月-2026年4月</a:t>
            </a:r>
          </a:p>
        </p:txBody>
      </p:sp>
      <p:sp>
        <p:nvSpPr>
          <p:cNvPr id="20" name="Rectangle 19"/>
          <p:cNvSpPr/>
          <p:nvPr/>
        </p:nvSpPr>
        <p:spPr>
          <a:xfrm>
            <a:off x="10588752" y="347472"/>
            <a:ext cx="10058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300" b="1">
                <a:solidFill>
                  <a:srgbClr val="FFFFFF"/>
                </a:solidFill>
                <a:latin typeface="Arial"/>
              </a:rPr>
              <a:t>CNNIC</a:t>
            </a:r>
          </a:p>
        </p:txBody>
      </p:sp>
      <p:sp>
        <p:nvSpPr>
          <p:cNvPr id="21" name="Rectangle 20"/>
          <p:cNvSpPr/>
          <p:nvPr/>
        </p:nvSpPr>
        <p:spPr>
          <a:xfrm>
            <a:off x="9966960" y="640080"/>
            <a:ext cx="1627632"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D2E6FF"/>
                </a:solidFill>
                <a:latin typeface="Microsoft YaHei"/>
              </a:rPr>
              <a:t>中国互联网络信息中心</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答辩主线：项目题目回到多智能体协作与可信认知标识</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最新技术报告和成果汇编明确：语义路由是典型验证载体，不替代项目总体研究目标。</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078992"/>
            <a:ext cx="13716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0B63CE"/>
                </a:solidFill>
                <a:latin typeface="Microsoft YaHei"/>
              </a:rPr>
              <a:t>核心判断</a:t>
            </a:r>
          </a:p>
        </p:txBody>
      </p:sp>
      <p:sp>
        <p:nvSpPr>
          <p:cNvPr id="11" name="Rectangle 10"/>
          <p:cNvSpPr/>
          <p:nvPr/>
        </p:nvSpPr>
        <p:spPr>
          <a:xfrm>
            <a:off x="658368" y="1444752"/>
            <a:ext cx="946404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102033"/>
                </a:solidFill>
                <a:latin typeface="Microsoft YaHei"/>
              </a:rPr>
              <a:t>项目不是只做一个语义路由算法，而是把任务书中的观点差异、可信标识和共识生成落实为可运行、可评测、可留痕的协作框架。</a:t>
            </a:r>
          </a:p>
        </p:txBody>
      </p:sp>
      <p:sp>
        <p:nvSpPr>
          <p:cNvPr id="12" name="Rounded Rectangle 11"/>
          <p:cNvSpPr/>
          <p:nvPr/>
        </p:nvSpPr>
        <p:spPr>
          <a:xfrm>
            <a:off x="713232" y="2212848"/>
            <a:ext cx="2331720" cy="1152144"/>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7824" y="2414016"/>
            <a:ext cx="804672"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Arial"/>
              </a:rPr>
              <a:t>N</a:t>
            </a:r>
          </a:p>
        </p:txBody>
      </p:sp>
      <p:sp>
        <p:nvSpPr>
          <p:cNvPr id="14" name="Rectangle 13"/>
          <p:cNvSpPr/>
          <p:nvPr/>
        </p:nvSpPr>
        <p:spPr>
          <a:xfrm>
            <a:off x="1645920" y="2395728"/>
            <a:ext cx="1051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能力命名</a:t>
            </a:r>
          </a:p>
        </p:txBody>
      </p:sp>
      <p:sp>
        <p:nvSpPr>
          <p:cNvPr id="15" name="Rectangle 14"/>
          <p:cNvSpPr/>
          <p:nvPr/>
        </p:nvSpPr>
        <p:spPr>
          <a:xfrm>
            <a:off x="896112" y="2834640"/>
            <a:ext cx="1783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把智能体能力组织成可比较对象</a:t>
            </a:r>
          </a:p>
        </p:txBody>
      </p:sp>
      <p:sp>
        <p:nvSpPr>
          <p:cNvPr id="16" name="Rectangle 15"/>
          <p:cNvSpPr/>
          <p:nvPr/>
        </p:nvSpPr>
        <p:spPr>
          <a:xfrm>
            <a:off x="3108960" y="2788920"/>
            <a:ext cx="310896" cy="2540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3502152" y="2212848"/>
            <a:ext cx="2331720" cy="115214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66744" y="2414016"/>
            <a:ext cx="804672"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Arial"/>
              </a:rPr>
              <a:t>ŷ,R̂</a:t>
            </a:r>
          </a:p>
        </p:txBody>
      </p:sp>
      <p:sp>
        <p:nvSpPr>
          <p:cNvPr id="19" name="Rectangle 18"/>
          <p:cNvSpPr/>
          <p:nvPr/>
        </p:nvSpPr>
        <p:spPr>
          <a:xfrm>
            <a:off x="4434840" y="2395728"/>
            <a:ext cx="1051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结构化判别</a:t>
            </a:r>
          </a:p>
        </p:txBody>
      </p:sp>
      <p:sp>
        <p:nvSpPr>
          <p:cNvPr id="20" name="Rectangle 19"/>
          <p:cNvSpPr/>
          <p:nvPr/>
        </p:nvSpPr>
        <p:spPr>
          <a:xfrm>
            <a:off x="3685032" y="2834640"/>
            <a:ext cx="1783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主能力 + 相关能力 + 可接受回落</a:t>
            </a:r>
          </a:p>
        </p:txBody>
      </p:sp>
      <p:sp>
        <p:nvSpPr>
          <p:cNvPr id="21" name="Rectangle 20"/>
          <p:cNvSpPr/>
          <p:nvPr/>
        </p:nvSpPr>
        <p:spPr>
          <a:xfrm>
            <a:off x="5897880" y="2788920"/>
            <a:ext cx="310896" cy="2540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291072" y="2212848"/>
            <a:ext cx="2331720" cy="1152144"/>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455664" y="2414016"/>
            <a:ext cx="804672"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E97132"/>
                </a:solidFill>
                <a:latin typeface="Arial"/>
              </a:rPr>
              <a:t>B</a:t>
            </a:r>
          </a:p>
        </p:txBody>
      </p:sp>
      <p:sp>
        <p:nvSpPr>
          <p:cNvPr id="24" name="Rectangle 23"/>
          <p:cNvSpPr/>
          <p:nvPr/>
        </p:nvSpPr>
        <p:spPr>
          <a:xfrm>
            <a:off x="7223760" y="2395728"/>
            <a:ext cx="1051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协作共识</a:t>
            </a:r>
          </a:p>
        </p:txBody>
      </p:sp>
      <p:sp>
        <p:nvSpPr>
          <p:cNvPr id="25" name="Rectangle 24"/>
          <p:cNvSpPr/>
          <p:nvPr/>
        </p:nvSpPr>
        <p:spPr>
          <a:xfrm>
            <a:off x="6473952" y="2834640"/>
            <a:ext cx="1783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低置信 / 高风险 / 多意图样本复核</a:t>
            </a:r>
          </a:p>
        </p:txBody>
      </p:sp>
      <p:sp>
        <p:nvSpPr>
          <p:cNvPr id="26" name="Rectangle 25"/>
          <p:cNvSpPr/>
          <p:nvPr/>
        </p:nvSpPr>
        <p:spPr>
          <a:xfrm>
            <a:off x="8686800" y="2788920"/>
            <a:ext cx="310896" cy="2540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079991" y="2212848"/>
            <a:ext cx="2331720" cy="1152144"/>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244583" y="2414016"/>
            <a:ext cx="804672"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6B49C8"/>
                </a:solidFill>
                <a:latin typeface="Arial"/>
              </a:rPr>
              <a:t>T(x)</a:t>
            </a:r>
          </a:p>
        </p:txBody>
      </p:sp>
      <p:sp>
        <p:nvSpPr>
          <p:cNvPr id="29" name="Rectangle 28"/>
          <p:cNvSpPr/>
          <p:nvPr/>
        </p:nvSpPr>
        <p:spPr>
          <a:xfrm>
            <a:off x="10012679" y="2395728"/>
            <a:ext cx="1051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可信留痕</a:t>
            </a:r>
          </a:p>
        </p:txBody>
      </p:sp>
      <p:sp>
        <p:nvSpPr>
          <p:cNvPr id="30" name="Rectangle 29"/>
          <p:cNvSpPr/>
          <p:nvPr/>
        </p:nvSpPr>
        <p:spPr>
          <a:xfrm>
            <a:off x="9262871" y="2834640"/>
            <a:ext cx="1783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候选、判断、复核、授权、落点全记录</a:t>
            </a:r>
          </a:p>
        </p:txBody>
      </p:sp>
      <p:sp>
        <p:nvSpPr>
          <p:cNvPr id="31" name="Rounded Rectangle 30"/>
          <p:cNvSpPr/>
          <p:nvPr/>
        </p:nvSpPr>
        <p:spPr>
          <a:xfrm>
            <a:off x="749808" y="3886200"/>
            <a:ext cx="4663440" cy="621792"/>
          </a:xfrm>
          <a:prstGeom prst="roundRect">
            <a:avLst/>
          </a:prstGeom>
          <a:solidFill>
            <a:srgbClr val="F8FB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14400" y="4050791"/>
            <a:ext cx="10515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0B63CE"/>
                </a:solidFill>
                <a:latin typeface="Microsoft YaHei"/>
              </a:rPr>
              <a:t>任务书口径</a:t>
            </a:r>
          </a:p>
        </p:txBody>
      </p:sp>
      <p:sp>
        <p:nvSpPr>
          <p:cNvPr id="33" name="Rectangle 32"/>
          <p:cNvSpPr/>
          <p:nvPr/>
        </p:nvSpPr>
        <p:spPr>
          <a:xfrm>
            <a:off x="2075688" y="4023360"/>
            <a:ext cx="2971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多智能体协作原型、可信认知标识、真实标签反馈和成果展示统一呈现。</a:t>
            </a:r>
          </a:p>
        </p:txBody>
      </p:sp>
      <p:sp>
        <p:nvSpPr>
          <p:cNvPr id="34" name="Rounded Rectangle 33"/>
          <p:cNvSpPr/>
          <p:nvPr/>
        </p:nvSpPr>
        <p:spPr>
          <a:xfrm>
            <a:off x="6144768" y="3886200"/>
            <a:ext cx="4663440" cy="621792"/>
          </a:xfrm>
          <a:prstGeom prst="roundRect">
            <a:avLst/>
          </a:prstGeom>
          <a:solidFill>
            <a:srgbClr val="F8FB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09360" y="4050791"/>
            <a:ext cx="10515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0E8A57"/>
                </a:solidFill>
                <a:latin typeface="Microsoft YaHei"/>
              </a:rPr>
              <a:t>论文口径</a:t>
            </a:r>
          </a:p>
        </p:txBody>
      </p:sp>
      <p:sp>
        <p:nvSpPr>
          <p:cNvPr id="36" name="Rectangle 35"/>
          <p:cNvSpPr/>
          <p:nvPr/>
        </p:nvSpPr>
        <p:spPr>
          <a:xfrm>
            <a:off x="7470648" y="4023360"/>
            <a:ext cx="2971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受限能力命名空间语义路由作为可投稿的问题定义和实验验证。</a:t>
            </a:r>
          </a:p>
        </p:txBody>
      </p:sp>
      <p:sp>
        <p:nvSpPr>
          <p:cNvPr id="37" name="Rounded Rectangle 36"/>
          <p:cNvSpPr/>
          <p:nvPr/>
        </p:nvSpPr>
        <p:spPr>
          <a:xfrm>
            <a:off x="749808" y="4727448"/>
            <a:ext cx="4663440" cy="621792"/>
          </a:xfrm>
          <a:prstGeom prst="roundRect">
            <a:avLst/>
          </a:prstGeom>
          <a:solidFill>
            <a:srgbClr val="F8FB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14400" y="4892040"/>
            <a:ext cx="10515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E97132"/>
                </a:solidFill>
                <a:latin typeface="Microsoft YaHei"/>
              </a:rPr>
              <a:t>报告口径</a:t>
            </a:r>
          </a:p>
        </p:txBody>
      </p:sp>
      <p:sp>
        <p:nvSpPr>
          <p:cNvPr id="39" name="Rectangle 38"/>
          <p:cNvSpPr/>
          <p:nvPr/>
        </p:nvSpPr>
        <p:spPr>
          <a:xfrm>
            <a:off x="2075688" y="4864608"/>
            <a:ext cx="2971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语义路由是互联网基础资源任务中的典型验证场景，不写成生产级基础设施。</a:t>
            </a:r>
          </a:p>
        </p:txBody>
      </p:sp>
      <p:sp>
        <p:nvSpPr>
          <p:cNvPr id="40" name="Rounded Rectangle 39"/>
          <p:cNvSpPr/>
          <p:nvPr/>
        </p:nvSpPr>
        <p:spPr>
          <a:xfrm>
            <a:off x="6144768" y="4727448"/>
            <a:ext cx="4663440" cy="621792"/>
          </a:xfrm>
          <a:prstGeom prst="roundRect">
            <a:avLst/>
          </a:prstGeom>
          <a:solidFill>
            <a:srgbClr val="F8FB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6309360" y="4892040"/>
            <a:ext cx="10515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1">
                <a:solidFill>
                  <a:srgbClr val="6B49C8"/>
                </a:solidFill>
                <a:latin typeface="Microsoft YaHei"/>
              </a:rPr>
              <a:t>成果口径</a:t>
            </a:r>
          </a:p>
        </p:txBody>
      </p:sp>
      <p:sp>
        <p:nvSpPr>
          <p:cNvPr id="42" name="Rectangle 41"/>
          <p:cNvSpPr/>
          <p:nvPr/>
        </p:nvSpPr>
        <p:spPr>
          <a:xfrm>
            <a:off x="7470648" y="4864608"/>
            <a:ext cx="2971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53657A"/>
                </a:solidFill>
                <a:latin typeface="Microsoft YaHei"/>
              </a:rPr>
              <a:t>原型、数据、论文、技术报告、专利材料、成果汇编和宣传材料成套。</a:t>
            </a:r>
          </a:p>
        </p:txBody>
      </p:sp>
      <p:sp>
        <p:nvSpPr>
          <p:cNvPr id="43" name="Rectangle 4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5" name="Rectangle 4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58368" y="658368"/>
            <a:ext cx="201168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答辩提纲</a:t>
            </a:r>
          </a:p>
        </p:txBody>
      </p:sp>
      <p:sp>
        <p:nvSpPr>
          <p:cNvPr id="4" name="Rectangle 3"/>
          <p:cNvSpPr/>
          <p:nvPr/>
        </p:nvSpPr>
        <p:spPr>
          <a:xfrm>
            <a:off x="676656" y="1207008"/>
            <a:ext cx="1463040"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1600200"/>
            <a:ext cx="310896" cy="310896"/>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55064"/>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一</a:t>
            </a:r>
          </a:p>
        </p:txBody>
      </p:sp>
      <p:sp>
        <p:nvSpPr>
          <p:cNvPr id="7" name="Rectangle 6"/>
          <p:cNvSpPr/>
          <p:nvPr/>
        </p:nvSpPr>
        <p:spPr>
          <a:xfrm>
            <a:off x="1444752" y="1572768"/>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项目定位</a:t>
            </a:r>
          </a:p>
        </p:txBody>
      </p:sp>
      <p:sp>
        <p:nvSpPr>
          <p:cNvPr id="8" name="Rectangle 7"/>
          <p:cNvSpPr/>
          <p:nvPr/>
        </p:nvSpPr>
        <p:spPr>
          <a:xfrm>
            <a:off x="3383280" y="1600200"/>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任务书目标、技术报告口径与典型验证场景</a:t>
            </a:r>
          </a:p>
        </p:txBody>
      </p:sp>
      <p:sp>
        <p:nvSpPr>
          <p:cNvPr id="9" name="Oval 8"/>
          <p:cNvSpPr/>
          <p:nvPr/>
        </p:nvSpPr>
        <p:spPr>
          <a:xfrm>
            <a:off x="914400" y="2404872"/>
            <a:ext cx="310896" cy="310896"/>
          </a:xfrm>
          <a:prstGeom prst="ellipse">
            <a:avLst/>
          </a:prstGeom>
          <a:solidFill>
            <a:srgbClr val="F4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914400" y="2459736"/>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二</a:t>
            </a:r>
          </a:p>
        </p:txBody>
      </p:sp>
      <p:sp>
        <p:nvSpPr>
          <p:cNvPr id="11" name="Rectangle 10"/>
          <p:cNvSpPr/>
          <p:nvPr/>
        </p:nvSpPr>
        <p:spPr>
          <a:xfrm>
            <a:off x="1444752" y="2377440"/>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技术路线</a:t>
            </a:r>
          </a:p>
        </p:txBody>
      </p:sp>
      <p:sp>
        <p:nvSpPr>
          <p:cNvPr id="12" name="Rectangle 11"/>
          <p:cNvSpPr/>
          <p:nvPr/>
        </p:nvSpPr>
        <p:spPr>
          <a:xfrm>
            <a:off x="3383280" y="2404872"/>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能力命名、结构化判别、职责化复核、可信留痕</a:t>
            </a:r>
          </a:p>
        </p:txBody>
      </p:sp>
      <p:sp>
        <p:nvSpPr>
          <p:cNvPr id="13" name="Oval 12"/>
          <p:cNvSpPr/>
          <p:nvPr/>
        </p:nvSpPr>
        <p:spPr>
          <a:xfrm>
            <a:off x="914400" y="3209544"/>
            <a:ext cx="310896" cy="310896"/>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14400" y="3264408"/>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三</a:t>
            </a:r>
          </a:p>
        </p:txBody>
      </p:sp>
      <p:sp>
        <p:nvSpPr>
          <p:cNvPr id="15" name="Rectangle 14"/>
          <p:cNvSpPr/>
          <p:nvPr/>
        </p:nvSpPr>
        <p:spPr>
          <a:xfrm>
            <a:off x="1444752" y="3182112"/>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工程实现</a:t>
            </a:r>
          </a:p>
        </p:txBody>
      </p:sp>
      <p:sp>
        <p:nvSpPr>
          <p:cNvPr id="16" name="Rectangle 15"/>
          <p:cNvSpPr/>
          <p:nvPr/>
        </p:nvSpPr>
        <p:spPr>
          <a:xfrm>
            <a:off x="3383280" y="3209544"/>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Stage R/A/B/C、trace contract 与执行落点</a:t>
            </a:r>
          </a:p>
        </p:txBody>
      </p:sp>
      <p:sp>
        <p:nvSpPr>
          <p:cNvPr id="17" name="Oval 16"/>
          <p:cNvSpPr/>
          <p:nvPr/>
        </p:nvSpPr>
        <p:spPr>
          <a:xfrm>
            <a:off x="914400" y="4014216"/>
            <a:ext cx="310896" cy="310896"/>
          </a:xfrm>
          <a:prstGeom prst="ellipse">
            <a:avLst/>
          </a:prstGeom>
          <a:solidFill>
            <a:srgbClr val="6B4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14400" y="4069080"/>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四</a:t>
            </a:r>
          </a:p>
        </p:txBody>
      </p:sp>
      <p:sp>
        <p:nvSpPr>
          <p:cNvPr id="19" name="Rectangle 18"/>
          <p:cNvSpPr/>
          <p:nvPr/>
        </p:nvSpPr>
        <p:spPr>
          <a:xfrm>
            <a:off x="1444752" y="3986784"/>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实验验证</a:t>
            </a:r>
          </a:p>
        </p:txBody>
      </p:sp>
      <p:sp>
        <p:nvSpPr>
          <p:cNvPr id="20" name="Rectangle 19"/>
          <p:cNvSpPr/>
          <p:nvPr/>
        </p:nvSpPr>
        <p:spPr>
          <a:xfrm>
            <a:off x="3383280" y="4014216"/>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563 样本、冻结协议、配对消融与稳定性</a:t>
            </a:r>
          </a:p>
        </p:txBody>
      </p:sp>
      <p:sp>
        <p:nvSpPr>
          <p:cNvPr id="21" name="Oval 20"/>
          <p:cNvSpPr/>
          <p:nvPr/>
        </p:nvSpPr>
        <p:spPr>
          <a:xfrm>
            <a:off x="914400" y="4818888"/>
            <a:ext cx="310896" cy="310896"/>
          </a:xfrm>
          <a:prstGeom prst="ellipse">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14400" y="4873751"/>
            <a:ext cx="31089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Microsoft YaHei"/>
              </a:rPr>
              <a:t>五</a:t>
            </a:r>
          </a:p>
        </p:txBody>
      </p:sp>
      <p:sp>
        <p:nvSpPr>
          <p:cNvPr id="23" name="Rectangle 22"/>
          <p:cNvSpPr/>
          <p:nvPr/>
        </p:nvSpPr>
        <p:spPr>
          <a:xfrm>
            <a:off x="1444752" y="4791455"/>
            <a:ext cx="19202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成果验收</a:t>
            </a:r>
          </a:p>
        </p:txBody>
      </p:sp>
      <p:sp>
        <p:nvSpPr>
          <p:cNvPr id="24" name="Rectangle 23"/>
          <p:cNvSpPr/>
          <p:nvPr/>
        </p:nvSpPr>
        <p:spPr>
          <a:xfrm>
            <a:off x="3383280" y="4818888"/>
            <a:ext cx="5303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D2E6FF"/>
                </a:solidFill>
                <a:latin typeface="Microsoft YaHei"/>
              </a:rPr>
              <a:t>报告、论文、专利、宣传与后续工作</a:t>
            </a:r>
          </a:p>
        </p:txBody>
      </p:sp>
      <p:sp>
        <p:nvSpPr>
          <p:cNvPr id="25" name="Rectangle 24"/>
          <p:cNvSpPr/>
          <p:nvPr/>
        </p:nvSpPr>
        <p:spPr>
          <a:xfrm>
            <a:off x="713232" y="5961888"/>
            <a:ext cx="804672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D2E6FF"/>
                </a:solidFill>
                <a:latin typeface="Microsoft YaHei"/>
              </a:rPr>
              <a:t>主线：以最新技术报告为项目口径，以论文结果为硬证据，以成果汇编承接验收与归档。</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攻关难点：不是做一次分类，而是把可控候选决策做成系统能力</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论文更新后，技术难点已经清晰收敛到固定能力集合内的主能力选择、相关能力识别和受控复核。</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115568"/>
            <a:ext cx="182880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0B63CE"/>
                </a:solidFill>
                <a:latin typeface="Microsoft YaHei"/>
              </a:rPr>
              <a:t>四个硬约束</a:t>
            </a:r>
          </a:p>
        </p:txBody>
      </p:sp>
      <p:sp>
        <p:nvSpPr>
          <p:cNvPr id="11" name="Rounded Rectangle 10"/>
          <p:cNvSpPr/>
          <p:nvPr/>
        </p:nvSpPr>
        <p:spPr>
          <a:xfrm>
            <a:off x="713232" y="1627632"/>
            <a:ext cx="4800600" cy="1024128"/>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32688" y="1810512"/>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0B63CE"/>
                </a:solidFill>
                <a:latin typeface="Arial"/>
              </a:rPr>
              <a:t>01</a:t>
            </a:r>
          </a:p>
        </p:txBody>
      </p:sp>
      <p:sp>
        <p:nvSpPr>
          <p:cNvPr id="13" name="Rectangle 12"/>
          <p:cNvSpPr/>
          <p:nvPr/>
        </p:nvSpPr>
        <p:spPr>
          <a:xfrm>
            <a:off x="1517904" y="1801368"/>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候选固定</a:t>
            </a:r>
          </a:p>
        </p:txBody>
      </p:sp>
      <p:sp>
        <p:nvSpPr>
          <p:cNvPr id="14" name="Rectangle 13"/>
          <p:cNvSpPr/>
          <p:nvPr/>
        </p:nvSpPr>
        <p:spPr>
          <a:xfrm>
            <a:off x="1517904" y="2157984"/>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平台已经给出能力目录，算法不能自由生成候选外地址，必须在候选内稳定比较。</a:t>
            </a:r>
          </a:p>
        </p:txBody>
      </p:sp>
      <p:sp>
        <p:nvSpPr>
          <p:cNvPr id="15" name="Rounded Rectangle 14"/>
          <p:cNvSpPr/>
          <p:nvPr/>
        </p:nvSpPr>
        <p:spPr>
          <a:xfrm>
            <a:off x="6272784" y="1627632"/>
            <a:ext cx="4800600" cy="1024128"/>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492240" y="1810512"/>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E97132"/>
                </a:solidFill>
                <a:latin typeface="Arial"/>
              </a:rPr>
              <a:t>02</a:t>
            </a:r>
          </a:p>
        </p:txBody>
      </p:sp>
      <p:sp>
        <p:nvSpPr>
          <p:cNvPr id="17" name="Rectangle 16"/>
          <p:cNvSpPr/>
          <p:nvPr/>
        </p:nvSpPr>
        <p:spPr>
          <a:xfrm>
            <a:off x="7077456" y="1801368"/>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语义复合</a:t>
            </a:r>
          </a:p>
        </p:txBody>
      </p:sp>
      <p:sp>
        <p:nvSpPr>
          <p:cNvPr id="18" name="Rectangle 17"/>
          <p:cNvSpPr/>
          <p:nvPr/>
        </p:nvSpPr>
        <p:spPr>
          <a:xfrm>
            <a:off x="7077456" y="2157984"/>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请求包含主任务、次要诉求、场景线索和治理约束，单一关键词规则容易误判。</a:t>
            </a:r>
          </a:p>
        </p:txBody>
      </p:sp>
      <p:sp>
        <p:nvSpPr>
          <p:cNvPr id="19" name="Rounded Rectangle 18"/>
          <p:cNvSpPr/>
          <p:nvPr/>
        </p:nvSpPr>
        <p:spPr>
          <a:xfrm>
            <a:off x="713232" y="2980944"/>
            <a:ext cx="4800600" cy="1024128"/>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32688" y="3163824"/>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0E8A57"/>
                </a:solidFill>
                <a:latin typeface="Arial"/>
              </a:rPr>
              <a:t>03</a:t>
            </a:r>
          </a:p>
        </p:txBody>
      </p:sp>
      <p:sp>
        <p:nvSpPr>
          <p:cNvPr id="21" name="Rectangle 20"/>
          <p:cNvSpPr/>
          <p:nvPr/>
        </p:nvSpPr>
        <p:spPr>
          <a:xfrm>
            <a:off x="1517904" y="3154679"/>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层级冲突</a:t>
            </a:r>
          </a:p>
        </p:txBody>
      </p:sp>
      <p:sp>
        <p:nvSpPr>
          <p:cNvPr id="22" name="Rectangle 21"/>
          <p:cNvSpPr/>
          <p:nvPr/>
        </p:nvSpPr>
        <p:spPr>
          <a:xfrm>
            <a:off x="1517904" y="3511296"/>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父子节点、同层竞争和可接受回落并存，需要区分合理回落与粒度错误。</a:t>
            </a:r>
          </a:p>
        </p:txBody>
      </p:sp>
      <p:sp>
        <p:nvSpPr>
          <p:cNvPr id="23" name="Rounded Rectangle 22"/>
          <p:cNvSpPr/>
          <p:nvPr/>
        </p:nvSpPr>
        <p:spPr>
          <a:xfrm>
            <a:off x="6272784" y="2980944"/>
            <a:ext cx="4800600" cy="1024128"/>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492240" y="3163824"/>
            <a:ext cx="475488"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6B49C8"/>
                </a:solidFill>
                <a:latin typeface="Arial"/>
              </a:rPr>
              <a:t>04</a:t>
            </a:r>
          </a:p>
        </p:txBody>
      </p:sp>
      <p:sp>
        <p:nvSpPr>
          <p:cNvPr id="25" name="Rectangle 24"/>
          <p:cNvSpPr/>
          <p:nvPr/>
        </p:nvSpPr>
        <p:spPr>
          <a:xfrm>
            <a:off x="7077456" y="3154679"/>
            <a:ext cx="192024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102033"/>
                </a:solidFill>
                <a:latin typeface="Microsoft YaHei"/>
              </a:rPr>
              <a:t>复核受控</a:t>
            </a:r>
          </a:p>
        </p:txBody>
      </p:sp>
      <p:sp>
        <p:nvSpPr>
          <p:cNvPr id="26" name="Rectangle 25"/>
          <p:cNvSpPr/>
          <p:nvPr/>
        </p:nvSpPr>
        <p:spPr>
          <a:xfrm>
            <a:off x="7077456" y="3511296"/>
            <a:ext cx="3456432" cy="29260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60" b="0">
                <a:solidFill>
                  <a:srgbClr val="53657A"/>
                </a:solidFill>
                <a:latin typeface="Microsoft YaHei"/>
              </a:rPr>
              <a:t>多智能体不能无边界讨论，必须有触发条件、职责视图和改判授权门槛。</a:t>
            </a:r>
          </a:p>
        </p:txBody>
      </p:sp>
      <p:sp>
        <p:nvSpPr>
          <p:cNvPr id="27" name="Rounded Rectangle 26"/>
          <p:cNvSpPr/>
          <p:nvPr/>
        </p:nvSpPr>
        <p:spPr>
          <a:xfrm>
            <a:off x="822960" y="4572000"/>
            <a:ext cx="10241280" cy="987552"/>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43000" y="4846320"/>
            <a:ext cx="12801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26B6FF"/>
                </a:solidFill>
                <a:latin typeface="Microsoft YaHei"/>
              </a:rPr>
              <a:t>攻关抓手</a:t>
            </a:r>
          </a:p>
        </p:txBody>
      </p:sp>
      <p:sp>
        <p:nvSpPr>
          <p:cNvPr id="29" name="Rectangle 28"/>
          <p:cNvSpPr/>
          <p:nvPr/>
        </p:nvSpPr>
        <p:spPr>
          <a:xfrm>
            <a:off x="2487168" y="4754880"/>
            <a:ext cx="763524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把“自然语言请求到能力地址”定义为受限能力命名空间下的语义路由问题。</a:t>
            </a:r>
          </a:p>
        </p:txBody>
      </p:sp>
      <p:sp>
        <p:nvSpPr>
          <p:cNvPr id="30" name="Rectangle 29"/>
          <p:cNvSpPr/>
          <p:nvPr/>
        </p:nvSpPr>
        <p:spPr>
          <a:xfrm>
            <a:off x="2496312" y="5193792"/>
            <a:ext cx="74523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30" b="0">
                <a:solidFill>
                  <a:srgbClr val="D2E6FF"/>
                </a:solidFill>
                <a:latin typeface="Microsoft YaHei"/>
              </a:rPr>
              <a:t>项目难度在于同时保证候选边界、语义判别、协作纠错、执行落点和过程审计五件事成立。</a:t>
            </a:r>
          </a:p>
        </p:txBody>
      </p:sp>
      <p:sp>
        <p:nvSpPr>
          <p:cNvPr id="31" name="Rectangle 30"/>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3" name="Rectangle 3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任务书到攻关闭环：每个考核点都对应技术难题和突破证据</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重点项目验收不只看材料是否齐备，更要看任务书要求如何转化为可验证的攻关成果。</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658368" y="1207008"/>
            <a:ext cx="25603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31519" y="1316736"/>
            <a:ext cx="2414015"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50" b="1">
                <a:solidFill>
                  <a:srgbClr val="FFFFFF"/>
                </a:solidFill>
                <a:latin typeface="Microsoft YaHei"/>
              </a:rPr>
              <a:t>任务书要求</a:t>
            </a:r>
          </a:p>
        </p:txBody>
      </p:sp>
      <p:sp>
        <p:nvSpPr>
          <p:cNvPr id="12" name="Rectangle 11"/>
          <p:cNvSpPr/>
          <p:nvPr/>
        </p:nvSpPr>
        <p:spPr>
          <a:xfrm>
            <a:off x="3218687" y="1207008"/>
            <a:ext cx="37033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1839" y="1316736"/>
            <a:ext cx="3557015"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50" b="1">
                <a:solidFill>
                  <a:srgbClr val="FFFFFF"/>
                </a:solidFill>
                <a:latin typeface="Microsoft YaHei"/>
              </a:rPr>
              <a:t>攻关难点</a:t>
            </a:r>
          </a:p>
        </p:txBody>
      </p:sp>
      <p:sp>
        <p:nvSpPr>
          <p:cNvPr id="14" name="Rectangle 13"/>
          <p:cNvSpPr/>
          <p:nvPr/>
        </p:nvSpPr>
        <p:spPr>
          <a:xfrm>
            <a:off x="6922007" y="1207008"/>
            <a:ext cx="425196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995159" y="1316736"/>
            <a:ext cx="4105656"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150" b="1">
                <a:solidFill>
                  <a:srgbClr val="FFFFFF"/>
                </a:solidFill>
                <a:latin typeface="Microsoft YaHei"/>
              </a:rPr>
              <a:t>突破结果与评审证据</a:t>
            </a:r>
          </a:p>
        </p:txBody>
      </p:sp>
      <p:sp>
        <p:nvSpPr>
          <p:cNvPr id="16" name="Rectangle 15"/>
          <p:cNvSpPr/>
          <p:nvPr/>
        </p:nvSpPr>
        <p:spPr>
          <a:xfrm>
            <a:off x="658368" y="1627632"/>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68096" y="1801368"/>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多智能体协作原型</a:t>
            </a:r>
          </a:p>
        </p:txBody>
      </p:sp>
      <p:sp>
        <p:nvSpPr>
          <p:cNvPr id="18" name="Rectangle 17"/>
          <p:cNvSpPr/>
          <p:nvPr/>
        </p:nvSpPr>
        <p:spPr>
          <a:xfrm>
            <a:off x="3218687" y="1627632"/>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328415" y="1801368"/>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多角色只有形成互补职责并受授权约束才有净收益</a:t>
            </a:r>
          </a:p>
        </p:txBody>
      </p:sp>
      <p:sp>
        <p:nvSpPr>
          <p:cNvPr id="20" name="Rectangle 19"/>
          <p:cNvSpPr/>
          <p:nvPr/>
        </p:nvSpPr>
        <p:spPr>
          <a:xfrm>
            <a:off x="6922007" y="1627632"/>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031736" y="1801368"/>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Stage B 四职责复核、第二轮定向比较、override gate</a:t>
            </a:r>
          </a:p>
        </p:txBody>
      </p:sp>
      <p:sp>
        <p:nvSpPr>
          <p:cNvPr id="22" name="Rectangle 21"/>
          <p:cNvSpPr/>
          <p:nvPr/>
        </p:nvSpPr>
        <p:spPr>
          <a:xfrm>
            <a:off x="658368" y="2295144"/>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68096" y="2468879"/>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可信认知标识</a:t>
            </a:r>
          </a:p>
        </p:txBody>
      </p:sp>
      <p:sp>
        <p:nvSpPr>
          <p:cNvPr id="24" name="Rectangle 23"/>
          <p:cNvSpPr/>
          <p:nvPr/>
        </p:nvSpPr>
        <p:spPr>
          <a:xfrm>
            <a:off x="3218687" y="2295144"/>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328415" y="2468879"/>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可信要落在过程对象，而不是只给最终标签</a:t>
            </a:r>
          </a:p>
        </p:txBody>
      </p:sp>
      <p:sp>
        <p:nvSpPr>
          <p:cNvPr id="26" name="Rectangle 25"/>
          <p:cNvSpPr/>
          <p:nvPr/>
        </p:nvSpPr>
        <p:spPr>
          <a:xfrm>
            <a:off x="6922007" y="2295144"/>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031736" y="2468879"/>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candidate snapshot、decision packet、trust trace、selection trace</a:t>
            </a:r>
          </a:p>
        </p:txBody>
      </p:sp>
      <p:sp>
        <p:nvSpPr>
          <p:cNvPr id="28" name="Rectangle 27"/>
          <p:cNvSpPr/>
          <p:nvPr/>
        </p:nvSpPr>
        <p:spPr>
          <a:xfrm>
            <a:off x="658368" y="2962656"/>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68096" y="3136392"/>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真实标签反馈约束</a:t>
            </a:r>
          </a:p>
        </p:txBody>
      </p:sp>
      <p:sp>
        <p:nvSpPr>
          <p:cNvPr id="30" name="Rectangle 29"/>
          <p:cNvSpPr/>
          <p:nvPr/>
        </p:nvSpPr>
        <p:spPr>
          <a:xfrm>
            <a:off x="3218687" y="2962656"/>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328415" y="3136392"/>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无现成 benchmark，需要冻结协议并防止后验调参</a:t>
            </a:r>
          </a:p>
        </p:txBody>
      </p:sp>
      <p:sp>
        <p:nvSpPr>
          <p:cNvPr id="32" name="Rectangle 31"/>
          <p:cNvSpPr/>
          <p:nvPr/>
        </p:nvSpPr>
        <p:spPr>
          <a:xfrm>
            <a:off x="6922007" y="2962656"/>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31736" y="3136392"/>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563 条真实样本、train=450/test=113、累计稳定性分析</a:t>
            </a:r>
          </a:p>
        </p:txBody>
      </p:sp>
      <p:sp>
        <p:nvSpPr>
          <p:cNvPr id="34" name="Rectangle 33"/>
          <p:cNvSpPr/>
          <p:nvPr/>
        </p:nvSpPr>
        <p:spPr>
          <a:xfrm>
            <a:off x="658368" y="3630168"/>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768096" y="3803904"/>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报告或论文</a:t>
            </a:r>
          </a:p>
        </p:txBody>
      </p:sp>
      <p:sp>
        <p:nvSpPr>
          <p:cNvPr id="36" name="Rectangle 35"/>
          <p:cNvSpPr/>
          <p:nvPr/>
        </p:nvSpPr>
        <p:spPr>
          <a:xfrm>
            <a:off x="3218687" y="3630168"/>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328415" y="3803904"/>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前沿题目要有问题定义、方法公式和实验边界</a:t>
            </a:r>
          </a:p>
        </p:txBody>
      </p:sp>
      <p:sp>
        <p:nvSpPr>
          <p:cNvPr id="38" name="Rectangle 37"/>
          <p:cNvSpPr/>
          <p:nvPr/>
        </p:nvSpPr>
        <p:spPr>
          <a:xfrm>
            <a:off x="6922007" y="3630168"/>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031736" y="3803904"/>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新版投稿稿、主结果表、补充配置、消融、案例分析</a:t>
            </a:r>
          </a:p>
        </p:txBody>
      </p:sp>
      <p:sp>
        <p:nvSpPr>
          <p:cNvPr id="40" name="Rectangle 39"/>
          <p:cNvSpPr/>
          <p:nvPr/>
        </p:nvSpPr>
        <p:spPr>
          <a:xfrm>
            <a:off x="658368" y="4297680"/>
            <a:ext cx="2560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68096" y="4471416"/>
            <a:ext cx="2340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1">
                <a:solidFill>
                  <a:srgbClr val="102033"/>
                </a:solidFill>
                <a:latin typeface="Microsoft YaHei"/>
              </a:rPr>
              <a:t>发明专利</a:t>
            </a:r>
          </a:p>
        </p:txBody>
      </p:sp>
      <p:sp>
        <p:nvSpPr>
          <p:cNvPr id="42" name="Rectangle 41"/>
          <p:cNvSpPr/>
          <p:nvPr/>
        </p:nvSpPr>
        <p:spPr>
          <a:xfrm>
            <a:off x="3218687" y="4297680"/>
            <a:ext cx="370332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328415" y="4471416"/>
            <a:ext cx="3483863"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系统流程要凝练成可保护的技术特征</a:t>
            </a:r>
          </a:p>
        </p:txBody>
      </p:sp>
      <p:sp>
        <p:nvSpPr>
          <p:cNvPr id="44" name="Rectangle 43"/>
          <p:cNvSpPr/>
          <p:nvPr/>
        </p:nvSpPr>
        <p:spPr>
          <a:xfrm>
            <a:off x="6922007" y="4297680"/>
            <a:ext cx="4251960" cy="66751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031736" y="4471416"/>
            <a:ext cx="4032504"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102033"/>
                </a:solidFill>
                <a:latin typeface="Microsoft YaHei"/>
              </a:rPr>
              <a:t>交底书、权利要求书、说明书摘要、系统结构与协同决策附图</a:t>
            </a:r>
          </a:p>
        </p:txBody>
      </p:sp>
      <p:sp>
        <p:nvSpPr>
          <p:cNvPr id="46" name="Rectangle 45"/>
          <p:cNvSpPr/>
          <p:nvPr/>
        </p:nvSpPr>
        <p:spPr>
          <a:xfrm>
            <a:off x="749808" y="5650992"/>
            <a:ext cx="8412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答辩讲法：把“任务书要求—技术难点—突破证据”串成一条链，突出重点项目攻关属性。</a:t>
            </a:r>
          </a:p>
        </p:txBody>
      </p:sp>
      <p:sp>
        <p:nvSpPr>
          <p:cNvPr id="47" name="Rectangle 46"/>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9" name="Rectangle 4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04</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问题定义：受限能力命名空间内的能力地址语义路由</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给定请求 x 和候选集合 N，系统输出主能力 ŷ、相关能力 R̂ 和执行实例 â；正文重点评估前两项。</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31520" y="1335024"/>
            <a:ext cx="4480560" cy="297180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24128" y="1664208"/>
            <a:ext cx="265176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900" b="1">
                <a:solidFill>
                  <a:srgbClr val="0B63CE"/>
                </a:solidFill>
                <a:latin typeface="Arial"/>
              </a:rPr>
              <a:t>能力地址 routing_fqdn</a:t>
            </a:r>
          </a:p>
        </p:txBody>
      </p:sp>
      <p:sp>
        <p:nvSpPr>
          <p:cNvPr id="12" name="Rectangle 11"/>
          <p:cNvSpPr/>
          <p:nvPr/>
        </p:nvSpPr>
        <p:spPr>
          <a:xfrm>
            <a:off x="1024128" y="2029968"/>
            <a:ext cx="2926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02033"/>
                </a:solidFill>
                <a:latin typeface="Microsoft YaHei"/>
              </a:rPr>
              <a:t>回答“哪一类能力应处理请求”</a:t>
            </a:r>
          </a:p>
        </p:txBody>
      </p:sp>
      <p:sp>
        <p:nvSpPr>
          <p:cNvPr id="13" name="Rectangle 12"/>
          <p:cNvSpPr/>
          <p:nvPr/>
        </p:nvSpPr>
        <p:spPr>
          <a:xfrm>
            <a:off x="1051560" y="2487168"/>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policy.gov.cn</a:t>
            </a:r>
          </a:p>
        </p:txBody>
      </p:sp>
      <p:sp>
        <p:nvSpPr>
          <p:cNvPr id="14" name="Rectangle 13"/>
          <p:cNvSpPr/>
          <p:nvPr/>
        </p:nvSpPr>
        <p:spPr>
          <a:xfrm>
            <a:off x="1051560" y="2834640"/>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coupon.commerce.cn</a:t>
            </a:r>
          </a:p>
        </p:txBody>
      </p:sp>
      <p:sp>
        <p:nvSpPr>
          <p:cNvPr id="15" name="Rectangle 14"/>
          <p:cNvSpPr/>
          <p:nvPr/>
        </p:nvSpPr>
        <p:spPr>
          <a:xfrm>
            <a:off x="1051560" y="3182112"/>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docs.productivity.cn</a:t>
            </a:r>
          </a:p>
        </p:txBody>
      </p:sp>
      <p:sp>
        <p:nvSpPr>
          <p:cNvPr id="16" name="Rectangle 15"/>
          <p:cNvSpPr/>
          <p:nvPr/>
        </p:nvSpPr>
        <p:spPr>
          <a:xfrm>
            <a:off x="1051560" y="3529584"/>
            <a:ext cx="23774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activity.travel.cn</a:t>
            </a:r>
          </a:p>
        </p:txBody>
      </p:sp>
      <p:sp>
        <p:nvSpPr>
          <p:cNvPr id="17" name="Rounded Rectangle 16"/>
          <p:cNvSpPr/>
          <p:nvPr/>
        </p:nvSpPr>
        <p:spPr>
          <a:xfrm>
            <a:off x="6675120" y="1335024"/>
            <a:ext cx="4480560" cy="297180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967728" y="1664208"/>
            <a:ext cx="24688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900" b="1">
                <a:solidFill>
                  <a:srgbClr val="0E8A57"/>
                </a:solidFill>
                <a:latin typeface="Arial"/>
              </a:rPr>
              <a:t>实例地址 agent_fqdn</a:t>
            </a:r>
          </a:p>
        </p:txBody>
      </p:sp>
      <p:sp>
        <p:nvSpPr>
          <p:cNvPr id="19" name="Rectangle 18"/>
          <p:cNvSpPr/>
          <p:nvPr/>
        </p:nvSpPr>
        <p:spPr>
          <a:xfrm>
            <a:off x="6967728" y="2029968"/>
            <a:ext cx="292608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02033"/>
                </a:solidFill>
                <a:latin typeface="Microsoft YaHei"/>
              </a:rPr>
              <a:t>回答“由哪个具体智能体执行”</a:t>
            </a:r>
          </a:p>
        </p:txBody>
      </p:sp>
      <p:sp>
        <p:nvSpPr>
          <p:cNvPr id="20" name="Rectangle 19"/>
          <p:cNvSpPr/>
          <p:nvPr/>
        </p:nvSpPr>
        <p:spPr>
          <a:xfrm>
            <a:off x="6995160" y="2487168"/>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agent-xxx.agent.policy.gov.cn</a:t>
            </a:r>
          </a:p>
        </p:txBody>
      </p:sp>
      <p:sp>
        <p:nvSpPr>
          <p:cNvPr id="21" name="Rectangle 20"/>
          <p:cNvSpPr/>
          <p:nvPr/>
        </p:nvSpPr>
        <p:spPr>
          <a:xfrm>
            <a:off x="6995160" y="2834640"/>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endpoint / schema / health</a:t>
            </a:r>
          </a:p>
        </p:txBody>
      </p:sp>
      <p:sp>
        <p:nvSpPr>
          <p:cNvPr id="22" name="Rectangle 21"/>
          <p:cNvSpPr/>
          <p:nvPr/>
        </p:nvSpPr>
        <p:spPr>
          <a:xfrm>
            <a:off x="6995160" y="3182112"/>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exact routing_fqdn match</a:t>
            </a:r>
          </a:p>
        </p:txBody>
      </p:sp>
      <p:sp>
        <p:nvSpPr>
          <p:cNvPr id="23" name="Rectangle 22"/>
          <p:cNvSpPr/>
          <p:nvPr/>
        </p:nvSpPr>
        <p:spPr>
          <a:xfrm>
            <a:off x="6995160" y="3529584"/>
            <a:ext cx="28346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53657A"/>
                </a:solidFill>
                <a:latin typeface="Arial"/>
              </a:rPr>
              <a:t>不在执行层改写能力地址</a:t>
            </a:r>
          </a:p>
        </p:txBody>
      </p:sp>
      <p:sp>
        <p:nvSpPr>
          <p:cNvPr id="24" name="Rectangle 23"/>
          <p:cNvSpPr/>
          <p:nvPr/>
        </p:nvSpPr>
        <p:spPr>
          <a:xfrm>
            <a:off x="5394960" y="2798064"/>
            <a:ext cx="1005840" cy="31750"/>
          </a:xfrm>
          <a:prstGeom prst="rect">
            <a:avLst/>
          </a:prstGeom>
          <a:solidFill>
            <a:srgbClr val="1E83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358384" y="2432304"/>
            <a:ext cx="1115568"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200" b="1">
                <a:solidFill>
                  <a:srgbClr val="0B63CE"/>
                </a:solidFill>
                <a:latin typeface="Microsoft YaHei"/>
              </a:rPr>
              <a:t>分层解耦</a:t>
            </a:r>
          </a:p>
        </p:txBody>
      </p:sp>
      <p:sp>
        <p:nvSpPr>
          <p:cNvPr id="26" name="Rounded Rectangle 25"/>
          <p:cNvSpPr/>
          <p:nvPr/>
        </p:nvSpPr>
        <p:spPr>
          <a:xfrm>
            <a:off x="960120" y="4773168"/>
            <a:ext cx="9875520" cy="877824"/>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88720" y="5010912"/>
            <a:ext cx="7955279"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Arial"/>
              </a:rPr>
              <a:t>形式化约束：ŷ(x)∈N，R̂(x)⊆N\{ŷ(x)}，â(x) 只在 A(ŷ) 内选择。</a:t>
            </a:r>
          </a:p>
        </p:txBody>
      </p:sp>
      <p:sp>
        <p:nvSpPr>
          <p:cNvPr id="28" name="Rectangle 27"/>
          <p:cNvSpPr/>
          <p:nvPr/>
        </p:nvSpPr>
        <p:spPr>
          <a:xfrm>
            <a:off x="1188720" y="5321808"/>
            <a:ext cx="8046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53657A"/>
                </a:solidFill>
                <a:latin typeface="Microsoft YaHei"/>
              </a:rPr>
              <a:t>这使 Stage R miss、Stage A 语义误判、Stage B 授权改判和 Stage C 实例过滤可以分别归因。</a:t>
            </a:r>
          </a:p>
        </p:txBody>
      </p:sp>
      <p:sp>
        <p:nvSpPr>
          <p:cNvPr id="29" name="Rectangle 2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1" name="Rectangle 3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05</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总体架构：四阶段路由链路 + 全程可信轨迹</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一条链路同时覆盖自然语言请求、候选集合、结构化裁决、协作复核、执行落点和过程记录。</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566928" y="1143000"/>
            <a:ext cx="11064240" cy="3703320"/>
          </a:xfrm>
          <a:prstGeom prst="roundRect">
            <a:avLst/>
          </a:prstGeom>
          <a:solidFill>
            <a:srgbClr val="FFFFFF"/>
          </a:solidFill>
          <a:ln w="12700">
            <a:solidFill>
              <a:srgbClr val="B7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1_framework.png"/>
          <p:cNvPicPr>
            <a:picLocks noChangeAspect="1"/>
          </p:cNvPicPr>
          <p:nvPr/>
        </p:nvPicPr>
        <p:blipFill>
          <a:blip r:embed="rId3"/>
          <a:stretch>
            <a:fillRect/>
          </a:stretch>
        </p:blipFill>
        <p:spPr>
          <a:xfrm>
            <a:off x="822960" y="1417320"/>
            <a:ext cx="10515600" cy="3063240"/>
          </a:xfrm>
          <a:prstGeom prst="rect">
            <a:avLst/>
          </a:prstGeom>
        </p:spPr>
      </p:pic>
      <p:sp>
        <p:nvSpPr>
          <p:cNvPr id="12" name="Rectangle 11"/>
          <p:cNvSpPr/>
          <p:nvPr/>
        </p:nvSpPr>
        <p:spPr>
          <a:xfrm>
            <a:off x="75895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B63CE"/>
                </a:solidFill>
                <a:latin typeface="Arial"/>
              </a:rPr>
              <a:t>Stage R</a:t>
            </a:r>
          </a:p>
        </p:txBody>
      </p:sp>
      <p:sp>
        <p:nvSpPr>
          <p:cNvPr id="13" name="Rectangle 12"/>
          <p:cNvSpPr/>
          <p:nvPr/>
        </p:nvSpPr>
        <p:spPr>
          <a:xfrm>
            <a:off x="149047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候选集合构造</a:t>
            </a:r>
          </a:p>
        </p:txBody>
      </p:sp>
      <p:sp>
        <p:nvSpPr>
          <p:cNvPr id="14" name="Rectangle 13"/>
          <p:cNvSpPr/>
          <p:nvPr/>
        </p:nvSpPr>
        <p:spPr>
          <a:xfrm>
            <a:off x="75895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99923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0E8A57"/>
                </a:solidFill>
                <a:latin typeface="Arial"/>
              </a:rPr>
              <a:t>Stage A</a:t>
            </a:r>
          </a:p>
        </p:txBody>
      </p:sp>
      <p:sp>
        <p:nvSpPr>
          <p:cNvPr id="16" name="Rectangle 15"/>
          <p:cNvSpPr/>
          <p:nvPr/>
        </p:nvSpPr>
        <p:spPr>
          <a:xfrm>
            <a:off x="373075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结构化语义路由</a:t>
            </a:r>
          </a:p>
        </p:txBody>
      </p:sp>
      <p:sp>
        <p:nvSpPr>
          <p:cNvPr id="17" name="Rectangle 16"/>
          <p:cNvSpPr/>
          <p:nvPr/>
        </p:nvSpPr>
        <p:spPr>
          <a:xfrm>
            <a:off x="299923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23951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E97132"/>
                </a:solidFill>
                <a:latin typeface="Arial"/>
              </a:rPr>
              <a:t>Stage B</a:t>
            </a:r>
          </a:p>
        </p:txBody>
      </p:sp>
      <p:sp>
        <p:nvSpPr>
          <p:cNvPr id="19" name="Rectangle 18"/>
          <p:cNvSpPr/>
          <p:nvPr/>
        </p:nvSpPr>
        <p:spPr>
          <a:xfrm>
            <a:off x="597103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职责化复核</a:t>
            </a:r>
          </a:p>
        </p:txBody>
      </p:sp>
      <p:sp>
        <p:nvSpPr>
          <p:cNvPr id="20" name="Rectangle 19"/>
          <p:cNvSpPr/>
          <p:nvPr/>
        </p:nvSpPr>
        <p:spPr>
          <a:xfrm>
            <a:off x="523951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47979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6B49C8"/>
                </a:solidFill>
                <a:latin typeface="Arial"/>
              </a:rPr>
              <a:t>Stage C</a:t>
            </a:r>
          </a:p>
        </p:txBody>
      </p:sp>
      <p:sp>
        <p:nvSpPr>
          <p:cNvPr id="22" name="Rectangle 21"/>
          <p:cNvSpPr/>
          <p:nvPr/>
        </p:nvSpPr>
        <p:spPr>
          <a:xfrm>
            <a:off x="821131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执行落点解析</a:t>
            </a:r>
          </a:p>
        </p:txBody>
      </p:sp>
      <p:sp>
        <p:nvSpPr>
          <p:cNvPr id="23" name="Rectangle 22"/>
          <p:cNvSpPr/>
          <p:nvPr/>
        </p:nvSpPr>
        <p:spPr>
          <a:xfrm>
            <a:off x="747979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720072" y="5157216"/>
            <a:ext cx="713232"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00" b="1">
                <a:solidFill>
                  <a:srgbClr val="1E83E6"/>
                </a:solidFill>
                <a:latin typeface="Arial"/>
              </a:rPr>
              <a:t>Trace</a:t>
            </a:r>
          </a:p>
        </p:txBody>
      </p:sp>
      <p:sp>
        <p:nvSpPr>
          <p:cNvPr id="25" name="Rectangle 24"/>
          <p:cNvSpPr/>
          <p:nvPr/>
        </p:nvSpPr>
        <p:spPr>
          <a:xfrm>
            <a:off x="10451592" y="5166360"/>
            <a:ext cx="11887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统一过程记录</a:t>
            </a:r>
          </a:p>
        </p:txBody>
      </p:sp>
      <p:sp>
        <p:nvSpPr>
          <p:cNvPr id="26" name="Rectangle 25"/>
          <p:cNvSpPr/>
          <p:nvPr/>
        </p:nvSpPr>
        <p:spPr>
          <a:xfrm>
            <a:off x="9720072" y="5440680"/>
            <a:ext cx="1737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86384" y="5806440"/>
            <a:ext cx="69494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架构价值：以能力组织、语义裁决、协作复核和执行落点构成可演示闭环。</a:t>
            </a:r>
          </a:p>
        </p:txBody>
      </p:sp>
      <p:sp>
        <p:nvSpPr>
          <p:cNvPr id="28" name="Rectangle 27"/>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0" name="Rectangle 29"/>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06</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复核架构：职责化协作复核流程与授权改判门禁</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第二张论文架构图用于说明 Stage B 内部如何从升级样本走到多角色提案、定向复核和最终授权。</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566928" y="1097280"/>
            <a:ext cx="11064240" cy="3977639"/>
          </a:xfrm>
          <a:prstGeom prst="roundRect">
            <a:avLst/>
          </a:prstGeom>
          <a:solidFill>
            <a:srgbClr val="FFFFFF"/>
          </a:solidFill>
          <a:ln w="12700">
            <a:solidFill>
              <a:srgbClr val="B7D3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fig2_review_flow.png"/>
          <p:cNvPicPr>
            <a:picLocks noChangeAspect="1"/>
          </p:cNvPicPr>
          <p:nvPr/>
        </p:nvPicPr>
        <p:blipFill>
          <a:blip r:embed="rId3"/>
          <a:stretch>
            <a:fillRect/>
          </a:stretch>
        </p:blipFill>
        <p:spPr>
          <a:xfrm>
            <a:off x="786384" y="1353312"/>
            <a:ext cx="10607040" cy="3520440"/>
          </a:xfrm>
          <a:prstGeom prst="rect">
            <a:avLst/>
          </a:prstGeom>
        </p:spPr>
      </p:pic>
      <p:sp>
        <p:nvSpPr>
          <p:cNvPr id="12" name="Rounded Rectangle 11"/>
          <p:cNvSpPr/>
          <p:nvPr/>
        </p:nvSpPr>
        <p:spPr>
          <a:xfrm>
            <a:off x="786384" y="5340096"/>
            <a:ext cx="2926080" cy="585216"/>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969264" y="5513832"/>
            <a:ext cx="5669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E97132"/>
                </a:solidFill>
                <a:latin typeface="Microsoft YaHei"/>
              </a:rPr>
              <a:t>入口</a:t>
            </a:r>
          </a:p>
        </p:txBody>
      </p:sp>
      <p:sp>
        <p:nvSpPr>
          <p:cNvPr id="14" name="Rectangle 13"/>
          <p:cNvSpPr/>
          <p:nvPr/>
        </p:nvSpPr>
        <p:spPr>
          <a:xfrm>
            <a:off x="1572768" y="5477256"/>
            <a:ext cx="18288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低置信 / 小 margin / 高风险 / 多意图冲突</a:t>
            </a:r>
          </a:p>
        </p:txBody>
      </p:sp>
      <p:sp>
        <p:nvSpPr>
          <p:cNvPr id="15" name="Rounded Rectangle 14"/>
          <p:cNvSpPr/>
          <p:nvPr/>
        </p:nvSpPr>
        <p:spPr>
          <a:xfrm>
            <a:off x="4352544" y="5340096"/>
            <a:ext cx="2926080" cy="585216"/>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35424" y="5513832"/>
            <a:ext cx="5669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0E8A57"/>
                </a:solidFill>
                <a:latin typeface="Microsoft YaHei"/>
              </a:rPr>
              <a:t>角色</a:t>
            </a:r>
          </a:p>
        </p:txBody>
      </p:sp>
      <p:sp>
        <p:nvSpPr>
          <p:cNvPr id="17" name="Rectangle 16"/>
          <p:cNvSpPr/>
          <p:nvPr/>
        </p:nvSpPr>
        <p:spPr>
          <a:xfrm>
            <a:off x="5138928" y="5477256"/>
            <a:ext cx="18288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任务匹配、治理风险、层级解析、用户偏好</a:t>
            </a:r>
          </a:p>
        </p:txBody>
      </p:sp>
      <p:sp>
        <p:nvSpPr>
          <p:cNvPr id="18" name="Rounded Rectangle 17"/>
          <p:cNvSpPr/>
          <p:nvPr/>
        </p:nvSpPr>
        <p:spPr>
          <a:xfrm>
            <a:off x="7918704" y="5340096"/>
            <a:ext cx="2926080" cy="585216"/>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01583" y="5513832"/>
            <a:ext cx="5669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0B63CE"/>
                </a:solidFill>
                <a:latin typeface="Microsoft YaHei"/>
              </a:rPr>
              <a:t>门禁</a:t>
            </a:r>
          </a:p>
        </p:txBody>
      </p:sp>
      <p:sp>
        <p:nvSpPr>
          <p:cNvPr id="20" name="Rectangle 19"/>
          <p:cNvSpPr/>
          <p:nvPr/>
        </p:nvSpPr>
        <p:spPr>
          <a:xfrm>
            <a:off x="8705088" y="5477256"/>
            <a:ext cx="18288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Microsoft YaHei"/>
              </a:rPr>
              <a:t>票数、共识增益、显式证据、敏感改判二轮确认</a:t>
            </a:r>
          </a:p>
        </p:txBody>
      </p:sp>
      <p:sp>
        <p:nvSpPr>
          <p:cNvPr id="21" name="Rectangle 20"/>
          <p:cNvSpPr/>
          <p:nvPr/>
        </p:nvSpPr>
        <p:spPr>
          <a:xfrm>
            <a:off x="841248" y="6199632"/>
            <a:ext cx="9784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40" b="1">
                <a:solidFill>
                  <a:srgbClr val="102033"/>
                </a:solidFill>
                <a:latin typeface="Microsoft YaHei"/>
              </a:rPr>
              <a:t>这页补足第二张论文架构图：证明协作复核不是“再问一遍模型”，而是有入口、有分工、有门禁的受控纠错机制。</a:t>
            </a:r>
          </a:p>
        </p:txBody>
      </p:sp>
      <p:sp>
        <p:nvSpPr>
          <p:cNvPr id="22" name="Rectangle 2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4" name="Rectangle 2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07</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Stage R 技术剖面：descriptor-only 候选召回与冻结快照</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技术难点在于既要高覆盖召回，又不能引入样例泄漏；候选边界必须可复核、可归因。</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152144"/>
            <a:ext cx="4983480" cy="379476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1417320"/>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700" b="1">
                <a:solidFill>
                  <a:srgbClr val="FFFFFF"/>
                </a:solidFill>
                <a:latin typeface="Microsoft YaHei"/>
              </a:rPr>
              <a:t>候选召回规则</a:t>
            </a:r>
          </a:p>
        </p:txBody>
      </p:sp>
      <p:sp>
        <p:nvSpPr>
          <p:cNvPr id="12" name="Rectangle 11"/>
          <p:cNvSpPr/>
          <p:nvPr/>
        </p:nvSpPr>
        <p:spPr>
          <a:xfrm>
            <a:off x="969264" y="1810512"/>
            <a:ext cx="4160520" cy="15727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20" b="0">
                <a:solidFill>
                  <a:srgbClr val="D2E6FF"/>
                </a:solidFill>
                <a:latin typeface="Menlo"/>
              </a:rPr>
              <a:t>for node in namespace:
  score_r = alias + desc + context
            + hierarchy_bonus
            - overspecific_penalty
            - weak_parent_penalty
select diversified top-k candidates
freeze candidate snapshot</a:t>
            </a:r>
          </a:p>
        </p:txBody>
      </p:sp>
      <p:sp>
        <p:nvSpPr>
          <p:cNvPr id="13" name="Rectangle 12"/>
          <p:cNvSpPr/>
          <p:nvPr/>
        </p:nvSpPr>
        <p:spPr>
          <a:xfrm>
            <a:off x="969264" y="3657600"/>
            <a:ext cx="4206240" cy="12700"/>
          </a:xfrm>
          <a:prstGeom prst="rect">
            <a:avLst/>
          </a:prstGeom>
          <a:solidFill>
            <a:srgbClr val="2F8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005840" y="394106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70432" y="3886200"/>
            <a:ext cx="4069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不读历史样例，避免 benchmark 泄漏</a:t>
            </a:r>
          </a:p>
        </p:txBody>
      </p:sp>
      <p:sp>
        <p:nvSpPr>
          <p:cNvPr id="16" name="Oval 15"/>
          <p:cNvSpPr/>
          <p:nvPr/>
        </p:nvSpPr>
        <p:spPr>
          <a:xfrm>
            <a:off x="1005840" y="421538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70432" y="4160520"/>
            <a:ext cx="4069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召回来源保留 alias / desc_overlap / segment_node</a:t>
            </a:r>
          </a:p>
        </p:txBody>
      </p:sp>
      <p:sp>
        <p:nvSpPr>
          <p:cNvPr id="18" name="Oval 17"/>
          <p:cNvSpPr/>
          <p:nvPr/>
        </p:nvSpPr>
        <p:spPr>
          <a:xfrm>
            <a:off x="1005840" y="448970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70432" y="4434840"/>
            <a:ext cx="40690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ground truth 未进入候选集可直接归因为 Stage R miss</a:t>
            </a:r>
          </a:p>
        </p:txBody>
      </p:sp>
      <p:sp>
        <p:nvSpPr>
          <p:cNvPr id="20" name="Rounded Rectangle 19"/>
          <p:cNvSpPr/>
          <p:nvPr/>
        </p:nvSpPr>
        <p:spPr>
          <a:xfrm>
            <a:off x="6126480" y="1152144"/>
            <a:ext cx="5166360" cy="1874519"/>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19088" y="1426464"/>
            <a:ext cx="23317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B63CE"/>
                </a:solidFill>
                <a:latin typeface="Arial"/>
              </a:rPr>
              <a:t>candidate_snapshot</a:t>
            </a:r>
          </a:p>
        </p:txBody>
      </p:sp>
      <p:sp>
        <p:nvSpPr>
          <p:cNvPr id="22" name="Rectangle 21"/>
          <p:cNvSpPr/>
          <p:nvPr/>
        </p:nvSpPr>
        <p:spPr>
          <a:xfrm>
            <a:off x="6419088" y="1664208"/>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关键字段</a:t>
            </a:r>
          </a:p>
        </p:txBody>
      </p:sp>
      <p:sp>
        <p:nvSpPr>
          <p:cNvPr id="23" name="Rectangle 22"/>
          <p:cNvSpPr/>
          <p:nvPr/>
        </p:nvSpPr>
        <p:spPr>
          <a:xfrm>
            <a:off x="6455664" y="1956816"/>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fqdn</a:t>
            </a:r>
          </a:p>
        </p:txBody>
      </p:sp>
      <p:sp>
        <p:nvSpPr>
          <p:cNvPr id="24" name="Rectangle 23"/>
          <p:cNvSpPr/>
          <p:nvPr/>
        </p:nvSpPr>
        <p:spPr>
          <a:xfrm>
            <a:off x="8604504" y="1956816"/>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score_r</a:t>
            </a:r>
          </a:p>
        </p:txBody>
      </p:sp>
      <p:sp>
        <p:nvSpPr>
          <p:cNvPr id="25" name="Rectangle 24"/>
          <p:cNvSpPr/>
          <p:nvPr/>
        </p:nvSpPr>
        <p:spPr>
          <a:xfrm>
            <a:off x="6455664" y="2240280"/>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source[]</a:t>
            </a:r>
          </a:p>
        </p:txBody>
      </p:sp>
      <p:sp>
        <p:nvSpPr>
          <p:cNvPr id="26" name="Rectangle 25"/>
          <p:cNvSpPr/>
          <p:nvPr/>
        </p:nvSpPr>
        <p:spPr>
          <a:xfrm>
            <a:off x="8604504" y="2240280"/>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matched_phrases</a:t>
            </a:r>
          </a:p>
        </p:txBody>
      </p:sp>
      <p:sp>
        <p:nvSpPr>
          <p:cNvPr id="27" name="Rectangle 26"/>
          <p:cNvSpPr/>
          <p:nvPr/>
        </p:nvSpPr>
        <p:spPr>
          <a:xfrm>
            <a:off x="6455664" y="2523744"/>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components</a:t>
            </a:r>
          </a:p>
        </p:txBody>
      </p:sp>
      <p:sp>
        <p:nvSpPr>
          <p:cNvPr id="28" name="Rectangle 27"/>
          <p:cNvSpPr/>
          <p:nvPr/>
        </p:nvSpPr>
        <p:spPr>
          <a:xfrm>
            <a:off x="8604504" y="2523744"/>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Arial"/>
              </a:rPr>
              <a:t>candidate_recall_hit</a:t>
            </a:r>
          </a:p>
        </p:txBody>
      </p:sp>
      <p:sp>
        <p:nvSpPr>
          <p:cNvPr id="29" name="Rounded Rectangle 28"/>
          <p:cNvSpPr/>
          <p:nvPr/>
        </p:nvSpPr>
        <p:spPr>
          <a:xfrm>
            <a:off x="6126480" y="3310128"/>
            <a:ext cx="5166360" cy="162763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19088" y="3566160"/>
            <a:ext cx="24231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Arial"/>
              </a:rPr>
              <a:t>样例: holdout3_000213</a:t>
            </a:r>
          </a:p>
        </p:txBody>
      </p:sp>
      <p:sp>
        <p:nvSpPr>
          <p:cNvPr id="31" name="Rectangle 30"/>
          <p:cNvSpPr/>
          <p:nvPr/>
        </p:nvSpPr>
        <p:spPr>
          <a:xfrm>
            <a:off x="6419088" y="3913632"/>
            <a:ext cx="169164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102033"/>
                </a:solidFill>
                <a:latin typeface="Arial"/>
              </a:rPr>
              <a:t>coupon.commerce.cn</a:t>
            </a:r>
          </a:p>
        </p:txBody>
      </p:sp>
      <p:sp>
        <p:nvSpPr>
          <p:cNvPr id="32" name="Rectangle 31"/>
          <p:cNvSpPr/>
          <p:nvPr/>
        </p:nvSpPr>
        <p:spPr>
          <a:xfrm>
            <a:off x="8211312" y="3913632"/>
            <a:ext cx="50292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Arial"/>
              </a:rPr>
              <a:t>0.1885</a:t>
            </a:r>
          </a:p>
        </p:txBody>
      </p:sp>
      <p:sp>
        <p:nvSpPr>
          <p:cNvPr id="33" name="Rectangle 32"/>
          <p:cNvSpPr/>
          <p:nvPr/>
        </p:nvSpPr>
        <p:spPr>
          <a:xfrm>
            <a:off x="8851392" y="3913632"/>
            <a:ext cx="137160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query:优惠</a:t>
            </a:r>
          </a:p>
        </p:txBody>
      </p:sp>
      <p:sp>
        <p:nvSpPr>
          <p:cNvPr id="34" name="Rectangle 33"/>
          <p:cNvSpPr/>
          <p:nvPr/>
        </p:nvSpPr>
        <p:spPr>
          <a:xfrm>
            <a:off x="6419088" y="4169664"/>
            <a:ext cx="169164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102033"/>
                </a:solidFill>
                <a:latin typeface="Arial"/>
              </a:rPr>
              <a:t>price.commerce.cn</a:t>
            </a:r>
          </a:p>
        </p:txBody>
      </p:sp>
      <p:sp>
        <p:nvSpPr>
          <p:cNvPr id="35" name="Rectangle 34"/>
          <p:cNvSpPr/>
          <p:nvPr/>
        </p:nvSpPr>
        <p:spPr>
          <a:xfrm>
            <a:off x="8211312" y="4169664"/>
            <a:ext cx="50292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Arial"/>
              </a:rPr>
              <a:t>0.1885</a:t>
            </a:r>
          </a:p>
        </p:txBody>
      </p:sp>
      <p:sp>
        <p:nvSpPr>
          <p:cNvPr id="36" name="Rectangle 35"/>
          <p:cNvSpPr/>
          <p:nvPr/>
        </p:nvSpPr>
        <p:spPr>
          <a:xfrm>
            <a:off x="8851392" y="4169664"/>
            <a:ext cx="137160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query:价格</a:t>
            </a:r>
          </a:p>
        </p:txBody>
      </p:sp>
      <p:sp>
        <p:nvSpPr>
          <p:cNvPr id="37" name="Rectangle 36"/>
          <p:cNvSpPr/>
          <p:nvPr/>
        </p:nvSpPr>
        <p:spPr>
          <a:xfrm>
            <a:off x="6419088" y="4425696"/>
            <a:ext cx="169164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102033"/>
                </a:solidFill>
                <a:latin typeface="Arial"/>
              </a:rPr>
              <a:t>meeting.productivity.cn</a:t>
            </a:r>
          </a:p>
        </p:txBody>
      </p:sp>
      <p:sp>
        <p:nvSpPr>
          <p:cNvPr id="38" name="Rectangle 37"/>
          <p:cNvSpPr/>
          <p:nvPr/>
        </p:nvSpPr>
        <p:spPr>
          <a:xfrm>
            <a:off x="8211312" y="4425696"/>
            <a:ext cx="50292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Arial"/>
              </a:rPr>
              <a:t>0.1885</a:t>
            </a:r>
          </a:p>
        </p:txBody>
      </p:sp>
      <p:sp>
        <p:nvSpPr>
          <p:cNvPr id="39" name="Rectangle 38"/>
          <p:cNvSpPr/>
          <p:nvPr/>
        </p:nvSpPr>
        <p:spPr>
          <a:xfrm>
            <a:off x="8851392" y="4425696"/>
            <a:ext cx="137160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query:会议</a:t>
            </a:r>
          </a:p>
        </p:txBody>
      </p:sp>
      <p:sp>
        <p:nvSpPr>
          <p:cNvPr id="40" name="Rectangle 39"/>
          <p:cNvSpPr/>
          <p:nvPr/>
        </p:nvSpPr>
        <p:spPr>
          <a:xfrm>
            <a:off x="841248" y="5650992"/>
            <a:ext cx="86868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技术价值：后续所有裁决都在冻结候选集合内进行，错误类型可以被精确拆分。</a:t>
            </a:r>
          </a:p>
        </p:txBody>
      </p:sp>
      <p:sp>
        <p:nvSpPr>
          <p:cNvPr id="41" name="Rectangle 40"/>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3" name="Rectangle 42"/>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08</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Stage A 技术剖面：把 LLM 输出校准为候选级 decision packet</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技术难点不是让模型多解释，而是把模型判断压缩成可计算、可升级、可复核的结构化字段。</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115568"/>
            <a:ext cx="5166360" cy="1874519"/>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32688" y="1371600"/>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主能力评分融合</a:t>
            </a:r>
          </a:p>
        </p:txBody>
      </p:sp>
      <p:sp>
        <p:nvSpPr>
          <p:cNvPr id="12" name="Rectangle 11"/>
          <p:cNvSpPr/>
          <p:nvPr/>
        </p:nvSpPr>
        <p:spPr>
          <a:xfrm>
            <a:off x="950976" y="1737360"/>
            <a:ext cx="4160520" cy="8961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60" b="0">
                <a:solidFill>
                  <a:srgbClr val="D2E6FF"/>
                </a:solidFill>
                <a:latin typeface="Menlo"/>
              </a:rPr>
              <a:t>score_a = 0.55*base_primary
        + 0.15*stage_r
        + 0.15*llm_task_fit
        + 0.10*llm_primary_fit
        + bonus - penalty</a:t>
            </a:r>
          </a:p>
        </p:txBody>
      </p:sp>
      <p:sp>
        <p:nvSpPr>
          <p:cNvPr id="13" name="Rounded Rectangle 12"/>
          <p:cNvSpPr/>
          <p:nvPr/>
        </p:nvSpPr>
        <p:spPr>
          <a:xfrm>
            <a:off x="6199632" y="1115568"/>
            <a:ext cx="5074920" cy="1874519"/>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92240" y="1371600"/>
            <a:ext cx="21488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20" b="1">
                <a:solidFill>
                  <a:srgbClr val="E97132"/>
                </a:solidFill>
                <a:latin typeface="Microsoft YaHei"/>
              </a:rPr>
              <a:t>Stage B 升级判据</a:t>
            </a:r>
          </a:p>
        </p:txBody>
      </p:sp>
      <p:sp>
        <p:nvSpPr>
          <p:cNvPr id="15" name="Rectangle 14"/>
          <p:cNvSpPr/>
          <p:nvPr/>
        </p:nvSpPr>
        <p:spPr>
          <a:xfrm>
            <a:off x="6510528" y="1755648"/>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confidence &lt; 0.62</a:t>
            </a:r>
          </a:p>
        </p:txBody>
      </p:sp>
      <p:sp>
        <p:nvSpPr>
          <p:cNvPr id="16" name="Rectangle 15"/>
          <p:cNvSpPr/>
          <p:nvPr/>
        </p:nvSpPr>
        <p:spPr>
          <a:xfrm>
            <a:off x="8659368" y="1755648"/>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margin &lt; 0.08</a:t>
            </a:r>
          </a:p>
        </p:txBody>
      </p:sp>
      <p:sp>
        <p:nvSpPr>
          <p:cNvPr id="17" name="Rectangle 16"/>
          <p:cNvSpPr/>
          <p:nvPr/>
        </p:nvSpPr>
        <p:spPr>
          <a:xfrm>
            <a:off x="6510528" y="2066543"/>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llm_requested</a:t>
            </a:r>
          </a:p>
        </p:txBody>
      </p:sp>
      <p:sp>
        <p:nvSpPr>
          <p:cNvPr id="18" name="Rectangle 17"/>
          <p:cNvSpPr/>
          <p:nvPr/>
        </p:nvSpPr>
        <p:spPr>
          <a:xfrm>
            <a:off x="8659368" y="2066543"/>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high_risk 且 margin &lt; 0.14</a:t>
            </a:r>
          </a:p>
        </p:txBody>
      </p:sp>
      <p:sp>
        <p:nvSpPr>
          <p:cNvPr id="19" name="Rectangle 18"/>
          <p:cNvSpPr/>
          <p:nvPr/>
        </p:nvSpPr>
        <p:spPr>
          <a:xfrm>
            <a:off x="6510528" y="2377440"/>
            <a:ext cx="1874519"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0">
                <a:solidFill>
                  <a:srgbClr val="102033"/>
                </a:solidFill>
                <a:latin typeface="Arial"/>
              </a:rPr>
              <a:t>multi_intent_conflict</a:t>
            </a:r>
          </a:p>
        </p:txBody>
      </p:sp>
      <p:sp>
        <p:nvSpPr>
          <p:cNvPr id="20" name="Rounded Rectangle 19"/>
          <p:cNvSpPr/>
          <p:nvPr/>
        </p:nvSpPr>
        <p:spPr>
          <a:xfrm>
            <a:off x="658368" y="3310128"/>
            <a:ext cx="5166360" cy="162763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32688" y="3547872"/>
            <a:ext cx="19202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B63CE"/>
                </a:solidFill>
                <a:latin typeface="Arial"/>
              </a:rPr>
              <a:t>decision packet</a:t>
            </a:r>
          </a:p>
        </p:txBody>
      </p:sp>
      <p:sp>
        <p:nvSpPr>
          <p:cNvPr id="22" name="Rectangle 21"/>
          <p:cNvSpPr/>
          <p:nvPr/>
        </p:nvSpPr>
        <p:spPr>
          <a:xfrm>
            <a:off x="932688" y="3776472"/>
            <a:ext cx="914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53657A"/>
                </a:solidFill>
                <a:latin typeface="Microsoft YaHei"/>
              </a:rPr>
              <a:t>关键字段</a:t>
            </a:r>
          </a:p>
        </p:txBody>
      </p:sp>
      <p:sp>
        <p:nvSpPr>
          <p:cNvPr id="23" name="Rectangle 22"/>
          <p:cNvSpPr/>
          <p:nvPr/>
        </p:nvSpPr>
        <p:spPr>
          <a:xfrm>
            <a:off x="950976"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selected_primary_fqdn</a:t>
            </a:r>
          </a:p>
        </p:txBody>
      </p:sp>
      <p:sp>
        <p:nvSpPr>
          <p:cNvPr id="24" name="Rectangle 23"/>
          <p:cNvSpPr/>
          <p:nvPr/>
        </p:nvSpPr>
        <p:spPr>
          <a:xfrm>
            <a:off x="3099816"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selected_related_fqdns</a:t>
            </a:r>
          </a:p>
        </p:txBody>
      </p:sp>
      <p:sp>
        <p:nvSpPr>
          <p:cNvPr id="25" name="Rectangle 24"/>
          <p:cNvSpPr/>
          <p:nvPr/>
        </p:nvSpPr>
        <p:spPr>
          <a:xfrm>
            <a:off x="950976"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routing_top_k</a:t>
            </a:r>
          </a:p>
        </p:txBody>
      </p:sp>
      <p:sp>
        <p:nvSpPr>
          <p:cNvPr id="26" name="Rectangle 25"/>
          <p:cNvSpPr/>
          <p:nvPr/>
        </p:nvSpPr>
        <p:spPr>
          <a:xfrm>
            <a:off x="3099816"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confidence / margin</a:t>
            </a:r>
          </a:p>
        </p:txBody>
      </p:sp>
      <p:sp>
        <p:nvSpPr>
          <p:cNvPr id="27" name="Rectangle 26"/>
          <p:cNvSpPr/>
          <p:nvPr/>
        </p:nvSpPr>
        <p:spPr>
          <a:xfrm>
            <a:off x="950976"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candidate_scores</a:t>
            </a:r>
          </a:p>
        </p:txBody>
      </p:sp>
      <p:sp>
        <p:nvSpPr>
          <p:cNvPr id="28" name="Rectangle 27"/>
          <p:cNvSpPr/>
          <p:nvPr/>
        </p:nvSpPr>
        <p:spPr>
          <a:xfrm>
            <a:off x="3099816"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constraint_check</a:t>
            </a:r>
          </a:p>
        </p:txBody>
      </p:sp>
      <p:sp>
        <p:nvSpPr>
          <p:cNvPr id="29" name="Rounded Rectangle 28"/>
          <p:cNvSpPr/>
          <p:nvPr/>
        </p:nvSpPr>
        <p:spPr>
          <a:xfrm>
            <a:off x="6199632" y="3310128"/>
            <a:ext cx="5074920" cy="162763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492240" y="3547872"/>
            <a:ext cx="21945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50" b="1">
                <a:solidFill>
                  <a:srgbClr val="0E8A57"/>
                </a:solidFill>
                <a:latin typeface="Microsoft YaHei"/>
              </a:rPr>
              <a:t>Stage B 语义卡</a:t>
            </a:r>
          </a:p>
        </p:txBody>
      </p:sp>
      <p:sp>
        <p:nvSpPr>
          <p:cNvPr id="31" name="Rectangle 30"/>
          <p:cNvSpPr/>
          <p:nvPr/>
        </p:nvSpPr>
        <p:spPr>
          <a:xfrm>
            <a:off x="6492240" y="3776472"/>
            <a:ext cx="14173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53657A"/>
                </a:solidFill>
                <a:latin typeface="Microsoft YaHei"/>
              </a:rPr>
              <a:t>从 Stage A 下传</a:t>
            </a:r>
          </a:p>
        </p:txBody>
      </p:sp>
      <p:sp>
        <p:nvSpPr>
          <p:cNvPr id="32" name="Rectangle 31"/>
          <p:cNvSpPr/>
          <p:nvPr/>
        </p:nvSpPr>
        <p:spPr>
          <a:xfrm>
            <a:off x="6510528"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primary_rationale</a:t>
            </a:r>
          </a:p>
        </p:txBody>
      </p:sp>
      <p:sp>
        <p:nvSpPr>
          <p:cNvPr id="33" name="Rectangle 32"/>
          <p:cNvSpPr/>
          <p:nvPr/>
        </p:nvSpPr>
        <p:spPr>
          <a:xfrm>
            <a:off x="8613648" y="4005072"/>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secondary_rationale</a:t>
            </a:r>
          </a:p>
        </p:txBody>
      </p:sp>
      <p:sp>
        <p:nvSpPr>
          <p:cNvPr id="34" name="Rectangle 33"/>
          <p:cNvSpPr/>
          <p:nvPr/>
        </p:nvSpPr>
        <p:spPr>
          <a:xfrm>
            <a:off x="6510528"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challenger_notes</a:t>
            </a:r>
          </a:p>
        </p:txBody>
      </p:sp>
      <p:sp>
        <p:nvSpPr>
          <p:cNvPr id="35" name="Rectangle 34"/>
          <p:cNvSpPr/>
          <p:nvPr/>
        </p:nvSpPr>
        <p:spPr>
          <a:xfrm>
            <a:off x="8613648" y="4242816"/>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uncertainty_summary</a:t>
            </a:r>
          </a:p>
        </p:txBody>
      </p:sp>
      <p:sp>
        <p:nvSpPr>
          <p:cNvPr id="36" name="Rectangle 35"/>
          <p:cNvSpPr/>
          <p:nvPr/>
        </p:nvSpPr>
        <p:spPr>
          <a:xfrm>
            <a:off x="6510528"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confusion_points</a:t>
            </a:r>
          </a:p>
        </p:txBody>
      </p:sp>
      <p:sp>
        <p:nvSpPr>
          <p:cNvPr id="37" name="Rectangle 36"/>
          <p:cNvSpPr/>
          <p:nvPr/>
        </p:nvSpPr>
        <p:spPr>
          <a:xfrm>
            <a:off x="8613648" y="4480560"/>
            <a:ext cx="18288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102033"/>
                </a:solidFill>
                <a:latin typeface="Arial"/>
              </a:rPr>
              <a:t>override_sensitivity</a:t>
            </a:r>
          </a:p>
        </p:txBody>
      </p:sp>
      <p:sp>
        <p:nvSpPr>
          <p:cNvPr id="38" name="Rectangle 37"/>
          <p:cNvSpPr/>
          <p:nvPr/>
        </p:nvSpPr>
        <p:spPr>
          <a:xfrm>
            <a:off x="841248" y="5650992"/>
            <a:ext cx="91440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40" b="1">
                <a:solidFill>
                  <a:srgbClr val="102033"/>
                </a:solidFill>
                <a:latin typeface="Microsoft YaHei"/>
              </a:rPr>
              <a:t>技术价值：模型输出不作为最终答案直出，而被转成可计算分数、升级理由和可审计证据包。</a:t>
            </a:r>
          </a:p>
        </p:txBody>
      </p:sp>
      <p:sp>
        <p:nvSpPr>
          <p:cNvPr id="39" name="Rectangle 38"/>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1" name="Rectangle 40"/>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09</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Stage B 技术剖面：候选内复核、角色分视图与授权改判</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技术难点在于让多智能体产生有效纠错，同时防止候选外发明、无约束改判和高风险回归。</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40080" y="1078992"/>
            <a:ext cx="3246120" cy="402336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14400" y="1353312"/>
            <a:ext cx="15087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角色不是摆设</a:t>
            </a:r>
          </a:p>
        </p:txBody>
      </p:sp>
      <p:sp>
        <p:nvSpPr>
          <p:cNvPr id="12" name="Rectangle 11"/>
          <p:cNvSpPr/>
          <p:nvPr/>
        </p:nvSpPr>
        <p:spPr>
          <a:xfrm>
            <a:off x="914400" y="1755648"/>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DomainExpert</a:t>
            </a:r>
          </a:p>
        </p:txBody>
      </p:sp>
      <p:sp>
        <p:nvSpPr>
          <p:cNvPr id="13" name="Rectangle 12"/>
          <p:cNvSpPr/>
          <p:nvPr/>
        </p:nvSpPr>
        <p:spPr>
          <a:xfrm>
            <a:off x="2176272" y="1755648"/>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core_task_match</a:t>
            </a:r>
          </a:p>
        </p:txBody>
      </p:sp>
      <p:sp>
        <p:nvSpPr>
          <p:cNvPr id="14" name="Rectangle 13"/>
          <p:cNvSpPr/>
          <p:nvPr/>
        </p:nvSpPr>
        <p:spPr>
          <a:xfrm>
            <a:off x="914400" y="2267712"/>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GovernanceRisk</a:t>
            </a:r>
          </a:p>
        </p:txBody>
      </p:sp>
      <p:sp>
        <p:nvSpPr>
          <p:cNvPr id="15" name="Rectangle 14"/>
          <p:cNvSpPr/>
          <p:nvPr/>
        </p:nvSpPr>
        <p:spPr>
          <a:xfrm>
            <a:off x="2176272" y="2267712"/>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risk_boundary_check</a:t>
            </a:r>
          </a:p>
        </p:txBody>
      </p:sp>
      <p:sp>
        <p:nvSpPr>
          <p:cNvPr id="16" name="Rectangle 15"/>
          <p:cNvSpPr/>
          <p:nvPr/>
        </p:nvSpPr>
        <p:spPr>
          <a:xfrm>
            <a:off x="914400" y="2779776"/>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HierarchyResolver</a:t>
            </a:r>
          </a:p>
        </p:txBody>
      </p:sp>
      <p:sp>
        <p:nvSpPr>
          <p:cNvPr id="17" name="Rectangle 16"/>
          <p:cNvSpPr/>
          <p:nvPr/>
        </p:nvSpPr>
        <p:spPr>
          <a:xfrm>
            <a:off x="2176272" y="2779776"/>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hierarchy_granularity</a:t>
            </a:r>
          </a:p>
        </p:txBody>
      </p:sp>
      <p:sp>
        <p:nvSpPr>
          <p:cNvPr id="18" name="Rectangle 17"/>
          <p:cNvSpPr/>
          <p:nvPr/>
        </p:nvSpPr>
        <p:spPr>
          <a:xfrm>
            <a:off x="914400" y="3291840"/>
            <a:ext cx="132588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1">
                <a:solidFill>
                  <a:srgbClr val="26B6FF"/>
                </a:solidFill>
                <a:latin typeface="Arial"/>
              </a:rPr>
              <a:t>UserPreference</a:t>
            </a:r>
          </a:p>
        </p:txBody>
      </p:sp>
      <p:sp>
        <p:nvSpPr>
          <p:cNvPr id="19" name="Rectangle 18"/>
          <p:cNvSpPr/>
          <p:nvPr/>
        </p:nvSpPr>
        <p:spPr>
          <a:xfrm>
            <a:off x="2176272" y="3291840"/>
            <a:ext cx="123444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40" b="0">
                <a:solidFill>
                  <a:srgbClr val="D2E6FF"/>
                </a:solidFill>
                <a:latin typeface="Arial"/>
              </a:rPr>
              <a:t>primary_secondary_split</a:t>
            </a:r>
          </a:p>
        </p:txBody>
      </p:sp>
      <p:sp>
        <p:nvSpPr>
          <p:cNvPr id="20" name="Rectangle 19"/>
          <p:cNvSpPr/>
          <p:nvPr/>
        </p:nvSpPr>
        <p:spPr>
          <a:xfrm>
            <a:off x="914400" y="3986784"/>
            <a:ext cx="2514600" cy="12700"/>
          </a:xfrm>
          <a:prstGeom prst="rect">
            <a:avLst/>
          </a:prstGeom>
          <a:solidFill>
            <a:srgbClr val="2F8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4224528"/>
            <a:ext cx="25146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D2E6FF"/>
                </a:solidFill>
                <a:latin typeface="Microsoft YaHei"/>
              </a:rPr>
              <a:t>每个角色只看与职责相关的 packet 视图，避免四个 agent 重复同一种判断。</a:t>
            </a:r>
          </a:p>
        </p:txBody>
      </p:sp>
      <p:sp>
        <p:nvSpPr>
          <p:cNvPr id="22" name="Rounded Rectangle 21"/>
          <p:cNvSpPr/>
          <p:nvPr/>
        </p:nvSpPr>
        <p:spPr>
          <a:xfrm>
            <a:off x="4251960" y="1078992"/>
            <a:ext cx="3154680" cy="402336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535424" y="1353312"/>
            <a:ext cx="14630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E97132"/>
                </a:solidFill>
                <a:latin typeface="Microsoft YaHei"/>
              </a:rPr>
              <a:t>改判授权门槛</a:t>
            </a:r>
          </a:p>
        </p:txBody>
      </p:sp>
      <p:sp>
        <p:nvSpPr>
          <p:cNvPr id="24" name="Oval 23"/>
          <p:cNvSpPr/>
          <p:nvPr/>
        </p:nvSpPr>
        <p:spPr>
          <a:xfrm>
            <a:off x="4553712" y="1837943"/>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18304" y="1783080"/>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override_vote_count &gt;= 3</a:t>
            </a:r>
          </a:p>
        </p:txBody>
      </p:sp>
      <p:sp>
        <p:nvSpPr>
          <p:cNvPr id="26" name="Oval 25"/>
          <p:cNvSpPr/>
          <p:nvPr/>
        </p:nvSpPr>
        <p:spPr>
          <a:xfrm>
            <a:off x="4553712" y="2231136"/>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18304" y="2176272"/>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consensus_score &gt;= stage_a + 0.08</a:t>
            </a:r>
          </a:p>
        </p:txBody>
      </p:sp>
      <p:sp>
        <p:nvSpPr>
          <p:cNvPr id="28" name="Oval 27"/>
          <p:cNvSpPr/>
          <p:nvPr/>
        </p:nvSpPr>
        <p:spPr>
          <a:xfrm>
            <a:off x="4553712" y="2624328"/>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718304" y="2569464"/>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explicit_support &gt;= 0.55</a:t>
            </a:r>
          </a:p>
        </p:txBody>
      </p:sp>
      <p:sp>
        <p:nvSpPr>
          <p:cNvPr id="30" name="Oval 29"/>
          <p:cNvSpPr/>
          <p:nvPr/>
        </p:nvSpPr>
        <p:spPr>
          <a:xfrm>
            <a:off x="4553712" y="3017520"/>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718304" y="2962656"/>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sensitive case 需要 round2 共识</a:t>
            </a:r>
          </a:p>
        </p:txBody>
      </p:sp>
      <p:sp>
        <p:nvSpPr>
          <p:cNvPr id="32" name="Oval 31"/>
          <p:cNvSpPr/>
          <p:nvPr/>
        </p:nvSpPr>
        <p:spPr>
          <a:xfrm>
            <a:off x="4553712" y="3410712"/>
            <a:ext cx="68580" cy="68580"/>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718304" y="3355848"/>
            <a:ext cx="2423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102033"/>
                </a:solidFill>
                <a:latin typeface="Microsoft YaHei"/>
              </a:rPr>
              <a:t>cross_l1 需额外 score gain</a:t>
            </a:r>
          </a:p>
        </p:txBody>
      </p:sp>
      <p:sp>
        <p:nvSpPr>
          <p:cNvPr id="34" name="Rectangle 33"/>
          <p:cNvSpPr/>
          <p:nvPr/>
        </p:nvSpPr>
        <p:spPr>
          <a:xfrm>
            <a:off x="4553712" y="4224528"/>
            <a:ext cx="233172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53657A"/>
                </a:solidFill>
                <a:latin typeface="Microsoft YaHei"/>
              </a:rPr>
              <a:t>未满足门槛：保留 Stage A 原判，并写入 override_block_reasons。</a:t>
            </a:r>
          </a:p>
        </p:txBody>
      </p:sp>
      <p:sp>
        <p:nvSpPr>
          <p:cNvPr id="35" name="Rounded Rectangle 34"/>
          <p:cNvSpPr/>
          <p:nvPr/>
        </p:nvSpPr>
        <p:spPr>
          <a:xfrm>
            <a:off x="7818120" y="1078992"/>
            <a:ext cx="3337560" cy="402336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8101583" y="1353312"/>
            <a:ext cx="16916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Microsoft YaHei"/>
              </a:rPr>
              <a:t>共识得分与 trace</a:t>
            </a:r>
          </a:p>
        </p:txBody>
      </p:sp>
      <p:sp>
        <p:nvSpPr>
          <p:cNvPr id="37" name="Rectangle 36"/>
          <p:cNvSpPr/>
          <p:nvPr/>
        </p:nvSpPr>
        <p:spPr>
          <a:xfrm>
            <a:off x="8119872" y="1737360"/>
            <a:ext cx="2468880" cy="8412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102033"/>
                </a:solidFill>
                <a:latin typeface="Menlo"/>
              </a:rPr>
              <a:t>s_rev^(1) =
  0.40*v(c)
+ 0.25*rho(c)
+ 0.15*s_sem
+ 0.10*e(c)
+ 0.10*r(c) + sigma</a:t>
            </a:r>
          </a:p>
        </p:txBody>
      </p:sp>
      <p:sp>
        <p:nvSpPr>
          <p:cNvPr id="38" name="Rectangle 37"/>
          <p:cNvSpPr/>
          <p:nvPr/>
        </p:nvSpPr>
        <p:spPr>
          <a:xfrm>
            <a:off x="8138160" y="2761488"/>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stage_a_selected_primary</a:t>
            </a:r>
          </a:p>
        </p:txBody>
      </p:sp>
      <p:sp>
        <p:nvSpPr>
          <p:cNvPr id="39" name="Rectangle 38"/>
          <p:cNvSpPr/>
          <p:nvPr/>
        </p:nvSpPr>
        <p:spPr>
          <a:xfrm>
            <a:off x="8138160" y="3017520"/>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escalation_reasons</a:t>
            </a:r>
          </a:p>
        </p:txBody>
      </p:sp>
      <p:sp>
        <p:nvSpPr>
          <p:cNvPr id="40" name="Rectangle 39"/>
          <p:cNvSpPr/>
          <p:nvPr/>
        </p:nvSpPr>
        <p:spPr>
          <a:xfrm>
            <a:off x="8138160" y="3273552"/>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agent_votes</a:t>
            </a:r>
          </a:p>
        </p:txBody>
      </p:sp>
      <p:sp>
        <p:nvSpPr>
          <p:cNvPr id="41" name="Rectangle 40"/>
          <p:cNvSpPr/>
          <p:nvPr/>
        </p:nvSpPr>
        <p:spPr>
          <a:xfrm>
            <a:off x="8138160" y="3529584"/>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override_allowed</a:t>
            </a:r>
          </a:p>
        </p:txBody>
      </p:sp>
      <p:sp>
        <p:nvSpPr>
          <p:cNvPr id="42" name="Rectangle 41"/>
          <p:cNvSpPr/>
          <p:nvPr/>
        </p:nvSpPr>
        <p:spPr>
          <a:xfrm>
            <a:off x="8138160" y="3785616"/>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override_basis_histogram</a:t>
            </a:r>
          </a:p>
        </p:txBody>
      </p:sp>
      <p:sp>
        <p:nvSpPr>
          <p:cNvPr id="43" name="Rectangle 42"/>
          <p:cNvSpPr/>
          <p:nvPr/>
        </p:nvSpPr>
        <p:spPr>
          <a:xfrm>
            <a:off x="8138160" y="4041648"/>
            <a:ext cx="2011680" cy="1371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final_primary_fqdn</a:t>
            </a:r>
          </a:p>
        </p:txBody>
      </p:sp>
      <p:sp>
        <p:nvSpPr>
          <p:cNvPr id="44" name="Rectangle 43"/>
          <p:cNvSpPr/>
          <p:nvPr/>
        </p:nvSpPr>
        <p:spPr>
          <a:xfrm>
            <a:off x="841248" y="5650992"/>
            <a:ext cx="8046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技术价值：慢路径不是“再问一遍模型”，而是带门禁的候选内复核器。</a:t>
            </a:r>
          </a:p>
        </p:txBody>
      </p:sp>
      <p:sp>
        <p:nvSpPr>
          <p:cNvPr id="45" name="Rectangle 4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7" name="Rectangle 4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10</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Trace 样例：一次请求如何从误判走到可审计改判</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展示对象：holdout3_000213；trace 不贴原始 JSON，而提炼为候选、裁决、复核、授权和最终落点。</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21792" y="1097280"/>
            <a:ext cx="3429000" cy="4828032"/>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96112" y="1353312"/>
            <a:ext cx="10058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用户请求</a:t>
            </a:r>
          </a:p>
        </p:txBody>
      </p:sp>
      <p:sp>
        <p:nvSpPr>
          <p:cNvPr id="12" name="Rectangle 11"/>
          <p:cNvSpPr/>
          <p:nvPr/>
        </p:nvSpPr>
        <p:spPr>
          <a:xfrm>
            <a:off x="896112" y="1755648"/>
            <a:ext cx="2697480" cy="98755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D2E6FF"/>
                </a:solidFill>
                <a:latin typeface="Microsoft YaHei"/>
              </a:rPr>
              <a:t>买会议麦克风这单如果不看优惠规则，明显会多花一笔。
主问句：先看看有什么券或优惠能用
顺带：比一眼价格</a:t>
            </a:r>
          </a:p>
        </p:txBody>
      </p:sp>
      <p:sp>
        <p:nvSpPr>
          <p:cNvPr id="13" name="Rectangle 12"/>
          <p:cNvSpPr/>
          <p:nvPr/>
        </p:nvSpPr>
        <p:spPr>
          <a:xfrm>
            <a:off x="896112" y="2999232"/>
            <a:ext cx="2697480" cy="12700"/>
          </a:xfrm>
          <a:prstGeom prst="rect">
            <a:avLst/>
          </a:prstGeom>
          <a:solidFill>
            <a:srgbClr val="2F80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96112" y="3236976"/>
            <a:ext cx="16916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26B6FF"/>
                </a:solidFill>
                <a:latin typeface="Microsoft YaHei"/>
              </a:rPr>
              <a:t>Stage R 候选快照</a:t>
            </a:r>
          </a:p>
        </p:txBody>
      </p:sp>
      <p:sp>
        <p:nvSpPr>
          <p:cNvPr id="15" name="Oval 14"/>
          <p:cNvSpPr/>
          <p:nvPr/>
        </p:nvSpPr>
        <p:spPr>
          <a:xfrm>
            <a:off x="914400" y="3630168"/>
            <a:ext cx="73152" cy="73152"/>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078992" y="3584448"/>
            <a:ext cx="1600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FFFFFF"/>
                </a:solidFill>
                <a:latin typeface="Arial"/>
              </a:rPr>
              <a:t>coupon.commerce.cn</a:t>
            </a:r>
          </a:p>
        </p:txBody>
      </p:sp>
      <p:sp>
        <p:nvSpPr>
          <p:cNvPr id="17" name="Rectangle 16"/>
          <p:cNvSpPr/>
          <p:nvPr/>
        </p:nvSpPr>
        <p:spPr>
          <a:xfrm>
            <a:off x="2697480" y="3584448"/>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Microsoft YaHei"/>
              </a:rPr>
              <a:t>优惠命中</a:t>
            </a:r>
          </a:p>
        </p:txBody>
      </p:sp>
      <p:sp>
        <p:nvSpPr>
          <p:cNvPr id="18" name="Oval 17"/>
          <p:cNvSpPr/>
          <p:nvPr/>
        </p:nvSpPr>
        <p:spPr>
          <a:xfrm>
            <a:off x="914400" y="4014215"/>
            <a:ext cx="73152" cy="73152"/>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078992" y="3968496"/>
            <a:ext cx="1600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FFFFFF"/>
                </a:solidFill>
                <a:latin typeface="Arial"/>
              </a:rPr>
              <a:t>price.commerce.cn</a:t>
            </a:r>
          </a:p>
        </p:txBody>
      </p:sp>
      <p:sp>
        <p:nvSpPr>
          <p:cNvPr id="20" name="Rectangle 19"/>
          <p:cNvSpPr/>
          <p:nvPr/>
        </p:nvSpPr>
        <p:spPr>
          <a:xfrm>
            <a:off x="2697480" y="3968496"/>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Microsoft YaHei"/>
              </a:rPr>
              <a:t>价格命中</a:t>
            </a:r>
          </a:p>
        </p:txBody>
      </p:sp>
      <p:sp>
        <p:nvSpPr>
          <p:cNvPr id="21" name="Oval 20"/>
          <p:cNvSpPr/>
          <p:nvPr/>
        </p:nvSpPr>
        <p:spPr>
          <a:xfrm>
            <a:off x="914400" y="4398264"/>
            <a:ext cx="73152" cy="73152"/>
          </a:xfrm>
          <a:prstGeom prst="ellipse">
            <a:avLst/>
          </a:prstGeom>
          <a:solidFill>
            <a:srgbClr val="6B49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078992" y="4352544"/>
            <a:ext cx="16002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FFFFFF"/>
                </a:solidFill>
                <a:latin typeface="Arial"/>
              </a:rPr>
              <a:t>meeting.productivity.cn</a:t>
            </a:r>
          </a:p>
        </p:txBody>
      </p:sp>
      <p:sp>
        <p:nvSpPr>
          <p:cNvPr id="23" name="Rectangle 22"/>
          <p:cNvSpPr/>
          <p:nvPr/>
        </p:nvSpPr>
        <p:spPr>
          <a:xfrm>
            <a:off x="2697480" y="4352544"/>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Microsoft YaHei"/>
              </a:rPr>
              <a:t>会议词面</a:t>
            </a:r>
          </a:p>
        </p:txBody>
      </p:sp>
      <p:sp>
        <p:nvSpPr>
          <p:cNvPr id="24" name="Rectangle 23"/>
          <p:cNvSpPr/>
          <p:nvPr/>
        </p:nvSpPr>
        <p:spPr>
          <a:xfrm>
            <a:off x="896112" y="4937760"/>
            <a:ext cx="25146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D2E6FF"/>
                </a:solidFill>
                <a:latin typeface="Arial"/>
              </a:rPr>
              <a:t>candidate_count = 10    primary_in_top_k = true</a:t>
            </a:r>
          </a:p>
        </p:txBody>
      </p:sp>
      <p:sp>
        <p:nvSpPr>
          <p:cNvPr id="25" name="Rounded Rectangle 24"/>
          <p:cNvSpPr/>
          <p:nvPr/>
        </p:nvSpPr>
        <p:spPr>
          <a:xfrm>
            <a:off x="4572000" y="1225296"/>
            <a:ext cx="2788920" cy="98755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4773168" y="1426464"/>
            <a:ext cx="237744" cy="237744"/>
          </a:xfrm>
          <a:prstGeom prst="ellipse">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73168" y="1490472"/>
            <a:ext cx="237744"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50" b="1">
                <a:solidFill>
                  <a:srgbClr val="FFFFFF"/>
                </a:solidFill>
                <a:latin typeface="Arial"/>
              </a:rPr>
              <a:t>1</a:t>
            </a:r>
          </a:p>
        </p:txBody>
      </p:sp>
      <p:sp>
        <p:nvSpPr>
          <p:cNvPr id="28" name="Rectangle 27"/>
          <p:cNvSpPr/>
          <p:nvPr/>
        </p:nvSpPr>
        <p:spPr>
          <a:xfrm>
            <a:off x="5102352" y="138988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E97132"/>
                </a:solidFill>
                <a:latin typeface="Microsoft YaHei"/>
              </a:rPr>
              <a:t>Stage A 初判</a:t>
            </a:r>
          </a:p>
        </p:txBody>
      </p:sp>
      <p:sp>
        <p:nvSpPr>
          <p:cNvPr id="29" name="Rectangle 28"/>
          <p:cNvSpPr/>
          <p:nvPr/>
        </p:nvSpPr>
        <p:spPr>
          <a:xfrm>
            <a:off x="5102352" y="1664208"/>
            <a:ext cx="1783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Arial"/>
              </a:rPr>
              <a:t>price.commerce.cn</a:t>
            </a:r>
          </a:p>
        </p:txBody>
      </p:sp>
      <p:sp>
        <p:nvSpPr>
          <p:cNvPr id="30" name="Rectangle 29"/>
          <p:cNvSpPr/>
          <p:nvPr/>
        </p:nvSpPr>
        <p:spPr>
          <a:xfrm>
            <a:off x="5102352" y="1883664"/>
            <a:ext cx="2057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Arial"/>
              </a:rPr>
              <a:t>conf=0.519 / margin=0.064</a:t>
            </a:r>
          </a:p>
        </p:txBody>
      </p:sp>
      <p:sp>
        <p:nvSpPr>
          <p:cNvPr id="31" name="Rectangle 30"/>
          <p:cNvSpPr/>
          <p:nvPr/>
        </p:nvSpPr>
        <p:spPr>
          <a:xfrm>
            <a:off x="5102352" y="2048256"/>
            <a:ext cx="1965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30" b="0">
                <a:solidFill>
                  <a:srgbClr val="53657A"/>
                </a:solidFill>
                <a:latin typeface="Microsoft YaHei"/>
              </a:rPr>
              <a:t>触发原因：low_confidence + small_margin</a:t>
            </a:r>
          </a:p>
        </p:txBody>
      </p:sp>
      <p:sp>
        <p:nvSpPr>
          <p:cNvPr id="32" name="Rectangle 31"/>
          <p:cNvSpPr/>
          <p:nvPr/>
        </p:nvSpPr>
        <p:spPr>
          <a:xfrm>
            <a:off x="5943600" y="2295144"/>
            <a:ext cx="18288" cy="27940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4572000" y="2642616"/>
            <a:ext cx="2788920" cy="98755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4773168" y="2843784"/>
            <a:ext cx="237744" cy="237744"/>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773168" y="2907792"/>
            <a:ext cx="237744"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50" b="1">
                <a:solidFill>
                  <a:srgbClr val="FFFFFF"/>
                </a:solidFill>
                <a:latin typeface="Arial"/>
              </a:rPr>
              <a:t>2</a:t>
            </a:r>
          </a:p>
        </p:txBody>
      </p:sp>
      <p:sp>
        <p:nvSpPr>
          <p:cNvPr id="36" name="Rectangle 35"/>
          <p:cNvSpPr/>
          <p:nvPr/>
        </p:nvSpPr>
        <p:spPr>
          <a:xfrm>
            <a:off x="5102352" y="280720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B63CE"/>
                </a:solidFill>
                <a:latin typeface="Microsoft YaHei"/>
              </a:rPr>
              <a:t>Stage B 复核</a:t>
            </a:r>
          </a:p>
        </p:txBody>
      </p:sp>
      <p:sp>
        <p:nvSpPr>
          <p:cNvPr id="37" name="Rectangle 36"/>
          <p:cNvSpPr/>
          <p:nvPr/>
        </p:nvSpPr>
        <p:spPr>
          <a:xfrm>
            <a:off x="5102352" y="3081528"/>
            <a:ext cx="1783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Arial"/>
              </a:rPr>
              <a:t>3 票提议改判 / 1 票保守</a:t>
            </a:r>
          </a:p>
        </p:txBody>
      </p:sp>
      <p:sp>
        <p:nvSpPr>
          <p:cNvPr id="38" name="Rectangle 37"/>
          <p:cNvSpPr/>
          <p:nvPr/>
        </p:nvSpPr>
        <p:spPr>
          <a:xfrm>
            <a:off x="5102352" y="3300984"/>
            <a:ext cx="2057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Arial"/>
              </a:rPr>
              <a:t>override_vote_count = 3</a:t>
            </a:r>
          </a:p>
        </p:txBody>
      </p:sp>
      <p:sp>
        <p:nvSpPr>
          <p:cNvPr id="39" name="Rectangle 38"/>
          <p:cNvSpPr/>
          <p:nvPr/>
        </p:nvSpPr>
        <p:spPr>
          <a:xfrm>
            <a:off x="5102352" y="3465576"/>
            <a:ext cx="1965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30" b="0">
                <a:solidFill>
                  <a:srgbClr val="53657A"/>
                </a:solidFill>
                <a:latin typeface="Microsoft YaHei"/>
              </a:rPr>
              <a:t>证据集中在“优惠为主、价格为辅”</a:t>
            </a:r>
          </a:p>
        </p:txBody>
      </p:sp>
      <p:sp>
        <p:nvSpPr>
          <p:cNvPr id="40" name="Rectangle 39"/>
          <p:cNvSpPr/>
          <p:nvPr/>
        </p:nvSpPr>
        <p:spPr>
          <a:xfrm>
            <a:off x="5943600" y="3712464"/>
            <a:ext cx="18288" cy="27940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4572000" y="4059936"/>
            <a:ext cx="2788920" cy="98755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4773168" y="4261104"/>
            <a:ext cx="237744" cy="237744"/>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73168" y="4325112"/>
            <a:ext cx="237744"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850" b="1">
                <a:solidFill>
                  <a:srgbClr val="FFFFFF"/>
                </a:solidFill>
                <a:latin typeface="Arial"/>
              </a:rPr>
              <a:t>3</a:t>
            </a:r>
          </a:p>
        </p:txBody>
      </p:sp>
      <p:sp>
        <p:nvSpPr>
          <p:cNvPr id="44" name="Rectangle 43"/>
          <p:cNvSpPr/>
          <p:nvPr/>
        </p:nvSpPr>
        <p:spPr>
          <a:xfrm>
            <a:off x="5102352" y="422452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Microsoft YaHei"/>
              </a:rPr>
              <a:t>授权改判</a:t>
            </a:r>
          </a:p>
        </p:txBody>
      </p:sp>
      <p:sp>
        <p:nvSpPr>
          <p:cNvPr id="45" name="Rectangle 44"/>
          <p:cNvSpPr/>
          <p:nvPr/>
        </p:nvSpPr>
        <p:spPr>
          <a:xfrm>
            <a:off x="5102352" y="4498848"/>
            <a:ext cx="17830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Arial"/>
              </a:rPr>
              <a:t>override_allowed = true</a:t>
            </a:r>
          </a:p>
        </p:txBody>
      </p:sp>
      <p:sp>
        <p:nvSpPr>
          <p:cNvPr id="46" name="Rectangle 45"/>
          <p:cNvSpPr/>
          <p:nvPr/>
        </p:nvSpPr>
        <p:spPr>
          <a:xfrm>
            <a:off x="5102352" y="4718304"/>
            <a:ext cx="20574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0" b="0">
                <a:solidFill>
                  <a:srgbClr val="53657A"/>
                </a:solidFill>
                <a:latin typeface="Arial"/>
              </a:rPr>
              <a:t>basis: explicit_primary_evidence</a:t>
            </a:r>
          </a:p>
        </p:txBody>
      </p:sp>
      <p:sp>
        <p:nvSpPr>
          <p:cNvPr id="47" name="Rectangle 46"/>
          <p:cNvSpPr/>
          <p:nvPr/>
        </p:nvSpPr>
        <p:spPr>
          <a:xfrm>
            <a:off x="5102352" y="4882896"/>
            <a:ext cx="1965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30" b="0">
                <a:solidFill>
                  <a:srgbClr val="53657A"/>
                </a:solidFill>
                <a:latin typeface="Microsoft YaHei"/>
              </a:rPr>
              <a:t>主意图从“比价”校正为“优惠规则”</a:t>
            </a:r>
          </a:p>
        </p:txBody>
      </p:sp>
      <p:sp>
        <p:nvSpPr>
          <p:cNvPr id="48" name="Rounded Rectangle 47"/>
          <p:cNvSpPr/>
          <p:nvPr/>
        </p:nvSpPr>
        <p:spPr>
          <a:xfrm>
            <a:off x="7973568" y="1143000"/>
            <a:ext cx="3246120" cy="1874519"/>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247888" y="1444752"/>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B93232"/>
                </a:solidFill>
                <a:latin typeface="Microsoft YaHei"/>
              </a:rPr>
              <a:t>最终路由</a:t>
            </a:r>
          </a:p>
        </p:txBody>
      </p:sp>
      <p:sp>
        <p:nvSpPr>
          <p:cNvPr id="50" name="Rectangle 49"/>
          <p:cNvSpPr/>
          <p:nvPr/>
        </p:nvSpPr>
        <p:spPr>
          <a:xfrm>
            <a:off x="8183879" y="1810512"/>
            <a:ext cx="26517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20" b="1">
                <a:solidFill>
                  <a:srgbClr val="B93232"/>
                </a:solidFill>
                <a:latin typeface="Arial"/>
              </a:rPr>
              <a:t>coupon.commerce.cn</a:t>
            </a:r>
          </a:p>
        </p:txBody>
      </p:sp>
      <p:sp>
        <p:nvSpPr>
          <p:cNvPr id="51" name="Rectangle 50"/>
          <p:cNvSpPr/>
          <p:nvPr/>
        </p:nvSpPr>
        <p:spPr>
          <a:xfrm>
            <a:off x="8247888" y="2157984"/>
            <a:ext cx="2057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53657A"/>
                </a:solidFill>
                <a:latin typeface="Arial"/>
              </a:rPr>
              <a:t>final_decision_source = stage_b</a:t>
            </a:r>
          </a:p>
        </p:txBody>
      </p:sp>
      <p:sp>
        <p:nvSpPr>
          <p:cNvPr id="52" name="Rectangle 51"/>
          <p:cNvSpPr/>
          <p:nvPr/>
        </p:nvSpPr>
        <p:spPr>
          <a:xfrm>
            <a:off x="8247888" y="2441448"/>
            <a:ext cx="25146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0" b="0">
                <a:solidFill>
                  <a:srgbClr val="102033"/>
                </a:solidFill>
                <a:latin typeface="Microsoft YaHei"/>
              </a:rPr>
              <a:t>可解释结论：优惠可用性是主任务，价格比较作为相关诉求保留。</a:t>
            </a:r>
          </a:p>
        </p:txBody>
      </p:sp>
      <p:sp>
        <p:nvSpPr>
          <p:cNvPr id="53" name="Rounded Rectangle 52"/>
          <p:cNvSpPr/>
          <p:nvPr/>
        </p:nvSpPr>
        <p:spPr>
          <a:xfrm>
            <a:off x="7973568" y="3310128"/>
            <a:ext cx="3246120" cy="129844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247888" y="3566160"/>
            <a:ext cx="15544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评审能看到什么</a:t>
            </a:r>
          </a:p>
        </p:txBody>
      </p:sp>
      <p:sp>
        <p:nvSpPr>
          <p:cNvPr id="55" name="Oval 54"/>
          <p:cNvSpPr/>
          <p:nvPr/>
        </p:nvSpPr>
        <p:spPr>
          <a:xfrm>
            <a:off x="8247888" y="3950207"/>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412480" y="3895344"/>
            <a:ext cx="2560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错因：候选内主次意图误判</a:t>
            </a:r>
          </a:p>
        </p:txBody>
      </p:sp>
      <p:sp>
        <p:nvSpPr>
          <p:cNvPr id="57" name="Oval 56"/>
          <p:cNvSpPr/>
          <p:nvPr/>
        </p:nvSpPr>
        <p:spPr>
          <a:xfrm>
            <a:off x="8247888" y="4169663"/>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412480" y="4114800"/>
            <a:ext cx="2560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修正：职责化角色给出证据</a:t>
            </a:r>
          </a:p>
        </p:txBody>
      </p:sp>
      <p:sp>
        <p:nvSpPr>
          <p:cNvPr id="59" name="Oval 58"/>
          <p:cNvSpPr/>
          <p:nvPr/>
        </p:nvSpPr>
        <p:spPr>
          <a:xfrm>
            <a:off x="8247888" y="4389120"/>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ectangle 59"/>
          <p:cNvSpPr/>
          <p:nvPr/>
        </p:nvSpPr>
        <p:spPr>
          <a:xfrm>
            <a:off x="8412480" y="4334256"/>
            <a:ext cx="25603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0">
                <a:solidFill>
                  <a:srgbClr val="102033"/>
                </a:solidFill>
                <a:latin typeface="Microsoft YaHei"/>
              </a:rPr>
              <a:t>边界：改判需通过授权检查</a:t>
            </a:r>
          </a:p>
        </p:txBody>
      </p:sp>
      <p:sp>
        <p:nvSpPr>
          <p:cNvPr id="61" name="Rounded Rectangle 60"/>
          <p:cNvSpPr/>
          <p:nvPr/>
        </p:nvSpPr>
        <p:spPr>
          <a:xfrm>
            <a:off x="749808" y="6016752"/>
            <a:ext cx="10287000" cy="347472"/>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950976" y="6108192"/>
            <a:ext cx="973836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0" b="0">
                <a:solidFill>
                  <a:srgbClr val="53657A"/>
                </a:solidFill>
                <a:latin typeface="Arial"/>
              </a:rPr>
              <a:t>Trace contract 字段：stage_r.fqdn_candidates / stage_a.routing_top_k / stage_b.agent_votes / stage_b.trust_trace / final_primary_fqdn</a:t>
            </a:r>
          </a:p>
        </p:txBody>
      </p:sp>
      <p:sp>
        <p:nvSpPr>
          <p:cNvPr id="63" name="Rectangle 6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65" name="Rectangle 6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工程实现：研究链路已经沉淀为可运行模块和测试用例</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这一页回应评审对系统落地、代码实现和测试支撑的关注。</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417320"/>
            <a:ext cx="1874519" cy="1078992"/>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13816"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B63CE"/>
                </a:solidFill>
                <a:latin typeface="Arial"/>
              </a:rPr>
              <a:t>namespace.py</a:t>
            </a:r>
          </a:p>
        </p:txBody>
      </p:sp>
      <p:sp>
        <p:nvSpPr>
          <p:cNvPr id="12" name="Rectangle 11"/>
          <p:cNvSpPr/>
          <p:nvPr/>
        </p:nvSpPr>
        <p:spPr>
          <a:xfrm>
            <a:off x="813816"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能力节点 / FQDN / 层级</a:t>
            </a:r>
          </a:p>
        </p:txBody>
      </p:sp>
      <p:sp>
        <p:nvSpPr>
          <p:cNvPr id="13" name="Rounded Rectangle 12"/>
          <p:cNvSpPr/>
          <p:nvPr/>
        </p:nvSpPr>
        <p:spPr>
          <a:xfrm>
            <a:off x="2953512" y="1417320"/>
            <a:ext cx="1874519" cy="1078992"/>
          </a:xfrm>
          <a:prstGeom prst="roundRect">
            <a:avLst/>
          </a:prstGeom>
          <a:solidFill>
            <a:srgbClr val="FFFFFF"/>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081528"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E83E6"/>
                </a:solidFill>
                <a:latin typeface="Arial"/>
              </a:rPr>
              <a:t>stage_r_clean.py</a:t>
            </a:r>
          </a:p>
        </p:txBody>
      </p:sp>
      <p:sp>
        <p:nvSpPr>
          <p:cNvPr id="15" name="Rectangle 14"/>
          <p:cNvSpPr/>
          <p:nvPr/>
        </p:nvSpPr>
        <p:spPr>
          <a:xfrm>
            <a:off x="3081528"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命名空间候选召回</a:t>
            </a:r>
          </a:p>
        </p:txBody>
      </p:sp>
      <p:sp>
        <p:nvSpPr>
          <p:cNvPr id="16" name="Rounded Rectangle 15"/>
          <p:cNvSpPr/>
          <p:nvPr/>
        </p:nvSpPr>
        <p:spPr>
          <a:xfrm>
            <a:off x="5221224" y="1417320"/>
            <a:ext cx="1874519" cy="107899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49240"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Arial"/>
              </a:rPr>
              <a:t>stage_a_llm.py</a:t>
            </a:r>
          </a:p>
        </p:txBody>
      </p:sp>
      <p:sp>
        <p:nvSpPr>
          <p:cNvPr id="18" name="Rectangle 17"/>
          <p:cNvSpPr/>
          <p:nvPr/>
        </p:nvSpPr>
        <p:spPr>
          <a:xfrm>
            <a:off x="5349240"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结构化语义裁决</a:t>
            </a:r>
          </a:p>
        </p:txBody>
      </p:sp>
      <p:sp>
        <p:nvSpPr>
          <p:cNvPr id="19" name="Rounded Rectangle 18"/>
          <p:cNvSpPr/>
          <p:nvPr/>
        </p:nvSpPr>
        <p:spPr>
          <a:xfrm>
            <a:off x="7488936" y="1417320"/>
            <a:ext cx="1874519" cy="107899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616952"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E97132"/>
                </a:solidFill>
                <a:latin typeface="Arial"/>
              </a:rPr>
              <a:t>stage_b_consensus.py</a:t>
            </a:r>
          </a:p>
        </p:txBody>
      </p:sp>
      <p:sp>
        <p:nvSpPr>
          <p:cNvPr id="21" name="Rectangle 20"/>
          <p:cNvSpPr/>
          <p:nvPr/>
        </p:nvSpPr>
        <p:spPr>
          <a:xfrm>
            <a:off x="7616952"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职责化复核与授权</a:t>
            </a:r>
          </a:p>
        </p:txBody>
      </p:sp>
      <p:sp>
        <p:nvSpPr>
          <p:cNvPr id="22" name="Rounded Rectangle 21"/>
          <p:cNvSpPr/>
          <p:nvPr/>
        </p:nvSpPr>
        <p:spPr>
          <a:xfrm>
            <a:off x="9756648" y="1417320"/>
            <a:ext cx="1874519" cy="1078992"/>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884664" y="1673352"/>
            <a:ext cx="14173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6B49C8"/>
                </a:solidFill>
                <a:latin typeface="Arial"/>
              </a:rPr>
              <a:t>stage_c_selector.py</a:t>
            </a:r>
          </a:p>
        </p:txBody>
      </p:sp>
      <p:sp>
        <p:nvSpPr>
          <p:cNvPr id="24" name="Rectangle 23"/>
          <p:cNvSpPr/>
          <p:nvPr/>
        </p:nvSpPr>
        <p:spPr>
          <a:xfrm>
            <a:off x="9884664" y="1993392"/>
            <a:ext cx="13258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53657A"/>
                </a:solidFill>
                <a:latin typeface="Microsoft YaHei"/>
              </a:rPr>
              <a:t>实例过滤与排序</a:t>
            </a:r>
          </a:p>
        </p:txBody>
      </p:sp>
      <p:sp>
        <p:nvSpPr>
          <p:cNvPr id="25" name="Rounded Rectangle 24"/>
          <p:cNvSpPr/>
          <p:nvPr/>
        </p:nvSpPr>
        <p:spPr>
          <a:xfrm>
            <a:off x="786384" y="3154680"/>
            <a:ext cx="5303520" cy="155448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051560" y="3447288"/>
            <a:ext cx="128016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运行入口</a:t>
            </a:r>
          </a:p>
        </p:txBody>
      </p:sp>
      <p:sp>
        <p:nvSpPr>
          <p:cNvPr id="27" name="Rectangle 26"/>
          <p:cNvSpPr/>
          <p:nvPr/>
        </p:nvSpPr>
        <p:spPr>
          <a:xfrm>
            <a:off x="1060704" y="3822191"/>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run_stage_r_clean_snapshot.py</a:t>
            </a:r>
          </a:p>
        </p:txBody>
      </p:sp>
      <p:sp>
        <p:nvSpPr>
          <p:cNvPr id="28" name="Rectangle 27"/>
          <p:cNvSpPr/>
          <p:nvPr/>
        </p:nvSpPr>
        <p:spPr>
          <a:xfrm>
            <a:off x="1060704" y="4059935"/>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run_stage_a_llm.py</a:t>
            </a:r>
          </a:p>
        </p:txBody>
      </p:sp>
      <p:sp>
        <p:nvSpPr>
          <p:cNvPr id="29" name="Rectangle 28"/>
          <p:cNvSpPr/>
          <p:nvPr/>
        </p:nvSpPr>
        <p:spPr>
          <a:xfrm>
            <a:off x="1060704" y="4297679"/>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run_stage_b.py</a:t>
            </a:r>
          </a:p>
        </p:txBody>
      </p:sp>
      <p:sp>
        <p:nvSpPr>
          <p:cNvPr id="30" name="Rectangle 29"/>
          <p:cNvSpPr/>
          <p:nvPr/>
        </p:nvSpPr>
        <p:spPr>
          <a:xfrm>
            <a:off x="1060704" y="4535424"/>
            <a:ext cx="3566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9" b="0">
                <a:solidFill>
                  <a:srgbClr val="D2E6FF"/>
                </a:solidFill>
                <a:latin typeface="Arial"/>
              </a:rPr>
              <a:t>run_routing_service.py</a:t>
            </a:r>
          </a:p>
        </p:txBody>
      </p:sp>
      <p:sp>
        <p:nvSpPr>
          <p:cNvPr id="31" name="Rounded Rectangle 30"/>
          <p:cNvSpPr/>
          <p:nvPr/>
        </p:nvSpPr>
        <p:spPr>
          <a:xfrm>
            <a:off x="6629400" y="3154680"/>
            <a:ext cx="4251960" cy="155448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903720" y="3447288"/>
            <a:ext cx="14630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Microsoft YaHei"/>
              </a:rPr>
              <a:t>验证与规模</a:t>
            </a:r>
          </a:p>
        </p:txBody>
      </p:sp>
      <p:sp>
        <p:nvSpPr>
          <p:cNvPr id="33" name="Rectangle 32"/>
          <p:cNvSpPr/>
          <p:nvPr/>
        </p:nvSpPr>
        <p:spPr>
          <a:xfrm>
            <a:off x="69037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Arial"/>
              </a:rPr>
              <a:t>12</a:t>
            </a:r>
          </a:p>
        </p:txBody>
      </p:sp>
      <p:sp>
        <p:nvSpPr>
          <p:cNvPr id="34" name="Rectangle 33"/>
          <p:cNvSpPr/>
          <p:nvPr/>
        </p:nvSpPr>
        <p:spPr>
          <a:xfrm>
            <a:off x="68762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核心模块</a:t>
            </a:r>
          </a:p>
        </p:txBody>
      </p:sp>
      <p:sp>
        <p:nvSpPr>
          <p:cNvPr id="35" name="Rectangle 34"/>
          <p:cNvSpPr/>
          <p:nvPr/>
        </p:nvSpPr>
        <p:spPr>
          <a:xfrm>
            <a:off x="78181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Arial"/>
              </a:rPr>
              <a:t>5</a:t>
            </a:r>
          </a:p>
        </p:txBody>
      </p:sp>
      <p:sp>
        <p:nvSpPr>
          <p:cNvPr id="36" name="Rectangle 35"/>
          <p:cNvSpPr/>
          <p:nvPr/>
        </p:nvSpPr>
        <p:spPr>
          <a:xfrm>
            <a:off x="77906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运行脚本</a:t>
            </a:r>
          </a:p>
        </p:txBody>
      </p:sp>
      <p:sp>
        <p:nvSpPr>
          <p:cNvPr id="37" name="Rectangle 36"/>
          <p:cNvSpPr/>
          <p:nvPr/>
        </p:nvSpPr>
        <p:spPr>
          <a:xfrm>
            <a:off x="87325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E97132"/>
                </a:solidFill>
                <a:latin typeface="Arial"/>
              </a:rPr>
              <a:t>5</a:t>
            </a:r>
          </a:p>
        </p:txBody>
      </p:sp>
      <p:sp>
        <p:nvSpPr>
          <p:cNvPr id="38" name="Rectangle 37"/>
          <p:cNvSpPr/>
          <p:nvPr/>
        </p:nvSpPr>
        <p:spPr>
          <a:xfrm>
            <a:off x="87050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测试文件</a:t>
            </a:r>
          </a:p>
        </p:txBody>
      </p:sp>
      <p:sp>
        <p:nvSpPr>
          <p:cNvPr id="39" name="Rectangle 38"/>
          <p:cNvSpPr/>
          <p:nvPr/>
        </p:nvSpPr>
        <p:spPr>
          <a:xfrm>
            <a:off x="9646920" y="3858768"/>
            <a:ext cx="7315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B93232"/>
                </a:solidFill>
                <a:latin typeface="Arial"/>
              </a:rPr>
              <a:t>9,787</a:t>
            </a:r>
          </a:p>
        </p:txBody>
      </p:sp>
      <p:sp>
        <p:nvSpPr>
          <p:cNvPr id="40" name="Rectangle 39"/>
          <p:cNvSpPr/>
          <p:nvPr/>
        </p:nvSpPr>
        <p:spPr>
          <a:xfrm>
            <a:off x="9619488" y="4160520"/>
            <a:ext cx="86868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代码与测试行数</a:t>
            </a:r>
          </a:p>
        </p:txBody>
      </p:sp>
      <p:sp>
        <p:nvSpPr>
          <p:cNvPr id="41" name="Rectangle 40"/>
          <p:cNvSpPr/>
          <p:nvPr/>
        </p:nvSpPr>
        <p:spPr>
          <a:xfrm>
            <a:off x="822960" y="5806440"/>
            <a:ext cx="676656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代码证明项目已经从方案说明进入可运行、可测试、可复现实验状态。</a:t>
            </a:r>
          </a:p>
        </p:txBody>
      </p:sp>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Stage C 技术剖面：能力地址到执行实例的硬过滤与可解释排序</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技术难点在于路由结果不能停在能力标签，还要安全落到具体 agent endpoint，且执行层不能改写路由。</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94944" y="1170432"/>
            <a:ext cx="3337560" cy="3749039"/>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9264" y="1444752"/>
            <a:ext cx="1371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硬过滤条件</a:t>
            </a:r>
          </a:p>
        </p:txBody>
      </p:sp>
      <p:sp>
        <p:nvSpPr>
          <p:cNvPr id="12" name="Oval 11"/>
          <p:cNvSpPr/>
          <p:nvPr/>
        </p:nvSpPr>
        <p:spPr>
          <a:xfrm>
            <a:off x="987552" y="192938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2144" y="1874519"/>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routing_fqdn exact match</a:t>
            </a:r>
          </a:p>
        </p:txBody>
      </p:sp>
      <p:sp>
        <p:nvSpPr>
          <p:cNvPr id="14" name="Oval 13"/>
          <p:cNvSpPr/>
          <p:nvPr/>
        </p:nvSpPr>
        <p:spPr>
          <a:xfrm>
            <a:off x="987552" y="2350008"/>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52144" y="2295144"/>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endpoint exists</a:t>
            </a:r>
          </a:p>
        </p:txBody>
      </p:sp>
      <p:sp>
        <p:nvSpPr>
          <p:cNvPr id="16" name="Oval 15"/>
          <p:cNvSpPr/>
          <p:nvPr/>
        </p:nvSpPr>
        <p:spPr>
          <a:xfrm>
            <a:off x="987552" y="2770632"/>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52144" y="2715768"/>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status in online/ready/available</a:t>
            </a:r>
          </a:p>
        </p:txBody>
      </p:sp>
      <p:sp>
        <p:nvSpPr>
          <p:cNvPr id="18" name="Oval 17"/>
          <p:cNvSpPr/>
          <p:nvPr/>
        </p:nvSpPr>
        <p:spPr>
          <a:xfrm>
            <a:off x="987552" y="319125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52144" y="3136391"/>
            <a:ext cx="25146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input/output schema covered</a:t>
            </a:r>
          </a:p>
        </p:txBody>
      </p:sp>
      <p:sp>
        <p:nvSpPr>
          <p:cNvPr id="20" name="Rectangle 19"/>
          <p:cNvSpPr/>
          <p:nvPr/>
        </p:nvSpPr>
        <p:spPr>
          <a:xfrm>
            <a:off x="987552" y="3913632"/>
            <a:ext cx="25146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50" b="0">
                <a:solidFill>
                  <a:srgbClr val="D2E6FF"/>
                </a:solidFill>
                <a:latin typeface="Microsoft YaHei"/>
              </a:rPr>
              <a:t>被过滤对象写入 filtered_out_reasons，避免执行层悄悄兜底。</a:t>
            </a:r>
          </a:p>
        </p:txBody>
      </p:sp>
      <p:sp>
        <p:nvSpPr>
          <p:cNvPr id="21" name="Rounded Rectangle 20"/>
          <p:cNvSpPr/>
          <p:nvPr/>
        </p:nvSpPr>
        <p:spPr>
          <a:xfrm>
            <a:off x="4370832" y="1170432"/>
            <a:ext cx="3154680" cy="3749039"/>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645152" y="1444752"/>
            <a:ext cx="12344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6B49C8"/>
                </a:solidFill>
                <a:latin typeface="Microsoft YaHei"/>
              </a:rPr>
              <a:t>排序评分</a:t>
            </a:r>
          </a:p>
        </p:txBody>
      </p:sp>
      <p:sp>
        <p:nvSpPr>
          <p:cNvPr id="23" name="Rectangle 22"/>
          <p:cNvSpPr/>
          <p:nvPr/>
        </p:nvSpPr>
        <p:spPr>
          <a:xfrm>
            <a:off x="4645152" y="1847088"/>
            <a:ext cx="2514600" cy="1417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50" b="0">
                <a:solidFill>
                  <a:srgbClr val="102033"/>
                </a:solidFill>
                <a:latin typeface="Menlo"/>
              </a:rPr>
              <a:t>base = 0.55*S_match
     + 0.25*S_schema
     + 0.20*S_tag
final = base * health
      * fair_agent
      * fair_provider</a:t>
            </a:r>
          </a:p>
        </p:txBody>
      </p:sp>
      <p:sp>
        <p:nvSpPr>
          <p:cNvPr id="24" name="Rectangle 23"/>
          <p:cNvSpPr/>
          <p:nvPr/>
        </p:nvSpPr>
        <p:spPr>
          <a:xfrm>
            <a:off x="4645152" y="3730752"/>
            <a:ext cx="233172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0">
                <a:solidFill>
                  <a:srgbClr val="53657A"/>
                </a:solidFill>
                <a:latin typeface="Microsoft YaHei"/>
              </a:rPr>
              <a:t>health 按 heartbeat 半衰期衰减；fairness 抑制单 agent / provider 过度曝光。</a:t>
            </a:r>
          </a:p>
        </p:txBody>
      </p:sp>
      <p:sp>
        <p:nvSpPr>
          <p:cNvPr id="25" name="Rounded Rectangle 24"/>
          <p:cNvSpPr/>
          <p:nvPr/>
        </p:nvSpPr>
        <p:spPr>
          <a:xfrm>
            <a:off x="8028431" y="1170432"/>
            <a:ext cx="2971800" cy="3749039"/>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02752" y="1444752"/>
            <a:ext cx="1600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E8A57"/>
                </a:solidFill>
                <a:latin typeface="Arial"/>
              </a:rPr>
              <a:t>selection_trace</a:t>
            </a:r>
          </a:p>
        </p:txBody>
      </p:sp>
      <p:sp>
        <p:nvSpPr>
          <p:cNvPr id="27" name="Rectangle 26"/>
          <p:cNvSpPr/>
          <p:nvPr/>
        </p:nvSpPr>
        <p:spPr>
          <a:xfrm>
            <a:off x="8302752" y="1847088"/>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candidate_count_before_filter</a:t>
            </a:r>
          </a:p>
        </p:txBody>
      </p:sp>
      <p:sp>
        <p:nvSpPr>
          <p:cNvPr id="28" name="Rectangle 27"/>
          <p:cNvSpPr/>
          <p:nvPr/>
        </p:nvSpPr>
        <p:spPr>
          <a:xfrm>
            <a:off x="8302752" y="2157984"/>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candidate_count_after_filter</a:t>
            </a:r>
          </a:p>
        </p:txBody>
      </p:sp>
      <p:sp>
        <p:nvSpPr>
          <p:cNvPr id="29" name="Rectangle 28"/>
          <p:cNvSpPr/>
          <p:nvPr/>
        </p:nvSpPr>
        <p:spPr>
          <a:xfrm>
            <a:off x="8302752" y="2468880"/>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filtered_out_reasons</a:t>
            </a:r>
          </a:p>
        </p:txBody>
      </p:sp>
      <p:sp>
        <p:nvSpPr>
          <p:cNvPr id="30" name="Rectangle 29"/>
          <p:cNvSpPr/>
          <p:nvPr/>
        </p:nvSpPr>
        <p:spPr>
          <a:xfrm>
            <a:off x="8302752" y="2779776"/>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chosen_agent_fqdn</a:t>
            </a:r>
          </a:p>
        </p:txBody>
      </p:sp>
      <p:sp>
        <p:nvSpPr>
          <p:cNvPr id="31" name="Rectangle 30"/>
          <p:cNvSpPr/>
          <p:nvPr/>
        </p:nvSpPr>
        <p:spPr>
          <a:xfrm>
            <a:off x="8302752" y="3090672"/>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selection_latency_ms</a:t>
            </a:r>
          </a:p>
        </p:txBody>
      </p:sp>
      <p:sp>
        <p:nvSpPr>
          <p:cNvPr id="32" name="Rectangle 31"/>
          <p:cNvSpPr/>
          <p:nvPr/>
        </p:nvSpPr>
        <p:spPr>
          <a:xfrm>
            <a:off x="8302752" y="3401568"/>
            <a:ext cx="2057400" cy="1554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102033"/>
                </a:solidFill>
                <a:latin typeface="Arial"/>
              </a:rPr>
              <a:t>tie_break_applied</a:t>
            </a:r>
          </a:p>
        </p:txBody>
      </p:sp>
      <p:sp>
        <p:nvSpPr>
          <p:cNvPr id="33" name="Rectangle 32"/>
          <p:cNvSpPr/>
          <p:nvPr/>
        </p:nvSpPr>
        <p:spPr>
          <a:xfrm>
            <a:off x="8302752" y="3986784"/>
            <a:ext cx="214884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1">
                <a:solidFill>
                  <a:srgbClr val="0E8A57"/>
                </a:solidFill>
                <a:latin typeface="Arial"/>
              </a:rPr>
              <a:t>输出：chosen_agent_fqdn -&gt; endpoint</a:t>
            </a:r>
          </a:p>
        </p:txBody>
      </p:sp>
      <p:sp>
        <p:nvSpPr>
          <p:cNvPr id="34" name="Rectangle 33"/>
          <p:cNvSpPr/>
          <p:nvPr/>
        </p:nvSpPr>
        <p:spPr>
          <a:xfrm>
            <a:off x="841248" y="5650992"/>
            <a:ext cx="8046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102033"/>
                </a:solidFill>
                <a:latin typeface="Microsoft YaHei"/>
              </a:rPr>
              <a:t>技术价值：把“语义正确”推进到“可执行、可审计、可解释选择”。</a:t>
            </a:r>
          </a:p>
        </p:txBody>
      </p:sp>
      <p:sp>
        <p:nvSpPr>
          <p:cNvPr id="35" name="Rectangle 34"/>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7" name="Rectangle 36"/>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数据资产：563 条冻结样本覆盖 9 类领域与复杂语义场景</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主口径采用统一 train/test，历史 split 作为诊断材料。</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7132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0B63CE"/>
                </a:solidFill>
                <a:latin typeface="Arial"/>
              </a:rPr>
              <a:t>563</a:t>
            </a:r>
          </a:p>
        </p:txBody>
      </p:sp>
      <p:sp>
        <p:nvSpPr>
          <p:cNvPr id="11" name="Rectangle 10"/>
          <p:cNvSpPr/>
          <p:nvPr/>
        </p:nvSpPr>
        <p:spPr>
          <a:xfrm>
            <a:off x="7406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总样本</a:t>
            </a:r>
          </a:p>
        </p:txBody>
      </p:sp>
      <p:sp>
        <p:nvSpPr>
          <p:cNvPr id="12" name="Rectangle 11"/>
          <p:cNvSpPr/>
          <p:nvPr/>
        </p:nvSpPr>
        <p:spPr>
          <a:xfrm>
            <a:off x="20848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0E8A57"/>
                </a:solidFill>
                <a:latin typeface="Arial"/>
              </a:rPr>
              <a:t>450</a:t>
            </a:r>
          </a:p>
        </p:txBody>
      </p:sp>
      <p:sp>
        <p:nvSpPr>
          <p:cNvPr id="13" name="Rectangle 12"/>
          <p:cNvSpPr/>
          <p:nvPr/>
        </p:nvSpPr>
        <p:spPr>
          <a:xfrm>
            <a:off x="21122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train</a:t>
            </a:r>
          </a:p>
        </p:txBody>
      </p:sp>
      <p:sp>
        <p:nvSpPr>
          <p:cNvPr id="14" name="Rectangle 13"/>
          <p:cNvSpPr/>
          <p:nvPr/>
        </p:nvSpPr>
        <p:spPr>
          <a:xfrm>
            <a:off x="34564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E97132"/>
                </a:solidFill>
                <a:latin typeface="Arial"/>
              </a:rPr>
              <a:t>113</a:t>
            </a:r>
          </a:p>
        </p:txBody>
      </p:sp>
      <p:sp>
        <p:nvSpPr>
          <p:cNvPr id="15" name="Rectangle 14"/>
          <p:cNvSpPr/>
          <p:nvPr/>
        </p:nvSpPr>
        <p:spPr>
          <a:xfrm>
            <a:off x="34838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test</a:t>
            </a:r>
          </a:p>
        </p:txBody>
      </p:sp>
      <p:sp>
        <p:nvSpPr>
          <p:cNvPr id="16" name="Rectangle 15"/>
          <p:cNvSpPr/>
          <p:nvPr/>
        </p:nvSpPr>
        <p:spPr>
          <a:xfrm>
            <a:off x="48280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6B49C8"/>
                </a:solidFill>
                <a:latin typeface="Arial"/>
              </a:rPr>
              <a:t>50</a:t>
            </a:r>
          </a:p>
        </p:txBody>
      </p:sp>
      <p:sp>
        <p:nvSpPr>
          <p:cNvPr id="17" name="Rectangle 16"/>
          <p:cNvSpPr/>
          <p:nvPr/>
        </p:nvSpPr>
        <p:spPr>
          <a:xfrm>
            <a:off x="48554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命名空间节点</a:t>
            </a:r>
          </a:p>
        </p:txBody>
      </p:sp>
      <p:sp>
        <p:nvSpPr>
          <p:cNvPr id="18" name="Rectangle 17"/>
          <p:cNvSpPr/>
          <p:nvPr/>
        </p:nvSpPr>
        <p:spPr>
          <a:xfrm>
            <a:off x="6199632" y="1389888"/>
            <a:ext cx="9144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700" b="1">
                <a:solidFill>
                  <a:srgbClr val="B93232"/>
                </a:solidFill>
                <a:latin typeface="Arial"/>
              </a:rPr>
              <a:t>45</a:t>
            </a:r>
          </a:p>
        </p:txBody>
      </p:sp>
      <p:sp>
        <p:nvSpPr>
          <p:cNvPr id="19" name="Rectangle 18"/>
          <p:cNvSpPr/>
          <p:nvPr/>
        </p:nvSpPr>
        <p:spPr>
          <a:xfrm>
            <a:off x="6227064" y="1847088"/>
            <a:ext cx="1005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00" b="1">
                <a:solidFill>
                  <a:srgbClr val="102033"/>
                </a:solidFill>
                <a:latin typeface="Microsoft YaHei"/>
              </a:rPr>
              <a:t>主标签</a:t>
            </a:r>
          </a:p>
        </p:txBody>
      </p:sp>
      <p:sp>
        <p:nvSpPr>
          <p:cNvPr id="20" name="Rounded Rectangle 19"/>
          <p:cNvSpPr/>
          <p:nvPr/>
        </p:nvSpPr>
        <p:spPr>
          <a:xfrm>
            <a:off x="786384" y="2514600"/>
            <a:ext cx="5486400" cy="251460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051560" y="2788920"/>
            <a:ext cx="1645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测试集领域分布</a:t>
            </a:r>
          </a:p>
        </p:txBody>
      </p:sp>
      <p:sp>
        <p:nvSpPr>
          <p:cNvPr id="22" name="Rectangle 21"/>
          <p:cNvSpPr/>
          <p:nvPr/>
        </p:nvSpPr>
        <p:spPr>
          <a:xfrm>
            <a:off x="1051560" y="315468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finance</a:t>
            </a:r>
          </a:p>
        </p:txBody>
      </p:sp>
      <p:sp>
        <p:nvSpPr>
          <p:cNvPr id="23" name="Rectangle 22"/>
          <p:cNvSpPr/>
          <p:nvPr/>
        </p:nvSpPr>
        <p:spPr>
          <a:xfrm>
            <a:off x="1901952" y="3182112"/>
            <a:ext cx="3017520"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074920" y="313639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28</a:t>
            </a:r>
          </a:p>
        </p:txBody>
      </p:sp>
      <p:sp>
        <p:nvSpPr>
          <p:cNvPr id="25" name="Rectangle 24"/>
          <p:cNvSpPr/>
          <p:nvPr/>
        </p:nvSpPr>
        <p:spPr>
          <a:xfrm>
            <a:off x="1051560" y="333756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travel</a:t>
            </a:r>
          </a:p>
        </p:txBody>
      </p:sp>
      <p:sp>
        <p:nvSpPr>
          <p:cNvPr id="26" name="Rectangle 25"/>
          <p:cNvSpPr/>
          <p:nvPr/>
        </p:nvSpPr>
        <p:spPr>
          <a:xfrm>
            <a:off x="1901952" y="3364992"/>
            <a:ext cx="2586445"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074920" y="331927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24</a:t>
            </a:r>
          </a:p>
        </p:txBody>
      </p:sp>
      <p:sp>
        <p:nvSpPr>
          <p:cNvPr id="28" name="Rectangle 27"/>
          <p:cNvSpPr/>
          <p:nvPr/>
        </p:nvSpPr>
        <p:spPr>
          <a:xfrm>
            <a:off x="1051560" y="352044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security</a:t>
            </a:r>
          </a:p>
        </p:txBody>
      </p:sp>
      <p:sp>
        <p:nvSpPr>
          <p:cNvPr id="29" name="Rectangle 28"/>
          <p:cNvSpPr/>
          <p:nvPr/>
        </p:nvSpPr>
        <p:spPr>
          <a:xfrm>
            <a:off x="1901952" y="3547872"/>
            <a:ext cx="1724297"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074920" y="350215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16</a:t>
            </a:r>
          </a:p>
        </p:txBody>
      </p:sp>
      <p:sp>
        <p:nvSpPr>
          <p:cNvPr id="31" name="Rectangle 30"/>
          <p:cNvSpPr/>
          <p:nvPr/>
        </p:nvSpPr>
        <p:spPr>
          <a:xfrm>
            <a:off x="1051560" y="370332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productivity</a:t>
            </a:r>
          </a:p>
        </p:txBody>
      </p:sp>
      <p:sp>
        <p:nvSpPr>
          <p:cNvPr id="32" name="Rectangle 31"/>
          <p:cNvSpPr/>
          <p:nvPr/>
        </p:nvSpPr>
        <p:spPr>
          <a:xfrm>
            <a:off x="1901952" y="3730752"/>
            <a:ext cx="1508760"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074920" y="368503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14</a:t>
            </a:r>
          </a:p>
        </p:txBody>
      </p:sp>
      <p:sp>
        <p:nvSpPr>
          <p:cNvPr id="34" name="Rectangle 33"/>
          <p:cNvSpPr/>
          <p:nvPr/>
        </p:nvSpPr>
        <p:spPr>
          <a:xfrm>
            <a:off x="1051560" y="388620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gov</a:t>
            </a:r>
          </a:p>
        </p:txBody>
      </p:sp>
      <p:sp>
        <p:nvSpPr>
          <p:cNvPr id="35" name="Rectangle 34"/>
          <p:cNvSpPr/>
          <p:nvPr/>
        </p:nvSpPr>
        <p:spPr>
          <a:xfrm>
            <a:off x="1901952" y="3913632"/>
            <a:ext cx="1185454"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074920" y="386791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11</a:t>
            </a:r>
          </a:p>
        </p:txBody>
      </p:sp>
      <p:sp>
        <p:nvSpPr>
          <p:cNvPr id="37" name="Rectangle 36"/>
          <p:cNvSpPr/>
          <p:nvPr/>
        </p:nvSpPr>
        <p:spPr>
          <a:xfrm>
            <a:off x="1051560" y="406908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commerce</a:t>
            </a:r>
          </a:p>
        </p:txBody>
      </p:sp>
      <p:sp>
        <p:nvSpPr>
          <p:cNvPr id="38" name="Rectangle 37"/>
          <p:cNvSpPr/>
          <p:nvPr/>
        </p:nvSpPr>
        <p:spPr>
          <a:xfrm>
            <a:off x="1901952" y="4096512"/>
            <a:ext cx="754380"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074920" y="405079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7</a:t>
            </a:r>
          </a:p>
        </p:txBody>
      </p:sp>
      <p:sp>
        <p:nvSpPr>
          <p:cNvPr id="40" name="Rectangle 39"/>
          <p:cNvSpPr/>
          <p:nvPr/>
        </p:nvSpPr>
        <p:spPr>
          <a:xfrm>
            <a:off x="1051560" y="425196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health</a:t>
            </a:r>
          </a:p>
        </p:txBody>
      </p:sp>
      <p:sp>
        <p:nvSpPr>
          <p:cNvPr id="41" name="Rectangle 40"/>
          <p:cNvSpPr/>
          <p:nvPr/>
        </p:nvSpPr>
        <p:spPr>
          <a:xfrm>
            <a:off x="1901952" y="4279392"/>
            <a:ext cx="538842"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074920" y="423367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5</a:t>
            </a:r>
          </a:p>
        </p:txBody>
      </p:sp>
      <p:sp>
        <p:nvSpPr>
          <p:cNvPr id="43" name="Rectangle 42"/>
          <p:cNvSpPr/>
          <p:nvPr/>
        </p:nvSpPr>
        <p:spPr>
          <a:xfrm>
            <a:off x="1051560" y="443484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education</a:t>
            </a:r>
          </a:p>
        </p:txBody>
      </p:sp>
      <p:sp>
        <p:nvSpPr>
          <p:cNvPr id="44" name="Rectangle 43"/>
          <p:cNvSpPr/>
          <p:nvPr/>
        </p:nvSpPr>
        <p:spPr>
          <a:xfrm>
            <a:off x="1901952" y="4462272"/>
            <a:ext cx="538842"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74920" y="441655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5</a:t>
            </a:r>
          </a:p>
        </p:txBody>
      </p:sp>
      <p:sp>
        <p:nvSpPr>
          <p:cNvPr id="46" name="Rectangle 45"/>
          <p:cNvSpPr/>
          <p:nvPr/>
        </p:nvSpPr>
        <p:spPr>
          <a:xfrm>
            <a:off x="1051560" y="4617720"/>
            <a:ext cx="914400" cy="1188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0">
                <a:solidFill>
                  <a:srgbClr val="53657A"/>
                </a:solidFill>
                <a:latin typeface="Arial"/>
              </a:rPr>
              <a:t>weather</a:t>
            </a:r>
          </a:p>
        </p:txBody>
      </p:sp>
      <p:sp>
        <p:nvSpPr>
          <p:cNvPr id="47" name="Rectangle 46"/>
          <p:cNvSpPr/>
          <p:nvPr/>
        </p:nvSpPr>
        <p:spPr>
          <a:xfrm>
            <a:off x="1901952" y="4645152"/>
            <a:ext cx="323305" cy="73152"/>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5074920" y="4599432"/>
            <a:ext cx="256032"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Arial"/>
              </a:rPr>
              <a:t>3</a:t>
            </a:r>
          </a:p>
        </p:txBody>
      </p:sp>
      <p:sp>
        <p:nvSpPr>
          <p:cNvPr id="49" name="Rounded Rectangle 48"/>
          <p:cNvSpPr/>
          <p:nvPr/>
        </p:nvSpPr>
        <p:spPr>
          <a:xfrm>
            <a:off x="6858000" y="2514600"/>
            <a:ext cx="3977639" cy="251460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114032" y="2788920"/>
            <a:ext cx="1645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复杂样本标签</a:t>
            </a:r>
          </a:p>
        </p:txBody>
      </p:sp>
      <p:sp>
        <p:nvSpPr>
          <p:cNvPr id="51" name="Rectangle 50"/>
          <p:cNvSpPr/>
          <p:nvPr/>
        </p:nvSpPr>
        <p:spPr>
          <a:xfrm>
            <a:off x="7150608" y="3246120"/>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E97132"/>
                </a:solidFill>
                <a:latin typeface="Arial"/>
              </a:rPr>
              <a:t>multi_intent</a:t>
            </a:r>
          </a:p>
        </p:txBody>
      </p:sp>
      <p:sp>
        <p:nvSpPr>
          <p:cNvPr id="52" name="Rectangle 51"/>
          <p:cNvSpPr/>
          <p:nvPr/>
        </p:nvSpPr>
        <p:spPr>
          <a:xfrm>
            <a:off x="8613648" y="3255264"/>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53657A"/>
                </a:solidFill>
                <a:latin typeface="Arial"/>
              </a:rPr>
              <a:t>test=12</a:t>
            </a:r>
          </a:p>
        </p:txBody>
      </p:sp>
      <p:sp>
        <p:nvSpPr>
          <p:cNvPr id="53" name="Rectangle 52"/>
          <p:cNvSpPr/>
          <p:nvPr/>
        </p:nvSpPr>
        <p:spPr>
          <a:xfrm>
            <a:off x="7150608" y="3813048"/>
            <a:ext cx="13716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B93232"/>
                </a:solidFill>
                <a:latin typeface="Arial"/>
              </a:rPr>
              <a:t>high_risk</a:t>
            </a:r>
          </a:p>
        </p:txBody>
      </p:sp>
      <p:sp>
        <p:nvSpPr>
          <p:cNvPr id="54" name="Rectangle 53"/>
          <p:cNvSpPr/>
          <p:nvPr/>
        </p:nvSpPr>
        <p:spPr>
          <a:xfrm>
            <a:off x="8613648" y="3822191"/>
            <a:ext cx="73152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100" b="0">
                <a:solidFill>
                  <a:srgbClr val="53657A"/>
                </a:solidFill>
                <a:latin typeface="Arial"/>
              </a:rPr>
              <a:t>test=4</a:t>
            </a:r>
          </a:p>
        </p:txBody>
      </p:sp>
      <p:sp>
        <p:nvSpPr>
          <p:cNvPr id="55" name="Rectangle 54"/>
          <p:cNvSpPr/>
          <p:nvPr/>
        </p:nvSpPr>
        <p:spPr>
          <a:xfrm>
            <a:off x="822960" y="5715000"/>
            <a:ext cx="94183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30" b="1">
                <a:solidFill>
                  <a:srgbClr val="102033"/>
                </a:solidFill>
                <a:latin typeface="Microsoft YaHei"/>
              </a:rPr>
              <a:t>最新报告口径：563 条样本、50 个命名空间节点、45 类主标签，测试集含 38 条相关能力标注、12 条多意图、4 条高风险样本。</a:t>
            </a:r>
          </a:p>
        </p:txBody>
      </p:sp>
      <p:sp>
        <p:nvSpPr>
          <p:cNvPr id="56" name="Rectangle 5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58" name="Rectangle 5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14</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评测协议：冻结主口径，区分主结果、诊断结果与探索结果</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这页用于回答实验协议、配置选择和结果复现问题。</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772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1832"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B63CE"/>
                </a:solidFill>
                <a:latin typeface="Microsoft YaHei"/>
              </a:rPr>
              <a:t>统一样本池</a:t>
            </a:r>
          </a:p>
        </p:txBody>
      </p:sp>
      <p:sp>
        <p:nvSpPr>
          <p:cNvPr id="12" name="Rectangle 11"/>
          <p:cNvSpPr/>
          <p:nvPr/>
        </p:nvSpPr>
        <p:spPr>
          <a:xfrm>
            <a:off x="941832"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dev + blind + challenge + holdout2 + holdout3 = 563</a:t>
            </a:r>
          </a:p>
        </p:txBody>
      </p:sp>
      <p:sp>
        <p:nvSpPr>
          <p:cNvPr id="13" name="Rounded Rectangle 12"/>
          <p:cNvSpPr/>
          <p:nvPr/>
        </p:nvSpPr>
        <p:spPr>
          <a:xfrm>
            <a:off x="35204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685032"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Microsoft YaHei"/>
              </a:rPr>
              <a:t>train=450</a:t>
            </a:r>
          </a:p>
        </p:txBody>
      </p:sp>
      <p:sp>
        <p:nvSpPr>
          <p:cNvPr id="15" name="Rectangle 14"/>
          <p:cNvSpPr/>
          <p:nvPr/>
        </p:nvSpPr>
        <p:spPr>
          <a:xfrm>
            <a:off x="3685032"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方案开发 / 阈值选择 / 配置选择</a:t>
            </a:r>
          </a:p>
        </p:txBody>
      </p:sp>
      <p:sp>
        <p:nvSpPr>
          <p:cNvPr id="16" name="Rounded Rectangle 15"/>
          <p:cNvSpPr/>
          <p:nvPr/>
        </p:nvSpPr>
        <p:spPr>
          <a:xfrm>
            <a:off x="62636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28231"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E97132"/>
                </a:solidFill>
                <a:latin typeface="Microsoft YaHei"/>
              </a:rPr>
              <a:t>test=113</a:t>
            </a:r>
          </a:p>
        </p:txBody>
      </p:sp>
      <p:sp>
        <p:nvSpPr>
          <p:cNvPr id="18" name="Rectangle 17"/>
          <p:cNvSpPr/>
          <p:nvPr/>
        </p:nvSpPr>
        <p:spPr>
          <a:xfrm>
            <a:off x="6428231"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一次性主结果报告</a:t>
            </a:r>
          </a:p>
        </p:txBody>
      </p:sp>
      <p:sp>
        <p:nvSpPr>
          <p:cNvPr id="19" name="Rounded Rectangle 18"/>
          <p:cNvSpPr/>
          <p:nvPr/>
        </p:nvSpPr>
        <p:spPr>
          <a:xfrm>
            <a:off x="9006840" y="1508760"/>
            <a:ext cx="2103120" cy="9601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171432" y="1737360"/>
            <a:ext cx="13716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6B49C8"/>
                </a:solidFill>
                <a:latin typeface="Microsoft YaHei"/>
              </a:rPr>
              <a:t>配对消融</a:t>
            </a:r>
          </a:p>
        </p:txBody>
      </p:sp>
      <p:sp>
        <p:nvSpPr>
          <p:cNvPr id="21" name="Rectangle 20"/>
          <p:cNvSpPr/>
          <p:nvPr/>
        </p:nvSpPr>
        <p:spPr>
          <a:xfrm>
            <a:off x="9171432" y="2048256"/>
            <a:ext cx="1600200" cy="22860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Arial"/>
              </a:rPr>
              <a:t>train=320 / test=80，三类复核记录完整</a:t>
            </a:r>
          </a:p>
        </p:txBody>
      </p:sp>
      <p:sp>
        <p:nvSpPr>
          <p:cNvPr id="22" name="Rounded Rectangle 21"/>
          <p:cNvSpPr/>
          <p:nvPr/>
        </p:nvSpPr>
        <p:spPr>
          <a:xfrm>
            <a:off x="914400" y="3154680"/>
            <a:ext cx="4754880" cy="141732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88720" y="3456432"/>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防泄漏与可复现</a:t>
            </a:r>
          </a:p>
        </p:txBody>
      </p:sp>
      <p:sp>
        <p:nvSpPr>
          <p:cNvPr id="24" name="Oval 23"/>
          <p:cNvSpPr/>
          <p:nvPr/>
        </p:nvSpPr>
        <p:spPr>
          <a:xfrm>
            <a:off x="1188720" y="3877055"/>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353312" y="3822191"/>
            <a:ext cx="3474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D2E6FF"/>
                </a:solidFill>
                <a:latin typeface="Microsoft YaHei"/>
              </a:rPr>
              <a:t>候选快照与 gold 标签分离</a:t>
            </a:r>
          </a:p>
        </p:txBody>
      </p:sp>
      <p:sp>
        <p:nvSpPr>
          <p:cNvPr id="26" name="Oval 25"/>
          <p:cNvSpPr/>
          <p:nvPr/>
        </p:nvSpPr>
        <p:spPr>
          <a:xfrm>
            <a:off x="1188720" y="4114799"/>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353312" y="4059935"/>
            <a:ext cx="3474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D2E6FF"/>
                </a:solidFill>
                <a:latin typeface="Microsoft YaHei"/>
              </a:rPr>
              <a:t>主结果只讲冻结 train/test</a:t>
            </a:r>
          </a:p>
        </p:txBody>
      </p:sp>
      <p:sp>
        <p:nvSpPr>
          <p:cNvPr id="28" name="Oval 27"/>
          <p:cNvSpPr/>
          <p:nvPr/>
        </p:nvSpPr>
        <p:spPr>
          <a:xfrm>
            <a:off x="1188720" y="4352543"/>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353312" y="4297679"/>
            <a:ext cx="3474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30" b="0">
                <a:solidFill>
                  <a:srgbClr val="D2E6FF"/>
                </a:solidFill>
                <a:latin typeface="Microsoft YaHei"/>
              </a:rPr>
              <a:t>历史 split 只作诊断材料</a:t>
            </a:r>
          </a:p>
        </p:txBody>
      </p:sp>
      <p:sp>
        <p:nvSpPr>
          <p:cNvPr id="30" name="Rounded Rectangle 29"/>
          <p:cNvSpPr/>
          <p:nvPr/>
        </p:nvSpPr>
        <p:spPr>
          <a:xfrm>
            <a:off x="6400800" y="3154680"/>
            <a:ext cx="4160520" cy="14173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675120" y="3456432"/>
            <a:ext cx="9144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0B63CE"/>
                </a:solidFill>
                <a:latin typeface="Microsoft YaHei"/>
              </a:rPr>
              <a:t>指标</a:t>
            </a:r>
          </a:p>
        </p:txBody>
      </p:sp>
      <p:sp>
        <p:nvSpPr>
          <p:cNvPr id="32" name="Rectangle 31"/>
          <p:cNvSpPr/>
          <p:nvPr/>
        </p:nvSpPr>
        <p:spPr>
          <a:xfrm>
            <a:off x="6720840" y="3822191"/>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PrimaryAcc@1</a:t>
            </a:r>
          </a:p>
        </p:txBody>
      </p:sp>
      <p:sp>
        <p:nvSpPr>
          <p:cNvPr id="33" name="Rectangle 32"/>
          <p:cNvSpPr/>
          <p:nvPr/>
        </p:nvSpPr>
        <p:spPr>
          <a:xfrm>
            <a:off x="8366760" y="3822191"/>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Acceptable@1</a:t>
            </a:r>
          </a:p>
        </p:txBody>
      </p:sp>
      <p:sp>
        <p:nvSpPr>
          <p:cNvPr id="34" name="Rectangle 33"/>
          <p:cNvSpPr/>
          <p:nvPr/>
        </p:nvSpPr>
        <p:spPr>
          <a:xfrm>
            <a:off x="6720840" y="4078224"/>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RelatedRecall</a:t>
            </a:r>
          </a:p>
        </p:txBody>
      </p:sp>
      <p:sp>
        <p:nvSpPr>
          <p:cNvPr id="35" name="Rectangle 34"/>
          <p:cNvSpPr/>
          <p:nvPr/>
        </p:nvSpPr>
        <p:spPr>
          <a:xfrm>
            <a:off x="8366760" y="4078224"/>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RelatedPrecision</a:t>
            </a:r>
          </a:p>
        </p:txBody>
      </p:sp>
      <p:sp>
        <p:nvSpPr>
          <p:cNvPr id="36" name="Rectangle 35"/>
          <p:cNvSpPr/>
          <p:nvPr/>
        </p:nvSpPr>
        <p:spPr>
          <a:xfrm>
            <a:off x="6720840" y="4334256"/>
            <a:ext cx="137160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80" b="0">
                <a:solidFill>
                  <a:srgbClr val="53657A"/>
                </a:solidFill>
                <a:latin typeface="Arial"/>
              </a:rPr>
              <a:t>Changed/Fix/Regress</a:t>
            </a:r>
          </a:p>
        </p:txBody>
      </p:sp>
      <p:sp>
        <p:nvSpPr>
          <p:cNvPr id="37" name="Rectangle 36"/>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9" name="Rectangle 3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15</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主结果：结构化语义判别是主台阶，职责化复核提供边界修正</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统一 train/test 主协议下，测试集 PrimaryAcc@1 从 0.7876 提升到 0.8850；补充扩展配置达到 0.9292。</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58368" y="1115568"/>
            <a:ext cx="7223760" cy="425196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1_pooled_test_waterfall.png"/>
          <p:cNvPicPr>
            <a:picLocks noChangeAspect="1"/>
          </p:cNvPicPr>
          <p:nvPr/>
        </p:nvPicPr>
        <p:blipFill>
          <a:blip r:embed="rId3"/>
          <a:stretch>
            <a:fillRect/>
          </a:stretch>
        </p:blipFill>
        <p:spPr>
          <a:xfrm>
            <a:off x="914400" y="1389888"/>
            <a:ext cx="6656832" cy="3611880"/>
          </a:xfrm>
          <a:prstGeom prst="rect">
            <a:avLst/>
          </a:prstGeom>
        </p:spPr>
      </p:pic>
      <p:sp>
        <p:nvSpPr>
          <p:cNvPr id="12" name="Rounded Rectangle 11"/>
          <p:cNvSpPr/>
          <p:nvPr/>
        </p:nvSpPr>
        <p:spPr>
          <a:xfrm>
            <a:off x="8183879" y="1188720"/>
            <a:ext cx="2834640" cy="89611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4192" y="1389888"/>
            <a:ext cx="23774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900" b="1">
                <a:solidFill>
                  <a:srgbClr val="0E8A57"/>
                </a:solidFill>
                <a:latin typeface="Arial"/>
              </a:rPr>
              <a:t>0.7876 → 0.8761</a:t>
            </a:r>
          </a:p>
        </p:txBody>
      </p:sp>
      <p:sp>
        <p:nvSpPr>
          <p:cNvPr id="14" name="Rectangle 13"/>
          <p:cNvSpPr/>
          <p:nvPr/>
        </p:nvSpPr>
        <p:spPr>
          <a:xfrm>
            <a:off x="8430768" y="1719072"/>
            <a:ext cx="2240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102033"/>
                </a:solidFill>
                <a:latin typeface="Microsoft YaHei"/>
              </a:rPr>
              <a:t>规则路由到结构化语义路由</a:t>
            </a:r>
          </a:p>
        </p:txBody>
      </p:sp>
      <p:sp>
        <p:nvSpPr>
          <p:cNvPr id="15" name="Rounded Rectangle 14"/>
          <p:cNvSpPr/>
          <p:nvPr/>
        </p:nvSpPr>
        <p:spPr>
          <a:xfrm>
            <a:off x="8183879" y="2331720"/>
            <a:ext cx="2834640" cy="89611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32520" y="2514600"/>
            <a:ext cx="15544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300" b="1">
                <a:solidFill>
                  <a:srgbClr val="E97132"/>
                </a:solidFill>
                <a:latin typeface="Arial"/>
              </a:rPr>
              <a:t>0.8850</a:t>
            </a:r>
          </a:p>
        </p:txBody>
      </p:sp>
      <p:sp>
        <p:nvSpPr>
          <p:cNvPr id="17" name="Rectangle 16"/>
          <p:cNvSpPr/>
          <p:nvPr/>
        </p:nvSpPr>
        <p:spPr>
          <a:xfrm>
            <a:off x="8439912" y="2852928"/>
            <a:ext cx="2240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0">
                <a:solidFill>
                  <a:srgbClr val="53657A"/>
                </a:solidFill>
                <a:latin typeface="Microsoft YaHei"/>
              </a:rPr>
              <a:t>默认协作复核 / 零回归</a:t>
            </a:r>
          </a:p>
        </p:txBody>
      </p:sp>
      <p:sp>
        <p:nvSpPr>
          <p:cNvPr id="18" name="Rounded Rectangle 17"/>
          <p:cNvSpPr/>
          <p:nvPr/>
        </p:nvSpPr>
        <p:spPr>
          <a:xfrm>
            <a:off x="8183879" y="3474720"/>
            <a:ext cx="2834640" cy="896112"/>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32520" y="3657600"/>
            <a:ext cx="155448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300" b="1">
                <a:solidFill>
                  <a:srgbClr val="B93232"/>
                </a:solidFill>
                <a:latin typeface="Arial"/>
              </a:rPr>
              <a:t>0.9292</a:t>
            </a:r>
          </a:p>
        </p:txBody>
      </p:sp>
      <p:sp>
        <p:nvSpPr>
          <p:cNvPr id="20" name="Rectangle 19"/>
          <p:cNvSpPr/>
          <p:nvPr/>
        </p:nvSpPr>
        <p:spPr>
          <a:xfrm>
            <a:off x="8339327" y="3995928"/>
            <a:ext cx="24688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00" b="0">
                <a:solidFill>
                  <a:srgbClr val="53657A"/>
                </a:solidFill>
                <a:latin typeface="Microsoft YaHei"/>
              </a:rPr>
              <a:t>扩展配置 / 5 次改写全部修正</a:t>
            </a:r>
          </a:p>
        </p:txBody>
      </p:sp>
      <p:sp>
        <p:nvSpPr>
          <p:cNvPr id="21" name="Rectangle 20"/>
          <p:cNvSpPr/>
          <p:nvPr/>
        </p:nvSpPr>
        <p:spPr>
          <a:xfrm>
            <a:off x="841248" y="5650992"/>
            <a:ext cx="91440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技术解释：先用结构化候选级证据解决大部分判别问题，再让协作复核只处理低置信、高风险和多意图冲突样本。</a:t>
            </a:r>
          </a:p>
        </p:txBody>
      </p:sp>
      <p:sp>
        <p:nvSpPr>
          <p:cNvPr id="22" name="Rectangle 2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4" name="Rectangle 2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16</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累计稳定性：新增样本增加复杂度，但没有推翻方法排序</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新版论文补充训练/测试划分累计曲线，用来回答“样本是否太少、结论是否偶然”的评审追问。</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03504" y="1078992"/>
            <a:ext cx="7543800" cy="443484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9_historical_cumulative_train_test.png"/>
          <p:cNvPicPr>
            <a:picLocks noChangeAspect="1"/>
          </p:cNvPicPr>
          <p:nvPr/>
        </p:nvPicPr>
        <p:blipFill>
          <a:blip r:embed="rId3"/>
          <a:stretch>
            <a:fillRect/>
          </a:stretch>
        </p:blipFill>
        <p:spPr>
          <a:xfrm>
            <a:off x="859536" y="1389888"/>
            <a:ext cx="7040880" cy="3703320"/>
          </a:xfrm>
          <a:prstGeom prst="rect">
            <a:avLst/>
          </a:prstGeom>
        </p:spPr>
      </p:pic>
      <p:sp>
        <p:nvSpPr>
          <p:cNvPr id="12" name="Rounded Rectangle 11"/>
          <p:cNvSpPr/>
          <p:nvPr/>
        </p:nvSpPr>
        <p:spPr>
          <a:xfrm>
            <a:off x="8458200" y="1225296"/>
            <a:ext cx="2542032" cy="987552"/>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732520" y="1444752"/>
            <a:ext cx="15087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0E8A57"/>
                </a:solidFill>
                <a:latin typeface="Microsoft YaHei"/>
              </a:rPr>
              <a:t>测试集 113 条</a:t>
            </a:r>
          </a:p>
        </p:txBody>
      </p:sp>
      <p:sp>
        <p:nvSpPr>
          <p:cNvPr id="14" name="Rectangle 13"/>
          <p:cNvSpPr/>
          <p:nvPr/>
        </p:nvSpPr>
        <p:spPr>
          <a:xfrm>
            <a:off x="8732520" y="1719072"/>
            <a:ext cx="178308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30" b="0">
                <a:solidFill>
                  <a:srgbClr val="53657A"/>
                </a:solidFill>
                <a:latin typeface="Arial"/>
              </a:rPr>
              <a:t>结构化语义路由 0.8761
默认协作复核 0.8850
扩展配置 0.9292</a:t>
            </a:r>
          </a:p>
        </p:txBody>
      </p:sp>
      <p:sp>
        <p:nvSpPr>
          <p:cNvPr id="15" name="Rounded Rectangle 14"/>
          <p:cNvSpPr/>
          <p:nvPr/>
        </p:nvSpPr>
        <p:spPr>
          <a:xfrm>
            <a:off x="8458200" y="2542032"/>
            <a:ext cx="2542032" cy="987552"/>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732520" y="2761488"/>
            <a:ext cx="13258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E97132"/>
                </a:solidFill>
                <a:latin typeface="Microsoft YaHei"/>
              </a:rPr>
              <a:t>稳定性含义</a:t>
            </a:r>
          </a:p>
        </p:txBody>
      </p:sp>
      <p:sp>
        <p:nvSpPr>
          <p:cNvPr id="17" name="Rectangle 16"/>
          <p:cNvSpPr/>
          <p:nvPr/>
        </p:nvSpPr>
        <p:spPr>
          <a:xfrm>
            <a:off x="8732520" y="3035808"/>
            <a:ext cx="178308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90" b="0">
                <a:solidFill>
                  <a:srgbClr val="53657A"/>
                </a:solidFill>
                <a:latin typeface="Microsoft YaHei"/>
              </a:rPr>
              <a:t>累计到 73、93、113 条时，三条方法曲线保持相对排序，没有因新增样本出现反转。</a:t>
            </a:r>
          </a:p>
        </p:txBody>
      </p:sp>
      <p:sp>
        <p:nvSpPr>
          <p:cNvPr id="18" name="Rounded Rectangle 17"/>
          <p:cNvSpPr/>
          <p:nvPr/>
        </p:nvSpPr>
        <p:spPr>
          <a:xfrm>
            <a:off x="8458200" y="3785615"/>
            <a:ext cx="2542032" cy="1188720"/>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732520" y="4078224"/>
            <a:ext cx="114300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B93232"/>
                </a:solidFill>
                <a:latin typeface="Microsoft YaHei"/>
              </a:rPr>
              <a:t>答辩话术</a:t>
            </a:r>
          </a:p>
        </p:txBody>
      </p:sp>
      <p:sp>
        <p:nvSpPr>
          <p:cNvPr id="20" name="Rectangle 19"/>
          <p:cNvSpPr/>
          <p:nvPr/>
        </p:nvSpPr>
        <p:spPr>
          <a:xfrm>
            <a:off x="8732520" y="4334256"/>
            <a:ext cx="1783080" cy="43891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0" b="0">
                <a:solidFill>
                  <a:srgbClr val="53657A"/>
                </a:solidFill>
                <a:latin typeface="Microsoft YaHei"/>
              </a:rPr>
              <a:t>不声称覆盖全部未来命名空间；当前 563 样本用于排除“少量早期样本偶然支撑”的解释。</a:t>
            </a:r>
          </a:p>
        </p:txBody>
      </p:sp>
      <p:sp>
        <p:nvSpPr>
          <p:cNvPr id="21" name="Rectangle 20"/>
          <p:cNvSpPr/>
          <p:nvPr/>
        </p:nvSpPr>
        <p:spPr>
          <a:xfrm>
            <a:off x="841248" y="5742432"/>
            <a:ext cx="93268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20" b="1">
                <a:solidFill>
                  <a:srgbClr val="102033"/>
                </a:solidFill>
                <a:latin typeface="Microsoft YaHei"/>
              </a:rPr>
              <a:t>这一页是新版论文的关键补强：把“项目样本规模是否支撑结论”从口头解释变成可视化证据。</a:t>
            </a:r>
          </a:p>
        </p:txBody>
      </p:sp>
      <p:sp>
        <p:nvSpPr>
          <p:cNvPr id="22" name="Rectangle 2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4" name="Rectangle 2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17</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配对消融：收益不是“多问几个智能体”，而是职责分工与授权控制</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最新论文口径：配对消融样本集训练侧 n=320、测试侧 n=80；职责化协作训练侧 13/13/0，测试侧 5/5/0。</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170432"/>
            <a:ext cx="6172200" cy="4160520"/>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1444752"/>
            <a:ext cx="164592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配对消融准确率</a:t>
            </a:r>
          </a:p>
        </p:txBody>
      </p:sp>
      <p:sp>
        <p:nvSpPr>
          <p:cNvPr id="12" name="Rectangle 11"/>
          <p:cNvSpPr/>
          <p:nvPr/>
        </p:nvSpPr>
        <p:spPr>
          <a:xfrm>
            <a:off x="1234440" y="3757041"/>
            <a:ext cx="310896" cy="1107567"/>
          </a:xfrm>
          <a:prstGeom prst="rect">
            <a:avLst/>
          </a:prstGeom>
          <a:solidFill>
            <a:srgbClr val="0B63CE"/>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088136" y="3555873"/>
            <a:ext cx="60350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1">
                <a:solidFill>
                  <a:srgbClr val="0B63CE"/>
                </a:solidFill>
                <a:latin typeface="Arial"/>
              </a:rPr>
              <a:t>0.8875</a:t>
            </a:r>
          </a:p>
        </p:txBody>
      </p:sp>
      <p:sp>
        <p:nvSpPr>
          <p:cNvPr id="14" name="Rectangle 13"/>
          <p:cNvSpPr/>
          <p:nvPr/>
        </p:nvSpPr>
        <p:spPr>
          <a:xfrm>
            <a:off x="1197864" y="4937760"/>
            <a:ext cx="38404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50" b="0">
                <a:solidFill>
                  <a:srgbClr val="53657A"/>
                </a:solidFill>
                <a:latin typeface="Arial"/>
              </a:rPr>
              <a:t>train</a:t>
            </a:r>
          </a:p>
        </p:txBody>
      </p:sp>
      <p:sp>
        <p:nvSpPr>
          <p:cNvPr id="15" name="Rectangle 14"/>
          <p:cNvSpPr/>
          <p:nvPr/>
        </p:nvSpPr>
        <p:spPr>
          <a:xfrm>
            <a:off x="1655064" y="4339970"/>
            <a:ext cx="310896" cy="524637"/>
          </a:xfrm>
          <a:prstGeom prst="rect">
            <a:avLst/>
          </a:prstGeom>
          <a:solidFill>
            <a:srgbClr val="E97132"/>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508760" y="4138802"/>
            <a:ext cx="60350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1">
                <a:solidFill>
                  <a:srgbClr val="E97132"/>
                </a:solidFill>
                <a:latin typeface="Arial"/>
              </a:rPr>
              <a:t>0.8625</a:t>
            </a:r>
          </a:p>
        </p:txBody>
      </p:sp>
      <p:sp>
        <p:nvSpPr>
          <p:cNvPr id="17" name="Rectangle 16"/>
          <p:cNvSpPr/>
          <p:nvPr/>
        </p:nvSpPr>
        <p:spPr>
          <a:xfrm>
            <a:off x="1618488" y="4937760"/>
            <a:ext cx="38404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50" b="0">
                <a:solidFill>
                  <a:srgbClr val="53657A"/>
                </a:solidFill>
                <a:latin typeface="Arial"/>
              </a:rPr>
              <a:t>test</a:t>
            </a:r>
          </a:p>
        </p:txBody>
      </p:sp>
      <p:sp>
        <p:nvSpPr>
          <p:cNvPr id="18" name="Rectangle 17"/>
          <p:cNvSpPr/>
          <p:nvPr/>
        </p:nvSpPr>
        <p:spPr>
          <a:xfrm>
            <a:off x="1033272" y="5102352"/>
            <a:ext cx="117043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50" b="0">
                <a:solidFill>
                  <a:srgbClr val="53657A"/>
                </a:solidFill>
                <a:latin typeface="Microsoft YaHei"/>
              </a:rPr>
              <a:t>单角色复核</a:t>
            </a:r>
          </a:p>
        </p:txBody>
      </p:sp>
      <p:sp>
        <p:nvSpPr>
          <p:cNvPr id="19" name="Rectangle 18"/>
          <p:cNvSpPr/>
          <p:nvPr/>
        </p:nvSpPr>
        <p:spPr>
          <a:xfrm>
            <a:off x="2834640" y="3829324"/>
            <a:ext cx="310896" cy="1035283"/>
          </a:xfrm>
          <a:prstGeom prst="rect">
            <a:avLst/>
          </a:prstGeom>
          <a:solidFill>
            <a:srgbClr val="0B63CE"/>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688336" y="3628156"/>
            <a:ext cx="60350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1">
                <a:solidFill>
                  <a:srgbClr val="0B63CE"/>
                </a:solidFill>
                <a:latin typeface="Arial"/>
              </a:rPr>
              <a:t>0.8844</a:t>
            </a:r>
          </a:p>
        </p:txBody>
      </p:sp>
      <p:sp>
        <p:nvSpPr>
          <p:cNvPr id="21" name="Rectangle 20"/>
          <p:cNvSpPr/>
          <p:nvPr/>
        </p:nvSpPr>
        <p:spPr>
          <a:xfrm>
            <a:off x="2798064" y="4937760"/>
            <a:ext cx="38404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50" b="0">
                <a:solidFill>
                  <a:srgbClr val="53657A"/>
                </a:solidFill>
                <a:latin typeface="Arial"/>
              </a:rPr>
              <a:t>train</a:t>
            </a:r>
          </a:p>
        </p:txBody>
      </p:sp>
      <p:sp>
        <p:nvSpPr>
          <p:cNvPr id="22" name="Rectangle 21"/>
          <p:cNvSpPr/>
          <p:nvPr/>
        </p:nvSpPr>
        <p:spPr>
          <a:xfrm>
            <a:off x="3255264" y="4339970"/>
            <a:ext cx="310896" cy="524637"/>
          </a:xfrm>
          <a:prstGeom prst="rect">
            <a:avLst/>
          </a:prstGeom>
          <a:solidFill>
            <a:srgbClr val="E97132"/>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108960" y="4138802"/>
            <a:ext cx="60350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1">
                <a:solidFill>
                  <a:srgbClr val="E97132"/>
                </a:solidFill>
                <a:latin typeface="Arial"/>
              </a:rPr>
              <a:t>0.8625</a:t>
            </a:r>
          </a:p>
        </p:txBody>
      </p:sp>
      <p:sp>
        <p:nvSpPr>
          <p:cNvPr id="24" name="Rectangle 23"/>
          <p:cNvSpPr/>
          <p:nvPr/>
        </p:nvSpPr>
        <p:spPr>
          <a:xfrm>
            <a:off x="3218688" y="4937760"/>
            <a:ext cx="38404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50" b="0">
                <a:solidFill>
                  <a:srgbClr val="53657A"/>
                </a:solidFill>
                <a:latin typeface="Arial"/>
              </a:rPr>
              <a:t>test</a:t>
            </a:r>
          </a:p>
        </p:txBody>
      </p:sp>
      <p:sp>
        <p:nvSpPr>
          <p:cNvPr id="25" name="Rectangle 24"/>
          <p:cNvSpPr/>
          <p:nvPr/>
        </p:nvSpPr>
        <p:spPr>
          <a:xfrm>
            <a:off x="2633472" y="5102352"/>
            <a:ext cx="117043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50" b="0">
                <a:solidFill>
                  <a:srgbClr val="53657A"/>
                </a:solidFill>
                <a:latin typeface="Microsoft YaHei"/>
              </a:rPr>
              <a:t>同质复核</a:t>
            </a:r>
          </a:p>
        </p:txBody>
      </p:sp>
      <p:sp>
        <p:nvSpPr>
          <p:cNvPr id="26" name="Rectangle 25"/>
          <p:cNvSpPr/>
          <p:nvPr/>
        </p:nvSpPr>
        <p:spPr>
          <a:xfrm>
            <a:off x="4434840" y="3029544"/>
            <a:ext cx="310896" cy="1835063"/>
          </a:xfrm>
          <a:prstGeom prst="rect">
            <a:avLst/>
          </a:prstGeom>
          <a:solidFill>
            <a:srgbClr val="0B63CE"/>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88536" y="2828376"/>
            <a:ext cx="60350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1">
                <a:solidFill>
                  <a:srgbClr val="0B63CE"/>
                </a:solidFill>
                <a:latin typeface="Arial"/>
              </a:rPr>
              <a:t>0.9187</a:t>
            </a:r>
          </a:p>
        </p:txBody>
      </p:sp>
      <p:sp>
        <p:nvSpPr>
          <p:cNvPr id="28" name="Rectangle 27"/>
          <p:cNvSpPr/>
          <p:nvPr/>
        </p:nvSpPr>
        <p:spPr>
          <a:xfrm>
            <a:off x="4398264" y="4937760"/>
            <a:ext cx="38404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50" b="0">
                <a:solidFill>
                  <a:srgbClr val="53657A"/>
                </a:solidFill>
                <a:latin typeface="Arial"/>
              </a:rPr>
              <a:t>train</a:t>
            </a:r>
          </a:p>
        </p:txBody>
      </p:sp>
      <p:sp>
        <p:nvSpPr>
          <p:cNvPr id="29" name="Rectangle 28"/>
          <p:cNvSpPr/>
          <p:nvPr/>
        </p:nvSpPr>
        <p:spPr>
          <a:xfrm>
            <a:off x="4855464" y="2882645"/>
            <a:ext cx="310896" cy="1981962"/>
          </a:xfrm>
          <a:prstGeom prst="rect">
            <a:avLst/>
          </a:prstGeom>
          <a:solidFill>
            <a:srgbClr val="E97132"/>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709159" y="2681477"/>
            <a:ext cx="603504"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80" b="1">
                <a:solidFill>
                  <a:srgbClr val="E97132"/>
                </a:solidFill>
                <a:latin typeface="Arial"/>
              </a:rPr>
              <a:t>0.9250</a:t>
            </a:r>
          </a:p>
        </p:txBody>
      </p:sp>
      <p:sp>
        <p:nvSpPr>
          <p:cNvPr id="31" name="Rectangle 30"/>
          <p:cNvSpPr/>
          <p:nvPr/>
        </p:nvSpPr>
        <p:spPr>
          <a:xfrm>
            <a:off x="4818888" y="4937760"/>
            <a:ext cx="384048"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650" b="0">
                <a:solidFill>
                  <a:srgbClr val="53657A"/>
                </a:solidFill>
                <a:latin typeface="Arial"/>
              </a:rPr>
              <a:t>test</a:t>
            </a:r>
          </a:p>
        </p:txBody>
      </p:sp>
      <p:sp>
        <p:nvSpPr>
          <p:cNvPr id="32" name="Rectangle 31"/>
          <p:cNvSpPr/>
          <p:nvPr/>
        </p:nvSpPr>
        <p:spPr>
          <a:xfrm>
            <a:off x="4233672" y="5102352"/>
            <a:ext cx="117043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50" b="0">
                <a:solidFill>
                  <a:srgbClr val="53657A"/>
                </a:solidFill>
                <a:latin typeface="Microsoft YaHei"/>
              </a:rPr>
              <a:t>职责化协作</a:t>
            </a:r>
          </a:p>
        </p:txBody>
      </p:sp>
      <p:sp>
        <p:nvSpPr>
          <p:cNvPr id="33" name="Rounded Rectangle 32"/>
          <p:cNvSpPr/>
          <p:nvPr/>
        </p:nvSpPr>
        <p:spPr>
          <a:xfrm>
            <a:off x="7178040" y="1298448"/>
            <a:ext cx="3520440" cy="960120"/>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52360" y="1517904"/>
            <a:ext cx="155448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300" b="1">
                <a:solidFill>
                  <a:srgbClr val="B93232"/>
                </a:solidFill>
                <a:latin typeface="Arial"/>
              </a:rPr>
              <a:t>13/13/0</a:t>
            </a:r>
          </a:p>
        </p:txBody>
      </p:sp>
      <p:sp>
        <p:nvSpPr>
          <p:cNvPr id="35" name="Rectangle 34"/>
          <p:cNvSpPr/>
          <p:nvPr/>
        </p:nvSpPr>
        <p:spPr>
          <a:xfrm>
            <a:off x="8887968" y="1572768"/>
            <a:ext cx="14813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50" b="0">
                <a:solidFill>
                  <a:srgbClr val="53657A"/>
                </a:solidFill>
                <a:latin typeface="Microsoft YaHei"/>
              </a:rPr>
              <a:t>训练侧职责化协作改判/纠错/误改</a:t>
            </a:r>
          </a:p>
        </p:txBody>
      </p:sp>
      <p:sp>
        <p:nvSpPr>
          <p:cNvPr id="36" name="Rounded Rectangle 35"/>
          <p:cNvSpPr/>
          <p:nvPr/>
        </p:nvSpPr>
        <p:spPr>
          <a:xfrm>
            <a:off x="7178040" y="2487168"/>
            <a:ext cx="3520440" cy="804672"/>
          </a:xfrm>
          <a:prstGeom prst="roundRect">
            <a:avLst/>
          </a:prstGeom>
          <a:solidFill>
            <a:srgbClr val="FFFFFF"/>
          </a:solidFill>
          <a:ln w="1270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543800" y="2670048"/>
            <a:ext cx="237744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800" b="1">
                <a:solidFill>
                  <a:srgbClr val="B93232"/>
                </a:solidFill>
                <a:latin typeface="Arial"/>
              </a:rPr>
              <a:t>0.8625 → 0.9250</a:t>
            </a:r>
          </a:p>
        </p:txBody>
      </p:sp>
      <p:sp>
        <p:nvSpPr>
          <p:cNvPr id="38" name="Rectangle 37"/>
          <p:cNvSpPr/>
          <p:nvPr/>
        </p:nvSpPr>
        <p:spPr>
          <a:xfrm>
            <a:off x="7699248" y="2980944"/>
            <a:ext cx="21031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880" b="0">
                <a:solidFill>
                  <a:srgbClr val="53657A"/>
                </a:solidFill>
                <a:latin typeface="Microsoft YaHei"/>
              </a:rPr>
              <a:t>测试侧职责化协作提升 +0.0625</a:t>
            </a:r>
          </a:p>
        </p:txBody>
      </p:sp>
      <p:sp>
        <p:nvSpPr>
          <p:cNvPr id="39" name="Rounded Rectangle 38"/>
          <p:cNvSpPr/>
          <p:nvPr/>
        </p:nvSpPr>
        <p:spPr>
          <a:xfrm>
            <a:off x="7178040" y="3611880"/>
            <a:ext cx="3520440" cy="1508760"/>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452360" y="3886200"/>
            <a:ext cx="82296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硬结论</a:t>
            </a:r>
          </a:p>
        </p:txBody>
      </p:sp>
      <p:sp>
        <p:nvSpPr>
          <p:cNvPr id="41" name="Oval 40"/>
          <p:cNvSpPr/>
          <p:nvPr/>
        </p:nvSpPr>
        <p:spPr>
          <a:xfrm>
            <a:off x="7479792" y="4279392"/>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644383" y="4224528"/>
            <a:ext cx="2743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00" b="0">
                <a:solidFill>
                  <a:srgbClr val="102033"/>
                </a:solidFill>
                <a:latin typeface="Microsoft YaHei"/>
              </a:rPr>
              <a:t>配对样本要求三类复核记录完整，口径更严谨</a:t>
            </a:r>
          </a:p>
        </p:txBody>
      </p:sp>
      <p:sp>
        <p:nvSpPr>
          <p:cNvPr id="43" name="Oval 42"/>
          <p:cNvSpPr/>
          <p:nvPr/>
        </p:nvSpPr>
        <p:spPr>
          <a:xfrm>
            <a:off x="7479792" y="4572000"/>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7644383" y="4517136"/>
            <a:ext cx="2743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00" b="0">
                <a:solidFill>
                  <a:srgbClr val="102033"/>
                </a:solidFill>
                <a:latin typeface="Microsoft YaHei"/>
              </a:rPr>
              <a:t>单角色/同质复核测试侧没有超过基线</a:t>
            </a:r>
          </a:p>
        </p:txBody>
      </p:sp>
      <p:sp>
        <p:nvSpPr>
          <p:cNvPr id="45" name="Oval 44"/>
          <p:cNvSpPr/>
          <p:nvPr/>
        </p:nvSpPr>
        <p:spPr>
          <a:xfrm>
            <a:off x="7479792" y="4864607"/>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644383" y="4809744"/>
            <a:ext cx="274320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00" b="0">
                <a:solidFill>
                  <a:srgbClr val="102033"/>
                </a:solidFill>
                <a:latin typeface="Microsoft YaHei"/>
              </a:rPr>
              <a:t>职责化分工 + 结构化证据 + 授权门槛共同形成收益</a:t>
            </a:r>
          </a:p>
        </p:txBody>
      </p:sp>
      <p:sp>
        <p:nvSpPr>
          <p:cNvPr id="47" name="Rectangle 46"/>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9" name="Rectangle 48"/>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18</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典型案例：样本语义揭示具体冲突</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原始评测样本为模板化 query，本页做可读化整理，保留触发词、主任务边界和 trace 证据。</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932688" y="1115568"/>
            <a:ext cx="12984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40" b="1">
                <a:solidFill>
                  <a:srgbClr val="53657A"/>
                </a:solidFill>
                <a:latin typeface="Microsoft YaHei"/>
              </a:rPr>
              <a:t>样本表达（整理）</a:t>
            </a:r>
          </a:p>
        </p:txBody>
      </p:sp>
      <p:sp>
        <p:nvSpPr>
          <p:cNvPr id="11" name="Rectangle 10"/>
          <p:cNvSpPr/>
          <p:nvPr/>
        </p:nvSpPr>
        <p:spPr>
          <a:xfrm>
            <a:off x="5193792" y="1115568"/>
            <a:ext cx="8229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40" b="1">
                <a:solidFill>
                  <a:srgbClr val="53657A"/>
                </a:solidFill>
                <a:latin typeface="Microsoft YaHei"/>
              </a:rPr>
              <a:t>误判路径</a:t>
            </a:r>
          </a:p>
        </p:txBody>
      </p:sp>
      <p:sp>
        <p:nvSpPr>
          <p:cNvPr id="12" name="Rectangle 11"/>
          <p:cNvSpPr/>
          <p:nvPr/>
        </p:nvSpPr>
        <p:spPr>
          <a:xfrm>
            <a:off x="7818120" y="1115568"/>
            <a:ext cx="12984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40" b="1">
                <a:solidFill>
                  <a:srgbClr val="53657A"/>
                </a:solidFill>
                <a:latin typeface="Microsoft YaHei"/>
              </a:rPr>
              <a:t>复核抓住的主任务</a:t>
            </a:r>
          </a:p>
        </p:txBody>
      </p:sp>
      <p:sp>
        <p:nvSpPr>
          <p:cNvPr id="13" name="Rounded Rectangle 12"/>
          <p:cNvSpPr/>
          <p:nvPr/>
        </p:nvSpPr>
        <p:spPr>
          <a:xfrm>
            <a:off x="658368" y="1371600"/>
            <a:ext cx="10771632" cy="1042415"/>
          </a:xfrm>
          <a:prstGeom prst="round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8368" y="1371600"/>
            <a:ext cx="109728" cy="1042415"/>
          </a:xfrm>
          <a:prstGeom prst="rect">
            <a:avLst/>
          </a:prstGeom>
          <a:solidFill>
            <a:srgbClr val="0B63CE"/>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1517904"/>
            <a:ext cx="24871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0B63CE"/>
                </a:solidFill>
                <a:latin typeface="Microsoft YaHei"/>
              </a:rPr>
              <a:t>holdout3_000038 / 跨域竞争</a:t>
            </a:r>
          </a:p>
        </p:txBody>
      </p:sp>
      <p:sp>
        <p:nvSpPr>
          <p:cNvPr id="16" name="Rectangle 15"/>
          <p:cNvSpPr/>
          <p:nvPr/>
        </p:nvSpPr>
        <p:spPr>
          <a:xfrm>
            <a:off x="914400" y="1755648"/>
            <a:ext cx="38862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1">
                <a:solidFill>
                  <a:srgbClr val="102033"/>
                </a:solidFill>
                <a:latin typeface="Microsoft YaHei"/>
              </a:rPr>
              <a:t>请把驻场培训周内容压缩成一页领导评审材料，先搭材料骨架、梳理整体结构。</a:t>
            </a:r>
          </a:p>
        </p:txBody>
      </p:sp>
      <p:sp>
        <p:nvSpPr>
          <p:cNvPr id="17" name="Rectangle 16"/>
          <p:cNvSpPr/>
          <p:nvPr/>
        </p:nvSpPr>
        <p:spPr>
          <a:xfrm>
            <a:off x="5184648" y="1554480"/>
            <a:ext cx="786384"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单智能体</a:t>
            </a:r>
          </a:p>
        </p:txBody>
      </p:sp>
      <p:sp>
        <p:nvSpPr>
          <p:cNvPr id="18" name="Rectangle 17"/>
          <p:cNvSpPr/>
          <p:nvPr/>
        </p:nvSpPr>
        <p:spPr>
          <a:xfrm>
            <a:off x="4818888" y="1810512"/>
            <a:ext cx="14813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B93232"/>
                </a:solidFill>
                <a:latin typeface="Arial"/>
              </a:rPr>
              <a:t>course.education.cn</a:t>
            </a:r>
          </a:p>
        </p:txBody>
      </p:sp>
      <p:sp>
        <p:nvSpPr>
          <p:cNvPr id="19" name="Rectangle 18"/>
          <p:cNvSpPr/>
          <p:nvPr/>
        </p:nvSpPr>
        <p:spPr>
          <a:xfrm>
            <a:off x="6400800" y="1783080"/>
            <a:ext cx="2377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250" b="1">
                <a:solidFill>
                  <a:srgbClr val="53657A"/>
                </a:solidFill>
                <a:latin typeface="Arial"/>
              </a:rPr>
              <a:t>→</a:t>
            </a:r>
          </a:p>
        </p:txBody>
      </p:sp>
      <p:sp>
        <p:nvSpPr>
          <p:cNvPr id="20" name="Rectangle 19"/>
          <p:cNvSpPr/>
          <p:nvPr/>
        </p:nvSpPr>
        <p:spPr>
          <a:xfrm>
            <a:off x="6784848" y="1554480"/>
            <a:ext cx="129844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expanded 放行后修正</a:t>
            </a:r>
          </a:p>
        </p:txBody>
      </p:sp>
      <p:sp>
        <p:nvSpPr>
          <p:cNvPr id="21" name="Rectangle 20"/>
          <p:cNvSpPr/>
          <p:nvPr/>
        </p:nvSpPr>
        <p:spPr>
          <a:xfrm>
            <a:off x="6565392" y="1810512"/>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0E8A57"/>
                </a:solidFill>
                <a:latin typeface="Arial"/>
              </a:rPr>
              <a:t>docs.productivity.cn</a:t>
            </a:r>
          </a:p>
        </p:txBody>
      </p:sp>
      <p:sp>
        <p:nvSpPr>
          <p:cNvPr id="22" name="Rectangle 21"/>
          <p:cNvSpPr/>
          <p:nvPr/>
        </p:nvSpPr>
        <p:spPr>
          <a:xfrm>
            <a:off x="8631936" y="1609344"/>
            <a:ext cx="2743200" cy="4206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表面词“培训”牵引到课程域；主动作是搭骨架、压材料、梳结构，应落文档处理。</a:t>
            </a:r>
          </a:p>
        </p:txBody>
      </p:sp>
      <p:sp>
        <p:nvSpPr>
          <p:cNvPr id="23" name="Rounded Rectangle 22"/>
          <p:cNvSpPr/>
          <p:nvPr/>
        </p:nvSpPr>
        <p:spPr>
          <a:xfrm>
            <a:off x="658368" y="2596896"/>
            <a:ext cx="10771632" cy="1042415"/>
          </a:xfrm>
          <a:prstGeom prst="round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8368" y="2596896"/>
            <a:ext cx="109728" cy="1042415"/>
          </a:xfrm>
          <a:prstGeom prst="rect">
            <a:avLst/>
          </a:prstGeom>
          <a:solidFill>
            <a:srgbClr val="0E8A57"/>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14400" y="2743200"/>
            <a:ext cx="24871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0E8A57"/>
                </a:solidFill>
                <a:latin typeface="Microsoft YaHei"/>
              </a:rPr>
              <a:t>holdout3_000173 / 主次意图拆分</a:t>
            </a:r>
          </a:p>
        </p:txBody>
      </p:sp>
      <p:sp>
        <p:nvSpPr>
          <p:cNvPr id="26" name="Rectangle 25"/>
          <p:cNvSpPr/>
          <p:nvPr/>
        </p:nvSpPr>
        <p:spPr>
          <a:xfrm>
            <a:off x="914400" y="2980944"/>
            <a:ext cx="38862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1">
                <a:solidFill>
                  <a:srgbClr val="102033"/>
                </a:solidFill>
                <a:latin typeface="Microsoft YaHei"/>
              </a:rPr>
              <a:t>到西安后还要二次换乘，先看哪种接驳最省事；航班和活动顺手再核对。</a:t>
            </a:r>
          </a:p>
        </p:txBody>
      </p:sp>
      <p:sp>
        <p:nvSpPr>
          <p:cNvPr id="27" name="Rectangle 26"/>
          <p:cNvSpPr/>
          <p:nvPr/>
        </p:nvSpPr>
        <p:spPr>
          <a:xfrm>
            <a:off x="5184648" y="2779776"/>
            <a:ext cx="786384"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单智能体</a:t>
            </a:r>
          </a:p>
        </p:txBody>
      </p:sp>
      <p:sp>
        <p:nvSpPr>
          <p:cNvPr id="28" name="Rectangle 27"/>
          <p:cNvSpPr/>
          <p:nvPr/>
        </p:nvSpPr>
        <p:spPr>
          <a:xfrm>
            <a:off x="4818888" y="3035808"/>
            <a:ext cx="14813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B93232"/>
                </a:solidFill>
                <a:latin typeface="Arial"/>
              </a:rPr>
              <a:t>flight.travel.cn</a:t>
            </a:r>
          </a:p>
        </p:txBody>
      </p:sp>
      <p:sp>
        <p:nvSpPr>
          <p:cNvPr id="29" name="Rectangle 28"/>
          <p:cNvSpPr/>
          <p:nvPr/>
        </p:nvSpPr>
        <p:spPr>
          <a:xfrm>
            <a:off x="6400800" y="3008376"/>
            <a:ext cx="2377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250" b="1">
                <a:solidFill>
                  <a:srgbClr val="53657A"/>
                </a:solidFill>
                <a:latin typeface="Arial"/>
              </a:rPr>
              <a:t>→</a:t>
            </a:r>
          </a:p>
        </p:txBody>
      </p:sp>
      <p:sp>
        <p:nvSpPr>
          <p:cNvPr id="30" name="Rectangle 29"/>
          <p:cNvSpPr/>
          <p:nvPr/>
        </p:nvSpPr>
        <p:spPr>
          <a:xfrm>
            <a:off x="6784848" y="2779776"/>
            <a:ext cx="129844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single_v2 / expanded 修正</a:t>
            </a:r>
          </a:p>
        </p:txBody>
      </p:sp>
      <p:sp>
        <p:nvSpPr>
          <p:cNvPr id="31" name="Rectangle 30"/>
          <p:cNvSpPr/>
          <p:nvPr/>
        </p:nvSpPr>
        <p:spPr>
          <a:xfrm>
            <a:off x="6565392" y="3035808"/>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0E8A57"/>
                </a:solidFill>
                <a:latin typeface="Arial"/>
              </a:rPr>
              <a:t>transport.travel.cn</a:t>
            </a:r>
          </a:p>
        </p:txBody>
      </p:sp>
      <p:sp>
        <p:nvSpPr>
          <p:cNvPr id="32" name="Rectangle 31"/>
          <p:cNvSpPr/>
          <p:nvPr/>
        </p:nvSpPr>
        <p:spPr>
          <a:xfrm>
            <a:off x="8631936" y="2834639"/>
            <a:ext cx="2743200" cy="4206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航班、活动是并列背景；主任务由“接驳最省事”“二次换乘”限定为交通接驳。</a:t>
            </a:r>
          </a:p>
        </p:txBody>
      </p:sp>
      <p:sp>
        <p:nvSpPr>
          <p:cNvPr id="33" name="Rounded Rectangle 32"/>
          <p:cNvSpPr/>
          <p:nvPr/>
        </p:nvSpPr>
        <p:spPr>
          <a:xfrm>
            <a:off x="658368" y="3822191"/>
            <a:ext cx="10771632" cy="1042415"/>
          </a:xfrm>
          <a:prstGeom prst="round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58368" y="3822191"/>
            <a:ext cx="109728" cy="1042415"/>
          </a:xfrm>
          <a:prstGeom prst="rect">
            <a:avLst/>
          </a:prstGeom>
          <a:solidFill>
            <a:srgbClr val="E97132"/>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14400" y="3968496"/>
            <a:ext cx="248716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E97132"/>
                </a:solidFill>
                <a:latin typeface="Microsoft YaHei"/>
              </a:rPr>
              <a:t>holdout3_000303 / 跨域重叠</a:t>
            </a:r>
          </a:p>
        </p:txBody>
      </p:sp>
      <p:sp>
        <p:nvSpPr>
          <p:cNvPr id="36" name="Rectangle 35"/>
          <p:cNvSpPr/>
          <p:nvPr/>
        </p:nvSpPr>
        <p:spPr>
          <a:xfrm>
            <a:off x="914400" y="4206240"/>
            <a:ext cx="3886200" cy="34747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00" b="1">
                <a:solidFill>
                  <a:srgbClr val="102033"/>
                </a:solidFill>
                <a:latin typeface="Microsoft YaHei"/>
              </a:rPr>
              <a:t>杭州临时多出一个晚上，帮我挑一个不折腾的活动；住处是否需要调整也顺手看一下。</a:t>
            </a:r>
          </a:p>
        </p:txBody>
      </p:sp>
      <p:sp>
        <p:nvSpPr>
          <p:cNvPr id="37" name="Rectangle 36"/>
          <p:cNvSpPr/>
          <p:nvPr/>
        </p:nvSpPr>
        <p:spPr>
          <a:xfrm>
            <a:off x="5184648" y="4005072"/>
            <a:ext cx="786384"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单智能体</a:t>
            </a:r>
          </a:p>
        </p:txBody>
      </p:sp>
      <p:sp>
        <p:nvSpPr>
          <p:cNvPr id="38" name="Rectangle 37"/>
          <p:cNvSpPr/>
          <p:nvPr/>
        </p:nvSpPr>
        <p:spPr>
          <a:xfrm>
            <a:off x="4818888" y="4261104"/>
            <a:ext cx="148132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B93232"/>
                </a:solidFill>
                <a:latin typeface="Arial"/>
              </a:rPr>
              <a:t>hotel.travel.cn</a:t>
            </a:r>
          </a:p>
        </p:txBody>
      </p:sp>
      <p:sp>
        <p:nvSpPr>
          <p:cNvPr id="39" name="Rectangle 38"/>
          <p:cNvSpPr/>
          <p:nvPr/>
        </p:nvSpPr>
        <p:spPr>
          <a:xfrm>
            <a:off x="6400800" y="4233672"/>
            <a:ext cx="237744"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250" b="1">
                <a:solidFill>
                  <a:srgbClr val="53657A"/>
                </a:solidFill>
                <a:latin typeface="Arial"/>
              </a:rPr>
              <a:t>→</a:t>
            </a:r>
          </a:p>
        </p:txBody>
      </p:sp>
      <p:sp>
        <p:nvSpPr>
          <p:cNvPr id="40" name="Rectangle 39"/>
          <p:cNvSpPr/>
          <p:nvPr/>
        </p:nvSpPr>
        <p:spPr>
          <a:xfrm>
            <a:off x="6784848" y="4005072"/>
            <a:ext cx="129844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80" b="0">
                <a:solidFill>
                  <a:srgbClr val="53657A"/>
                </a:solidFill>
                <a:latin typeface="Microsoft YaHei"/>
              </a:rPr>
              <a:t>职责化复核稳定修正</a:t>
            </a:r>
          </a:p>
        </p:txBody>
      </p:sp>
      <p:sp>
        <p:nvSpPr>
          <p:cNvPr id="41" name="Rectangle 40"/>
          <p:cNvSpPr/>
          <p:nvPr/>
        </p:nvSpPr>
        <p:spPr>
          <a:xfrm>
            <a:off x="6565392" y="4261104"/>
            <a:ext cx="17373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19" b="1">
                <a:solidFill>
                  <a:srgbClr val="0E8A57"/>
                </a:solidFill>
                <a:latin typeface="Arial"/>
              </a:rPr>
              <a:t>activity.travel.cn</a:t>
            </a:r>
          </a:p>
        </p:txBody>
      </p:sp>
      <p:sp>
        <p:nvSpPr>
          <p:cNvPr id="42" name="Rectangle 41"/>
          <p:cNvSpPr/>
          <p:nvPr/>
        </p:nvSpPr>
        <p:spPr>
          <a:xfrm>
            <a:off x="8631936" y="4059935"/>
            <a:ext cx="2743200" cy="42062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69" b="0">
                <a:solidFill>
                  <a:srgbClr val="53657A"/>
                </a:solidFill>
                <a:latin typeface="Microsoft YaHei"/>
              </a:rPr>
              <a:t>住处调整只是附带检查；主动作是挑活动，复核后把住宿从主标签降为干扰项。</a:t>
            </a:r>
          </a:p>
        </p:txBody>
      </p:sp>
      <p:sp>
        <p:nvSpPr>
          <p:cNvPr id="43" name="Rounded Rectangle 42"/>
          <p:cNvSpPr/>
          <p:nvPr/>
        </p:nvSpPr>
        <p:spPr>
          <a:xfrm>
            <a:off x="749808" y="5230368"/>
            <a:ext cx="10040112" cy="53035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87552" y="5376672"/>
            <a:ext cx="90068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1">
                <a:solidFill>
                  <a:srgbClr val="102033"/>
                </a:solidFill>
                <a:latin typeface="Microsoft YaHei"/>
              </a:rPr>
              <a:t>案例价值：不是把样本堆满，而是用“样本语义 + trace 改判路径”证明系统能处理跨域竞争、主次拆分和重叠意图。</a:t>
            </a:r>
          </a:p>
        </p:txBody>
      </p:sp>
      <p:sp>
        <p:nvSpPr>
          <p:cNvPr id="45" name="Rectangle 44"/>
          <p:cNvSpPr/>
          <p:nvPr/>
        </p:nvSpPr>
        <p:spPr>
          <a:xfrm>
            <a:off x="1005840" y="5596128"/>
            <a:ext cx="658368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注：页面话术为答辩可读化整理，原始样本与完整 trace 已在实验记录中留存。</a:t>
            </a:r>
          </a:p>
        </p:txBody>
      </p:sp>
      <p:sp>
        <p:nvSpPr>
          <p:cNvPr id="46" name="Rectangle 4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8" name="Rectangle 4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19</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协作复核可视化：多角色讨论把改判变成可审计过程</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以 holdout3_000303 为例：Stage A 将主任务误判为住宿，Stage B 通过角色投票、证据归因和授权门槛完成改判。</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685800" y="1060704"/>
            <a:ext cx="10744200" cy="530352"/>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60120" y="1234440"/>
            <a:ext cx="7315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26B6FF"/>
                </a:solidFill>
                <a:latin typeface="Microsoft YaHei"/>
              </a:rPr>
              <a:t>样本语义</a:t>
            </a:r>
          </a:p>
        </p:txBody>
      </p:sp>
      <p:sp>
        <p:nvSpPr>
          <p:cNvPr id="12" name="Rectangle 11"/>
          <p:cNvSpPr/>
          <p:nvPr/>
        </p:nvSpPr>
        <p:spPr>
          <a:xfrm>
            <a:off x="1783080" y="1207008"/>
            <a:ext cx="585216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60" b="1">
                <a:solidFill>
                  <a:srgbClr val="FFFFFF"/>
                </a:solidFill>
                <a:latin typeface="Microsoft YaHei"/>
              </a:rPr>
              <a:t>杭州临时多出一晚：先挑一个不折腾的活动；住处是否调整只是顺手检查。</a:t>
            </a:r>
          </a:p>
        </p:txBody>
      </p:sp>
      <p:sp>
        <p:nvSpPr>
          <p:cNvPr id="13" name="Rectangle 12"/>
          <p:cNvSpPr/>
          <p:nvPr/>
        </p:nvSpPr>
        <p:spPr>
          <a:xfrm>
            <a:off x="7635240" y="1234440"/>
            <a:ext cx="3108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D2E6FF"/>
                </a:solidFill>
                <a:latin typeface="Arial"/>
              </a:rPr>
              <a:t>trace fields: agent_votes / raw_response / trust_trace / feedback_scores</a:t>
            </a:r>
          </a:p>
        </p:txBody>
      </p:sp>
      <p:sp>
        <p:nvSpPr>
          <p:cNvPr id="14" name="Rounded Rectangle 13"/>
          <p:cNvSpPr/>
          <p:nvPr/>
        </p:nvSpPr>
        <p:spPr>
          <a:xfrm>
            <a:off x="749808" y="1847088"/>
            <a:ext cx="1664208" cy="768096"/>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59536" y="1993392"/>
            <a:ext cx="822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1">
                <a:solidFill>
                  <a:srgbClr val="53657A"/>
                </a:solidFill>
                <a:latin typeface="Microsoft YaHei"/>
              </a:rPr>
              <a:t>Stage A 初判</a:t>
            </a:r>
          </a:p>
        </p:txBody>
      </p:sp>
      <p:sp>
        <p:nvSpPr>
          <p:cNvPr id="16" name="Rectangle 15"/>
          <p:cNvSpPr/>
          <p:nvPr/>
        </p:nvSpPr>
        <p:spPr>
          <a:xfrm>
            <a:off x="859536" y="2212848"/>
            <a:ext cx="11887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B93232"/>
                </a:solidFill>
                <a:latin typeface="Arial"/>
              </a:rPr>
              <a:t>hotel.travel.cn</a:t>
            </a:r>
          </a:p>
        </p:txBody>
      </p:sp>
      <p:sp>
        <p:nvSpPr>
          <p:cNvPr id="17" name="Rectangle 16"/>
          <p:cNvSpPr/>
          <p:nvPr/>
        </p:nvSpPr>
        <p:spPr>
          <a:xfrm>
            <a:off x="859536" y="2414016"/>
            <a:ext cx="123444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690" b="0">
                <a:solidFill>
                  <a:srgbClr val="53657A"/>
                </a:solidFill>
                <a:latin typeface="Microsoft YaHei"/>
              </a:rPr>
              <a:t>表面词：住处</a:t>
            </a:r>
          </a:p>
        </p:txBody>
      </p:sp>
      <p:sp>
        <p:nvSpPr>
          <p:cNvPr id="18" name="Rectangle 17"/>
          <p:cNvSpPr/>
          <p:nvPr/>
        </p:nvSpPr>
        <p:spPr>
          <a:xfrm>
            <a:off x="2542032" y="2157984"/>
            <a:ext cx="20116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300" b="1">
                <a:solidFill>
                  <a:srgbClr val="53657A"/>
                </a:solidFill>
                <a:latin typeface="Arial"/>
              </a:rPr>
              <a:t>→</a:t>
            </a:r>
          </a:p>
        </p:txBody>
      </p:sp>
      <p:sp>
        <p:nvSpPr>
          <p:cNvPr id="19" name="Rounded Rectangle 18"/>
          <p:cNvSpPr/>
          <p:nvPr/>
        </p:nvSpPr>
        <p:spPr>
          <a:xfrm>
            <a:off x="2926079" y="1847088"/>
            <a:ext cx="1664208" cy="768096"/>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035808" y="1993392"/>
            <a:ext cx="822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1">
                <a:solidFill>
                  <a:srgbClr val="53657A"/>
                </a:solidFill>
                <a:latin typeface="Microsoft YaHei"/>
              </a:rPr>
              <a:t>触发复核</a:t>
            </a:r>
          </a:p>
        </p:txBody>
      </p:sp>
      <p:sp>
        <p:nvSpPr>
          <p:cNvPr id="21" name="Rectangle 20"/>
          <p:cNvSpPr/>
          <p:nvPr/>
        </p:nvSpPr>
        <p:spPr>
          <a:xfrm>
            <a:off x="3035808" y="2212848"/>
            <a:ext cx="11887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E97132"/>
                </a:solidFill>
                <a:latin typeface="Arial"/>
              </a:rPr>
              <a:t>low confidence</a:t>
            </a:r>
          </a:p>
        </p:txBody>
      </p:sp>
      <p:sp>
        <p:nvSpPr>
          <p:cNvPr id="22" name="Rectangle 21"/>
          <p:cNvSpPr/>
          <p:nvPr/>
        </p:nvSpPr>
        <p:spPr>
          <a:xfrm>
            <a:off x="3035808" y="2414016"/>
            <a:ext cx="123444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690" b="0">
                <a:solidFill>
                  <a:srgbClr val="53657A"/>
                </a:solidFill>
                <a:latin typeface="Microsoft YaHei"/>
              </a:rPr>
              <a:t>多意图 + close score</a:t>
            </a:r>
          </a:p>
        </p:txBody>
      </p:sp>
      <p:sp>
        <p:nvSpPr>
          <p:cNvPr id="23" name="Rectangle 22"/>
          <p:cNvSpPr/>
          <p:nvPr/>
        </p:nvSpPr>
        <p:spPr>
          <a:xfrm>
            <a:off x="4718304" y="2157984"/>
            <a:ext cx="20116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300" b="1">
                <a:solidFill>
                  <a:srgbClr val="53657A"/>
                </a:solidFill>
                <a:latin typeface="Arial"/>
              </a:rPr>
              <a:t>→</a:t>
            </a:r>
          </a:p>
        </p:txBody>
      </p:sp>
      <p:sp>
        <p:nvSpPr>
          <p:cNvPr id="24" name="Rounded Rectangle 23"/>
          <p:cNvSpPr/>
          <p:nvPr/>
        </p:nvSpPr>
        <p:spPr>
          <a:xfrm>
            <a:off x="5102352" y="1847088"/>
            <a:ext cx="1664208" cy="768096"/>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212080" y="1993392"/>
            <a:ext cx="822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1">
                <a:solidFill>
                  <a:srgbClr val="53657A"/>
                </a:solidFill>
                <a:latin typeface="Microsoft YaHei"/>
              </a:rPr>
              <a:t>角色讨论</a:t>
            </a:r>
          </a:p>
        </p:txBody>
      </p:sp>
      <p:sp>
        <p:nvSpPr>
          <p:cNvPr id="26" name="Rectangle 25"/>
          <p:cNvSpPr/>
          <p:nvPr/>
        </p:nvSpPr>
        <p:spPr>
          <a:xfrm>
            <a:off x="5212080" y="2212848"/>
            <a:ext cx="11887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0B63CE"/>
                </a:solidFill>
                <a:latin typeface="Arial"/>
              </a:rPr>
              <a:t>4 agents</a:t>
            </a:r>
          </a:p>
        </p:txBody>
      </p:sp>
      <p:sp>
        <p:nvSpPr>
          <p:cNvPr id="27" name="Rectangle 26"/>
          <p:cNvSpPr/>
          <p:nvPr/>
        </p:nvSpPr>
        <p:spPr>
          <a:xfrm>
            <a:off x="5212080" y="2414016"/>
            <a:ext cx="123444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690" b="0">
                <a:solidFill>
                  <a:srgbClr val="53657A"/>
                </a:solidFill>
                <a:latin typeface="Microsoft YaHei"/>
              </a:rPr>
              <a:t>主任务/风险/层级/偏好</a:t>
            </a:r>
          </a:p>
        </p:txBody>
      </p:sp>
      <p:sp>
        <p:nvSpPr>
          <p:cNvPr id="28" name="Rectangle 27"/>
          <p:cNvSpPr/>
          <p:nvPr/>
        </p:nvSpPr>
        <p:spPr>
          <a:xfrm>
            <a:off x="6894576" y="2157984"/>
            <a:ext cx="20116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300" b="1">
                <a:solidFill>
                  <a:srgbClr val="53657A"/>
                </a:solidFill>
                <a:latin typeface="Arial"/>
              </a:rPr>
              <a:t>→</a:t>
            </a:r>
          </a:p>
        </p:txBody>
      </p:sp>
      <p:sp>
        <p:nvSpPr>
          <p:cNvPr id="29" name="Rounded Rectangle 28"/>
          <p:cNvSpPr/>
          <p:nvPr/>
        </p:nvSpPr>
        <p:spPr>
          <a:xfrm>
            <a:off x="7278624" y="1847088"/>
            <a:ext cx="1664208" cy="768096"/>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7388352" y="1993392"/>
            <a:ext cx="822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1">
                <a:solidFill>
                  <a:srgbClr val="53657A"/>
                </a:solidFill>
                <a:latin typeface="Microsoft YaHei"/>
              </a:rPr>
              <a:t>授权门槛</a:t>
            </a:r>
          </a:p>
        </p:txBody>
      </p:sp>
      <p:sp>
        <p:nvSpPr>
          <p:cNvPr id="31" name="Rectangle 30"/>
          <p:cNvSpPr/>
          <p:nvPr/>
        </p:nvSpPr>
        <p:spPr>
          <a:xfrm>
            <a:off x="7388352" y="2212848"/>
            <a:ext cx="11887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6B49C8"/>
                </a:solidFill>
                <a:latin typeface="Arial"/>
              </a:rPr>
              <a:t>3 : 1</a:t>
            </a:r>
          </a:p>
        </p:txBody>
      </p:sp>
      <p:sp>
        <p:nvSpPr>
          <p:cNvPr id="32" name="Rectangle 31"/>
          <p:cNvSpPr/>
          <p:nvPr/>
        </p:nvSpPr>
        <p:spPr>
          <a:xfrm>
            <a:off x="7388352" y="2414016"/>
            <a:ext cx="123444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690" b="0">
                <a:solidFill>
                  <a:srgbClr val="53657A"/>
                </a:solidFill>
                <a:latin typeface="Microsoft YaHei"/>
              </a:rPr>
              <a:t>override allowed</a:t>
            </a:r>
          </a:p>
        </p:txBody>
      </p:sp>
      <p:sp>
        <p:nvSpPr>
          <p:cNvPr id="33" name="Rectangle 32"/>
          <p:cNvSpPr/>
          <p:nvPr/>
        </p:nvSpPr>
        <p:spPr>
          <a:xfrm>
            <a:off x="9070848" y="2157984"/>
            <a:ext cx="20116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300" b="1">
                <a:solidFill>
                  <a:srgbClr val="53657A"/>
                </a:solidFill>
                <a:latin typeface="Arial"/>
              </a:rPr>
              <a:t>→</a:t>
            </a:r>
          </a:p>
        </p:txBody>
      </p:sp>
      <p:sp>
        <p:nvSpPr>
          <p:cNvPr id="34" name="Rounded Rectangle 33"/>
          <p:cNvSpPr/>
          <p:nvPr/>
        </p:nvSpPr>
        <p:spPr>
          <a:xfrm>
            <a:off x="9454896" y="1847088"/>
            <a:ext cx="1664208" cy="768096"/>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564624" y="1993392"/>
            <a:ext cx="82296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80" b="1">
                <a:solidFill>
                  <a:srgbClr val="53657A"/>
                </a:solidFill>
                <a:latin typeface="Microsoft YaHei"/>
              </a:rPr>
              <a:t>最终落点</a:t>
            </a:r>
          </a:p>
        </p:txBody>
      </p:sp>
      <p:sp>
        <p:nvSpPr>
          <p:cNvPr id="36" name="Rectangle 35"/>
          <p:cNvSpPr/>
          <p:nvPr/>
        </p:nvSpPr>
        <p:spPr>
          <a:xfrm>
            <a:off x="9564624" y="2212848"/>
            <a:ext cx="118872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1">
                <a:solidFill>
                  <a:srgbClr val="0E8A57"/>
                </a:solidFill>
                <a:latin typeface="Arial"/>
              </a:rPr>
              <a:t>activity.travel.cn</a:t>
            </a:r>
          </a:p>
        </p:txBody>
      </p:sp>
      <p:sp>
        <p:nvSpPr>
          <p:cNvPr id="37" name="Rectangle 36"/>
          <p:cNvSpPr/>
          <p:nvPr/>
        </p:nvSpPr>
        <p:spPr>
          <a:xfrm>
            <a:off x="9564624" y="2414016"/>
            <a:ext cx="123444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690" b="0">
                <a:solidFill>
                  <a:srgbClr val="53657A"/>
                </a:solidFill>
                <a:latin typeface="Microsoft YaHei"/>
              </a:rPr>
              <a:t>主任务：挑活动</a:t>
            </a:r>
          </a:p>
        </p:txBody>
      </p:sp>
      <p:sp>
        <p:nvSpPr>
          <p:cNvPr id="38" name="Rounded Rectangle 37"/>
          <p:cNvSpPr/>
          <p:nvPr/>
        </p:nvSpPr>
        <p:spPr>
          <a:xfrm>
            <a:off x="841248" y="2971800"/>
            <a:ext cx="4242816" cy="69494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42416" y="3172968"/>
            <a:ext cx="219456" cy="219456"/>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042416" y="3236976"/>
            <a:ext cx="219456"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650" b="1">
                <a:solidFill>
                  <a:srgbClr val="FFFFFF"/>
                </a:solidFill>
                <a:latin typeface="Arial"/>
              </a:rPr>
              <a:t>1</a:t>
            </a:r>
          </a:p>
        </p:txBody>
      </p:sp>
      <p:sp>
        <p:nvSpPr>
          <p:cNvPr id="41" name="Rectangle 40"/>
          <p:cNvSpPr/>
          <p:nvPr/>
        </p:nvSpPr>
        <p:spPr>
          <a:xfrm>
            <a:off x="1371600" y="3108960"/>
            <a:ext cx="1097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102033"/>
                </a:solidFill>
                <a:latin typeface="Arial"/>
              </a:rPr>
              <a:t>DomainExpert</a:t>
            </a:r>
          </a:p>
        </p:txBody>
      </p:sp>
      <p:sp>
        <p:nvSpPr>
          <p:cNvPr id="42" name="Rectangle 41"/>
          <p:cNvSpPr/>
          <p:nvPr/>
        </p:nvSpPr>
        <p:spPr>
          <a:xfrm>
            <a:off x="2468880" y="3118104"/>
            <a:ext cx="82296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40" b="0">
                <a:solidFill>
                  <a:srgbClr val="53657A"/>
                </a:solidFill>
                <a:latin typeface="Microsoft YaHei"/>
              </a:rPr>
              <a:t>主任务匹配</a:t>
            </a:r>
          </a:p>
        </p:txBody>
      </p:sp>
      <p:sp>
        <p:nvSpPr>
          <p:cNvPr id="43" name="Rectangle 42"/>
          <p:cNvSpPr/>
          <p:nvPr/>
        </p:nvSpPr>
        <p:spPr>
          <a:xfrm>
            <a:off x="3364991" y="3099816"/>
            <a:ext cx="12344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9" b="1">
                <a:solidFill>
                  <a:srgbClr val="0E8A57"/>
                </a:solidFill>
                <a:latin typeface="Arial"/>
              </a:rPr>
              <a:t>activity.travel.cn</a:t>
            </a:r>
          </a:p>
        </p:txBody>
      </p:sp>
      <p:sp>
        <p:nvSpPr>
          <p:cNvPr id="44" name="Rectangle 43"/>
          <p:cNvSpPr/>
          <p:nvPr/>
        </p:nvSpPr>
        <p:spPr>
          <a:xfrm>
            <a:off x="1371600" y="3364992"/>
            <a:ext cx="321868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53657A"/>
                </a:solidFill>
                <a:latin typeface="Microsoft YaHei"/>
              </a:rPr>
              <a:t>“活动”直接命中主任务，住处是附带检查</a:t>
            </a:r>
          </a:p>
        </p:txBody>
      </p:sp>
      <p:sp>
        <p:nvSpPr>
          <p:cNvPr id="45" name="Rounded Rectangle 44"/>
          <p:cNvSpPr/>
          <p:nvPr/>
        </p:nvSpPr>
        <p:spPr>
          <a:xfrm>
            <a:off x="5458968" y="2971800"/>
            <a:ext cx="4242816" cy="694944"/>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5660136" y="3172968"/>
            <a:ext cx="219456" cy="219456"/>
          </a:xfrm>
          <a:prstGeom prst="ellipse">
            <a:avLst/>
          </a:prstGeom>
          <a:solidFill>
            <a:srgbClr val="B932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660136" y="3236976"/>
            <a:ext cx="219456"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650" b="1">
                <a:solidFill>
                  <a:srgbClr val="FFFFFF"/>
                </a:solidFill>
                <a:latin typeface="Arial"/>
              </a:rPr>
              <a:t>2</a:t>
            </a:r>
          </a:p>
        </p:txBody>
      </p:sp>
      <p:sp>
        <p:nvSpPr>
          <p:cNvPr id="48" name="Rectangle 47"/>
          <p:cNvSpPr/>
          <p:nvPr/>
        </p:nvSpPr>
        <p:spPr>
          <a:xfrm>
            <a:off x="5989320" y="3108960"/>
            <a:ext cx="1097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102033"/>
                </a:solidFill>
                <a:latin typeface="Arial"/>
              </a:rPr>
              <a:t>GovernanceRisk</a:t>
            </a:r>
          </a:p>
        </p:txBody>
      </p:sp>
      <p:sp>
        <p:nvSpPr>
          <p:cNvPr id="49" name="Rectangle 48"/>
          <p:cNvSpPr/>
          <p:nvPr/>
        </p:nvSpPr>
        <p:spPr>
          <a:xfrm>
            <a:off x="7086600" y="3118104"/>
            <a:ext cx="82296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40" b="0">
                <a:solidFill>
                  <a:srgbClr val="53657A"/>
                </a:solidFill>
                <a:latin typeface="Microsoft YaHei"/>
              </a:rPr>
              <a:t>风险边界</a:t>
            </a:r>
          </a:p>
        </p:txBody>
      </p:sp>
      <p:sp>
        <p:nvSpPr>
          <p:cNvPr id="50" name="Rectangle 49"/>
          <p:cNvSpPr/>
          <p:nvPr/>
        </p:nvSpPr>
        <p:spPr>
          <a:xfrm>
            <a:off x="7982712" y="3099816"/>
            <a:ext cx="12344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9" b="1">
                <a:solidFill>
                  <a:srgbClr val="B93232"/>
                </a:solidFill>
                <a:latin typeface="Arial"/>
              </a:rPr>
              <a:t>hotel.travel.cn</a:t>
            </a:r>
          </a:p>
        </p:txBody>
      </p:sp>
      <p:sp>
        <p:nvSpPr>
          <p:cNvPr id="51" name="Rectangle 50"/>
          <p:cNvSpPr/>
          <p:nvPr/>
        </p:nvSpPr>
        <p:spPr>
          <a:xfrm>
            <a:off x="5989320" y="3364992"/>
            <a:ext cx="321868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53657A"/>
                </a:solidFill>
                <a:latin typeface="Microsoft YaHei"/>
              </a:rPr>
              <a:t>无高风险，保守支持 Stage A 原判</a:t>
            </a:r>
          </a:p>
        </p:txBody>
      </p:sp>
      <p:sp>
        <p:nvSpPr>
          <p:cNvPr id="52" name="Rounded Rectangle 51"/>
          <p:cNvSpPr/>
          <p:nvPr/>
        </p:nvSpPr>
        <p:spPr>
          <a:xfrm>
            <a:off x="841248" y="3867912"/>
            <a:ext cx="4242816" cy="69494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Oval 52"/>
          <p:cNvSpPr/>
          <p:nvPr/>
        </p:nvSpPr>
        <p:spPr>
          <a:xfrm>
            <a:off x="1042416" y="4069080"/>
            <a:ext cx="219456" cy="219456"/>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1042416" y="4133088"/>
            <a:ext cx="219456"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650" b="1">
                <a:solidFill>
                  <a:srgbClr val="FFFFFF"/>
                </a:solidFill>
                <a:latin typeface="Arial"/>
              </a:rPr>
              <a:t>3</a:t>
            </a:r>
          </a:p>
        </p:txBody>
      </p:sp>
      <p:sp>
        <p:nvSpPr>
          <p:cNvPr id="55" name="Rectangle 54"/>
          <p:cNvSpPr/>
          <p:nvPr/>
        </p:nvSpPr>
        <p:spPr>
          <a:xfrm>
            <a:off x="1371600" y="4005072"/>
            <a:ext cx="1097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102033"/>
                </a:solidFill>
                <a:latin typeface="Arial"/>
              </a:rPr>
              <a:t>HierarchyResolver</a:t>
            </a:r>
          </a:p>
        </p:txBody>
      </p:sp>
      <p:sp>
        <p:nvSpPr>
          <p:cNvPr id="56" name="Rectangle 55"/>
          <p:cNvSpPr/>
          <p:nvPr/>
        </p:nvSpPr>
        <p:spPr>
          <a:xfrm>
            <a:off x="2468880" y="4014216"/>
            <a:ext cx="82296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40" b="0">
                <a:solidFill>
                  <a:srgbClr val="53657A"/>
                </a:solidFill>
                <a:latin typeface="Microsoft YaHei"/>
              </a:rPr>
              <a:t>层级/粒度</a:t>
            </a:r>
          </a:p>
        </p:txBody>
      </p:sp>
      <p:sp>
        <p:nvSpPr>
          <p:cNvPr id="57" name="Rectangle 56"/>
          <p:cNvSpPr/>
          <p:nvPr/>
        </p:nvSpPr>
        <p:spPr>
          <a:xfrm>
            <a:off x="3364991" y="3995928"/>
            <a:ext cx="12344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9" b="1">
                <a:solidFill>
                  <a:srgbClr val="0E8A57"/>
                </a:solidFill>
                <a:latin typeface="Arial"/>
              </a:rPr>
              <a:t>activity.travel.cn</a:t>
            </a:r>
          </a:p>
        </p:txBody>
      </p:sp>
      <p:sp>
        <p:nvSpPr>
          <p:cNvPr id="58" name="Rectangle 57"/>
          <p:cNvSpPr/>
          <p:nvPr/>
        </p:nvSpPr>
        <p:spPr>
          <a:xfrm>
            <a:off x="1371600" y="4261104"/>
            <a:ext cx="321868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53657A"/>
                </a:solidFill>
                <a:latin typeface="Microsoft YaHei"/>
              </a:rPr>
              <a:t>住宿节点更像 related，活动才是 primary</a:t>
            </a:r>
          </a:p>
        </p:txBody>
      </p:sp>
      <p:sp>
        <p:nvSpPr>
          <p:cNvPr id="59" name="Rounded Rectangle 58"/>
          <p:cNvSpPr/>
          <p:nvPr/>
        </p:nvSpPr>
        <p:spPr>
          <a:xfrm>
            <a:off x="5458968" y="3867912"/>
            <a:ext cx="4242816" cy="694944"/>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5660136" y="4069080"/>
            <a:ext cx="219456" cy="219456"/>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ectangle 60"/>
          <p:cNvSpPr/>
          <p:nvPr/>
        </p:nvSpPr>
        <p:spPr>
          <a:xfrm>
            <a:off x="5660136" y="4133088"/>
            <a:ext cx="219456" cy="9144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650" b="1">
                <a:solidFill>
                  <a:srgbClr val="FFFFFF"/>
                </a:solidFill>
                <a:latin typeface="Arial"/>
              </a:rPr>
              <a:t>4</a:t>
            </a:r>
          </a:p>
        </p:txBody>
      </p:sp>
      <p:sp>
        <p:nvSpPr>
          <p:cNvPr id="62" name="Rectangle 61"/>
          <p:cNvSpPr/>
          <p:nvPr/>
        </p:nvSpPr>
        <p:spPr>
          <a:xfrm>
            <a:off x="5989320" y="4005072"/>
            <a:ext cx="10972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19" b="1">
                <a:solidFill>
                  <a:srgbClr val="102033"/>
                </a:solidFill>
                <a:latin typeface="Arial"/>
              </a:rPr>
              <a:t>UserPreference</a:t>
            </a:r>
          </a:p>
        </p:txBody>
      </p:sp>
      <p:sp>
        <p:nvSpPr>
          <p:cNvPr id="63" name="Rectangle 62"/>
          <p:cNvSpPr/>
          <p:nvPr/>
        </p:nvSpPr>
        <p:spPr>
          <a:xfrm>
            <a:off x="7086600" y="4014216"/>
            <a:ext cx="82296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40" b="0">
                <a:solidFill>
                  <a:srgbClr val="53657A"/>
                </a:solidFill>
                <a:latin typeface="Microsoft YaHei"/>
              </a:rPr>
              <a:t>用户偏好</a:t>
            </a:r>
          </a:p>
        </p:txBody>
      </p:sp>
      <p:sp>
        <p:nvSpPr>
          <p:cNvPr id="64" name="Rectangle 63"/>
          <p:cNvSpPr/>
          <p:nvPr/>
        </p:nvSpPr>
        <p:spPr>
          <a:xfrm>
            <a:off x="7982712" y="3995928"/>
            <a:ext cx="1234440"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819" b="1">
                <a:solidFill>
                  <a:srgbClr val="0E8A57"/>
                </a:solidFill>
                <a:latin typeface="Arial"/>
              </a:rPr>
              <a:t>activity.travel.cn</a:t>
            </a:r>
          </a:p>
        </p:txBody>
      </p:sp>
      <p:sp>
        <p:nvSpPr>
          <p:cNvPr id="65" name="Rectangle 64"/>
          <p:cNvSpPr/>
          <p:nvPr/>
        </p:nvSpPr>
        <p:spPr>
          <a:xfrm>
            <a:off x="5989320" y="4261104"/>
            <a:ext cx="3218688" cy="12801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53657A"/>
                </a:solidFill>
                <a:latin typeface="Microsoft YaHei"/>
              </a:rPr>
              <a:t>“重点/顺手”明确主次，活动优先</a:t>
            </a:r>
          </a:p>
        </p:txBody>
      </p:sp>
      <p:sp>
        <p:nvSpPr>
          <p:cNvPr id="66" name="Rounded Rectangle 65"/>
          <p:cNvSpPr/>
          <p:nvPr/>
        </p:nvSpPr>
        <p:spPr>
          <a:xfrm>
            <a:off x="9802368" y="2971800"/>
            <a:ext cx="1664208" cy="1591056"/>
          </a:xfrm>
          <a:prstGeom prst="roundRect">
            <a:avLst/>
          </a:prstGeom>
          <a:solidFill>
            <a:srgbClr val="FFF1F1"/>
          </a:solidFill>
          <a:ln w="12700">
            <a:solidFill>
              <a:srgbClr val="F1C3C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ectangle 66"/>
          <p:cNvSpPr/>
          <p:nvPr/>
        </p:nvSpPr>
        <p:spPr>
          <a:xfrm>
            <a:off x="10049256" y="3182112"/>
            <a:ext cx="107899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50" b="1">
                <a:solidFill>
                  <a:srgbClr val="B93232"/>
                </a:solidFill>
                <a:latin typeface="Arial"/>
              </a:rPr>
              <a:t>TRUST GATE</a:t>
            </a:r>
          </a:p>
        </p:txBody>
      </p:sp>
      <p:sp>
        <p:nvSpPr>
          <p:cNvPr id="68" name="Rectangle 67"/>
          <p:cNvSpPr/>
          <p:nvPr/>
        </p:nvSpPr>
        <p:spPr>
          <a:xfrm>
            <a:off x="10076688" y="3493008"/>
            <a:ext cx="86868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00" b="0">
                <a:solidFill>
                  <a:srgbClr val="53657A"/>
                </a:solidFill>
                <a:latin typeface="Arial"/>
              </a:rPr>
              <a:t>override votes</a:t>
            </a:r>
          </a:p>
        </p:txBody>
      </p:sp>
      <p:sp>
        <p:nvSpPr>
          <p:cNvPr id="69" name="Rectangle 68"/>
          <p:cNvSpPr/>
          <p:nvPr/>
        </p:nvSpPr>
        <p:spPr>
          <a:xfrm>
            <a:off x="9930384" y="3639312"/>
            <a:ext cx="384048"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0E8A57"/>
                </a:solidFill>
                <a:latin typeface="Arial"/>
              </a:rPr>
              <a:t>3</a:t>
            </a:r>
          </a:p>
        </p:txBody>
      </p:sp>
      <p:sp>
        <p:nvSpPr>
          <p:cNvPr id="70" name="Rectangle 69"/>
          <p:cNvSpPr/>
          <p:nvPr/>
        </p:nvSpPr>
        <p:spPr>
          <a:xfrm>
            <a:off x="10323576" y="3685032"/>
            <a:ext cx="109728"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200" b="1">
                <a:solidFill>
                  <a:srgbClr val="53657A"/>
                </a:solidFill>
                <a:latin typeface="Arial"/>
              </a:rPr>
              <a:t>:</a:t>
            </a:r>
          </a:p>
        </p:txBody>
      </p:sp>
      <p:sp>
        <p:nvSpPr>
          <p:cNvPr id="71" name="Rectangle 70"/>
          <p:cNvSpPr/>
          <p:nvPr/>
        </p:nvSpPr>
        <p:spPr>
          <a:xfrm>
            <a:off x="10460736" y="3639312"/>
            <a:ext cx="384048"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2100" b="1">
                <a:solidFill>
                  <a:srgbClr val="B93232"/>
                </a:solidFill>
                <a:latin typeface="Arial"/>
              </a:rPr>
              <a:t>1</a:t>
            </a:r>
          </a:p>
        </p:txBody>
      </p:sp>
      <p:sp>
        <p:nvSpPr>
          <p:cNvPr id="72" name="Rectangle 71"/>
          <p:cNvSpPr/>
          <p:nvPr/>
        </p:nvSpPr>
        <p:spPr>
          <a:xfrm>
            <a:off x="9957816" y="3986784"/>
            <a:ext cx="114300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700" b="0">
                <a:solidFill>
                  <a:srgbClr val="53657A"/>
                </a:solidFill>
                <a:latin typeface="Arial"/>
              </a:rPr>
              <a:t>support Stage A</a:t>
            </a:r>
          </a:p>
        </p:txBody>
      </p:sp>
      <p:sp>
        <p:nvSpPr>
          <p:cNvPr id="73" name="Rectangle 72"/>
          <p:cNvSpPr/>
          <p:nvPr/>
        </p:nvSpPr>
        <p:spPr>
          <a:xfrm>
            <a:off x="10113264" y="4251960"/>
            <a:ext cx="8046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1040" b="1">
                <a:solidFill>
                  <a:srgbClr val="0E8A57"/>
                </a:solidFill>
                <a:latin typeface="Arial"/>
              </a:rPr>
              <a:t>allowed</a:t>
            </a:r>
          </a:p>
        </p:txBody>
      </p:sp>
      <p:sp>
        <p:nvSpPr>
          <p:cNvPr id="74" name="Rounded Rectangle 73"/>
          <p:cNvSpPr/>
          <p:nvPr/>
        </p:nvSpPr>
        <p:spPr>
          <a:xfrm>
            <a:off x="822960" y="5074920"/>
            <a:ext cx="10021824" cy="62179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Rectangle 74"/>
          <p:cNvSpPr/>
          <p:nvPr/>
        </p:nvSpPr>
        <p:spPr>
          <a:xfrm>
            <a:off x="1078992" y="5266944"/>
            <a:ext cx="868680"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40" b="1">
                <a:solidFill>
                  <a:srgbClr val="0B63CE"/>
                </a:solidFill>
                <a:latin typeface="Microsoft YaHei"/>
              </a:rPr>
              <a:t>可审计证据</a:t>
            </a:r>
          </a:p>
        </p:txBody>
      </p:sp>
      <p:sp>
        <p:nvSpPr>
          <p:cNvPr id="76" name="Oval 75"/>
          <p:cNvSpPr/>
          <p:nvPr/>
        </p:nvSpPr>
        <p:spPr>
          <a:xfrm>
            <a:off x="2148840" y="5285231"/>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ectangle 76"/>
          <p:cNvSpPr/>
          <p:nvPr/>
        </p:nvSpPr>
        <p:spPr>
          <a:xfrm>
            <a:off x="2313432" y="5230368"/>
            <a:ext cx="32461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102033"/>
                </a:solidFill>
                <a:latin typeface="Microsoft YaHei"/>
              </a:rPr>
              <a:t>agent_votes 保存每个角色的投票</a:t>
            </a:r>
          </a:p>
        </p:txBody>
      </p:sp>
      <p:sp>
        <p:nvSpPr>
          <p:cNvPr id="78" name="Oval 77"/>
          <p:cNvSpPr/>
          <p:nvPr/>
        </p:nvSpPr>
        <p:spPr>
          <a:xfrm>
            <a:off x="6126479" y="5285231"/>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Rectangle 78"/>
          <p:cNvSpPr/>
          <p:nvPr/>
        </p:nvSpPr>
        <p:spPr>
          <a:xfrm>
            <a:off x="6291071" y="5230368"/>
            <a:ext cx="32461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102033"/>
                </a:solidFill>
                <a:latin typeface="Microsoft YaHei"/>
              </a:rPr>
              <a:t>raw_response 保存 LLM 原始结构化回复</a:t>
            </a:r>
          </a:p>
        </p:txBody>
      </p:sp>
      <p:sp>
        <p:nvSpPr>
          <p:cNvPr id="80" name="Oval 79"/>
          <p:cNvSpPr/>
          <p:nvPr/>
        </p:nvSpPr>
        <p:spPr>
          <a:xfrm>
            <a:off x="2148840" y="5513831"/>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Rectangle 80"/>
          <p:cNvSpPr/>
          <p:nvPr/>
        </p:nvSpPr>
        <p:spPr>
          <a:xfrm>
            <a:off x="2313432" y="5458968"/>
            <a:ext cx="32461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102033"/>
                </a:solidFill>
                <a:latin typeface="Microsoft YaHei"/>
              </a:rPr>
              <a:t>trust_trace 记录分歧、票数和授权结果</a:t>
            </a:r>
          </a:p>
        </p:txBody>
      </p:sp>
      <p:sp>
        <p:nvSpPr>
          <p:cNvPr id="82" name="Oval 81"/>
          <p:cNvSpPr/>
          <p:nvPr/>
        </p:nvSpPr>
        <p:spPr>
          <a:xfrm>
            <a:off x="6126479" y="5513831"/>
            <a:ext cx="68580" cy="68580"/>
          </a:xfrm>
          <a:prstGeom prst="ellipse">
            <a:avLst/>
          </a:prstGeom>
          <a:solidFill>
            <a:srgbClr val="0B63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Rectangle 82"/>
          <p:cNvSpPr/>
          <p:nvPr/>
        </p:nvSpPr>
        <p:spPr>
          <a:xfrm>
            <a:off x="6291071" y="5458968"/>
            <a:ext cx="32461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60" b="0">
                <a:solidFill>
                  <a:srgbClr val="102033"/>
                </a:solidFill>
                <a:latin typeface="Microsoft YaHei"/>
              </a:rPr>
              <a:t>feedback_scores 记录候选得分和共识增益</a:t>
            </a:r>
          </a:p>
        </p:txBody>
      </p:sp>
      <p:sp>
        <p:nvSpPr>
          <p:cNvPr id="84" name="Rectangle 83"/>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ectangle 84"/>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86" name="Rectangle 85"/>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20</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突破创新：把多智能体协作与可信认知标识压实到可验证链路</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最新报告口径强调项目不是单点算法，而是能力组织、协作共识、可信留痕和原型验证的组合突破。</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77240" y="1417320"/>
            <a:ext cx="3154680" cy="105156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941832" y="1618488"/>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0B63CE"/>
                </a:solidFill>
                <a:latin typeface="Arial"/>
              </a:rPr>
              <a:t>01</a:t>
            </a:r>
          </a:p>
        </p:txBody>
      </p:sp>
      <p:sp>
        <p:nvSpPr>
          <p:cNvPr id="12" name="Rectangle 11"/>
          <p:cNvSpPr/>
          <p:nvPr/>
        </p:nvSpPr>
        <p:spPr>
          <a:xfrm>
            <a:off x="1435607" y="1600200"/>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能力命名突破</a:t>
            </a:r>
          </a:p>
        </p:txBody>
      </p:sp>
      <p:sp>
        <p:nvSpPr>
          <p:cNvPr id="13" name="Rectangle 12"/>
          <p:cNvSpPr/>
          <p:nvPr/>
        </p:nvSpPr>
        <p:spPr>
          <a:xfrm>
            <a:off x="1435607" y="1929384"/>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构建能力逻辑地址与实例逻辑地址分层表达，支撑候选组织</a:t>
            </a:r>
          </a:p>
        </p:txBody>
      </p:sp>
      <p:sp>
        <p:nvSpPr>
          <p:cNvPr id="14" name="Rounded Rectangle 13"/>
          <p:cNvSpPr/>
          <p:nvPr/>
        </p:nvSpPr>
        <p:spPr>
          <a:xfrm>
            <a:off x="4434840" y="1417320"/>
            <a:ext cx="3154680" cy="105156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99431" y="1618488"/>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0E8A57"/>
                </a:solidFill>
                <a:latin typeface="Arial"/>
              </a:rPr>
              <a:t>02</a:t>
            </a:r>
          </a:p>
        </p:txBody>
      </p:sp>
      <p:sp>
        <p:nvSpPr>
          <p:cNvPr id="16" name="Rectangle 15"/>
          <p:cNvSpPr/>
          <p:nvPr/>
        </p:nvSpPr>
        <p:spPr>
          <a:xfrm>
            <a:off x="5093207" y="1600200"/>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结构化判别突破</a:t>
            </a:r>
          </a:p>
        </p:txBody>
      </p:sp>
      <p:sp>
        <p:nvSpPr>
          <p:cNvPr id="17" name="Rectangle 16"/>
          <p:cNvSpPr/>
          <p:nvPr/>
        </p:nvSpPr>
        <p:spPr>
          <a:xfrm>
            <a:off x="5093207" y="1929384"/>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将大模型判断压缩为 decision packet、score、margin 和冲突摘要</a:t>
            </a:r>
          </a:p>
        </p:txBody>
      </p:sp>
      <p:sp>
        <p:nvSpPr>
          <p:cNvPr id="18" name="Rounded Rectangle 17"/>
          <p:cNvSpPr/>
          <p:nvPr/>
        </p:nvSpPr>
        <p:spPr>
          <a:xfrm>
            <a:off x="8092440" y="1417320"/>
            <a:ext cx="3154680" cy="105156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57031" y="1618488"/>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E97132"/>
                </a:solidFill>
                <a:latin typeface="Arial"/>
              </a:rPr>
              <a:t>03</a:t>
            </a:r>
          </a:p>
        </p:txBody>
      </p:sp>
      <p:sp>
        <p:nvSpPr>
          <p:cNvPr id="20" name="Rectangle 19"/>
          <p:cNvSpPr/>
          <p:nvPr/>
        </p:nvSpPr>
        <p:spPr>
          <a:xfrm>
            <a:off x="8750808" y="1600200"/>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职责化协作突破</a:t>
            </a:r>
          </a:p>
        </p:txBody>
      </p:sp>
      <p:sp>
        <p:nvSpPr>
          <p:cNvPr id="21" name="Rectangle 20"/>
          <p:cNvSpPr/>
          <p:nvPr/>
        </p:nvSpPr>
        <p:spPr>
          <a:xfrm>
            <a:off x="8750808" y="1929384"/>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任务匹配、治理风险、层级解析、用户偏好形成异质证据视图</a:t>
            </a:r>
          </a:p>
        </p:txBody>
      </p:sp>
      <p:sp>
        <p:nvSpPr>
          <p:cNvPr id="22" name="Rounded Rectangle 21"/>
          <p:cNvSpPr/>
          <p:nvPr/>
        </p:nvSpPr>
        <p:spPr>
          <a:xfrm>
            <a:off x="777240" y="2862072"/>
            <a:ext cx="3154680" cy="1051560"/>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941832" y="3063240"/>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6B49C8"/>
                </a:solidFill>
                <a:latin typeface="Arial"/>
              </a:rPr>
              <a:t>04</a:t>
            </a:r>
          </a:p>
        </p:txBody>
      </p:sp>
      <p:sp>
        <p:nvSpPr>
          <p:cNvPr id="24" name="Rectangle 23"/>
          <p:cNvSpPr/>
          <p:nvPr/>
        </p:nvSpPr>
        <p:spPr>
          <a:xfrm>
            <a:off x="1435607" y="3044952"/>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显式授权突破</a:t>
            </a:r>
          </a:p>
        </p:txBody>
      </p:sp>
      <p:sp>
        <p:nvSpPr>
          <p:cNvPr id="25" name="Rectangle 24"/>
          <p:cNvSpPr/>
          <p:nvPr/>
        </p:nvSpPr>
        <p:spPr>
          <a:xfrm>
            <a:off x="1435607" y="3374136"/>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复核触发与最终改判解耦，用票数、共识增益和证据门槛控制误改</a:t>
            </a:r>
          </a:p>
        </p:txBody>
      </p:sp>
      <p:sp>
        <p:nvSpPr>
          <p:cNvPr id="26" name="Rounded Rectangle 25"/>
          <p:cNvSpPr/>
          <p:nvPr/>
        </p:nvSpPr>
        <p:spPr>
          <a:xfrm>
            <a:off x="4434840" y="2862072"/>
            <a:ext cx="3154680" cy="1051560"/>
          </a:xfrm>
          <a:prstGeom prst="roundRect">
            <a:avLst/>
          </a:prstGeom>
          <a:solidFill>
            <a:srgbClr val="FFFFFF"/>
          </a:solidFill>
          <a:ln w="12700">
            <a:solidFill>
              <a:srgbClr val="B932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99431" y="3063240"/>
            <a:ext cx="41148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B93232"/>
                </a:solidFill>
                <a:latin typeface="Arial"/>
              </a:rPr>
              <a:t>05</a:t>
            </a:r>
          </a:p>
        </p:txBody>
      </p:sp>
      <p:sp>
        <p:nvSpPr>
          <p:cNvPr id="28" name="Rectangle 27"/>
          <p:cNvSpPr/>
          <p:nvPr/>
        </p:nvSpPr>
        <p:spPr>
          <a:xfrm>
            <a:off x="5093207" y="3044952"/>
            <a:ext cx="160020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20" b="1">
                <a:solidFill>
                  <a:srgbClr val="102033"/>
                </a:solidFill>
                <a:latin typeface="Microsoft YaHei"/>
              </a:rPr>
              <a:t>可信留痕突破</a:t>
            </a:r>
          </a:p>
        </p:txBody>
      </p:sp>
      <p:sp>
        <p:nvSpPr>
          <p:cNvPr id="29" name="Rectangle 28"/>
          <p:cNvSpPr/>
          <p:nvPr/>
        </p:nvSpPr>
        <p:spPr>
          <a:xfrm>
            <a:off x="5093207" y="3374136"/>
            <a:ext cx="2057400" cy="31089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19" b="0">
                <a:solidFill>
                  <a:srgbClr val="53657A"/>
                </a:solidFill>
                <a:latin typeface="Microsoft YaHei"/>
              </a:rPr>
              <a:t>候选、判断、复核、授权、执行落点全链路记录，支撑回放和审计</a:t>
            </a:r>
          </a:p>
        </p:txBody>
      </p:sp>
      <p:sp>
        <p:nvSpPr>
          <p:cNvPr id="30" name="Rounded Rectangle 29"/>
          <p:cNvSpPr/>
          <p:nvPr/>
        </p:nvSpPr>
        <p:spPr>
          <a:xfrm>
            <a:off x="914400" y="4956048"/>
            <a:ext cx="9875520" cy="713232"/>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188720" y="5157216"/>
            <a:ext cx="85953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80" b="1">
                <a:solidFill>
                  <a:srgbClr val="102033"/>
                </a:solidFill>
                <a:latin typeface="Microsoft YaHei"/>
              </a:rPr>
              <a:t>攻关结果：形成“能力命名—结构化判别—职责化复核—可信过程记录—执行落点衔接”的可复用技术链条。</a:t>
            </a:r>
          </a:p>
        </p:txBody>
      </p:sp>
      <p:sp>
        <p:nvSpPr>
          <p:cNvPr id="32" name="Rectangle 31"/>
          <p:cNvSpPr/>
          <p:nvPr/>
        </p:nvSpPr>
        <p:spPr>
          <a:xfrm>
            <a:off x="1188720" y="5422392"/>
            <a:ext cx="7955279"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80" b="0">
                <a:solidFill>
                  <a:srgbClr val="53657A"/>
                </a:solidFill>
                <a:latin typeface="Microsoft YaHei"/>
              </a:rPr>
              <a:t>实验层面用 563 冻结样本、累计稳定性、配对消融和典型案例证明该链条不是概念拼接。</a:t>
            </a:r>
          </a:p>
        </p:txBody>
      </p:sp>
      <p:sp>
        <p:nvSpPr>
          <p:cNvPr id="33" name="Rectangle 32"/>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35" name="Rectangle 34"/>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21</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成果证据：论文、技术报告、成果汇编已经同步到结项口径</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5月18日材料把项目主线、典型验证场景、实验结果和成果边界统一到同一套表述。</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pic>
        <p:nvPicPr>
          <p:cNvPr id="10" name="Picture 9" descr="evidence_wall.png"/>
          <p:cNvPicPr>
            <a:picLocks noChangeAspect="1"/>
          </p:cNvPicPr>
          <p:nvPr/>
        </p:nvPicPr>
        <p:blipFill>
          <a:blip r:embed="rId3"/>
          <a:stretch>
            <a:fillRect/>
          </a:stretch>
        </p:blipFill>
        <p:spPr>
          <a:xfrm>
            <a:off x="566928" y="1115568"/>
            <a:ext cx="7680960" cy="4023360"/>
          </a:xfrm>
          <a:prstGeom prst="rect">
            <a:avLst/>
          </a:prstGeom>
        </p:spPr>
      </p:pic>
      <p:sp>
        <p:nvSpPr>
          <p:cNvPr id="11" name="Rounded Rectangle 10"/>
          <p:cNvSpPr/>
          <p:nvPr/>
        </p:nvSpPr>
        <p:spPr>
          <a:xfrm>
            <a:off x="8549640" y="1371600"/>
            <a:ext cx="2377440" cy="3383280"/>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823960" y="1691640"/>
            <a:ext cx="11887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600" b="1">
                <a:solidFill>
                  <a:srgbClr val="FFFFFF"/>
                </a:solidFill>
                <a:latin typeface="Microsoft YaHei"/>
              </a:rPr>
              <a:t>材料清单</a:t>
            </a:r>
          </a:p>
        </p:txBody>
      </p:sp>
      <p:sp>
        <p:nvSpPr>
          <p:cNvPr id="13" name="Oval 12"/>
          <p:cNvSpPr/>
          <p:nvPr/>
        </p:nvSpPr>
        <p:spPr>
          <a:xfrm>
            <a:off x="8851392" y="2176272"/>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015984" y="2121408"/>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论文投稿稿</a:t>
            </a:r>
          </a:p>
        </p:txBody>
      </p:sp>
      <p:sp>
        <p:nvSpPr>
          <p:cNvPr id="15" name="Oval 14"/>
          <p:cNvSpPr/>
          <p:nvPr/>
        </p:nvSpPr>
        <p:spPr>
          <a:xfrm>
            <a:off x="8851392" y="2487168"/>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9015984" y="2432303"/>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技术报告 v1.3</a:t>
            </a:r>
          </a:p>
        </p:txBody>
      </p:sp>
      <p:sp>
        <p:nvSpPr>
          <p:cNvPr id="17" name="Oval 16"/>
          <p:cNvSpPr/>
          <p:nvPr/>
        </p:nvSpPr>
        <p:spPr>
          <a:xfrm>
            <a:off x="8851392" y="2798064"/>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9015984" y="2743200"/>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成果汇编</a:t>
            </a:r>
          </a:p>
        </p:txBody>
      </p:sp>
      <p:sp>
        <p:nvSpPr>
          <p:cNvPr id="19" name="Oval 18"/>
          <p:cNvSpPr/>
          <p:nvPr/>
        </p:nvSpPr>
        <p:spPr>
          <a:xfrm>
            <a:off x="8851392" y="3108960"/>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015984" y="3054096"/>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专利交底/权利要求</a:t>
            </a:r>
          </a:p>
        </p:txBody>
      </p:sp>
      <p:sp>
        <p:nvSpPr>
          <p:cNvPr id="21" name="Oval 20"/>
          <p:cNvSpPr/>
          <p:nvPr/>
        </p:nvSpPr>
        <p:spPr>
          <a:xfrm>
            <a:off x="8851392" y="3419856"/>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9015984" y="3364991"/>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成果宣传稿</a:t>
            </a:r>
          </a:p>
        </p:txBody>
      </p:sp>
      <p:sp>
        <p:nvSpPr>
          <p:cNvPr id="23" name="Oval 22"/>
          <p:cNvSpPr/>
          <p:nvPr/>
        </p:nvSpPr>
        <p:spPr>
          <a:xfrm>
            <a:off x="8851392" y="3730751"/>
            <a:ext cx="68580" cy="68580"/>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015984" y="3675887"/>
            <a:ext cx="1645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960" b="0">
                <a:solidFill>
                  <a:srgbClr val="D2E6FF"/>
                </a:solidFill>
                <a:latin typeface="Microsoft YaHei"/>
              </a:rPr>
              <a:t>验收报告填写版</a:t>
            </a:r>
          </a:p>
        </p:txBody>
      </p:sp>
      <p:sp>
        <p:nvSpPr>
          <p:cNvPr id="25" name="Rectangle 24"/>
          <p:cNvSpPr/>
          <p:nvPr/>
        </p:nvSpPr>
        <p:spPr>
          <a:xfrm>
            <a:off x="777240" y="5715000"/>
            <a:ext cx="731520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400" b="1">
                <a:solidFill>
                  <a:srgbClr val="102033"/>
                </a:solidFill>
                <a:latin typeface="Microsoft YaHei"/>
              </a:rPr>
              <a:t>材料体系已经覆盖评审、投稿、专利、宣传和后续报送不同场景。</a:t>
            </a:r>
          </a:p>
        </p:txBody>
      </p:sp>
      <p:sp>
        <p:nvSpPr>
          <p:cNvPr id="26" name="Rectangle 25"/>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8" name="Rectangle 27"/>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22</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考核指标完成情况：硬指标均已形成对应产物</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需补充正式专利提交/展示记录时，可在最终版替换为回执或会议证明。</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ectangle 9"/>
          <p:cNvSpPr/>
          <p:nvPr/>
        </p:nvSpPr>
        <p:spPr>
          <a:xfrm>
            <a:off x="749808" y="1234440"/>
            <a:ext cx="292608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22959" y="1344168"/>
            <a:ext cx="277977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考核指标</a:t>
            </a:r>
          </a:p>
        </p:txBody>
      </p:sp>
      <p:sp>
        <p:nvSpPr>
          <p:cNvPr id="12" name="Rectangle 11"/>
          <p:cNvSpPr/>
          <p:nvPr/>
        </p:nvSpPr>
        <p:spPr>
          <a:xfrm>
            <a:off x="3675888" y="1234440"/>
            <a:ext cx="141732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749040" y="1344168"/>
            <a:ext cx="127101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状态</a:t>
            </a:r>
          </a:p>
        </p:txBody>
      </p:sp>
      <p:sp>
        <p:nvSpPr>
          <p:cNvPr id="14" name="Rectangle 13"/>
          <p:cNvSpPr/>
          <p:nvPr/>
        </p:nvSpPr>
        <p:spPr>
          <a:xfrm>
            <a:off x="5093208" y="1234440"/>
            <a:ext cx="5806440" cy="420624"/>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166360" y="1344168"/>
            <a:ext cx="5660136"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ctr"/>
            <a:r>
              <a:rPr sz="980" b="1">
                <a:solidFill>
                  <a:srgbClr val="FFFFFF"/>
                </a:solidFill>
                <a:latin typeface="Microsoft YaHei"/>
              </a:rPr>
              <a:t>证据说明</a:t>
            </a:r>
          </a:p>
        </p:txBody>
      </p:sp>
      <p:sp>
        <p:nvSpPr>
          <p:cNvPr id="16" name="Rectangle 15"/>
          <p:cNvSpPr/>
          <p:nvPr/>
        </p:nvSpPr>
        <p:spPr>
          <a:xfrm>
            <a:off x="749808" y="1655064"/>
            <a:ext cx="292608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59536" y="1911095"/>
            <a:ext cx="27066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多智能体协作原型框架</a:t>
            </a:r>
          </a:p>
        </p:txBody>
      </p:sp>
      <p:sp>
        <p:nvSpPr>
          <p:cNvPr id="18" name="Rectangle 17"/>
          <p:cNvSpPr/>
          <p:nvPr/>
        </p:nvSpPr>
        <p:spPr>
          <a:xfrm>
            <a:off x="3675888" y="1655064"/>
            <a:ext cx="141732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785616" y="1911095"/>
            <a:ext cx="119786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Microsoft YaHei"/>
              </a:rPr>
              <a:t>已完成</a:t>
            </a:r>
          </a:p>
        </p:txBody>
      </p:sp>
      <p:sp>
        <p:nvSpPr>
          <p:cNvPr id="20" name="Rectangle 19"/>
          <p:cNvSpPr/>
          <p:nvPr/>
        </p:nvSpPr>
        <p:spPr>
          <a:xfrm>
            <a:off x="5093208" y="1655064"/>
            <a:ext cx="580644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202936" y="1911095"/>
            <a:ext cx="558698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102033"/>
                </a:solidFill>
                <a:latin typeface="Microsoft YaHei"/>
              </a:rPr>
              <a:t>覆盖候选组织、结构化裁决、协作复核、过程记录和结果展示</a:t>
            </a:r>
          </a:p>
        </p:txBody>
      </p:sp>
      <p:sp>
        <p:nvSpPr>
          <p:cNvPr id="22" name="Rectangle 21"/>
          <p:cNvSpPr/>
          <p:nvPr/>
        </p:nvSpPr>
        <p:spPr>
          <a:xfrm>
            <a:off x="749808" y="2459736"/>
            <a:ext cx="292608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59536" y="2715768"/>
            <a:ext cx="27066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技术研究报告或论文</a:t>
            </a:r>
          </a:p>
        </p:txBody>
      </p:sp>
      <p:sp>
        <p:nvSpPr>
          <p:cNvPr id="24" name="Rectangle 23"/>
          <p:cNvSpPr/>
          <p:nvPr/>
        </p:nvSpPr>
        <p:spPr>
          <a:xfrm>
            <a:off x="3675888" y="2459736"/>
            <a:ext cx="141732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3785616" y="2715768"/>
            <a:ext cx="119786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Microsoft YaHei"/>
              </a:rPr>
              <a:t>已完成</a:t>
            </a:r>
          </a:p>
        </p:txBody>
      </p:sp>
      <p:sp>
        <p:nvSpPr>
          <p:cNvPr id="26" name="Rectangle 25"/>
          <p:cNvSpPr/>
          <p:nvPr/>
        </p:nvSpPr>
        <p:spPr>
          <a:xfrm>
            <a:off x="5093208" y="2459736"/>
            <a:ext cx="580644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202936" y="2715768"/>
            <a:ext cx="558698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102033"/>
                </a:solidFill>
                <a:latin typeface="Microsoft YaHei"/>
              </a:rPr>
              <a:t>技术报告、论文稿、图表、实验协议与结果分析齐备</a:t>
            </a:r>
          </a:p>
        </p:txBody>
      </p:sp>
      <p:sp>
        <p:nvSpPr>
          <p:cNvPr id="28" name="Rectangle 27"/>
          <p:cNvSpPr/>
          <p:nvPr/>
        </p:nvSpPr>
        <p:spPr>
          <a:xfrm>
            <a:off x="749808" y="3264408"/>
            <a:ext cx="292608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59536" y="3520440"/>
            <a:ext cx="27066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发明专利</a:t>
            </a:r>
          </a:p>
        </p:txBody>
      </p:sp>
      <p:sp>
        <p:nvSpPr>
          <p:cNvPr id="30" name="Rectangle 29"/>
          <p:cNvSpPr/>
          <p:nvPr/>
        </p:nvSpPr>
        <p:spPr>
          <a:xfrm>
            <a:off x="3675888" y="3264408"/>
            <a:ext cx="141732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3785616" y="3520440"/>
            <a:ext cx="119786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Microsoft YaHei"/>
              </a:rPr>
              <a:t>材料已形成</a:t>
            </a:r>
          </a:p>
        </p:txBody>
      </p:sp>
      <p:sp>
        <p:nvSpPr>
          <p:cNvPr id="32" name="Rectangle 31"/>
          <p:cNvSpPr/>
          <p:nvPr/>
        </p:nvSpPr>
        <p:spPr>
          <a:xfrm>
            <a:off x="5093208" y="3264408"/>
            <a:ext cx="580644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5202936" y="3520440"/>
            <a:ext cx="558698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102033"/>
                </a:solidFill>
                <a:latin typeface="Microsoft YaHei"/>
              </a:rPr>
              <a:t>交底书、权利要求书、说明书摘要和附图已整理</a:t>
            </a:r>
          </a:p>
        </p:txBody>
      </p:sp>
      <p:sp>
        <p:nvSpPr>
          <p:cNvPr id="34" name="Rectangle 33"/>
          <p:cNvSpPr/>
          <p:nvPr/>
        </p:nvSpPr>
        <p:spPr>
          <a:xfrm>
            <a:off x="749808" y="4069080"/>
            <a:ext cx="292608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59536" y="4325112"/>
            <a:ext cx="270662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102033"/>
                </a:solidFill>
                <a:latin typeface="Microsoft YaHei"/>
              </a:rPr>
              <a:t>对内成果展示或汇报演示</a:t>
            </a:r>
          </a:p>
        </p:txBody>
      </p:sp>
      <p:sp>
        <p:nvSpPr>
          <p:cNvPr id="36" name="Rectangle 35"/>
          <p:cNvSpPr/>
          <p:nvPr/>
        </p:nvSpPr>
        <p:spPr>
          <a:xfrm>
            <a:off x="3675888" y="4069080"/>
            <a:ext cx="141732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3785616" y="4325112"/>
            <a:ext cx="1197864"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1">
                <a:solidFill>
                  <a:srgbClr val="0E8A57"/>
                </a:solidFill>
                <a:latin typeface="Microsoft YaHei"/>
              </a:rPr>
              <a:t>已形成支撑</a:t>
            </a:r>
          </a:p>
        </p:txBody>
      </p:sp>
      <p:sp>
        <p:nvSpPr>
          <p:cNvPr id="38" name="Rectangle 37"/>
          <p:cNvSpPr/>
          <p:nvPr/>
        </p:nvSpPr>
        <p:spPr>
          <a:xfrm>
            <a:off x="5093208" y="4069080"/>
            <a:ext cx="5806440" cy="804672"/>
          </a:xfrm>
          <a:prstGeom prst="rect">
            <a:avLst/>
          </a:prstGeom>
          <a:solidFill>
            <a:srgbClr val="FFFFFF"/>
          </a:solidFill>
          <a:ln w="12700">
            <a:solidFill>
              <a:srgbClr val="DBE8F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202936" y="4325112"/>
            <a:ext cx="5586983"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102033"/>
                </a:solidFill>
                <a:latin typeface="Microsoft YaHei"/>
              </a:rPr>
              <a:t>PPT、Demo 脚本、原型截图/录屏可继续补强</a:t>
            </a:r>
          </a:p>
        </p:txBody>
      </p:sp>
      <p:sp>
        <p:nvSpPr>
          <p:cNvPr id="40" name="Rounded Rectangle 39"/>
          <p:cNvSpPr/>
          <p:nvPr/>
        </p:nvSpPr>
        <p:spPr>
          <a:xfrm>
            <a:off x="914400" y="5212080"/>
            <a:ext cx="9601200" cy="566928"/>
          </a:xfrm>
          <a:prstGeom prst="roundRect">
            <a:avLst/>
          </a:prstGeom>
          <a:solidFill>
            <a:srgbClr val="E7F1FF"/>
          </a:solidFill>
          <a:ln w="12700">
            <a:solidFill>
              <a:srgbClr val="7FB5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70432" y="5413248"/>
            <a:ext cx="8138160" cy="18288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50" b="1">
                <a:solidFill>
                  <a:srgbClr val="102033"/>
                </a:solidFill>
                <a:latin typeface="Microsoft YaHei"/>
              </a:rPr>
              <a:t>验收建议：最终提交包按 PPT、研究报告/论文、专利、原型演示、实验复现、附录材料六类组织。</a:t>
            </a:r>
          </a:p>
        </p:txBody>
      </p:sp>
      <p:sp>
        <p:nvSpPr>
          <p:cNvPr id="42" name="Rectangle 41"/>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44" name="Rectangle 43"/>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ight_texture.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0" y="0"/>
            <a:ext cx="12191999" cy="109728"/>
          </a:xfrm>
          <a:prstGeom prst="rect">
            <a:avLst/>
          </a:prstGeom>
          <a:solidFill>
            <a:srgbClr val="082B6D"/>
          </a:solidFill>
          <a:ln w="12700">
            <a:solidFill>
              <a:srgbClr val="082B6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9728"/>
            <a:ext cx="12191999" cy="32004"/>
          </a:xfrm>
          <a:prstGeom prst="rect">
            <a:avLst/>
          </a:prstGeom>
          <a:solidFill>
            <a:srgbClr val="1E83E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75488" y="283464"/>
            <a:ext cx="676656" cy="237744"/>
          </a:xfrm>
          <a:prstGeom prst="roundRect">
            <a:avLst/>
          </a:prstGeom>
          <a:solidFill>
            <a:srgbClr val="E7F1FF"/>
          </a:solidFill>
          <a:ln w="11430">
            <a:solidFill>
              <a:srgbClr val="C8DBEF"/>
            </a:solid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1200" b="1">
                <a:solidFill>
                  <a:srgbClr val="0B63CE"/>
                </a:solidFill>
                <a:latin typeface="Microsoft YaHei"/>
              </a:rPr>
              <a:t>23</a:t>
            </a:r>
          </a:p>
        </p:txBody>
      </p:sp>
      <p:sp>
        <p:nvSpPr>
          <p:cNvPr id="6" name="Rectangle 5"/>
          <p:cNvSpPr/>
          <p:nvPr/>
        </p:nvSpPr>
        <p:spPr>
          <a:xfrm>
            <a:off x="1298448" y="237744"/>
            <a:ext cx="841248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2200" b="1">
                <a:solidFill>
                  <a:srgbClr val="102033"/>
                </a:solidFill>
                <a:latin typeface="Microsoft YaHei"/>
              </a:rPr>
              <a:t>问题边界与下一步：保留严谨表述，避免过度承诺</a:t>
            </a:r>
          </a:p>
        </p:txBody>
      </p:sp>
      <p:sp>
        <p:nvSpPr>
          <p:cNvPr id="7" name="Rectangle 6"/>
          <p:cNvSpPr/>
          <p:nvPr/>
        </p:nvSpPr>
        <p:spPr>
          <a:xfrm>
            <a:off x="1298448" y="621792"/>
            <a:ext cx="8595360" cy="23774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80" b="0">
                <a:solidFill>
                  <a:srgbClr val="53657A"/>
                </a:solidFill>
                <a:latin typeface="Microsoft YaHei"/>
              </a:rPr>
              <a:t>评审往往会追问规模化、成本、外推性和端到端联调，这页提前回答。</a:t>
            </a:r>
          </a:p>
        </p:txBody>
      </p:sp>
      <p:sp>
        <p:nvSpPr>
          <p:cNvPr id="8" name="Rectangle 7"/>
          <p:cNvSpPr/>
          <p:nvPr/>
        </p:nvSpPr>
        <p:spPr>
          <a:xfrm>
            <a:off x="10698480" y="256032"/>
            <a:ext cx="100584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100" b="1">
                <a:solidFill>
                  <a:srgbClr val="0B63CE"/>
                </a:solidFill>
                <a:latin typeface="Arial"/>
              </a:rPr>
              <a:t>CNNIC</a:t>
            </a:r>
          </a:p>
        </p:txBody>
      </p:sp>
      <p:sp>
        <p:nvSpPr>
          <p:cNvPr id="9" name="Rectangle 8"/>
          <p:cNvSpPr/>
          <p:nvPr/>
        </p:nvSpPr>
        <p:spPr>
          <a:xfrm>
            <a:off x="10012680" y="530352"/>
            <a:ext cx="169164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53657A"/>
                </a:solidFill>
                <a:latin typeface="Microsoft YaHei"/>
              </a:rPr>
              <a:t>中国互联网络信息中心</a:t>
            </a:r>
          </a:p>
        </p:txBody>
      </p:sp>
      <p:sp>
        <p:nvSpPr>
          <p:cNvPr id="10" name="Rounded Rectangle 9"/>
          <p:cNvSpPr/>
          <p:nvPr/>
        </p:nvSpPr>
        <p:spPr>
          <a:xfrm>
            <a:off x="786384" y="1417320"/>
            <a:ext cx="4526280" cy="1005840"/>
          </a:xfrm>
          <a:prstGeom prst="roundRect">
            <a:avLst/>
          </a:prstGeom>
          <a:solidFill>
            <a:srgbClr val="FFFFFF"/>
          </a:solidFill>
          <a:ln w="12700">
            <a:solidFill>
              <a:srgbClr val="0B63C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14983" y="163677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B63CE"/>
                </a:solidFill>
                <a:latin typeface="Microsoft YaHei"/>
              </a:rPr>
              <a:t>外推性</a:t>
            </a:r>
          </a:p>
        </p:txBody>
      </p:sp>
      <p:sp>
        <p:nvSpPr>
          <p:cNvPr id="12" name="Rectangle 11"/>
          <p:cNvSpPr/>
          <p:nvPr/>
        </p:nvSpPr>
        <p:spPr>
          <a:xfrm>
            <a:off x="2048255" y="160020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现有结果建立在冻结样本与后验诊断池上，后续需扩展独立验证样本。</a:t>
            </a:r>
          </a:p>
        </p:txBody>
      </p:sp>
      <p:sp>
        <p:nvSpPr>
          <p:cNvPr id="13" name="Rounded Rectangle 12"/>
          <p:cNvSpPr/>
          <p:nvPr/>
        </p:nvSpPr>
        <p:spPr>
          <a:xfrm>
            <a:off x="6044184" y="1417320"/>
            <a:ext cx="4526280" cy="1005840"/>
          </a:xfrm>
          <a:prstGeom prst="roundRect">
            <a:avLst/>
          </a:prstGeom>
          <a:solidFill>
            <a:srgbClr val="FFFFFF"/>
          </a:solidFill>
          <a:ln w="12700">
            <a:solidFill>
              <a:srgbClr val="E971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72784" y="163677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E97132"/>
                </a:solidFill>
                <a:latin typeface="Microsoft YaHei"/>
              </a:rPr>
              <a:t>运行成本</a:t>
            </a:r>
          </a:p>
        </p:txBody>
      </p:sp>
      <p:sp>
        <p:nvSpPr>
          <p:cNvPr id="15" name="Rectangle 14"/>
          <p:cNvSpPr/>
          <p:nvPr/>
        </p:nvSpPr>
        <p:spPr>
          <a:xfrm>
            <a:off x="7306056" y="160020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已用慢路径率与修正收益做代理，真实 token、时延、稳定性仍需统一记录。</a:t>
            </a:r>
          </a:p>
        </p:txBody>
      </p:sp>
      <p:sp>
        <p:nvSpPr>
          <p:cNvPr id="16" name="Rounded Rectangle 15"/>
          <p:cNvSpPr/>
          <p:nvPr/>
        </p:nvSpPr>
        <p:spPr>
          <a:xfrm>
            <a:off x="786384" y="2834640"/>
            <a:ext cx="4526280" cy="1005840"/>
          </a:xfrm>
          <a:prstGeom prst="roundRect">
            <a:avLst/>
          </a:prstGeom>
          <a:solidFill>
            <a:srgbClr val="FFFFFF"/>
          </a:solidFill>
          <a:ln w="12700">
            <a:solidFill>
              <a:srgbClr val="0E8A5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14983" y="305409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0E8A57"/>
                </a:solidFill>
                <a:latin typeface="Microsoft YaHei"/>
              </a:rPr>
              <a:t>系统联调</a:t>
            </a:r>
          </a:p>
        </p:txBody>
      </p:sp>
      <p:sp>
        <p:nvSpPr>
          <p:cNvPr id="18" name="Rectangle 17"/>
          <p:cNvSpPr/>
          <p:nvPr/>
        </p:nvSpPr>
        <p:spPr>
          <a:xfrm>
            <a:off x="2048255" y="301752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Stage C 已有原型设计与测试，完整业务端到端联调需继续推进。</a:t>
            </a:r>
          </a:p>
        </p:txBody>
      </p:sp>
      <p:sp>
        <p:nvSpPr>
          <p:cNvPr id="19" name="Rounded Rectangle 18"/>
          <p:cNvSpPr/>
          <p:nvPr/>
        </p:nvSpPr>
        <p:spPr>
          <a:xfrm>
            <a:off x="6044184" y="2834640"/>
            <a:ext cx="4526280" cy="1005840"/>
          </a:xfrm>
          <a:prstGeom prst="roundRect">
            <a:avLst/>
          </a:prstGeom>
          <a:solidFill>
            <a:srgbClr val="FFFFFF"/>
          </a:solidFill>
          <a:ln w="12700">
            <a:solidFill>
              <a:srgbClr val="6B49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72784" y="3054096"/>
            <a:ext cx="100584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500" b="1">
                <a:solidFill>
                  <a:srgbClr val="6B49C8"/>
                </a:solidFill>
                <a:latin typeface="Microsoft YaHei"/>
              </a:rPr>
              <a:t>可信强度</a:t>
            </a:r>
          </a:p>
        </p:txBody>
      </p:sp>
      <p:sp>
        <p:nvSpPr>
          <p:cNvPr id="21" name="Rectangle 20"/>
          <p:cNvSpPr/>
          <p:nvPr/>
        </p:nvSpPr>
        <p:spPr>
          <a:xfrm>
            <a:off x="7306056" y="3017520"/>
            <a:ext cx="2880360" cy="32918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050" b="0">
                <a:solidFill>
                  <a:srgbClr val="53657A"/>
                </a:solidFill>
                <a:latin typeface="Microsoft YaHei"/>
              </a:rPr>
              <a:t>当前是工程审计能力，后续可加入 hash-chain 与篡改检测。</a:t>
            </a:r>
          </a:p>
        </p:txBody>
      </p:sp>
      <p:sp>
        <p:nvSpPr>
          <p:cNvPr id="22" name="Rounded Rectangle 21"/>
          <p:cNvSpPr/>
          <p:nvPr/>
        </p:nvSpPr>
        <p:spPr>
          <a:xfrm>
            <a:off x="914400" y="4800600"/>
            <a:ext cx="9875520" cy="786384"/>
          </a:xfrm>
          <a:prstGeom prst="roundRect">
            <a:avLst/>
          </a:prstGeom>
          <a:solidFill>
            <a:srgbClr val="071A46"/>
          </a:solidFill>
          <a:ln w="12700">
            <a:solidFill>
              <a:srgbClr val="1E83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70432" y="5074920"/>
            <a:ext cx="850392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350" b="1">
                <a:solidFill>
                  <a:srgbClr val="FFFFFF"/>
                </a:solidFill>
                <a:latin typeface="Microsoft YaHei"/>
              </a:rPr>
              <a:t>后续重点：扩大验证范围、完善质量/成本/时延日志、推动演示端联调、凝练标准化表达与业务试点。</a:t>
            </a:r>
          </a:p>
        </p:txBody>
      </p:sp>
      <p:sp>
        <p:nvSpPr>
          <p:cNvPr id="24" name="Rectangle 23"/>
          <p:cNvSpPr/>
          <p:nvPr/>
        </p:nvSpPr>
        <p:spPr>
          <a:xfrm>
            <a:off x="475488" y="6473952"/>
            <a:ext cx="8595360" cy="10160"/>
          </a:xfrm>
          <a:prstGeom prst="rect">
            <a:avLst/>
          </a:prstGeom>
          <a:solidFill>
            <a:srgbClr val="C8DB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75488" y="6537960"/>
            <a:ext cx="5486400"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750" b="0">
                <a:solidFill>
                  <a:srgbClr val="53657A"/>
                </a:solidFill>
                <a:latin typeface="Microsoft YaHei"/>
              </a:rPr>
              <a:t>面向互联网基础资源的大模型多智能体协作与可信认知标识技术研究</a:t>
            </a:r>
          </a:p>
        </p:txBody>
      </p:sp>
      <p:sp>
        <p:nvSpPr>
          <p:cNvPr id="26" name="Rectangle 25"/>
          <p:cNvSpPr/>
          <p:nvPr/>
        </p:nvSpPr>
        <p:spPr>
          <a:xfrm>
            <a:off x="11155680" y="6501384"/>
            <a:ext cx="384048"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00" b="0">
                <a:solidFill>
                  <a:srgbClr val="53657A"/>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ver_bg_deep.png"/>
          <p:cNvPicPr>
            <a:picLocks noChangeAspect="1"/>
          </p:cNvPicPr>
          <p:nvPr/>
        </p:nvPicPr>
        <p:blipFill>
          <a:blip r:embed="rId2"/>
          <a:stretch>
            <a:fillRect/>
          </a:stretch>
        </p:blipFill>
        <p:spPr>
          <a:xfrm>
            <a:off x="0" y="0"/>
            <a:ext cx="12191999" cy="6858000"/>
          </a:xfrm>
          <a:prstGeom prst="rect">
            <a:avLst/>
          </a:prstGeom>
        </p:spPr>
      </p:pic>
      <p:sp>
        <p:nvSpPr>
          <p:cNvPr id="3" name="Rectangle 2"/>
          <p:cNvSpPr/>
          <p:nvPr/>
        </p:nvSpPr>
        <p:spPr>
          <a:xfrm>
            <a:off x="694944" y="841248"/>
            <a:ext cx="1097280" cy="36576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3000" b="1">
                <a:solidFill>
                  <a:srgbClr val="FFFFFF"/>
                </a:solidFill>
                <a:latin typeface="Microsoft YaHei"/>
              </a:rPr>
              <a:t>总结</a:t>
            </a:r>
          </a:p>
        </p:txBody>
      </p:sp>
      <p:sp>
        <p:nvSpPr>
          <p:cNvPr id="4" name="Rectangle 3"/>
          <p:cNvSpPr/>
          <p:nvPr/>
        </p:nvSpPr>
        <p:spPr>
          <a:xfrm>
            <a:off x="713232" y="1371600"/>
            <a:ext cx="1371600" cy="38100"/>
          </a:xfrm>
          <a:prstGeom prst="rect">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7824" y="1965960"/>
            <a:ext cx="347472" cy="347472"/>
          </a:xfrm>
          <a:prstGeom prst="ellipse">
            <a:avLst/>
          </a:prstGeom>
          <a:solidFill>
            <a:srgbClr val="26B6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877824" y="2066543"/>
            <a:ext cx="347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Arial"/>
              </a:rPr>
              <a:t>1</a:t>
            </a:r>
          </a:p>
        </p:txBody>
      </p:sp>
      <p:sp>
        <p:nvSpPr>
          <p:cNvPr id="7" name="Rectangle 6"/>
          <p:cNvSpPr/>
          <p:nvPr/>
        </p:nvSpPr>
        <p:spPr>
          <a:xfrm>
            <a:off x="1417320" y="1984248"/>
            <a:ext cx="20116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完成验收指标</a:t>
            </a:r>
          </a:p>
        </p:txBody>
      </p:sp>
      <p:sp>
        <p:nvSpPr>
          <p:cNvPr id="8" name="Rectangle 7"/>
          <p:cNvSpPr/>
          <p:nvPr/>
        </p:nvSpPr>
        <p:spPr>
          <a:xfrm>
            <a:off x="1426464" y="2350008"/>
            <a:ext cx="52120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D2E6FF"/>
                </a:solidFill>
                <a:latin typeface="Microsoft YaHei"/>
              </a:rPr>
              <a:t>原型、报告/论文、专利材料、展示支撑均已形成。</a:t>
            </a:r>
          </a:p>
        </p:txBody>
      </p:sp>
      <p:sp>
        <p:nvSpPr>
          <p:cNvPr id="9" name="Oval 8"/>
          <p:cNvSpPr/>
          <p:nvPr/>
        </p:nvSpPr>
        <p:spPr>
          <a:xfrm>
            <a:off x="877824" y="2880360"/>
            <a:ext cx="347472" cy="347472"/>
          </a:xfrm>
          <a:prstGeom prst="ellipse">
            <a:avLst/>
          </a:prstGeom>
          <a:solidFill>
            <a:srgbClr val="F4B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77824" y="2980944"/>
            <a:ext cx="347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Arial"/>
              </a:rPr>
              <a:t>2</a:t>
            </a:r>
          </a:p>
        </p:txBody>
      </p:sp>
      <p:sp>
        <p:nvSpPr>
          <p:cNvPr id="11" name="Rectangle 10"/>
          <p:cNvSpPr/>
          <p:nvPr/>
        </p:nvSpPr>
        <p:spPr>
          <a:xfrm>
            <a:off x="1417320" y="2898648"/>
            <a:ext cx="20116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形成技术闭环</a:t>
            </a:r>
          </a:p>
        </p:txBody>
      </p:sp>
      <p:sp>
        <p:nvSpPr>
          <p:cNvPr id="12" name="Rectangle 11"/>
          <p:cNvSpPr/>
          <p:nvPr/>
        </p:nvSpPr>
        <p:spPr>
          <a:xfrm>
            <a:off x="1426464" y="3264408"/>
            <a:ext cx="52120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D2E6FF"/>
                </a:solidFill>
                <a:latin typeface="Microsoft YaHei"/>
              </a:rPr>
              <a:t>能力命名、语义路由、职责化复核、执行落点和过程轨迹贯通。</a:t>
            </a:r>
          </a:p>
        </p:txBody>
      </p:sp>
      <p:sp>
        <p:nvSpPr>
          <p:cNvPr id="13" name="Oval 12"/>
          <p:cNvSpPr/>
          <p:nvPr/>
        </p:nvSpPr>
        <p:spPr>
          <a:xfrm>
            <a:off x="877824" y="3794760"/>
            <a:ext cx="347472" cy="347472"/>
          </a:xfrm>
          <a:prstGeom prst="ellipse">
            <a:avLst/>
          </a:prstGeom>
          <a:solidFill>
            <a:srgbClr val="0E8A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77824" y="3895344"/>
            <a:ext cx="347472" cy="146304"/>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lIns="36576" rIns="36576" tIns="18288" bIns="18288"/>
          <a:lstStyle/>
          <a:p>
            <a:pPr algn="ctr"/>
            <a:r>
              <a:rPr sz="900" b="1">
                <a:solidFill>
                  <a:srgbClr val="061A46"/>
                </a:solidFill>
                <a:latin typeface="Arial"/>
              </a:rPr>
              <a:t>3</a:t>
            </a:r>
          </a:p>
        </p:txBody>
      </p:sp>
      <p:sp>
        <p:nvSpPr>
          <p:cNvPr id="15" name="Rectangle 14"/>
          <p:cNvSpPr/>
          <p:nvPr/>
        </p:nvSpPr>
        <p:spPr>
          <a:xfrm>
            <a:off x="1417320" y="3813048"/>
            <a:ext cx="2011680" cy="219456"/>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具备延展价值</a:t>
            </a:r>
          </a:p>
        </p:txBody>
      </p:sp>
      <p:sp>
        <p:nvSpPr>
          <p:cNvPr id="16" name="Rectangle 15"/>
          <p:cNvSpPr/>
          <p:nvPr/>
        </p:nvSpPr>
        <p:spPr>
          <a:xfrm>
            <a:off x="1426464" y="4178808"/>
            <a:ext cx="5212080" cy="20116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200" b="0">
                <a:solidFill>
                  <a:srgbClr val="D2E6FF"/>
                </a:solidFill>
                <a:latin typeface="Microsoft YaHei"/>
              </a:rPr>
              <a:t>可继续支撑 AgentDNS、智能体标识、服务发现与治理审计方向。</a:t>
            </a:r>
          </a:p>
        </p:txBody>
      </p:sp>
      <p:sp>
        <p:nvSpPr>
          <p:cNvPr id="17" name="Rectangle 16"/>
          <p:cNvSpPr/>
          <p:nvPr/>
        </p:nvSpPr>
        <p:spPr>
          <a:xfrm>
            <a:off x="713232" y="5833872"/>
            <a:ext cx="3474720" cy="25603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l"/>
            <a:r>
              <a:rPr sz="1800" b="1">
                <a:solidFill>
                  <a:srgbClr val="FFFFFF"/>
                </a:solidFill>
                <a:latin typeface="Microsoft YaHei"/>
              </a:rPr>
              <a:t>谢谢，请各位专家批评指正</a:t>
            </a:r>
          </a:p>
        </p:txBody>
      </p:sp>
      <p:sp>
        <p:nvSpPr>
          <p:cNvPr id="18" name="Rectangle 17"/>
          <p:cNvSpPr/>
          <p:nvPr/>
        </p:nvSpPr>
        <p:spPr>
          <a:xfrm>
            <a:off x="10588752" y="347472"/>
            <a:ext cx="1005840" cy="274320"/>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2300" b="1">
                <a:solidFill>
                  <a:srgbClr val="FFFFFF"/>
                </a:solidFill>
                <a:latin typeface="Arial"/>
              </a:rPr>
              <a:t>CNNIC</a:t>
            </a:r>
          </a:p>
        </p:txBody>
      </p:sp>
      <p:sp>
        <p:nvSpPr>
          <p:cNvPr id="19" name="Rectangle 18"/>
          <p:cNvSpPr/>
          <p:nvPr/>
        </p:nvSpPr>
        <p:spPr>
          <a:xfrm>
            <a:off x="9966960" y="640080"/>
            <a:ext cx="1627632" cy="164592"/>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t" lIns="36576" rIns="36576" tIns="18288" bIns="18288"/>
          <a:lstStyle/>
          <a:p>
            <a:pPr algn="r"/>
            <a:r>
              <a:rPr sz="850" b="0">
                <a:solidFill>
                  <a:srgbClr val="D2E6FF"/>
                </a:solidFill>
                <a:latin typeface="Microsoft YaHei"/>
              </a:rPr>
              <a:t>中国互联网络信息中心</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