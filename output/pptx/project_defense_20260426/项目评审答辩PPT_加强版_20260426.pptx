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2148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26B6FF"/>
                </a:solidFill>
                <a:latin typeface="Microsoft YaHei"/>
              </a:rPr>
              <a:t>重点项目验收答辩</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389888"/>
            <a:ext cx="6583680" cy="10058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100" b="1">
                <a:solidFill>
                  <a:srgbClr val="FFFFFF"/>
                </a:solidFill>
                <a:latin typeface="Microsoft YaHei"/>
              </a:rPr>
              <a:t>面向互联网基础资源的大模型多智能体协作与可信认知标识技术研究</a:t>
            </a:r>
          </a:p>
        </p:txBody>
      </p:sp>
      <p:sp>
        <p:nvSpPr>
          <p:cNvPr id="6" name="Rectangle 5"/>
          <p:cNvSpPr/>
          <p:nvPr/>
        </p:nvSpPr>
        <p:spPr>
          <a:xfrm>
            <a:off x="685800" y="2578608"/>
            <a:ext cx="603504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0">
                <a:solidFill>
                  <a:srgbClr val="CFE4FF"/>
                </a:solidFill>
                <a:latin typeface="Microsoft YaHei"/>
              </a:rPr>
              <a:t>从前沿问题识别到可信语义路由原型的攻关闭环</a:t>
            </a:r>
          </a:p>
        </p:txBody>
      </p:sp>
      <p:sp>
        <p:nvSpPr>
          <p:cNvPr id="7" name="Rounded Rectangle 6"/>
          <p:cNvSpPr/>
          <p:nvPr/>
        </p:nvSpPr>
        <p:spPr>
          <a:xfrm>
            <a:off x="713232" y="3886200"/>
            <a:ext cx="1417320"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3995928"/>
            <a:ext cx="1188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4</a:t>
            </a:r>
          </a:p>
        </p:txBody>
      </p:sp>
      <p:sp>
        <p:nvSpPr>
          <p:cNvPr id="9" name="Rectangle 8"/>
          <p:cNvSpPr/>
          <p:nvPr/>
        </p:nvSpPr>
        <p:spPr>
          <a:xfrm>
            <a:off x="822960" y="4315968"/>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D2E6FF"/>
                </a:solidFill>
                <a:latin typeface="Microsoft YaHei"/>
              </a:rPr>
              <a:t>关键难题攻关</a:t>
            </a:r>
          </a:p>
        </p:txBody>
      </p:sp>
      <p:sp>
        <p:nvSpPr>
          <p:cNvPr id="10" name="Rounded Rectangle 9"/>
          <p:cNvSpPr/>
          <p:nvPr/>
        </p:nvSpPr>
        <p:spPr>
          <a:xfrm>
            <a:off x="2542032" y="3886200"/>
            <a:ext cx="1417320"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51760" y="3995928"/>
            <a:ext cx="1188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12" name="Rectangle 11"/>
          <p:cNvSpPr/>
          <p:nvPr/>
        </p:nvSpPr>
        <p:spPr>
          <a:xfrm>
            <a:off x="2651760" y="4315968"/>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D2E6FF"/>
                </a:solidFill>
                <a:latin typeface="Microsoft YaHei"/>
              </a:rPr>
              <a:t>冻结样本</a:t>
            </a:r>
          </a:p>
        </p:txBody>
      </p:sp>
      <p:sp>
        <p:nvSpPr>
          <p:cNvPr id="13" name="Rounded Rectangle 12"/>
          <p:cNvSpPr/>
          <p:nvPr/>
        </p:nvSpPr>
        <p:spPr>
          <a:xfrm>
            <a:off x="4370832" y="3886200"/>
            <a:ext cx="1417320"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3995928"/>
            <a:ext cx="1188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92.92%</a:t>
            </a:r>
          </a:p>
        </p:txBody>
      </p:sp>
      <p:sp>
        <p:nvSpPr>
          <p:cNvPr id="15" name="Rectangle 14"/>
          <p:cNvSpPr/>
          <p:nvPr/>
        </p:nvSpPr>
        <p:spPr>
          <a:xfrm>
            <a:off x="4480560" y="4315968"/>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D2E6FF"/>
                </a:solidFill>
                <a:latin typeface="Microsoft YaHei"/>
              </a:rPr>
              <a:t>扩展配置测试准确率</a:t>
            </a:r>
          </a:p>
        </p:txBody>
      </p:sp>
      <p:sp>
        <p:nvSpPr>
          <p:cNvPr id="16" name="Rounded Rectangle 15"/>
          <p:cNvSpPr/>
          <p:nvPr/>
        </p:nvSpPr>
        <p:spPr>
          <a:xfrm>
            <a:off x="6199632" y="3886200"/>
            <a:ext cx="1417320"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995928"/>
            <a:ext cx="1188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5/5/0</a:t>
            </a:r>
          </a:p>
        </p:txBody>
      </p:sp>
      <p:sp>
        <p:nvSpPr>
          <p:cNvPr id="18" name="Rectangle 17"/>
          <p:cNvSpPr/>
          <p:nvPr/>
        </p:nvSpPr>
        <p:spPr>
          <a:xfrm>
            <a:off x="6309360" y="4315968"/>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D2E6FF"/>
                </a:solidFill>
                <a:latin typeface="Microsoft YaHei"/>
              </a:rPr>
              <a:t>改写/修正/回归</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结论先行：项目完成重点攻关，形成可验收的创新闭环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重点不只在完成交付物，而在把前沿模糊问题收敛成可运行、可评测、可审计的技术框架。</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33856"/>
            <a:ext cx="201168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000" b="1">
                <a:solidFill>
                  <a:srgbClr val="0B63CE"/>
                </a:solidFill>
                <a:latin typeface="Microsoft YaHei"/>
              </a:rPr>
              <a:t>验收判断</a:t>
            </a:r>
          </a:p>
        </p:txBody>
      </p:sp>
      <p:sp>
        <p:nvSpPr>
          <p:cNvPr id="11" name="Rectangle 10"/>
          <p:cNvSpPr/>
          <p:nvPr/>
        </p:nvSpPr>
        <p:spPr>
          <a:xfrm>
            <a:off x="658368" y="1536192"/>
            <a:ext cx="845820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102033"/>
                </a:solidFill>
                <a:latin typeface="Microsoft YaHei"/>
              </a:rPr>
              <a:t>项目完成了从问题定义、关键机制、原型系统到实验验证的完整攻关链条，具备重点项目验收所需的创新性、难度和成果支撑。</a:t>
            </a:r>
          </a:p>
        </p:txBody>
      </p:sp>
      <p:sp>
        <p:nvSpPr>
          <p:cNvPr id="12" name="Rounded Rectangle 11"/>
          <p:cNvSpPr/>
          <p:nvPr/>
        </p:nvSpPr>
        <p:spPr>
          <a:xfrm>
            <a:off x="676656" y="2359152"/>
            <a:ext cx="4800600"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54203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攻关对象</a:t>
            </a:r>
          </a:p>
        </p:txBody>
      </p:sp>
      <p:sp>
        <p:nvSpPr>
          <p:cNvPr id="14" name="Rectangle 13"/>
          <p:cNvSpPr/>
          <p:nvPr/>
        </p:nvSpPr>
        <p:spPr>
          <a:xfrm>
            <a:off x="2322576" y="2505456"/>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102033"/>
                </a:solidFill>
                <a:latin typeface="Arial"/>
              </a:rPr>
              <a:t>智能体基础资源能力寻址</a:t>
            </a:r>
          </a:p>
        </p:txBody>
      </p:sp>
      <p:sp>
        <p:nvSpPr>
          <p:cNvPr id="15" name="Rectangle 14"/>
          <p:cNvSpPr/>
          <p:nvPr/>
        </p:nvSpPr>
        <p:spPr>
          <a:xfrm>
            <a:off x="914400" y="2889504"/>
            <a:ext cx="40690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0">
                <a:solidFill>
                  <a:srgbClr val="53657A"/>
                </a:solidFill>
                <a:latin typeface="Microsoft YaHei"/>
              </a:rPr>
              <a:t>将开放自然语言请求压缩为可命名、可比较、可复核的能力入口选择问题。</a:t>
            </a:r>
          </a:p>
        </p:txBody>
      </p:sp>
      <p:sp>
        <p:nvSpPr>
          <p:cNvPr id="16" name="Rounded Rectangle 15"/>
          <p:cNvSpPr/>
          <p:nvPr/>
        </p:nvSpPr>
        <p:spPr>
          <a:xfrm>
            <a:off x="6208776" y="2359152"/>
            <a:ext cx="4800600"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54203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E8A57"/>
                </a:solidFill>
                <a:latin typeface="Microsoft YaHei"/>
              </a:rPr>
              <a:t>关键突破</a:t>
            </a:r>
          </a:p>
        </p:txBody>
      </p:sp>
      <p:sp>
        <p:nvSpPr>
          <p:cNvPr id="18" name="Rectangle 17"/>
          <p:cNvSpPr/>
          <p:nvPr/>
        </p:nvSpPr>
        <p:spPr>
          <a:xfrm>
            <a:off x="7854696" y="2505456"/>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102033"/>
                </a:solidFill>
                <a:latin typeface="Arial"/>
              </a:rPr>
              <a:t>Stage R/A/B/C + trace</a:t>
            </a:r>
          </a:p>
        </p:txBody>
      </p:sp>
      <p:sp>
        <p:nvSpPr>
          <p:cNvPr id="19" name="Rectangle 18"/>
          <p:cNvSpPr/>
          <p:nvPr/>
        </p:nvSpPr>
        <p:spPr>
          <a:xfrm>
            <a:off x="6446520" y="2889504"/>
            <a:ext cx="40690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0">
                <a:solidFill>
                  <a:srgbClr val="53657A"/>
                </a:solidFill>
                <a:latin typeface="Microsoft YaHei"/>
              </a:rPr>
              <a:t>候选召回、结构化裁决、职责化复核、授权改判和过程留痕形成闭环。</a:t>
            </a:r>
          </a:p>
        </p:txBody>
      </p:sp>
      <p:sp>
        <p:nvSpPr>
          <p:cNvPr id="20" name="Rounded Rectangle 19"/>
          <p:cNvSpPr/>
          <p:nvPr/>
        </p:nvSpPr>
        <p:spPr>
          <a:xfrm>
            <a:off x="676656" y="3776472"/>
            <a:ext cx="4800600"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39593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验证强度</a:t>
            </a:r>
          </a:p>
        </p:txBody>
      </p:sp>
      <p:sp>
        <p:nvSpPr>
          <p:cNvPr id="22" name="Rectangle 21"/>
          <p:cNvSpPr/>
          <p:nvPr/>
        </p:nvSpPr>
        <p:spPr>
          <a:xfrm>
            <a:off x="2322576" y="3922776"/>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102033"/>
                </a:solidFill>
                <a:latin typeface="Arial"/>
              </a:rPr>
              <a:t>train=450 / test=113</a:t>
            </a:r>
          </a:p>
        </p:txBody>
      </p:sp>
      <p:sp>
        <p:nvSpPr>
          <p:cNvPr id="23" name="Rectangle 22"/>
          <p:cNvSpPr/>
          <p:nvPr/>
        </p:nvSpPr>
        <p:spPr>
          <a:xfrm>
            <a:off x="914400" y="4306824"/>
            <a:ext cx="40690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0">
                <a:solidFill>
                  <a:srgbClr val="53657A"/>
                </a:solidFill>
                <a:latin typeface="Microsoft YaHei"/>
              </a:rPr>
              <a:t>自建冻结样本资产与统一评测协议，测试集准确率最高达到 92.92%。</a:t>
            </a:r>
          </a:p>
        </p:txBody>
      </p:sp>
      <p:sp>
        <p:nvSpPr>
          <p:cNvPr id="24" name="Rounded Rectangle 23"/>
          <p:cNvSpPr/>
          <p:nvPr/>
        </p:nvSpPr>
        <p:spPr>
          <a:xfrm>
            <a:off x="6208776" y="3776472"/>
            <a:ext cx="4800600"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46520" y="39593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6B49C8"/>
                </a:solidFill>
                <a:latin typeface="Microsoft YaHei"/>
              </a:rPr>
              <a:t>成果沉淀</a:t>
            </a:r>
          </a:p>
        </p:txBody>
      </p:sp>
      <p:sp>
        <p:nvSpPr>
          <p:cNvPr id="26" name="Rectangle 25"/>
          <p:cNvSpPr/>
          <p:nvPr/>
        </p:nvSpPr>
        <p:spPr>
          <a:xfrm>
            <a:off x="7854696" y="3922776"/>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102033"/>
                </a:solidFill>
                <a:latin typeface="Arial"/>
              </a:rPr>
              <a:t>原型 / 论文 / 专利</a:t>
            </a:r>
          </a:p>
        </p:txBody>
      </p:sp>
      <p:sp>
        <p:nvSpPr>
          <p:cNvPr id="27" name="Rectangle 26"/>
          <p:cNvSpPr/>
          <p:nvPr/>
        </p:nvSpPr>
        <p:spPr>
          <a:xfrm>
            <a:off x="6446520" y="4306824"/>
            <a:ext cx="4069080"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0">
                <a:solidFill>
                  <a:srgbClr val="53657A"/>
                </a:solidFill>
                <a:latin typeface="Microsoft YaHei"/>
              </a:rPr>
              <a:t>代码、报告、论文稿、交底书、权利要求书、附图和展示材料成套。</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58368"/>
            <a:ext cx="20116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答辩提纲</a:t>
            </a:r>
          </a:p>
        </p:txBody>
      </p:sp>
      <p:sp>
        <p:nvSpPr>
          <p:cNvPr id="4" name="Rectangle 3"/>
          <p:cNvSpPr/>
          <p:nvPr/>
        </p:nvSpPr>
        <p:spPr>
          <a:xfrm>
            <a:off x="676656" y="1207008"/>
            <a:ext cx="146304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600200"/>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55064"/>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一</a:t>
            </a:r>
          </a:p>
        </p:txBody>
      </p:sp>
      <p:sp>
        <p:nvSpPr>
          <p:cNvPr id="7" name="Rectangle 6"/>
          <p:cNvSpPr/>
          <p:nvPr/>
        </p:nvSpPr>
        <p:spPr>
          <a:xfrm>
            <a:off x="1444752" y="1572768"/>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攻关定位</a:t>
            </a:r>
          </a:p>
        </p:txBody>
      </p:sp>
      <p:sp>
        <p:nvSpPr>
          <p:cNvPr id="8" name="Rectangle 7"/>
          <p:cNvSpPr/>
          <p:nvPr/>
        </p:nvSpPr>
        <p:spPr>
          <a:xfrm>
            <a:off x="3383280" y="1600200"/>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重点项目为什么难、难题如何收敛</a:t>
            </a:r>
          </a:p>
        </p:txBody>
      </p:sp>
      <p:sp>
        <p:nvSpPr>
          <p:cNvPr id="9" name="Oval 8"/>
          <p:cNvSpPr/>
          <p:nvPr/>
        </p:nvSpPr>
        <p:spPr>
          <a:xfrm>
            <a:off x="914400" y="2404872"/>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59736"/>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二</a:t>
            </a:r>
          </a:p>
        </p:txBody>
      </p:sp>
      <p:sp>
        <p:nvSpPr>
          <p:cNvPr id="11" name="Rectangle 10"/>
          <p:cNvSpPr/>
          <p:nvPr/>
        </p:nvSpPr>
        <p:spPr>
          <a:xfrm>
            <a:off x="1444752" y="2377440"/>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突破路线</a:t>
            </a:r>
          </a:p>
        </p:txBody>
      </p:sp>
      <p:sp>
        <p:nvSpPr>
          <p:cNvPr id="12" name="Rectangle 11"/>
          <p:cNvSpPr/>
          <p:nvPr/>
        </p:nvSpPr>
        <p:spPr>
          <a:xfrm>
            <a:off x="3383280" y="2404872"/>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受限命名空间、Stage R/A/B/C 与 trace</a:t>
            </a:r>
          </a:p>
        </p:txBody>
      </p:sp>
      <p:sp>
        <p:nvSpPr>
          <p:cNvPr id="13" name="Oval 12"/>
          <p:cNvSpPr/>
          <p:nvPr/>
        </p:nvSpPr>
        <p:spPr>
          <a:xfrm>
            <a:off x="914400" y="3209544"/>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264408"/>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三</a:t>
            </a:r>
          </a:p>
        </p:txBody>
      </p:sp>
      <p:sp>
        <p:nvSpPr>
          <p:cNvPr id="15" name="Rectangle 14"/>
          <p:cNvSpPr/>
          <p:nvPr/>
        </p:nvSpPr>
        <p:spPr>
          <a:xfrm>
            <a:off x="1444752" y="3182112"/>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原型实现</a:t>
            </a:r>
          </a:p>
        </p:txBody>
      </p:sp>
      <p:sp>
        <p:nvSpPr>
          <p:cNvPr id="16" name="Rectangle 15"/>
          <p:cNvSpPr/>
          <p:nvPr/>
        </p:nvSpPr>
        <p:spPr>
          <a:xfrm>
            <a:off x="3383280" y="3209544"/>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代码模块、运行入口、演示脚本与可视化</a:t>
            </a:r>
          </a:p>
        </p:txBody>
      </p:sp>
      <p:sp>
        <p:nvSpPr>
          <p:cNvPr id="17" name="Oval 16"/>
          <p:cNvSpPr/>
          <p:nvPr/>
        </p:nvSpPr>
        <p:spPr>
          <a:xfrm>
            <a:off x="914400" y="4014216"/>
            <a:ext cx="310896" cy="310896"/>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069080"/>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四</a:t>
            </a:r>
          </a:p>
        </p:txBody>
      </p:sp>
      <p:sp>
        <p:nvSpPr>
          <p:cNvPr id="19" name="Rectangle 18"/>
          <p:cNvSpPr/>
          <p:nvPr/>
        </p:nvSpPr>
        <p:spPr>
          <a:xfrm>
            <a:off x="1444752" y="3986784"/>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实验验证</a:t>
            </a:r>
          </a:p>
        </p:txBody>
      </p:sp>
      <p:sp>
        <p:nvSpPr>
          <p:cNvPr id="20" name="Rectangle 19"/>
          <p:cNvSpPr/>
          <p:nvPr/>
        </p:nvSpPr>
        <p:spPr>
          <a:xfrm>
            <a:off x="3383280" y="4014216"/>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冻结样本、主结果、消融与案例解释</a:t>
            </a:r>
          </a:p>
        </p:txBody>
      </p:sp>
      <p:sp>
        <p:nvSpPr>
          <p:cNvPr id="21" name="Oval 20"/>
          <p:cNvSpPr/>
          <p:nvPr/>
        </p:nvSpPr>
        <p:spPr>
          <a:xfrm>
            <a:off x="914400" y="4818888"/>
            <a:ext cx="310896" cy="310896"/>
          </a:xfrm>
          <a:prstGeom prst="ellipse">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873751"/>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五</a:t>
            </a:r>
          </a:p>
        </p:txBody>
      </p:sp>
      <p:sp>
        <p:nvSpPr>
          <p:cNvPr id="23" name="Rectangle 22"/>
          <p:cNvSpPr/>
          <p:nvPr/>
        </p:nvSpPr>
        <p:spPr>
          <a:xfrm>
            <a:off x="1444752" y="4791455"/>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成果验收</a:t>
            </a:r>
          </a:p>
        </p:txBody>
      </p:sp>
      <p:sp>
        <p:nvSpPr>
          <p:cNvPr id="24" name="Rectangle 23"/>
          <p:cNvSpPr/>
          <p:nvPr/>
        </p:nvSpPr>
        <p:spPr>
          <a:xfrm>
            <a:off x="3383280" y="4818888"/>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报告、论文、专利、宣传与后续工作</a:t>
            </a:r>
          </a:p>
        </p:txBody>
      </p:sp>
      <p:sp>
        <p:nvSpPr>
          <p:cNvPr id="25" name="Rectangle 24"/>
          <p:cNvSpPr/>
          <p:nvPr/>
        </p:nvSpPr>
        <p:spPr>
          <a:xfrm>
            <a:off x="713232" y="5961888"/>
            <a:ext cx="76809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D2E6FF"/>
                </a:solidFill>
                <a:latin typeface="Microsoft YaHei"/>
              </a:rPr>
              <a:t>主线：把智能体服务从“分散能力描述”推进到“可命名、可路由、可复核、可留痕”的原型验证。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立项难度：重点项目难在四类问题必须同时攻下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互联网基础资源从资源标识、解析服务，延伸到智能体能力组织、语义寻址与可信调用。</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15568"/>
            <a:ext cx="1828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四个硬问题</a:t>
            </a:r>
          </a:p>
        </p:txBody>
      </p:sp>
      <p:sp>
        <p:nvSpPr>
          <p:cNvPr id="11" name="Rounded Rectangle 10"/>
          <p:cNvSpPr/>
          <p:nvPr/>
        </p:nvSpPr>
        <p:spPr>
          <a:xfrm>
            <a:off x="713232" y="1627632"/>
            <a:ext cx="4800600"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B63CE"/>
                </a:solidFill>
                <a:latin typeface="Arial"/>
              </a:rPr>
              <a:t>01</a:t>
            </a:r>
          </a:p>
        </p:txBody>
      </p:sp>
      <p:sp>
        <p:nvSpPr>
          <p:cNvPr id="13" name="Rectangle 12"/>
          <p:cNvSpPr/>
          <p:nvPr/>
        </p:nvSpPr>
        <p:spPr>
          <a:xfrm>
            <a:off x="1517904"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前沿形态不稳定</a:t>
            </a:r>
          </a:p>
        </p:txBody>
      </p:sp>
      <p:sp>
        <p:nvSpPr>
          <p:cNvPr id="14" name="Rectangle 13"/>
          <p:cNvSpPr/>
          <p:nvPr/>
        </p:nvSpPr>
        <p:spPr>
          <a:xfrm>
            <a:off x="1517904"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智能体能力、服务入口和调用边界仍在演化，缺少可直接套用的成熟范式。</a:t>
            </a:r>
          </a:p>
        </p:txBody>
      </p:sp>
      <p:sp>
        <p:nvSpPr>
          <p:cNvPr id="15" name="Rounded Rectangle 14"/>
          <p:cNvSpPr/>
          <p:nvPr/>
        </p:nvSpPr>
        <p:spPr>
          <a:xfrm>
            <a:off x="6272784" y="1627632"/>
            <a:ext cx="4800600"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E97132"/>
                </a:solidFill>
                <a:latin typeface="Arial"/>
              </a:rPr>
              <a:t>02</a:t>
            </a:r>
          </a:p>
        </p:txBody>
      </p:sp>
      <p:sp>
        <p:nvSpPr>
          <p:cNvPr id="17" name="Rectangle 16"/>
          <p:cNvSpPr/>
          <p:nvPr/>
        </p:nvSpPr>
        <p:spPr>
          <a:xfrm>
            <a:off x="7077456"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基础资源约束强</a:t>
            </a:r>
          </a:p>
        </p:txBody>
      </p:sp>
      <p:sp>
        <p:nvSpPr>
          <p:cNvPr id="18" name="Rectangle 17"/>
          <p:cNvSpPr/>
          <p:nvPr/>
        </p:nvSpPr>
        <p:spPr>
          <a:xfrm>
            <a:off x="7077456"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不能停留在聊天或分类，要落到命名、寻址、解析、服务发现和治理责任。</a:t>
            </a:r>
          </a:p>
        </p:txBody>
      </p:sp>
      <p:sp>
        <p:nvSpPr>
          <p:cNvPr id="19" name="Rounded Rectangle 18"/>
          <p:cNvSpPr/>
          <p:nvPr/>
        </p:nvSpPr>
        <p:spPr>
          <a:xfrm>
            <a:off x="713232" y="2980944"/>
            <a:ext cx="4800600"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E8A57"/>
                </a:solidFill>
                <a:latin typeface="Arial"/>
              </a:rPr>
              <a:t>03</a:t>
            </a:r>
          </a:p>
        </p:txBody>
      </p:sp>
      <p:sp>
        <p:nvSpPr>
          <p:cNvPr id="21" name="Rectangle 20"/>
          <p:cNvSpPr/>
          <p:nvPr/>
        </p:nvSpPr>
        <p:spPr>
          <a:xfrm>
            <a:off x="1517904"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语义请求高度复合</a:t>
            </a:r>
          </a:p>
        </p:txBody>
      </p:sp>
      <p:sp>
        <p:nvSpPr>
          <p:cNvPr id="22" name="Rectangle 21"/>
          <p:cNvSpPr/>
          <p:nvPr/>
        </p:nvSpPr>
        <p:spPr>
          <a:xfrm>
            <a:off x="1517904"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自然语言同时包含主任务、辅助诉求、风险限制和行业语境，容易产生候选混淆。</a:t>
            </a:r>
          </a:p>
        </p:txBody>
      </p:sp>
      <p:sp>
        <p:nvSpPr>
          <p:cNvPr id="23" name="Rounded Rectangle 22"/>
          <p:cNvSpPr/>
          <p:nvPr/>
        </p:nvSpPr>
        <p:spPr>
          <a:xfrm>
            <a:off x="6272784" y="2980944"/>
            <a:ext cx="4800600"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6B49C8"/>
                </a:solidFill>
                <a:latin typeface="Arial"/>
              </a:rPr>
              <a:t>04</a:t>
            </a:r>
          </a:p>
        </p:txBody>
      </p:sp>
      <p:sp>
        <p:nvSpPr>
          <p:cNvPr id="25" name="Rectangle 24"/>
          <p:cNvSpPr/>
          <p:nvPr/>
        </p:nvSpPr>
        <p:spPr>
          <a:xfrm>
            <a:off x="7077456"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可信验证难闭环</a:t>
            </a:r>
          </a:p>
        </p:txBody>
      </p:sp>
      <p:sp>
        <p:nvSpPr>
          <p:cNvPr id="26" name="Rectangle 25"/>
          <p:cNvSpPr/>
          <p:nvPr/>
        </p:nvSpPr>
        <p:spPr>
          <a:xfrm>
            <a:off x="7077456"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既要利用大模型理解能力，又要保留可复核、可回放、可审计的过程证据。</a:t>
            </a:r>
          </a:p>
        </p:txBody>
      </p:sp>
      <p:sp>
        <p:nvSpPr>
          <p:cNvPr id="27" name="Rounded Rectangle 26"/>
          <p:cNvSpPr/>
          <p:nvPr/>
        </p:nvSpPr>
        <p:spPr>
          <a:xfrm>
            <a:off x="822960" y="4572000"/>
            <a:ext cx="10241280" cy="9875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3000" y="4846320"/>
            <a:ext cx="12801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攻关抓手</a:t>
            </a:r>
          </a:p>
        </p:txBody>
      </p:sp>
      <p:sp>
        <p:nvSpPr>
          <p:cNvPr id="29" name="Rectangle 28"/>
          <p:cNvSpPr/>
          <p:nvPr/>
        </p:nvSpPr>
        <p:spPr>
          <a:xfrm>
            <a:off x="2487168" y="4754880"/>
            <a:ext cx="763524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把“智能体能力如何找得到、选得准、说得清、可追溯”收敛为受限命名空间内的可信语义路由。</a:t>
            </a:r>
          </a:p>
        </p:txBody>
      </p:sp>
      <p:sp>
        <p:nvSpPr>
          <p:cNvPr id="30" name="Rectangle 29"/>
          <p:cNvSpPr/>
          <p:nvPr/>
        </p:nvSpPr>
        <p:spPr>
          <a:xfrm>
            <a:off x="2496312" y="5193792"/>
            <a:ext cx="74523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30" b="0">
                <a:solidFill>
                  <a:srgbClr val="D2E6FF"/>
                </a:solidFill>
                <a:latin typeface="Microsoft YaHei"/>
              </a:rPr>
              <a:t>项目价值不在做一个演示入口，而在提出基础资源场景可复用的问题形态、评测口径和过程证据结构。</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任务书到攻关闭环：每个考核点都对应技术难题和突破证据</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重点项目验收不只看材料是否齐备，更要看任务书要求如何转化为可验证的攻关成果。</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07008"/>
            <a:ext cx="2560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16736"/>
            <a:ext cx="2414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任务书要求</a:t>
            </a:r>
          </a:p>
        </p:txBody>
      </p:sp>
      <p:sp>
        <p:nvSpPr>
          <p:cNvPr id="12" name="Rectangle 11"/>
          <p:cNvSpPr/>
          <p:nvPr/>
        </p:nvSpPr>
        <p:spPr>
          <a:xfrm>
            <a:off x="3218687" y="1207008"/>
            <a:ext cx="3703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39" y="1316736"/>
            <a:ext cx="3557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攻关难点</a:t>
            </a:r>
          </a:p>
        </p:txBody>
      </p:sp>
      <p:sp>
        <p:nvSpPr>
          <p:cNvPr id="14" name="Rectangle 13"/>
          <p:cNvSpPr/>
          <p:nvPr/>
        </p:nvSpPr>
        <p:spPr>
          <a:xfrm>
            <a:off x="6922007" y="1207008"/>
            <a:ext cx="425196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59" y="1316736"/>
            <a:ext cx="410565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突破结果与评审证据</a:t>
            </a:r>
          </a:p>
        </p:txBody>
      </p:sp>
      <p:sp>
        <p:nvSpPr>
          <p:cNvPr id="16" name="Rectangle 15"/>
          <p:cNvSpPr/>
          <p:nvPr/>
        </p:nvSpPr>
        <p:spPr>
          <a:xfrm>
            <a:off x="658368" y="1627632"/>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1801368"/>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多智能体协作原型</a:t>
            </a:r>
          </a:p>
        </p:txBody>
      </p:sp>
      <p:sp>
        <p:nvSpPr>
          <p:cNvPr id="18" name="Rectangle 17"/>
          <p:cNvSpPr/>
          <p:nvPr/>
        </p:nvSpPr>
        <p:spPr>
          <a:xfrm>
            <a:off x="3218687" y="1627632"/>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28415" y="1801368"/>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多角色不能自由讨论，必须有边界、有职责、有授权</a:t>
            </a:r>
          </a:p>
        </p:txBody>
      </p:sp>
      <p:sp>
        <p:nvSpPr>
          <p:cNvPr id="20" name="Rectangle 19"/>
          <p:cNvSpPr/>
          <p:nvPr/>
        </p:nvSpPr>
        <p:spPr>
          <a:xfrm>
            <a:off x="6922007" y="1627632"/>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31736" y="1801368"/>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Stage B 角色复核、改判授权、trace 样例与测试用例</a:t>
            </a:r>
          </a:p>
        </p:txBody>
      </p:sp>
      <p:sp>
        <p:nvSpPr>
          <p:cNvPr id="22" name="Rectangle 21"/>
          <p:cNvSpPr/>
          <p:nvPr/>
        </p:nvSpPr>
        <p:spPr>
          <a:xfrm>
            <a:off x="658368" y="2295144"/>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 y="2468879"/>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可信认知标识</a:t>
            </a:r>
          </a:p>
        </p:txBody>
      </p:sp>
      <p:sp>
        <p:nvSpPr>
          <p:cNvPr id="24" name="Rectangle 23"/>
          <p:cNvSpPr/>
          <p:nvPr/>
        </p:nvSpPr>
        <p:spPr>
          <a:xfrm>
            <a:off x="3218687" y="2295144"/>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2468879"/>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可信不能停留在口号，需要落到过程对象和审计字段</a:t>
            </a:r>
          </a:p>
        </p:txBody>
      </p:sp>
      <p:sp>
        <p:nvSpPr>
          <p:cNvPr id="26" name="Rectangle 25"/>
          <p:cNvSpPr/>
          <p:nvPr/>
        </p:nvSpPr>
        <p:spPr>
          <a:xfrm>
            <a:off x="6922007" y="2295144"/>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31736" y="2468879"/>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候选快照、语义摘要、复核提案、授权依据统一记录</a:t>
            </a:r>
          </a:p>
        </p:txBody>
      </p:sp>
      <p:sp>
        <p:nvSpPr>
          <p:cNvPr id="28" name="Rectangle 27"/>
          <p:cNvSpPr/>
          <p:nvPr/>
        </p:nvSpPr>
        <p:spPr>
          <a:xfrm>
            <a:off x="658368" y="2962656"/>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 y="3136392"/>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真实标签反馈约束</a:t>
            </a:r>
          </a:p>
        </p:txBody>
      </p:sp>
      <p:sp>
        <p:nvSpPr>
          <p:cNvPr id="30" name="Rectangle 29"/>
          <p:cNvSpPr/>
          <p:nvPr/>
        </p:nvSpPr>
        <p:spPr>
          <a:xfrm>
            <a:off x="3218687" y="2962656"/>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28415" y="3136392"/>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无现成 benchmark，需要自建数据并防止后验调参</a:t>
            </a:r>
          </a:p>
        </p:txBody>
      </p:sp>
      <p:sp>
        <p:nvSpPr>
          <p:cNvPr id="32" name="Rectangle 31"/>
          <p:cNvSpPr/>
          <p:nvPr/>
        </p:nvSpPr>
        <p:spPr>
          <a:xfrm>
            <a:off x="6922007" y="2962656"/>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31736" y="3136392"/>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563 条冻结样本、450/113 划分、主表、消融和案例</a:t>
            </a:r>
          </a:p>
        </p:txBody>
      </p:sp>
      <p:sp>
        <p:nvSpPr>
          <p:cNvPr id="34" name="Rectangle 33"/>
          <p:cNvSpPr/>
          <p:nvPr/>
        </p:nvSpPr>
        <p:spPr>
          <a:xfrm>
            <a:off x="658368" y="3630168"/>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803904"/>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报告或论文</a:t>
            </a:r>
          </a:p>
        </p:txBody>
      </p:sp>
      <p:sp>
        <p:nvSpPr>
          <p:cNvPr id="36" name="Rectangle 35"/>
          <p:cNvSpPr/>
          <p:nvPr/>
        </p:nvSpPr>
        <p:spPr>
          <a:xfrm>
            <a:off x="3218687" y="3630168"/>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28415" y="3803904"/>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前沿题目要形成可复述、可投稿的技术贡献</a:t>
            </a:r>
          </a:p>
        </p:txBody>
      </p:sp>
      <p:sp>
        <p:nvSpPr>
          <p:cNvPr id="38" name="Rectangle 37"/>
          <p:cNvSpPr/>
          <p:nvPr/>
        </p:nvSpPr>
        <p:spPr>
          <a:xfrm>
            <a:off x="6922007" y="3630168"/>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31736" y="3803904"/>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技术研究报告、论文稿、实验图表与案例附录</a:t>
            </a:r>
          </a:p>
        </p:txBody>
      </p:sp>
      <p:sp>
        <p:nvSpPr>
          <p:cNvPr id="40" name="Rectangle 39"/>
          <p:cNvSpPr/>
          <p:nvPr/>
        </p:nvSpPr>
        <p:spPr>
          <a:xfrm>
            <a:off x="658368" y="4297680"/>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6" y="4471416"/>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发明专利</a:t>
            </a:r>
          </a:p>
        </p:txBody>
      </p:sp>
      <p:sp>
        <p:nvSpPr>
          <p:cNvPr id="42" name="Rectangle 41"/>
          <p:cNvSpPr/>
          <p:nvPr/>
        </p:nvSpPr>
        <p:spPr>
          <a:xfrm>
            <a:off x="3218687" y="4297680"/>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28415" y="4471416"/>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原型流程要凝练成可保护的关键技术特征</a:t>
            </a:r>
          </a:p>
        </p:txBody>
      </p:sp>
      <p:sp>
        <p:nvSpPr>
          <p:cNvPr id="44" name="Rectangle 43"/>
          <p:cNvSpPr/>
          <p:nvPr/>
        </p:nvSpPr>
        <p:spPr>
          <a:xfrm>
            <a:off x="6922007" y="4297680"/>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31736" y="4471416"/>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技术交底书、权利要求书、说明书摘要与附图</a:t>
            </a:r>
          </a:p>
        </p:txBody>
      </p:sp>
      <p:sp>
        <p:nvSpPr>
          <p:cNvPr id="46" name="Rectangle 45"/>
          <p:cNvSpPr/>
          <p:nvPr/>
        </p:nvSpPr>
        <p:spPr>
          <a:xfrm>
            <a:off x="749808" y="5650992"/>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答辩讲法：把“任务书要求—技术难点—突破证据”串成一条链，突出重点项目攻关属性。</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研究对象：受限能力命名空间内的可信语义路由</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将自然语言请求压缩为候选内比较，使准确率、复核和审计具备统一对象。</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31520" y="1335024"/>
            <a:ext cx="4480560" cy="297180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 y="1664208"/>
            <a:ext cx="26517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B63CE"/>
                </a:solidFill>
                <a:latin typeface="Arial"/>
              </a:rPr>
              <a:t>能力地址 routing_fqdn</a:t>
            </a:r>
          </a:p>
        </p:txBody>
      </p:sp>
      <p:sp>
        <p:nvSpPr>
          <p:cNvPr id="12" name="Rectangle 11"/>
          <p:cNvSpPr/>
          <p:nvPr/>
        </p:nvSpPr>
        <p:spPr>
          <a:xfrm>
            <a:off x="10241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回答“哪一类能力应处理请求”</a:t>
            </a:r>
          </a:p>
        </p:txBody>
      </p:sp>
      <p:sp>
        <p:nvSpPr>
          <p:cNvPr id="13" name="Rectangle 12"/>
          <p:cNvSpPr/>
          <p:nvPr/>
        </p:nvSpPr>
        <p:spPr>
          <a:xfrm>
            <a:off x="1051560" y="2487168"/>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policy.gov.cn</a:t>
            </a:r>
          </a:p>
        </p:txBody>
      </p:sp>
      <p:sp>
        <p:nvSpPr>
          <p:cNvPr id="14" name="Rectangle 13"/>
          <p:cNvSpPr/>
          <p:nvPr/>
        </p:nvSpPr>
        <p:spPr>
          <a:xfrm>
            <a:off x="1051560" y="2834640"/>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coupon.commerce.cn</a:t>
            </a:r>
          </a:p>
        </p:txBody>
      </p:sp>
      <p:sp>
        <p:nvSpPr>
          <p:cNvPr id="15" name="Rectangle 14"/>
          <p:cNvSpPr/>
          <p:nvPr/>
        </p:nvSpPr>
        <p:spPr>
          <a:xfrm>
            <a:off x="1051560" y="3182112"/>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docs.productivity.cn</a:t>
            </a:r>
          </a:p>
        </p:txBody>
      </p:sp>
      <p:sp>
        <p:nvSpPr>
          <p:cNvPr id="16" name="Rectangle 15"/>
          <p:cNvSpPr/>
          <p:nvPr/>
        </p:nvSpPr>
        <p:spPr>
          <a:xfrm>
            <a:off x="1051560" y="3529584"/>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activity.travel.cn</a:t>
            </a:r>
          </a:p>
        </p:txBody>
      </p:sp>
      <p:sp>
        <p:nvSpPr>
          <p:cNvPr id="17" name="Rounded Rectangle 16"/>
          <p:cNvSpPr/>
          <p:nvPr/>
        </p:nvSpPr>
        <p:spPr>
          <a:xfrm>
            <a:off x="6675120" y="1335024"/>
            <a:ext cx="4480560" cy="297180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67728" y="1664208"/>
            <a:ext cx="24688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E8A57"/>
                </a:solidFill>
                <a:latin typeface="Arial"/>
              </a:rPr>
              <a:t>实例地址 agent_fqdn</a:t>
            </a:r>
          </a:p>
        </p:txBody>
      </p:sp>
      <p:sp>
        <p:nvSpPr>
          <p:cNvPr id="19" name="Rectangle 18"/>
          <p:cNvSpPr/>
          <p:nvPr/>
        </p:nvSpPr>
        <p:spPr>
          <a:xfrm>
            <a:off x="69677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回答“由哪个具体智能体执行”</a:t>
            </a:r>
          </a:p>
        </p:txBody>
      </p:sp>
      <p:sp>
        <p:nvSpPr>
          <p:cNvPr id="20" name="Rectangle 19"/>
          <p:cNvSpPr/>
          <p:nvPr/>
        </p:nvSpPr>
        <p:spPr>
          <a:xfrm>
            <a:off x="6995160" y="2487168"/>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agent-xxx.agent.policy.gov.cn</a:t>
            </a:r>
          </a:p>
        </p:txBody>
      </p:sp>
      <p:sp>
        <p:nvSpPr>
          <p:cNvPr id="21" name="Rectangle 20"/>
          <p:cNvSpPr/>
          <p:nvPr/>
        </p:nvSpPr>
        <p:spPr>
          <a:xfrm>
            <a:off x="6995160" y="2834640"/>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endpoint / schema / health</a:t>
            </a:r>
          </a:p>
        </p:txBody>
      </p:sp>
      <p:sp>
        <p:nvSpPr>
          <p:cNvPr id="22" name="Rectangle 21"/>
          <p:cNvSpPr/>
          <p:nvPr/>
        </p:nvSpPr>
        <p:spPr>
          <a:xfrm>
            <a:off x="6995160" y="3182112"/>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exact routing_fqdn match</a:t>
            </a:r>
          </a:p>
        </p:txBody>
      </p:sp>
      <p:sp>
        <p:nvSpPr>
          <p:cNvPr id="23" name="Rectangle 22"/>
          <p:cNvSpPr/>
          <p:nvPr/>
        </p:nvSpPr>
        <p:spPr>
          <a:xfrm>
            <a:off x="6995160" y="3529584"/>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不在执行层改写能力地址</a:t>
            </a:r>
          </a:p>
        </p:txBody>
      </p:sp>
      <p:sp>
        <p:nvSpPr>
          <p:cNvPr id="24" name="Rectangle 23"/>
          <p:cNvSpPr/>
          <p:nvPr/>
        </p:nvSpPr>
        <p:spPr>
          <a:xfrm>
            <a:off x="5394960" y="2798064"/>
            <a:ext cx="1005840" cy="3175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8384" y="2432304"/>
            <a:ext cx="1115568"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0B63CE"/>
                </a:solidFill>
                <a:latin typeface="Microsoft YaHei"/>
              </a:rPr>
              <a:t>分层解耦</a:t>
            </a:r>
          </a:p>
        </p:txBody>
      </p:sp>
      <p:sp>
        <p:nvSpPr>
          <p:cNvPr id="26" name="Rounded Rectangle 25"/>
          <p:cNvSpPr/>
          <p:nvPr/>
        </p:nvSpPr>
        <p:spPr>
          <a:xfrm>
            <a:off x="960120" y="4892040"/>
            <a:ext cx="9875520" cy="71323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5138928"/>
            <a:ext cx="86868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核心约束：Stage B 只能在给定候选内复核和改判，不能掩盖 Stage R 召回错误，也不能发明候选外路由。</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总体架构：四阶段路由链路 + 全程可信轨迹</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一条链路同时覆盖自然语言请求、候选集合、结构化裁决、协作复核、执行落点和过程记录。</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143000"/>
            <a:ext cx="11064240" cy="3703320"/>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图1.png"/>
          <p:cNvPicPr>
            <a:picLocks noChangeAspect="1"/>
          </p:cNvPicPr>
          <p:nvPr/>
        </p:nvPicPr>
        <p:blipFill>
          <a:blip r:embed="rId3"/>
          <a:stretch>
            <a:fillRect/>
          </a:stretch>
        </p:blipFill>
        <p:spPr>
          <a:xfrm>
            <a:off x="822960" y="1417320"/>
            <a:ext cx="10515600" cy="3063240"/>
          </a:xfrm>
          <a:prstGeom prst="rect">
            <a:avLst/>
          </a:prstGeom>
        </p:spPr>
      </p:pic>
      <p:sp>
        <p:nvSpPr>
          <p:cNvPr id="12" name="Rectangle 11"/>
          <p:cNvSpPr/>
          <p:nvPr/>
        </p:nvSpPr>
        <p:spPr>
          <a:xfrm>
            <a:off x="75895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Stage R</a:t>
            </a:r>
          </a:p>
        </p:txBody>
      </p:sp>
      <p:sp>
        <p:nvSpPr>
          <p:cNvPr id="13" name="Rectangle 12"/>
          <p:cNvSpPr/>
          <p:nvPr/>
        </p:nvSpPr>
        <p:spPr>
          <a:xfrm>
            <a:off x="149047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候选集合构造</a:t>
            </a:r>
          </a:p>
        </p:txBody>
      </p:sp>
      <p:sp>
        <p:nvSpPr>
          <p:cNvPr id="14" name="Rectangle 13"/>
          <p:cNvSpPr/>
          <p:nvPr/>
        </p:nvSpPr>
        <p:spPr>
          <a:xfrm>
            <a:off x="75895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9923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Stage A</a:t>
            </a:r>
          </a:p>
        </p:txBody>
      </p:sp>
      <p:sp>
        <p:nvSpPr>
          <p:cNvPr id="16" name="Rectangle 15"/>
          <p:cNvSpPr/>
          <p:nvPr/>
        </p:nvSpPr>
        <p:spPr>
          <a:xfrm>
            <a:off x="373075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结构化语义路由</a:t>
            </a:r>
          </a:p>
        </p:txBody>
      </p:sp>
      <p:sp>
        <p:nvSpPr>
          <p:cNvPr id="17" name="Rectangle 16"/>
          <p:cNvSpPr/>
          <p:nvPr/>
        </p:nvSpPr>
        <p:spPr>
          <a:xfrm>
            <a:off x="299923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3951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Stage B</a:t>
            </a:r>
          </a:p>
        </p:txBody>
      </p:sp>
      <p:sp>
        <p:nvSpPr>
          <p:cNvPr id="19" name="Rectangle 18"/>
          <p:cNvSpPr/>
          <p:nvPr/>
        </p:nvSpPr>
        <p:spPr>
          <a:xfrm>
            <a:off x="597103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职责化复核</a:t>
            </a:r>
          </a:p>
        </p:txBody>
      </p:sp>
      <p:sp>
        <p:nvSpPr>
          <p:cNvPr id="20" name="Rectangle 19"/>
          <p:cNvSpPr/>
          <p:nvPr/>
        </p:nvSpPr>
        <p:spPr>
          <a:xfrm>
            <a:off x="523951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979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Stage C</a:t>
            </a:r>
          </a:p>
        </p:txBody>
      </p:sp>
      <p:sp>
        <p:nvSpPr>
          <p:cNvPr id="22" name="Rectangle 21"/>
          <p:cNvSpPr/>
          <p:nvPr/>
        </p:nvSpPr>
        <p:spPr>
          <a:xfrm>
            <a:off x="821131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执行落点解析</a:t>
            </a:r>
          </a:p>
        </p:txBody>
      </p:sp>
      <p:sp>
        <p:nvSpPr>
          <p:cNvPr id="23" name="Rectangle 22"/>
          <p:cNvSpPr/>
          <p:nvPr/>
        </p:nvSpPr>
        <p:spPr>
          <a:xfrm>
            <a:off x="747979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007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E83E6"/>
                </a:solidFill>
                <a:latin typeface="Arial"/>
              </a:rPr>
              <a:t>Trace</a:t>
            </a:r>
          </a:p>
        </p:txBody>
      </p:sp>
      <p:sp>
        <p:nvSpPr>
          <p:cNvPr id="25" name="Rectangle 24"/>
          <p:cNvSpPr/>
          <p:nvPr/>
        </p:nvSpPr>
        <p:spPr>
          <a:xfrm>
            <a:off x="1045159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统一过程记录</a:t>
            </a:r>
          </a:p>
        </p:txBody>
      </p:sp>
      <p:sp>
        <p:nvSpPr>
          <p:cNvPr id="26" name="Rectangle 25"/>
          <p:cNvSpPr/>
          <p:nvPr/>
        </p:nvSpPr>
        <p:spPr>
          <a:xfrm>
            <a:off x="972007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6384" y="5806440"/>
            <a:ext cx="6949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架构价值：以能力组织、语义裁决、协作复核和执行落点构成可演示闭环。</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R 技术剖面：descriptor-only 候选召回与冻结快照</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技术难点在于既要高覆盖召回，又不能引入样例泄漏；候选边界必须可复核、可归因。</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52144"/>
            <a:ext cx="4983480" cy="37947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候选召回规则</a:t>
            </a:r>
          </a:p>
        </p:txBody>
      </p:sp>
      <p:sp>
        <p:nvSpPr>
          <p:cNvPr id="12" name="Rectangle 11"/>
          <p:cNvSpPr/>
          <p:nvPr/>
        </p:nvSpPr>
        <p:spPr>
          <a:xfrm>
            <a:off x="969264" y="1810512"/>
            <a:ext cx="4160520" cy="15727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0">
                <a:solidFill>
                  <a:srgbClr val="D2E6FF"/>
                </a:solidFill>
                <a:latin typeface="Menlo"/>
              </a:rPr>
              <a:t>for node in namespace:
  score_r = alias + desc + context
            + hierarchy_bonus
            - overspecific_penalty
            - weak_parent_penalty
select diversified top-k candidates
freeze candidate snapshot</a:t>
            </a:r>
          </a:p>
        </p:txBody>
      </p:sp>
      <p:sp>
        <p:nvSpPr>
          <p:cNvPr id="13" name="Rectangle 12"/>
          <p:cNvSpPr/>
          <p:nvPr/>
        </p:nvSpPr>
        <p:spPr>
          <a:xfrm>
            <a:off x="969264" y="3657600"/>
            <a:ext cx="420624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94106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0432" y="388620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不读历史样例，避免 benchmark 泄漏</a:t>
            </a:r>
          </a:p>
        </p:txBody>
      </p:sp>
      <p:sp>
        <p:nvSpPr>
          <p:cNvPr id="16" name="Oval 15"/>
          <p:cNvSpPr/>
          <p:nvPr/>
        </p:nvSpPr>
        <p:spPr>
          <a:xfrm>
            <a:off x="1005840" y="421538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0432" y="416052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召回来源保留 alias / desc_overlap / segment_node</a:t>
            </a:r>
          </a:p>
        </p:txBody>
      </p:sp>
      <p:sp>
        <p:nvSpPr>
          <p:cNvPr id="18" name="Oval 17"/>
          <p:cNvSpPr/>
          <p:nvPr/>
        </p:nvSpPr>
        <p:spPr>
          <a:xfrm>
            <a:off x="1005840" y="448970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70432" y="443484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ground truth 未进入候选集可直接归因为 Stage R miss</a:t>
            </a:r>
          </a:p>
        </p:txBody>
      </p:sp>
      <p:sp>
        <p:nvSpPr>
          <p:cNvPr id="20" name="Rounded Rectangle 19"/>
          <p:cNvSpPr/>
          <p:nvPr/>
        </p:nvSpPr>
        <p:spPr>
          <a:xfrm>
            <a:off x="6126480" y="1152144"/>
            <a:ext cx="5166360" cy="1874519"/>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19088" y="1426464"/>
            <a:ext cx="2331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candidate_snapshot</a:t>
            </a:r>
          </a:p>
        </p:txBody>
      </p:sp>
      <p:sp>
        <p:nvSpPr>
          <p:cNvPr id="22" name="Rectangle 21"/>
          <p:cNvSpPr/>
          <p:nvPr/>
        </p:nvSpPr>
        <p:spPr>
          <a:xfrm>
            <a:off x="6419088" y="1664208"/>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关键字段</a:t>
            </a:r>
          </a:p>
        </p:txBody>
      </p:sp>
      <p:sp>
        <p:nvSpPr>
          <p:cNvPr id="23" name="Rectangle 22"/>
          <p:cNvSpPr/>
          <p:nvPr/>
        </p:nvSpPr>
        <p:spPr>
          <a:xfrm>
            <a:off x="645566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fqdn</a:t>
            </a:r>
          </a:p>
        </p:txBody>
      </p:sp>
      <p:sp>
        <p:nvSpPr>
          <p:cNvPr id="24" name="Rectangle 23"/>
          <p:cNvSpPr/>
          <p:nvPr/>
        </p:nvSpPr>
        <p:spPr>
          <a:xfrm>
            <a:off x="860450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score_r</a:t>
            </a:r>
          </a:p>
        </p:txBody>
      </p:sp>
      <p:sp>
        <p:nvSpPr>
          <p:cNvPr id="25" name="Rectangle 24"/>
          <p:cNvSpPr/>
          <p:nvPr/>
        </p:nvSpPr>
        <p:spPr>
          <a:xfrm>
            <a:off x="645566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source[]</a:t>
            </a:r>
          </a:p>
        </p:txBody>
      </p:sp>
      <p:sp>
        <p:nvSpPr>
          <p:cNvPr id="26" name="Rectangle 25"/>
          <p:cNvSpPr/>
          <p:nvPr/>
        </p:nvSpPr>
        <p:spPr>
          <a:xfrm>
            <a:off x="860450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matched_phrases</a:t>
            </a:r>
          </a:p>
        </p:txBody>
      </p:sp>
      <p:sp>
        <p:nvSpPr>
          <p:cNvPr id="27" name="Rectangle 26"/>
          <p:cNvSpPr/>
          <p:nvPr/>
        </p:nvSpPr>
        <p:spPr>
          <a:xfrm>
            <a:off x="645566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components</a:t>
            </a:r>
          </a:p>
        </p:txBody>
      </p:sp>
      <p:sp>
        <p:nvSpPr>
          <p:cNvPr id="28" name="Rectangle 27"/>
          <p:cNvSpPr/>
          <p:nvPr/>
        </p:nvSpPr>
        <p:spPr>
          <a:xfrm>
            <a:off x="860450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candidate_recall_hit</a:t>
            </a:r>
          </a:p>
        </p:txBody>
      </p:sp>
      <p:sp>
        <p:nvSpPr>
          <p:cNvPr id="29" name="Rounded Rectangle 28"/>
          <p:cNvSpPr/>
          <p:nvPr/>
        </p:nvSpPr>
        <p:spPr>
          <a:xfrm>
            <a:off x="6126480" y="3310128"/>
            <a:ext cx="516636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19088" y="3566160"/>
            <a:ext cx="2423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Arial"/>
              </a:rPr>
              <a:t>样例: holdout3_000213</a:t>
            </a:r>
          </a:p>
        </p:txBody>
      </p:sp>
      <p:sp>
        <p:nvSpPr>
          <p:cNvPr id="31" name="Rectangle 30"/>
          <p:cNvSpPr/>
          <p:nvPr/>
        </p:nvSpPr>
        <p:spPr>
          <a:xfrm>
            <a:off x="6419088" y="3913632"/>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coupon.commerce.cn</a:t>
            </a:r>
          </a:p>
        </p:txBody>
      </p:sp>
      <p:sp>
        <p:nvSpPr>
          <p:cNvPr id="32" name="Rectangle 31"/>
          <p:cNvSpPr/>
          <p:nvPr/>
        </p:nvSpPr>
        <p:spPr>
          <a:xfrm>
            <a:off x="8211312" y="3913632"/>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3" name="Rectangle 32"/>
          <p:cNvSpPr/>
          <p:nvPr/>
        </p:nvSpPr>
        <p:spPr>
          <a:xfrm>
            <a:off x="8851392" y="3913632"/>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query:优惠</a:t>
            </a:r>
          </a:p>
        </p:txBody>
      </p:sp>
      <p:sp>
        <p:nvSpPr>
          <p:cNvPr id="34" name="Rectangle 33"/>
          <p:cNvSpPr/>
          <p:nvPr/>
        </p:nvSpPr>
        <p:spPr>
          <a:xfrm>
            <a:off x="6419088" y="4169664"/>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price.commerce.cn</a:t>
            </a:r>
          </a:p>
        </p:txBody>
      </p:sp>
      <p:sp>
        <p:nvSpPr>
          <p:cNvPr id="35" name="Rectangle 34"/>
          <p:cNvSpPr/>
          <p:nvPr/>
        </p:nvSpPr>
        <p:spPr>
          <a:xfrm>
            <a:off x="8211312" y="4169664"/>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6" name="Rectangle 35"/>
          <p:cNvSpPr/>
          <p:nvPr/>
        </p:nvSpPr>
        <p:spPr>
          <a:xfrm>
            <a:off x="8851392" y="4169664"/>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query:价格</a:t>
            </a:r>
          </a:p>
        </p:txBody>
      </p:sp>
      <p:sp>
        <p:nvSpPr>
          <p:cNvPr id="37" name="Rectangle 36"/>
          <p:cNvSpPr/>
          <p:nvPr/>
        </p:nvSpPr>
        <p:spPr>
          <a:xfrm>
            <a:off x="6419088" y="4425696"/>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meeting.productivity.cn</a:t>
            </a:r>
          </a:p>
        </p:txBody>
      </p:sp>
      <p:sp>
        <p:nvSpPr>
          <p:cNvPr id="38" name="Rectangle 37"/>
          <p:cNvSpPr/>
          <p:nvPr/>
        </p:nvSpPr>
        <p:spPr>
          <a:xfrm>
            <a:off x="8211312" y="4425696"/>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9" name="Rectangle 38"/>
          <p:cNvSpPr/>
          <p:nvPr/>
        </p:nvSpPr>
        <p:spPr>
          <a:xfrm>
            <a:off x="8851392" y="4425696"/>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query:会议</a:t>
            </a:r>
          </a:p>
        </p:txBody>
      </p:sp>
      <p:sp>
        <p:nvSpPr>
          <p:cNvPr id="40" name="Rectangle 39"/>
          <p:cNvSpPr/>
          <p:nvPr/>
        </p:nvSpPr>
        <p:spPr>
          <a:xfrm>
            <a:off x="841248" y="5650992"/>
            <a:ext cx="8686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技术价值：后续所有裁决都在冻结候选集合内进行，错误类型可以被精确拆分。</a:t>
            </a:r>
          </a:p>
        </p:txBody>
      </p:sp>
      <p:sp>
        <p:nvSpPr>
          <p:cNvPr id="41" name="Rectangle 4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3" name="Rectangle 4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A 技术剖面：把 LLM 输出校准为候选级 decision packet</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技术难点不是让模型多解释，而是把模型判断压缩成可计算、可升级、可复核的结构化字段。</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516636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3716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主能力评分融合</a:t>
            </a:r>
          </a:p>
        </p:txBody>
      </p:sp>
      <p:sp>
        <p:nvSpPr>
          <p:cNvPr id="12" name="Rectangle 11"/>
          <p:cNvSpPr/>
          <p:nvPr/>
        </p:nvSpPr>
        <p:spPr>
          <a:xfrm>
            <a:off x="950976" y="1737360"/>
            <a:ext cx="4160520" cy="8961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0">
                <a:solidFill>
                  <a:srgbClr val="D2E6FF"/>
                </a:solidFill>
                <a:latin typeface="Menlo"/>
              </a:rPr>
              <a:t>score_a = 0.55*base_primary
        + 0.15*stage_r
        + 0.15*llm_task_fit
        + 0.10*llm_primary_fit
        + bonus - penalty</a:t>
            </a:r>
          </a:p>
        </p:txBody>
      </p:sp>
      <p:sp>
        <p:nvSpPr>
          <p:cNvPr id="13" name="Rounded Rectangle 12"/>
          <p:cNvSpPr/>
          <p:nvPr/>
        </p:nvSpPr>
        <p:spPr>
          <a:xfrm>
            <a:off x="6199632" y="1115568"/>
            <a:ext cx="5074920" cy="1874519"/>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371600"/>
            <a:ext cx="2148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E97132"/>
                </a:solidFill>
                <a:latin typeface="Microsoft YaHei"/>
              </a:rPr>
              <a:t>Stage B 升级判据</a:t>
            </a:r>
          </a:p>
        </p:txBody>
      </p:sp>
      <p:sp>
        <p:nvSpPr>
          <p:cNvPr id="15" name="Rectangle 14"/>
          <p:cNvSpPr/>
          <p:nvPr/>
        </p:nvSpPr>
        <p:spPr>
          <a:xfrm>
            <a:off x="651052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confidence &lt; 0.62</a:t>
            </a:r>
          </a:p>
        </p:txBody>
      </p:sp>
      <p:sp>
        <p:nvSpPr>
          <p:cNvPr id="16" name="Rectangle 15"/>
          <p:cNvSpPr/>
          <p:nvPr/>
        </p:nvSpPr>
        <p:spPr>
          <a:xfrm>
            <a:off x="865936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margin &lt; 0.08</a:t>
            </a:r>
          </a:p>
        </p:txBody>
      </p:sp>
      <p:sp>
        <p:nvSpPr>
          <p:cNvPr id="17" name="Rectangle 16"/>
          <p:cNvSpPr/>
          <p:nvPr/>
        </p:nvSpPr>
        <p:spPr>
          <a:xfrm>
            <a:off x="651052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llm_requested</a:t>
            </a:r>
          </a:p>
        </p:txBody>
      </p:sp>
      <p:sp>
        <p:nvSpPr>
          <p:cNvPr id="18" name="Rectangle 17"/>
          <p:cNvSpPr/>
          <p:nvPr/>
        </p:nvSpPr>
        <p:spPr>
          <a:xfrm>
            <a:off x="865936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high_risk 且 margin &lt; 0.14</a:t>
            </a:r>
          </a:p>
        </p:txBody>
      </p:sp>
      <p:sp>
        <p:nvSpPr>
          <p:cNvPr id="19" name="Rectangle 18"/>
          <p:cNvSpPr/>
          <p:nvPr/>
        </p:nvSpPr>
        <p:spPr>
          <a:xfrm>
            <a:off x="6510528" y="2377440"/>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multi_intent_conflict</a:t>
            </a:r>
          </a:p>
        </p:txBody>
      </p:sp>
      <p:sp>
        <p:nvSpPr>
          <p:cNvPr id="20" name="Rounded Rectangle 19"/>
          <p:cNvSpPr/>
          <p:nvPr/>
        </p:nvSpPr>
        <p:spPr>
          <a:xfrm>
            <a:off x="658368" y="3310128"/>
            <a:ext cx="5166360" cy="16276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 y="3547872"/>
            <a:ext cx="19202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decision packet</a:t>
            </a:r>
          </a:p>
        </p:txBody>
      </p:sp>
      <p:sp>
        <p:nvSpPr>
          <p:cNvPr id="22" name="Rectangle 21"/>
          <p:cNvSpPr/>
          <p:nvPr/>
        </p:nvSpPr>
        <p:spPr>
          <a:xfrm>
            <a:off x="932688" y="377647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关键字段</a:t>
            </a:r>
          </a:p>
        </p:txBody>
      </p:sp>
      <p:sp>
        <p:nvSpPr>
          <p:cNvPr id="23" name="Rectangle 22"/>
          <p:cNvSpPr/>
          <p:nvPr/>
        </p:nvSpPr>
        <p:spPr>
          <a:xfrm>
            <a:off x="95097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selected_primary_fqdn</a:t>
            </a:r>
          </a:p>
        </p:txBody>
      </p:sp>
      <p:sp>
        <p:nvSpPr>
          <p:cNvPr id="24" name="Rectangle 23"/>
          <p:cNvSpPr/>
          <p:nvPr/>
        </p:nvSpPr>
        <p:spPr>
          <a:xfrm>
            <a:off x="309981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selected_related_fqdns</a:t>
            </a:r>
          </a:p>
        </p:txBody>
      </p:sp>
      <p:sp>
        <p:nvSpPr>
          <p:cNvPr id="25" name="Rectangle 24"/>
          <p:cNvSpPr/>
          <p:nvPr/>
        </p:nvSpPr>
        <p:spPr>
          <a:xfrm>
            <a:off x="95097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routing_top_k</a:t>
            </a:r>
          </a:p>
        </p:txBody>
      </p:sp>
      <p:sp>
        <p:nvSpPr>
          <p:cNvPr id="26" name="Rectangle 25"/>
          <p:cNvSpPr/>
          <p:nvPr/>
        </p:nvSpPr>
        <p:spPr>
          <a:xfrm>
            <a:off x="309981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confidence / margin</a:t>
            </a:r>
          </a:p>
        </p:txBody>
      </p:sp>
      <p:sp>
        <p:nvSpPr>
          <p:cNvPr id="27" name="Rectangle 26"/>
          <p:cNvSpPr/>
          <p:nvPr/>
        </p:nvSpPr>
        <p:spPr>
          <a:xfrm>
            <a:off x="95097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candidate_scores</a:t>
            </a:r>
          </a:p>
        </p:txBody>
      </p:sp>
      <p:sp>
        <p:nvSpPr>
          <p:cNvPr id="28" name="Rectangle 27"/>
          <p:cNvSpPr/>
          <p:nvPr/>
        </p:nvSpPr>
        <p:spPr>
          <a:xfrm>
            <a:off x="309981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constraint_check</a:t>
            </a:r>
          </a:p>
        </p:txBody>
      </p:sp>
      <p:sp>
        <p:nvSpPr>
          <p:cNvPr id="29" name="Rounded Rectangle 28"/>
          <p:cNvSpPr/>
          <p:nvPr/>
        </p:nvSpPr>
        <p:spPr>
          <a:xfrm>
            <a:off x="6199632" y="3310128"/>
            <a:ext cx="507492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547872"/>
            <a:ext cx="2194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Stage B 语义卡</a:t>
            </a:r>
          </a:p>
        </p:txBody>
      </p:sp>
      <p:sp>
        <p:nvSpPr>
          <p:cNvPr id="31" name="Rectangle 30"/>
          <p:cNvSpPr/>
          <p:nvPr/>
        </p:nvSpPr>
        <p:spPr>
          <a:xfrm>
            <a:off x="6492240" y="3776472"/>
            <a:ext cx="14173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从 Stage A 下传</a:t>
            </a:r>
          </a:p>
        </p:txBody>
      </p:sp>
      <p:sp>
        <p:nvSpPr>
          <p:cNvPr id="32" name="Rectangle 31"/>
          <p:cNvSpPr/>
          <p:nvPr/>
        </p:nvSpPr>
        <p:spPr>
          <a:xfrm>
            <a:off x="651052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primary_rationale</a:t>
            </a:r>
          </a:p>
        </p:txBody>
      </p:sp>
      <p:sp>
        <p:nvSpPr>
          <p:cNvPr id="33" name="Rectangle 32"/>
          <p:cNvSpPr/>
          <p:nvPr/>
        </p:nvSpPr>
        <p:spPr>
          <a:xfrm>
            <a:off x="861364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secondary_rationale</a:t>
            </a:r>
          </a:p>
        </p:txBody>
      </p:sp>
      <p:sp>
        <p:nvSpPr>
          <p:cNvPr id="34" name="Rectangle 33"/>
          <p:cNvSpPr/>
          <p:nvPr/>
        </p:nvSpPr>
        <p:spPr>
          <a:xfrm>
            <a:off x="651052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challenger_notes</a:t>
            </a:r>
          </a:p>
        </p:txBody>
      </p:sp>
      <p:sp>
        <p:nvSpPr>
          <p:cNvPr id="35" name="Rectangle 34"/>
          <p:cNvSpPr/>
          <p:nvPr/>
        </p:nvSpPr>
        <p:spPr>
          <a:xfrm>
            <a:off x="861364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uncertainty_summary</a:t>
            </a:r>
          </a:p>
        </p:txBody>
      </p:sp>
      <p:sp>
        <p:nvSpPr>
          <p:cNvPr id="36" name="Rectangle 35"/>
          <p:cNvSpPr/>
          <p:nvPr/>
        </p:nvSpPr>
        <p:spPr>
          <a:xfrm>
            <a:off x="651052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confusion_points</a:t>
            </a:r>
          </a:p>
        </p:txBody>
      </p:sp>
      <p:sp>
        <p:nvSpPr>
          <p:cNvPr id="37" name="Rectangle 36"/>
          <p:cNvSpPr/>
          <p:nvPr/>
        </p:nvSpPr>
        <p:spPr>
          <a:xfrm>
            <a:off x="861364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override_sensitivity</a:t>
            </a:r>
          </a:p>
        </p:txBody>
      </p:sp>
      <p:sp>
        <p:nvSpPr>
          <p:cNvPr id="38" name="Rectangle 37"/>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102033"/>
                </a:solidFill>
                <a:latin typeface="Microsoft YaHei"/>
              </a:rPr>
              <a:t>技术价值：模型输出不作为最终答案直出，而被转成可计算分数、升级理由和可审计证据包。</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B 技术剖面：候选内复核、角色分视图与授权改判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技术难点在于让多智能体产生有效纠错，同时防止候选外发明、无约束改判和高风险回归。</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40080" y="1078992"/>
            <a:ext cx="3246120" cy="40233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1353312"/>
            <a:ext cx="1508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角色不是摆设</a:t>
            </a:r>
          </a:p>
        </p:txBody>
      </p:sp>
      <p:sp>
        <p:nvSpPr>
          <p:cNvPr id="12" name="Rectangle 11"/>
          <p:cNvSpPr/>
          <p:nvPr/>
        </p:nvSpPr>
        <p:spPr>
          <a:xfrm>
            <a:off x="914400" y="1755648"/>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DomainExpert</a:t>
            </a:r>
          </a:p>
        </p:txBody>
      </p:sp>
      <p:sp>
        <p:nvSpPr>
          <p:cNvPr id="13" name="Rectangle 12"/>
          <p:cNvSpPr/>
          <p:nvPr/>
        </p:nvSpPr>
        <p:spPr>
          <a:xfrm>
            <a:off x="2176272" y="1755648"/>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core_task_match</a:t>
            </a:r>
          </a:p>
        </p:txBody>
      </p:sp>
      <p:sp>
        <p:nvSpPr>
          <p:cNvPr id="14" name="Rectangle 13"/>
          <p:cNvSpPr/>
          <p:nvPr/>
        </p:nvSpPr>
        <p:spPr>
          <a:xfrm>
            <a:off x="914400" y="2267712"/>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GovernanceRisk</a:t>
            </a:r>
          </a:p>
        </p:txBody>
      </p:sp>
      <p:sp>
        <p:nvSpPr>
          <p:cNvPr id="15" name="Rectangle 14"/>
          <p:cNvSpPr/>
          <p:nvPr/>
        </p:nvSpPr>
        <p:spPr>
          <a:xfrm>
            <a:off x="2176272" y="2267712"/>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risk_boundary_check</a:t>
            </a:r>
          </a:p>
        </p:txBody>
      </p:sp>
      <p:sp>
        <p:nvSpPr>
          <p:cNvPr id="16" name="Rectangle 15"/>
          <p:cNvSpPr/>
          <p:nvPr/>
        </p:nvSpPr>
        <p:spPr>
          <a:xfrm>
            <a:off x="914400" y="2779776"/>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HierarchyResolver</a:t>
            </a:r>
          </a:p>
        </p:txBody>
      </p:sp>
      <p:sp>
        <p:nvSpPr>
          <p:cNvPr id="17" name="Rectangle 16"/>
          <p:cNvSpPr/>
          <p:nvPr/>
        </p:nvSpPr>
        <p:spPr>
          <a:xfrm>
            <a:off x="2176272" y="2779776"/>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hierarchy_granularity</a:t>
            </a:r>
          </a:p>
        </p:txBody>
      </p:sp>
      <p:sp>
        <p:nvSpPr>
          <p:cNvPr id="18" name="Rectangle 17"/>
          <p:cNvSpPr/>
          <p:nvPr/>
        </p:nvSpPr>
        <p:spPr>
          <a:xfrm>
            <a:off x="914400" y="3291840"/>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UserPreference</a:t>
            </a:r>
          </a:p>
        </p:txBody>
      </p:sp>
      <p:sp>
        <p:nvSpPr>
          <p:cNvPr id="19" name="Rectangle 18"/>
          <p:cNvSpPr/>
          <p:nvPr/>
        </p:nvSpPr>
        <p:spPr>
          <a:xfrm>
            <a:off x="2176272" y="3291840"/>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primary_secondary_split</a:t>
            </a:r>
          </a:p>
        </p:txBody>
      </p:sp>
      <p:sp>
        <p:nvSpPr>
          <p:cNvPr id="20" name="Rectangle 19"/>
          <p:cNvSpPr/>
          <p:nvPr/>
        </p:nvSpPr>
        <p:spPr>
          <a:xfrm>
            <a:off x="914400" y="3986784"/>
            <a:ext cx="251460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224528"/>
            <a:ext cx="25146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D2E6FF"/>
                </a:solidFill>
                <a:latin typeface="Microsoft YaHei"/>
              </a:rPr>
              <a:t>每个角色只看与职责相关的 packet 视图，避免四个 agent 重复同一种判断。</a:t>
            </a:r>
          </a:p>
        </p:txBody>
      </p:sp>
      <p:sp>
        <p:nvSpPr>
          <p:cNvPr id="22" name="Rounded Rectangle 21"/>
          <p:cNvSpPr/>
          <p:nvPr/>
        </p:nvSpPr>
        <p:spPr>
          <a:xfrm>
            <a:off x="4251960" y="1078992"/>
            <a:ext cx="3154680" cy="40233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35424" y="1353312"/>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Microsoft YaHei"/>
              </a:rPr>
              <a:t>改判授权门槛</a:t>
            </a:r>
          </a:p>
        </p:txBody>
      </p:sp>
      <p:sp>
        <p:nvSpPr>
          <p:cNvPr id="24" name="Oval 23"/>
          <p:cNvSpPr/>
          <p:nvPr/>
        </p:nvSpPr>
        <p:spPr>
          <a:xfrm>
            <a:off x="4553712" y="183794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18304" y="1783080"/>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override_vote_count &gt;= 3</a:t>
            </a:r>
          </a:p>
        </p:txBody>
      </p:sp>
      <p:sp>
        <p:nvSpPr>
          <p:cNvPr id="26" name="Oval 25"/>
          <p:cNvSpPr/>
          <p:nvPr/>
        </p:nvSpPr>
        <p:spPr>
          <a:xfrm>
            <a:off x="4553712" y="223113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18304" y="2176272"/>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consensus_score &gt;= stage_a + 0.08</a:t>
            </a:r>
          </a:p>
        </p:txBody>
      </p:sp>
      <p:sp>
        <p:nvSpPr>
          <p:cNvPr id="28" name="Oval 27"/>
          <p:cNvSpPr/>
          <p:nvPr/>
        </p:nvSpPr>
        <p:spPr>
          <a:xfrm>
            <a:off x="4553712" y="2624328"/>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8304" y="2569464"/>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explicit_support &gt;= 0.55</a:t>
            </a:r>
          </a:p>
        </p:txBody>
      </p:sp>
      <p:sp>
        <p:nvSpPr>
          <p:cNvPr id="30" name="Oval 29"/>
          <p:cNvSpPr/>
          <p:nvPr/>
        </p:nvSpPr>
        <p:spPr>
          <a:xfrm>
            <a:off x="4553712" y="3017520"/>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18304" y="2962656"/>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sensitive case 需要 round2 共识</a:t>
            </a:r>
          </a:p>
        </p:txBody>
      </p:sp>
      <p:sp>
        <p:nvSpPr>
          <p:cNvPr id="32" name="Oval 31"/>
          <p:cNvSpPr/>
          <p:nvPr/>
        </p:nvSpPr>
        <p:spPr>
          <a:xfrm>
            <a:off x="4553712" y="3410712"/>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18304" y="3355848"/>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cross_l1 需额外 score gain</a:t>
            </a:r>
          </a:p>
        </p:txBody>
      </p:sp>
      <p:sp>
        <p:nvSpPr>
          <p:cNvPr id="34" name="Rectangle 33"/>
          <p:cNvSpPr/>
          <p:nvPr/>
        </p:nvSpPr>
        <p:spPr>
          <a:xfrm>
            <a:off x="4553712" y="4224528"/>
            <a:ext cx="23317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Microsoft YaHei"/>
              </a:rPr>
              <a:t>未满足门槛：保留 Stage A 原判，并写入 override_block_reasons。</a:t>
            </a:r>
          </a:p>
        </p:txBody>
      </p:sp>
      <p:sp>
        <p:nvSpPr>
          <p:cNvPr id="35" name="Rounded Rectangle 34"/>
          <p:cNvSpPr/>
          <p:nvPr/>
        </p:nvSpPr>
        <p:spPr>
          <a:xfrm>
            <a:off x="7818120" y="1078992"/>
            <a:ext cx="3337560" cy="40233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1353312"/>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Microsoft YaHei"/>
              </a:rPr>
              <a:t>共识得分与 trace</a:t>
            </a:r>
          </a:p>
        </p:txBody>
      </p:sp>
      <p:sp>
        <p:nvSpPr>
          <p:cNvPr id="37" name="Rectangle 36"/>
          <p:cNvSpPr/>
          <p:nvPr/>
        </p:nvSpPr>
        <p:spPr>
          <a:xfrm>
            <a:off x="8119872" y="1737360"/>
            <a:ext cx="2468880" cy="6583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102033"/>
                </a:solidFill>
                <a:latin typeface="Menlo"/>
              </a:rPr>
              <a:t>consensus_final =
  0.45*round1
+ 0.35*round2
+ 0.20*stage_a</a:t>
            </a:r>
          </a:p>
        </p:txBody>
      </p:sp>
      <p:sp>
        <p:nvSpPr>
          <p:cNvPr id="38" name="Rectangle 37"/>
          <p:cNvSpPr/>
          <p:nvPr/>
        </p:nvSpPr>
        <p:spPr>
          <a:xfrm>
            <a:off x="8138160" y="276148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stage_a_selected_primary</a:t>
            </a:r>
          </a:p>
        </p:txBody>
      </p:sp>
      <p:sp>
        <p:nvSpPr>
          <p:cNvPr id="39" name="Rectangle 38"/>
          <p:cNvSpPr/>
          <p:nvPr/>
        </p:nvSpPr>
        <p:spPr>
          <a:xfrm>
            <a:off x="8138160" y="3017520"/>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escalation_reasons</a:t>
            </a:r>
          </a:p>
        </p:txBody>
      </p:sp>
      <p:sp>
        <p:nvSpPr>
          <p:cNvPr id="40" name="Rectangle 39"/>
          <p:cNvSpPr/>
          <p:nvPr/>
        </p:nvSpPr>
        <p:spPr>
          <a:xfrm>
            <a:off x="8138160" y="3273552"/>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agent_votes</a:t>
            </a:r>
          </a:p>
        </p:txBody>
      </p:sp>
      <p:sp>
        <p:nvSpPr>
          <p:cNvPr id="41" name="Rectangle 40"/>
          <p:cNvSpPr/>
          <p:nvPr/>
        </p:nvSpPr>
        <p:spPr>
          <a:xfrm>
            <a:off x="8138160" y="3529584"/>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override_allowed</a:t>
            </a:r>
          </a:p>
        </p:txBody>
      </p:sp>
      <p:sp>
        <p:nvSpPr>
          <p:cNvPr id="42" name="Rectangle 41"/>
          <p:cNvSpPr/>
          <p:nvPr/>
        </p:nvSpPr>
        <p:spPr>
          <a:xfrm>
            <a:off x="8138160" y="3785616"/>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override_basis_histogram</a:t>
            </a:r>
          </a:p>
        </p:txBody>
      </p:sp>
      <p:sp>
        <p:nvSpPr>
          <p:cNvPr id="43" name="Rectangle 42"/>
          <p:cNvSpPr/>
          <p:nvPr/>
        </p:nvSpPr>
        <p:spPr>
          <a:xfrm>
            <a:off x="8138160" y="404164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final_primary_fqdn</a:t>
            </a:r>
          </a:p>
        </p:txBody>
      </p:sp>
      <p:sp>
        <p:nvSpPr>
          <p:cNvPr id="44" name="Rectangle 4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技术价值：慢路径不是“再问一遍模型”，而是带门禁的候选内复核器。</a:t>
            </a:r>
          </a:p>
        </p:txBody>
      </p:sp>
      <p:sp>
        <p:nvSpPr>
          <p:cNvPr id="45" name="Rectangle 4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7" name="Rectangle 4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Trace 样例：一次请求如何从误判走到可审计改判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展示对象：holdout3_000213；trace 不贴原始 JSON，而提炼为候选、裁决、复核、授权和最终落点。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21792" y="1097280"/>
            <a:ext cx="3429000" cy="482803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96112" y="1353312"/>
            <a:ext cx="1005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用户请求</a:t>
            </a:r>
          </a:p>
        </p:txBody>
      </p:sp>
      <p:sp>
        <p:nvSpPr>
          <p:cNvPr id="12" name="Rectangle 11"/>
          <p:cNvSpPr/>
          <p:nvPr/>
        </p:nvSpPr>
        <p:spPr>
          <a:xfrm>
            <a:off x="896112" y="1755648"/>
            <a:ext cx="2697480" cy="98755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买会议麦克风这单如果不看优惠规则，明显会多花一笔。
主问句：先看看有什么券或优惠能用
顺带：比一眼价格</a:t>
            </a:r>
          </a:p>
        </p:txBody>
      </p:sp>
      <p:sp>
        <p:nvSpPr>
          <p:cNvPr id="13" name="Rectangle 12"/>
          <p:cNvSpPr/>
          <p:nvPr/>
        </p:nvSpPr>
        <p:spPr>
          <a:xfrm>
            <a:off x="896112" y="2999232"/>
            <a:ext cx="269748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 y="3236976"/>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26B6FF"/>
                </a:solidFill>
                <a:latin typeface="Microsoft YaHei"/>
              </a:rPr>
              <a:t>Stage R 候选快照</a:t>
            </a:r>
          </a:p>
        </p:txBody>
      </p:sp>
      <p:sp>
        <p:nvSpPr>
          <p:cNvPr id="15" name="Oval 14"/>
          <p:cNvSpPr/>
          <p:nvPr/>
        </p:nvSpPr>
        <p:spPr>
          <a:xfrm>
            <a:off x="914400" y="3630168"/>
            <a:ext cx="73152" cy="7315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584448"/>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coupon.commerce.cn</a:t>
            </a:r>
          </a:p>
        </p:txBody>
      </p:sp>
      <p:sp>
        <p:nvSpPr>
          <p:cNvPr id="17" name="Rectangle 16"/>
          <p:cNvSpPr/>
          <p:nvPr/>
        </p:nvSpPr>
        <p:spPr>
          <a:xfrm>
            <a:off x="2697480" y="3584448"/>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优惠命中</a:t>
            </a:r>
          </a:p>
        </p:txBody>
      </p:sp>
      <p:sp>
        <p:nvSpPr>
          <p:cNvPr id="18" name="Oval 17"/>
          <p:cNvSpPr/>
          <p:nvPr/>
        </p:nvSpPr>
        <p:spPr>
          <a:xfrm>
            <a:off x="914400" y="4014215"/>
            <a:ext cx="73152" cy="73152"/>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78992" y="3968496"/>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price.commerce.cn</a:t>
            </a:r>
          </a:p>
        </p:txBody>
      </p:sp>
      <p:sp>
        <p:nvSpPr>
          <p:cNvPr id="20" name="Rectangle 19"/>
          <p:cNvSpPr/>
          <p:nvPr/>
        </p:nvSpPr>
        <p:spPr>
          <a:xfrm>
            <a:off x="2697480" y="3968496"/>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价格命中</a:t>
            </a:r>
          </a:p>
        </p:txBody>
      </p:sp>
      <p:sp>
        <p:nvSpPr>
          <p:cNvPr id="21" name="Oval 20"/>
          <p:cNvSpPr/>
          <p:nvPr/>
        </p:nvSpPr>
        <p:spPr>
          <a:xfrm>
            <a:off x="914400" y="4398264"/>
            <a:ext cx="73152" cy="73152"/>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4352544"/>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meeting.productivity.cn</a:t>
            </a:r>
          </a:p>
        </p:txBody>
      </p:sp>
      <p:sp>
        <p:nvSpPr>
          <p:cNvPr id="23" name="Rectangle 22"/>
          <p:cNvSpPr/>
          <p:nvPr/>
        </p:nvSpPr>
        <p:spPr>
          <a:xfrm>
            <a:off x="2697480" y="435254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会议词面</a:t>
            </a:r>
          </a:p>
        </p:txBody>
      </p:sp>
      <p:sp>
        <p:nvSpPr>
          <p:cNvPr id="24" name="Rectangle 23"/>
          <p:cNvSpPr/>
          <p:nvPr/>
        </p:nvSpPr>
        <p:spPr>
          <a:xfrm>
            <a:off x="896112" y="4937760"/>
            <a:ext cx="2514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Arial"/>
              </a:rPr>
              <a:t>candidate_count = 10    primary_in_top_k = true</a:t>
            </a:r>
          </a:p>
        </p:txBody>
      </p:sp>
      <p:sp>
        <p:nvSpPr>
          <p:cNvPr id="25" name="Rounded Rectangle 24"/>
          <p:cNvSpPr/>
          <p:nvPr/>
        </p:nvSpPr>
        <p:spPr>
          <a:xfrm>
            <a:off x="4572000" y="1225296"/>
            <a:ext cx="2788920"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3168" y="1426464"/>
            <a:ext cx="237744" cy="237744"/>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73168" y="149047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1</a:t>
            </a:r>
          </a:p>
        </p:txBody>
      </p:sp>
      <p:sp>
        <p:nvSpPr>
          <p:cNvPr id="28" name="Rectangle 27"/>
          <p:cNvSpPr/>
          <p:nvPr/>
        </p:nvSpPr>
        <p:spPr>
          <a:xfrm>
            <a:off x="5102352" y="138988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Stage A 初判</a:t>
            </a:r>
          </a:p>
        </p:txBody>
      </p:sp>
      <p:sp>
        <p:nvSpPr>
          <p:cNvPr id="29" name="Rectangle 28"/>
          <p:cNvSpPr/>
          <p:nvPr/>
        </p:nvSpPr>
        <p:spPr>
          <a:xfrm>
            <a:off x="5102352" y="166420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price.commerce.cn</a:t>
            </a:r>
          </a:p>
        </p:txBody>
      </p:sp>
      <p:sp>
        <p:nvSpPr>
          <p:cNvPr id="30" name="Rectangle 29"/>
          <p:cNvSpPr/>
          <p:nvPr/>
        </p:nvSpPr>
        <p:spPr>
          <a:xfrm>
            <a:off x="5102352" y="188366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conf=0.519 / margin=0.064</a:t>
            </a:r>
          </a:p>
        </p:txBody>
      </p:sp>
      <p:sp>
        <p:nvSpPr>
          <p:cNvPr id="31" name="Rectangle 30"/>
          <p:cNvSpPr/>
          <p:nvPr/>
        </p:nvSpPr>
        <p:spPr>
          <a:xfrm>
            <a:off x="5102352" y="204825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触发原因：low_confidence + small_margin</a:t>
            </a:r>
          </a:p>
        </p:txBody>
      </p:sp>
      <p:sp>
        <p:nvSpPr>
          <p:cNvPr id="32" name="Rectangle 31"/>
          <p:cNvSpPr/>
          <p:nvPr/>
        </p:nvSpPr>
        <p:spPr>
          <a:xfrm>
            <a:off x="5943600" y="229514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0" y="2642616"/>
            <a:ext cx="2788920" cy="98755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73168" y="2843784"/>
            <a:ext cx="237744" cy="237744"/>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73168" y="290779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2</a:t>
            </a:r>
          </a:p>
        </p:txBody>
      </p:sp>
      <p:sp>
        <p:nvSpPr>
          <p:cNvPr id="36" name="Rectangle 35"/>
          <p:cNvSpPr/>
          <p:nvPr/>
        </p:nvSpPr>
        <p:spPr>
          <a:xfrm>
            <a:off x="5102352" y="280720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Stage B 复核</a:t>
            </a:r>
          </a:p>
        </p:txBody>
      </p:sp>
      <p:sp>
        <p:nvSpPr>
          <p:cNvPr id="37" name="Rectangle 36"/>
          <p:cNvSpPr/>
          <p:nvPr/>
        </p:nvSpPr>
        <p:spPr>
          <a:xfrm>
            <a:off x="5102352" y="308152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3 票提议改判 / 1 票保守</a:t>
            </a:r>
          </a:p>
        </p:txBody>
      </p:sp>
      <p:sp>
        <p:nvSpPr>
          <p:cNvPr id="38" name="Rectangle 37"/>
          <p:cNvSpPr/>
          <p:nvPr/>
        </p:nvSpPr>
        <p:spPr>
          <a:xfrm>
            <a:off x="5102352" y="330098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override_vote_count = 3</a:t>
            </a:r>
          </a:p>
        </p:txBody>
      </p:sp>
      <p:sp>
        <p:nvSpPr>
          <p:cNvPr id="39" name="Rectangle 38"/>
          <p:cNvSpPr/>
          <p:nvPr/>
        </p:nvSpPr>
        <p:spPr>
          <a:xfrm>
            <a:off x="5102352" y="346557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证据集中在“优惠为主、价格为辅”</a:t>
            </a:r>
          </a:p>
        </p:txBody>
      </p:sp>
      <p:sp>
        <p:nvSpPr>
          <p:cNvPr id="40" name="Rectangle 39"/>
          <p:cNvSpPr/>
          <p:nvPr/>
        </p:nvSpPr>
        <p:spPr>
          <a:xfrm>
            <a:off x="5943600" y="371246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72000" y="4059936"/>
            <a:ext cx="2788920"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73168" y="4261104"/>
            <a:ext cx="237744" cy="237744"/>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73168" y="432511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3</a:t>
            </a:r>
          </a:p>
        </p:txBody>
      </p:sp>
      <p:sp>
        <p:nvSpPr>
          <p:cNvPr id="44" name="Rectangle 43"/>
          <p:cNvSpPr/>
          <p:nvPr/>
        </p:nvSpPr>
        <p:spPr>
          <a:xfrm>
            <a:off x="5102352" y="422452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授权改判</a:t>
            </a:r>
          </a:p>
        </p:txBody>
      </p:sp>
      <p:sp>
        <p:nvSpPr>
          <p:cNvPr id="45" name="Rectangle 44"/>
          <p:cNvSpPr/>
          <p:nvPr/>
        </p:nvSpPr>
        <p:spPr>
          <a:xfrm>
            <a:off x="5102352" y="449884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override_allowed = true</a:t>
            </a:r>
          </a:p>
        </p:txBody>
      </p:sp>
      <p:sp>
        <p:nvSpPr>
          <p:cNvPr id="46" name="Rectangle 45"/>
          <p:cNvSpPr/>
          <p:nvPr/>
        </p:nvSpPr>
        <p:spPr>
          <a:xfrm>
            <a:off x="5102352" y="471830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basis: explicit_primary_evidence</a:t>
            </a:r>
          </a:p>
        </p:txBody>
      </p:sp>
      <p:sp>
        <p:nvSpPr>
          <p:cNvPr id="47" name="Rectangle 46"/>
          <p:cNvSpPr/>
          <p:nvPr/>
        </p:nvSpPr>
        <p:spPr>
          <a:xfrm>
            <a:off x="5102352" y="488289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主意图从“比价”校正为“优惠规则”</a:t>
            </a:r>
          </a:p>
        </p:txBody>
      </p:sp>
      <p:sp>
        <p:nvSpPr>
          <p:cNvPr id="48" name="Rounded Rectangle 47"/>
          <p:cNvSpPr/>
          <p:nvPr/>
        </p:nvSpPr>
        <p:spPr>
          <a:xfrm>
            <a:off x="7973568" y="1143000"/>
            <a:ext cx="3246120" cy="1874519"/>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47888" y="1444752"/>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B93232"/>
                </a:solidFill>
                <a:latin typeface="Microsoft YaHei"/>
              </a:rPr>
              <a:t>最终路由</a:t>
            </a:r>
          </a:p>
        </p:txBody>
      </p:sp>
      <p:sp>
        <p:nvSpPr>
          <p:cNvPr id="50" name="Rectangle 49"/>
          <p:cNvSpPr/>
          <p:nvPr/>
        </p:nvSpPr>
        <p:spPr>
          <a:xfrm>
            <a:off x="8183879" y="1810512"/>
            <a:ext cx="26517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B93232"/>
                </a:solidFill>
                <a:latin typeface="Arial"/>
              </a:rPr>
              <a:t>coupon.commerce.cn</a:t>
            </a:r>
          </a:p>
        </p:txBody>
      </p:sp>
      <p:sp>
        <p:nvSpPr>
          <p:cNvPr id="51" name="Rectangle 50"/>
          <p:cNvSpPr/>
          <p:nvPr/>
        </p:nvSpPr>
        <p:spPr>
          <a:xfrm>
            <a:off x="8247888" y="2157984"/>
            <a:ext cx="2057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Arial"/>
              </a:rPr>
              <a:t>final_decision_source = stage_b</a:t>
            </a:r>
          </a:p>
        </p:txBody>
      </p:sp>
      <p:sp>
        <p:nvSpPr>
          <p:cNvPr id="52" name="Rectangle 51"/>
          <p:cNvSpPr/>
          <p:nvPr/>
        </p:nvSpPr>
        <p:spPr>
          <a:xfrm>
            <a:off x="8247888" y="2441448"/>
            <a:ext cx="2514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0" b="0">
                <a:solidFill>
                  <a:srgbClr val="102033"/>
                </a:solidFill>
                <a:latin typeface="Microsoft YaHei"/>
              </a:rPr>
              <a:t>可解释结论：优惠可用性是主任务，价格比较作为相关诉求保留。</a:t>
            </a:r>
          </a:p>
        </p:txBody>
      </p:sp>
      <p:sp>
        <p:nvSpPr>
          <p:cNvPr id="53" name="Rounded Rectangle 52"/>
          <p:cNvSpPr/>
          <p:nvPr/>
        </p:nvSpPr>
        <p:spPr>
          <a:xfrm>
            <a:off x="7973568" y="3310128"/>
            <a:ext cx="3246120" cy="12984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47888" y="3566160"/>
            <a:ext cx="15544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评审能看到什么</a:t>
            </a:r>
          </a:p>
        </p:txBody>
      </p:sp>
      <p:sp>
        <p:nvSpPr>
          <p:cNvPr id="55" name="Oval 54"/>
          <p:cNvSpPr/>
          <p:nvPr/>
        </p:nvSpPr>
        <p:spPr>
          <a:xfrm>
            <a:off x="8247888" y="39502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12480" y="3895344"/>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错因：候选内主次意图误判</a:t>
            </a:r>
          </a:p>
        </p:txBody>
      </p:sp>
      <p:sp>
        <p:nvSpPr>
          <p:cNvPr id="57" name="Oval 56"/>
          <p:cNvSpPr/>
          <p:nvPr/>
        </p:nvSpPr>
        <p:spPr>
          <a:xfrm>
            <a:off x="8247888" y="416966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0" y="4114800"/>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修正：职责化角色给出证据</a:t>
            </a:r>
          </a:p>
        </p:txBody>
      </p:sp>
      <p:sp>
        <p:nvSpPr>
          <p:cNvPr id="59" name="Oval 58"/>
          <p:cNvSpPr/>
          <p:nvPr/>
        </p:nvSpPr>
        <p:spPr>
          <a:xfrm>
            <a:off x="8247888" y="438912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412480" y="4334256"/>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边界：改判需通过授权检查</a:t>
            </a:r>
          </a:p>
        </p:txBody>
      </p:sp>
      <p:sp>
        <p:nvSpPr>
          <p:cNvPr id="61" name="Rounded Rectangle 60"/>
          <p:cNvSpPr/>
          <p:nvPr/>
        </p:nvSpPr>
        <p:spPr>
          <a:xfrm>
            <a:off x="749808" y="6016752"/>
            <a:ext cx="10287000" cy="3474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 y="6108192"/>
            <a:ext cx="97383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0" b="0">
                <a:solidFill>
                  <a:srgbClr val="53657A"/>
                </a:solidFill>
                <a:latin typeface="Arial"/>
              </a:rPr>
              <a:t>Trace contract 字段：stage_r.fqdn_candidates / stage_a.routing_top_k / stage_b.agent_votes / stage_b.trust_trace / final_primary_fqdn</a:t>
            </a:r>
          </a:p>
        </p:txBody>
      </p:sp>
      <p:sp>
        <p:nvSpPr>
          <p:cNvPr id="63" name="Rectangle 6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65" name="Rectangle 6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工程实现：研究链路已经沉淀为可运行模块和测试用例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这一页回应评审对系统落地、代码实现和测试支撑的关注。</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417320"/>
            <a:ext cx="1874519" cy="107899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B63CE"/>
                </a:solidFill>
                <a:latin typeface="Arial"/>
              </a:rPr>
              <a:t>namespace.py</a:t>
            </a:r>
          </a:p>
        </p:txBody>
      </p:sp>
      <p:sp>
        <p:nvSpPr>
          <p:cNvPr id="12" name="Rectangle 11"/>
          <p:cNvSpPr/>
          <p:nvPr/>
        </p:nvSpPr>
        <p:spPr>
          <a:xfrm>
            <a:off x="813816"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能力节点 / FQDN / 层级</a:t>
            </a:r>
          </a:p>
        </p:txBody>
      </p:sp>
      <p:sp>
        <p:nvSpPr>
          <p:cNvPr id="13" name="Rounded Rectangle 12"/>
          <p:cNvSpPr/>
          <p:nvPr/>
        </p:nvSpPr>
        <p:spPr>
          <a:xfrm>
            <a:off x="2953512" y="1417320"/>
            <a:ext cx="1874519" cy="107899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81528"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E83E6"/>
                </a:solidFill>
                <a:latin typeface="Arial"/>
              </a:rPr>
              <a:t>stage_r_clean.py</a:t>
            </a:r>
          </a:p>
        </p:txBody>
      </p:sp>
      <p:sp>
        <p:nvSpPr>
          <p:cNvPr id="15" name="Rectangle 14"/>
          <p:cNvSpPr/>
          <p:nvPr/>
        </p:nvSpPr>
        <p:spPr>
          <a:xfrm>
            <a:off x="3081528"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命名空间候选召回</a:t>
            </a:r>
          </a:p>
        </p:txBody>
      </p:sp>
      <p:sp>
        <p:nvSpPr>
          <p:cNvPr id="16" name="Rounded Rectangle 15"/>
          <p:cNvSpPr/>
          <p:nvPr/>
        </p:nvSpPr>
        <p:spPr>
          <a:xfrm>
            <a:off x="5221224" y="1417320"/>
            <a:ext cx="1874519" cy="107899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49240"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Arial"/>
              </a:rPr>
              <a:t>stage_a_llm.py</a:t>
            </a:r>
          </a:p>
        </p:txBody>
      </p:sp>
      <p:sp>
        <p:nvSpPr>
          <p:cNvPr id="18" name="Rectangle 17"/>
          <p:cNvSpPr/>
          <p:nvPr/>
        </p:nvSpPr>
        <p:spPr>
          <a:xfrm>
            <a:off x="5349240"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结构化语义裁决</a:t>
            </a:r>
          </a:p>
        </p:txBody>
      </p:sp>
      <p:sp>
        <p:nvSpPr>
          <p:cNvPr id="19" name="Rounded Rectangle 18"/>
          <p:cNvSpPr/>
          <p:nvPr/>
        </p:nvSpPr>
        <p:spPr>
          <a:xfrm>
            <a:off x="7488936" y="1417320"/>
            <a:ext cx="1874519" cy="107899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16952"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E97132"/>
                </a:solidFill>
                <a:latin typeface="Arial"/>
              </a:rPr>
              <a:t>stage_b_consensus.py</a:t>
            </a:r>
          </a:p>
        </p:txBody>
      </p:sp>
      <p:sp>
        <p:nvSpPr>
          <p:cNvPr id="21" name="Rectangle 20"/>
          <p:cNvSpPr/>
          <p:nvPr/>
        </p:nvSpPr>
        <p:spPr>
          <a:xfrm>
            <a:off x="7616952"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职责化复核与授权</a:t>
            </a:r>
          </a:p>
        </p:txBody>
      </p:sp>
      <p:sp>
        <p:nvSpPr>
          <p:cNvPr id="22" name="Rounded Rectangle 21"/>
          <p:cNvSpPr/>
          <p:nvPr/>
        </p:nvSpPr>
        <p:spPr>
          <a:xfrm>
            <a:off x="9756648" y="1417320"/>
            <a:ext cx="1874519" cy="107899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884664"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6B49C8"/>
                </a:solidFill>
                <a:latin typeface="Arial"/>
              </a:rPr>
              <a:t>stage_c_selector.py</a:t>
            </a:r>
          </a:p>
        </p:txBody>
      </p:sp>
      <p:sp>
        <p:nvSpPr>
          <p:cNvPr id="24" name="Rectangle 23"/>
          <p:cNvSpPr/>
          <p:nvPr/>
        </p:nvSpPr>
        <p:spPr>
          <a:xfrm>
            <a:off x="9884664"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实例过滤与排序</a:t>
            </a:r>
          </a:p>
        </p:txBody>
      </p:sp>
      <p:sp>
        <p:nvSpPr>
          <p:cNvPr id="25" name="Rounded Rectangle 24"/>
          <p:cNvSpPr/>
          <p:nvPr/>
        </p:nvSpPr>
        <p:spPr>
          <a:xfrm>
            <a:off x="786384" y="3154680"/>
            <a:ext cx="5303520" cy="15544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3447288"/>
            <a:ext cx="1280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运行入口</a:t>
            </a:r>
          </a:p>
        </p:txBody>
      </p:sp>
      <p:sp>
        <p:nvSpPr>
          <p:cNvPr id="27" name="Rectangle 26"/>
          <p:cNvSpPr/>
          <p:nvPr/>
        </p:nvSpPr>
        <p:spPr>
          <a:xfrm>
            <a:off x="1060704" y="3822191"/>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run_stage_r_clean_snapshot.py</a:t>
            </a:r>
          </a:p>
        </p:txBody>
      </p:sp>
      <p:sp>
        <p:nvSpPr>
          <p:cNvPr id="28" name="Rectangle 27"/>
          <p:cNvSpPr/>
          <p:nvPr/>
        </p:nvSpPr>
        <p:spPr>
          <a:xfrm>
            <a:off x="1060704" y="4059935"/>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run_stage_a_llm.py</a:t>
            </a:r>
          </a:p>
        </p:txBody>
      </p:sp>
      <p:sp>
        <p:nvSpPr>
          <p:cNvPr id="29" name="Rectangle 28"/>
          <p:cNvSpPr/>
          <p:nvPr/>
        </p:nvSpPr>
        <p:spPr>
          <a:xfrm>
            <a:off x="1060704" y="4297679"/>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run_stage_b.py</a:t>
            </a:r>
          </a:p>
        </p:txBody>
      </p:sp>
      <p:sp>
        <p:nvSpPr>
          <p:cNvPr id="30" name="Rectangle 29"/>
          <p:cNvSpPr/>
          <p:nvPr/>
        </p:nvSpPr>
        <p:spPr>
          <a:xfrm>
            <a:off x="1060704" y="4535424"/>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run_routing_service.py</a:t>
            </a:r>
          </a:p>
        </p:txBody>
      </p:sp>
      <p:sp>
        <p:nvSpPr>
          <p:cNvPr id="31" name="Rounded Rectangle 30"/>
          <p:cNvSpPr/>
          <p:nvPr/>
        </p:nvSpPr>
        <p:spPr>
          <a:xfrm>
            <a:off x="6629400" y="3154680"/>
            <a:ext cx="4251960" cy="15544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03720" y="3447288"/>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验证与规模</a:t>
            </a:r>
          </a:p>
        </p:txBody>
      </p:sp>
      <p:sp>
        <p:nvSpPr>
          <p:cNvPr id="33" name="Rectangle 32"/>
          <p:cNvSpPr/>
          <p:nvPr/>
        </p:nvSpPr>
        <p:spPr>
          <a:xfrm>
            <a:off x="69037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12</a:t>
            </a:r>
          </a:p>
        </p:txBody>
      </p:sp>
      <p:sp>
        <p:nvSpPr>
          <p:cNvPr id="34" name="Rectangle 33"/>
          <p:cNvSpPr/>
          <p:nvPr/>
        </p:nvSpPr>
        <p:spPr>
          <a:xfrm>
            <a:off x="68762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核心模块</a:t>
            </a:r>
          </a:p>
        </p:txBody>
      </p:sp>
      <p:sp>
        <p:nvSpPr>
          <p:cNvPr id="35" name="Rectangle 34"/>
          <p:cNvSpPr/>
          <p:nvPr/>
        </p:nvSpPr>
        <p:spPr>
          <a:xfrm>
            <a:off x="78181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5</a:t>
            </a:r>
          </a:p>
        </p:txBody>
      </p:sp>
      <p:sp>
        <p:nvSpPr>
          <p:cNvPr id="36" name="Rectangle 35"/>
          <p:cNvSpPr/>
          <p:nvPr/>
        </p:nvSpPr>
        <p:spPr>
          <a:xfrm>
            <a:off x="77906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运行脚本</a:t>
            </a:r>
          </a:p>
        </p:txBody>
      </p:sp>
      <p:sp>
        <p:nvSpPr>
          <p:cNvPr id="37" name="Rectangle 36"/>
          <p:cNvSpPr/>
          <p:nvPr/>
        </p:nvSpPr>
        <p:spPr>
          <a:xfrm>
            <a:off x="87325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5</a:t>
            </a:r>
          </a:p>
        </p:txBody>
      </p:sp>
      <p:sp>
        <p:nvSpPr>
          <p:cNvPr id="38" name="Rectangle 37"/>
          <p:cNvSpPr/>
          <p:nvPr/>
        </p:nvSpPr>
        <p:spPr>
          <a:xfrm>
            <a:off x="87050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测试文件</a:t>
            </a:r>
          </a:p>
        </p:txBody>
      </p:sp>
      <p:sp>
        <p:nvSpPr>
          <p:cNvPr id="39" name="Rectangle 38"/>
          <p:cNvSpPr/>
          <p:nvPr/>
        </p:nvSpPr>
        <p:spPr>
          <a:xfrm>
            <a:off x="96469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Arial"/>
              </a:rPr>
              <a:t>9,787</a:t>
            </a:r>
          </a:p>
        </p:txBody>
      </p:sp>
      <p:sp>
        <p:nvSpPr>
          <p:cNvPr id="40" name="Rectangle 39"/>
          <p:cNvSpPr/>
          <p:nvPr/>
        </p:nvSpPr>
        <p:spPr>
          <a:xfrm>
            <a:off x="96194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代码与测试行数</a:t>
            </a:r>
          </a:p>
        </p:txBody>
      </p:sp>
      <p:sp>
        <p:nvSpPr>
          <p:cNvPr id="41" name="Rectangle 40"/>
          <p:cNvSpPr/>
          <p:nvPr/>
        </p:nvSpPr>
        <p:spPr>
          <a:xfrm>
            <a:off x="822960" y="5806440"/>
            <a:ext cx="6766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代码证明项目已经从方案说明进入可运行、可测试、可复现实验状态。</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C 技术剖面：能力地址到执行实例的硬过滤与可解释排序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技术难点在于路由结果不能停在能力标签，还要安全落到具体 agent endpoint，且执行层不能改写路由。</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94944" y="1170432"/>
            <a:ext cx="3337560" cy="374903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9264" y="14447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硬过滤条件</a:t>
            </a:r>
          </a:p>
        </p:txBody>
      </p:sp>
      <p:sp>
        <p:nvSpPr>
          <p:cNvPr id="12" name="Oval 11"/>
          <p:cNvSpPr/>
          <p:nvPr/>
        </p:nvSpPr>
        <p:spPr>
          <a:xfrm>
            <a:off x="987552" y="19293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2144" y="1874519"/>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routing_fqdn exact match</a:t>
            </a:r>
          </a:p>
        </p:txBody>
      </p:sp>
      <p:sp>
        <p:nvSpPr>
          <p:cNvPr id="14" name="Oval 13"/>
          <p:cNvSpPr/>
          <p:nvPr/>
        </p:nvSpPr>
        <p:spPr>
          <a:xfrm>
            <a:off x="987552" y="235000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2144" y="2295144"/>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endpoint exists</a:t>
            </a:r>
          </a:p>
        </p:txBody>
      </p:sp>
      <p:sp>
        <p:nvSpPr>
          <p:cNvPr id="16" name="Oval 15"/>
          <p:cNvSpPr/>
          <p:nvPr/>
        </p:nvSpPr>
        <p:spPr>
          <a:xfrm>
            <a:off x="987552" y="277063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2144" y="271576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status in online/ready/available</a:t>
            </a:r>
          </a:p>
        </p:txBody>
      </p:sp>
      <p:sp>
        <p:nvSpPr>
          <p:cNvPr id="18" name="Oval 17"/>
          <p:cNvSpPr/>
          <p:nvPr/>
        </p:nvSpPr>
        <p:spPr>
          <a:xfrm>
            <a:off x="987552" y="31912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144" y="3136391"/>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input/output schema covered</a:t>
            </a:r>
          </a:p>
        </p:txBody>
      </p:sp>
      <p:sp>
        <p:nvSpPr>
          <p:cNvPr id="20" name="Rectangle 19"/>
          <p:cNvSpPr/>
          <p:nvPr/>
        </p:nvSpPr>
        <p:spPr>
          <a:xfrm>
            <a:off x="987552" y="3913632"/>
            <a:ext cx="25146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被过滤对象写入 filtered_out_reasons，避免执行层悄悄兜底。</a:t>
            </a:r>
          </a:p>
        </p:txBody>
      </p:sp>
      <p:sp>
        <p:nvSpPr>
          <p:cNvPr id="21" name="Rounded Rectangle 20"/>
          <p:cNvSpPr/>
          <p:nvPr/>
        </p:nvSpPr>
        <p:spPr>
          <a:xfrm>
            <a:off x="4370832" y="1170432"/>
            <a:ext cx="3154680" cy="3749039"/>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5152" y="1444752"/>
            <a:ext cx="1234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Microsoft YaHei"/>
              </a:rPr>
              <a:t>排序评分</a:t>
            </a:r>
          </a:p>
        </p:txBody>
      </p:sp>
      <p:sp>
        <p:nvSpPr>
          <p:cNvPr id="23" name="Rectangle 22"/>
          <p:cNvSpPr/>
          <p:nvPr/>
        </p:nvSpPr>
        <p:spPr>
          <a:xfrm>
            <a:off x="4645152" y="1847088"/>
            <a:ext cx="2514600" cy="1417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102033"/>
                </a:solidFill>
                <a:latin typeface="Menlo"/>
              </a:rPr>
              <a:t>base = 0.55*S_match
     + 0.25*S_schema
     + 0.20*S_tag
final = base * health
      * fair_agent
      * fair_provider</a:t>
            </a:r>
          </a:p>
        </p:txBody>
      </p:sp>
      <p:sp>
        <p:nvSpPr>
          <p:cNvPr id="24" name="Rectangle 23"/>
          <p:cNvSpPr/>
          <p:nvPr/>
        </p:nvSpPr>
        <p:spPr>
          <a:xfrm>
            <a:off x="4645152" y="3730752"/>
            <a:ext cx="23317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53657A"/>
                </a:solidFill>
                <a:latin typeface="Microsoft YaHei"/>
              </a:rPr>
              <a:t>health 按 heartbeat 半衰期衰减；fairness 抑制单 agent / provider 过度曝光。</a:t>
            </a:r>
          </a:p>
        </p:txBody>
      </p:sp>
      <p:sp>
        <p:nvSpPr>
          <p:cNvPr id="25" name="Rounded Rectangle 24"/>
          <p:cNvSpPr/>
          <p:nvPr/>
        </p:nvSpPr>
        <p:spPr>
          <a:xfrm>
            <a:off x="8028431" y="1170432"/>
            <a:ext cx="2971800" cy="3749039"/>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2752" y="1444752"/>
            <a:ext cx="1600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selection_trace</a:t>
            </a:r>
          </a:p>
        </p:txBody>
      </p:sp>
      <p:sp>
        <p:nvSpPr>
          <p:cNvPr id="27" name="Rectangle 26"/>
          <p:cNvSpPr/>
          <p:nvPr/>
        </p:nvSpPr>
        <p:spPr>
          <a:xfrm>
            <a:off x="8302752" y="184708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candidate_count_before_filter</a:t>
            </a:r>
          </a:p>
        </p:txBody>
      </p:sp>
      <p:sp>
        <p:nvSpPr>
          <p:cNvPr id="28" name="Rectangle 27"/>
          <p:cNvSpPr/>
          <p:nvPr/>
        </p:nvSpPr>
        <p:spPr>
          <a:xfrm>
            <a:off x="8302752" y="2157984"/>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candidate_count_after_filter</a:t>
            </a:r>
          </a:p>
        </p:txBody>
      </p:sp>
      <p:sp>
        <p:nvSpPr>
          <p:cNvPr id="29" name="Rectangle 28"/>
          <p:cNvSpPr/>
          <p:nvPr/>
        </p:nvSpPr>
        <p:spPr>
          <a:xfrm>
            <a:off x="8302752" y="2468880"/>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filtered_out_reasons</a:t>
            </a:r>
          </a:p>
        </p:txBody>
      </p:sp>
      <p:sp>
        <p:nvSpPr>
          <p:cNvPr id="30" name="Rectangle 29"/>
          <p:cNvSpPr/>
          <p:nvPr/>
        </p:nvSpPr>
        <p:spPr>
          <a:xfrm>
            <a:off x="8302752" y="2779776"/>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chosen_agent_fqdn</a:t>
            </a:r>
          </a:p>
        </p:txBody>
      </p:sp>
      <p:sp>
        <p:nvSpPr>
          <p:cNvPr id="31" name="Rectangle 30"/>
          <p:cNvSpPr/>
          <p:nvPr/>
        </p:nvSpPr>
        <p:spPr>
          <a:xfrm>
            <a:off x="8302752" y="3090672"/>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selection_latency_ms</a:t>
            </a:r>
          </a:p>
        </p:txBody>
      </p:sp>
      <p:sp>
        <p:nvSpPr>
          <p:cNvPr id="32" name="Rectangle 31"/>
          <p:cNvSpPr/>
          <p:nvPr/>
        </p:nvSpPr>
        <p:spPr>
          <a:xfrm>
            <a:off x="8302752" y="340156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tie_break_applied</a:t>
            </a:r>
          </a:p>
        </p:txBody>
      </p:sp>
      <p:sp>
        <p:nvSpPr>
          <p:cNvPr id="33" name="Rectangle 32"/>
          <p:cNvSpPr/>
          <p:nvPr/>
        </p:nvSpPr>
        <p:spPr>
          <a:xfrm>
            <a:off x="8302752" y="3986784"/>
            <a:ext cx="2148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0E8A57"/>
                </a:solidFill>
                <a:latin typeface="Arial"/>
              </a:rPr>
              <a:t>输出：chosen_agent_fqdn -&gt; endpoint</a:t>
            </a:r>
          </a:p>
        </p:txBody>
      </p:sp>
      <p:sp>
        <p:nvSpPr>
          <p:cNvPr id="34" name="Rectangle 3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技术价值：把“语义正确”推进到“可执行、可审计、可解释选择”。</a:t>
            </a:r>
          </a:p>
        </p:txBody>
      </p:sp>
      <p:sp>
        <p:nvSpPr>
          <p:cNvPr id="35" name="Rectangle 3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7" name="Rectangle 3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数据资产：563 条冻结样本覆盖 9 类领域与复杂语义场景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主口径采用统一 train/test，历史 split 作为诊断材料。</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132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B63CE"/>
                </a:solidFill>
                <a:latin typeface="Arial"/>
              </a:rPr>
              <a:t>563</a:t>
            </a:r>
          </a:p>
        </p:txBody>
      </p:sp>
      <p:sp>
        <p:nvSpPr>
          <p:cNvPr id="11" name="Rectangle 10"/>
          <p:cNvSpPr/>
          <p:nvPr/>
        </p:nvSpPr>
        <p:spPr>
          <a:xfrm>
            <a:off x="7406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总样本</a:t>
            </a:r>
          </a:p>
        </p:txBody>
      </p:sp>
      <p:sp>
        <p:nvSpPr>
          <p:cNvPr id="12" name="Rectangle 11"/>
          <p:cNvSpPr/>
          <p:nvPr/>
        </p:nvSpPr>
        <p:spPr>
          <a:xfrm>
            <a:off x="20848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E8A57"/>
                </a:solidFill>
                <a:latin typeface="Arial"/>
              </a:rPr>
              <a:t>450</a:t>
            </a:r>
          </a:p>
        </p:txBody>
      </p:sp>
      <p:sp>
        <p:nvSpPr>
          <p:cNvPr id="13" name="Rectangle 12"/>
          <p:cNvSpPr/>
          <p:nvPr/>
        </p:nvSpPr>
        <p:spPr>
          <a:xfrm>
            <a:off x="21122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train</a:t>
            </a:r>
          </a:p>
        </p:txBody>
      </p:sp>
      <p:sp>
        <p:nvSpPr>
          <p:cNvPr id="14" name="Rectangle 13"/>
          <p:cNvSpPr/>
          <p:nvPr/>
        </p:nvSpPr>
        <p:spPr>
          <a:xfrm>
            <a:off x="34564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E97132"/>
                </a:solidFill>
                <a:latin typeface="Arial"/>
              </a:rPr>
              <a:t>113</a:t>
            </a:r>
          </a:p>
        </p:txBody>
      </p:sp>
      <p:sp>
        <p:nvSpPr>
          <p:cNvPr id="15" name="Rectangle 14"/>
          <p:cNvSpPr/>
          <p:nvPr/>
        </p:nvSpPr>
        <p:spPr>
          <a:xfrm>
            <a:off x="34838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test</a:t>
            </a:r>
          </a:p>
        </p:txBody>
      </p:sp>
      <p:sp>
        <p:nvSpPr>
          <p:cNvPr id="16" name="Rectangle 15"/>
          <p:cNvSpPr/>
          <p:nvPr/>
        </p:nvSpPr>
        <p:spPr>
          <a:xfrm>
            <a:off x="48280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6B49C8"/>
                </a:solidFill>
                <a:latin typeface="Arial"/>
              </a:rPr>
              <a:t>9</a:t>
            </a:r>
          </a:p>
        </p:txBody>
      </p:sp>
      <p:sp>
        <p:nvSpPr>
          <p:cNvPr id="17" name="Rectangle 16"/>
          <p:cNvSpPr/>
          <p:nvPr/>
        </p:nvSpPr>
        <p:spPr>
          <a:xfrm>
            <a:off x="48554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领域</a:t>
            </a:r>
          </a:p>
        </p:txBody>
      </p:sp>
      <p:sp>
        <p:nvSpPr>
          <p:cNvPr id="18" name="Rectangle 17"/>
          <p:cNvSpPr/>
          <p:nvPr/>
        </p:nvSpPr>
        <p:spPr>
          <a:xfrm>
            <a:off x="61996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B93232"/>
                </a:solidFill>
                <a:latin typeface="Arial"/>
              </a:rPr>
              <a:t>25</a:t>
            </a:r>
          </a:p>
        </p:txBody>
      </p:sp>
      <p:sp>
        <p:nvSpPr>
          <p:cNvPr id="19" name="Rectangle 18"/>
          <p:cNvSpPr/>
          <p:nvPr/>
        </p:nvSpPr>
        <p:spPr>
          <a:xfrm>
            <a:off x="62270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能力基座</a:t>
            </a:r>
          </a:p>
        </p:txBody>
      </p:sp>
      <p:sp>
        <p:nvSpPr>
          <p:cNvPr id="20" name="Rounded Rectangle 19"/>
          <p:cNvSpPr/>
          <p:nvPr/>
        </p:nvSpPr>
        <p:spPr>
          <a:xfrm>
            <a:off x="786384" y="2514600"/>
            <a:ext cx="5486400"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测试集领域分布</a:t>
            </a:r>
          </a:p>
        </p:txBody>
      </p:sp>
      <p:sp>
        <p:nvSpPr>
          <p:cNvPr id="22" name="Rectangle 21"/>
          <p:cNvSpPr/>
          <p:nvPr/>
        </p:nvSpPr>
        <p:spPr>
          <a:xfrm>
            <a:off x="1051560" y="31546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finance</a:t>
            </a:r>
          </a:p>
        </p:txBody>
      </p:sp>
      <p:sp>
        <p:nvSpPr>
          <p:cNvPr id="23" name="Rectangle 22"/>
          <p:cNvSpPr/>
          <p:nvPr/>
        </p:nvSpPr>
        <p:spPr>
          <a:xfrm>
            <a:off x="1901952" y="3182112"/>
            <a:ext cx="301752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74920" y="31363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28</a:t>
            </a:r>
          </a:p>
        </p:txBody>
      </p:sp>
      <p:sp>
        <p:nvSpPr>
          <p:cNvPr id="25" name="Rectangle 24"/>
          <p:cNvSpPr/>
          <p:nvPr/>
        </p:nvSpPr>
        <p:spPr>
          <a:xfrm>
            <a:off x="1051560" y="33375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travel</a:t>
            </a:r>
          </a:p>
        </p:txBody>
      </p:sp>
      <p:sp>
        <p:nvSpPr>
          <p:cNvPr id="26" name="Rectangle 25"/>
          <p:cNvSpPr/>
          <p:nvPr/>
        </p:nvSpPr>
        <p:spPr>
          <a:xfrm>
            <a:off x="1901952" y="3364992"/>
            <a:ext cx="258644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3192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24</a:t>
            </a:r>
          </a:p>
        </p:txBody>
      </p:sp>
      <p:sp>
        <p:nvSpPr>
          <p:cNvPr id="28" name="Rectangle 27"/>
          <p:cNvSpPr/>
          <p:nvPr/>
        </p:nvSpPr>
        <p:spPr>
          <a:xfrm>
            <a:off x="1051560" y="35204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security</a:t>
            </a:r>
          </a:p>
        </p:txBody>
      </p:sp>
      <p:sp>
        <p:nvSpPr>
          <p:cNvPr id="29" name="Rectangle 28"/>
          <p:cNvSpPr/>
          <p:nvPr/>
        </p:nvSpPr>
        <p:spPr>
          <a:xfrm>
            <a:off x="1901952" y="3547872"/>
            <a:ext cx="1724297"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74920" y="35021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16</a:t>
            </a:r>
          </a:p>
        </p:txBody>
      </p:sp>
      <p:sp>
        <p:nvSpPr>
          <p:cNvPr id="31" name="Rectangle 30"/>
          <p:cNvSpPr/>
          <p:nvPr/>
        </p:nvSpPr>
        <p:spPr>
          <a:xfrm>
            <a:off x="1051560" y="37033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productivity</a:t>
            </a:r>
          </a:p>
        </p:txBody>
      </p:sp>
      <p:sp>
        <p:nvSpPr>
          <p:cNvPr id="32" name="Rectangle 31"/>
          <p:cNvSpPr/>
          <p:nvPr/>
        </p:nvSpPr>
        <p:spPr>
          <a:xfrm>
            <a:off x="1901952" y="3730752"/>
            <a:ext cx="150876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4920" y="36850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14</a:t>
            </a:r>
          </a:p>
        </p:txBody>
      </p:sp>
      <p:sp>
        <p:nvSpPr>
          <p:cNvPr id="34" name="Rectangle 33"/>
          <p:cNvSpPr/>
          <p:nvPr/>
        </p:nvSpPr>
        <p:spPr>
          <a:xfrm>
            <a:off x="1051560" y="388620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gov</a:t>
            </a:r>
          </a:p>
        </p:txBody>
      </p:sp>
      <p:sp>
        <p:nvSpPr>
          <p:cNvPr id="35" name="Rectangle 34"/>
          <p:cNvSpPr/>
          <p:nvPr/>
        </p:nvSpPr>
        <p:spPr>
          <a:xfrm>
            <a:off x="1901952" y="3913632"/>
            <a:ext cx="1185454"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386791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11</a:t>
            </a:r>
          </a:p>
        </p:txBody>
      </p:sp>
      <p:sp>
        <p:nvSpPr>
          <p:cNvPr id="37" name="Rectangle 36"/>
          <p:cNvSpPr/>
          <p:nvPr/>
        </p:nvSpPr>
        <p:spPr>
          <a:xfrm>
            <a:off x="1051560" y="40690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commerce</a:t>
            </a:r>
          </a:p>
        </p:txBody>
      </p:sp>
      <p:sp>
        <p:nvSpPr>
          <p:cNvPr id="38" name="Rectangle 37"/>
          <p:cNvSpPr/>
          <p:nvPr/>
        </p:nvSpPr>
        <p:spPr>
          <a:xfrm>
            <a:off x="1901952" y="4096512"/>
            <a:ext cx="75438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4920" y="40507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7</a:t>
            </a:r>
          </a:p>
        </p:txBody>
      </p:sp>
      <p:sp>
        <p:nvSpPr>
          <p:cNvPr id="40" name="Rectangle 39"/>
          <p:cNvSpPr/>
          <p:nvPr/>
        </p:nvSpPr>
        <p:spPr>
          <a:xfrm>
            <a:off x="1051560" y="42519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health</a:t>
            </a:r>
          </a:p>
        </p:txBody>
      </p:sp>
      <p:sp>
        <p:nvSpPr>
          <p:cNvPr id="41" name="Rectangle 40"/>
          <p:cNvSpPr/>
          <p:nvPr/>
        </p:nvSpPr>
        <p:spPr>
          <a:xfrm>
            <a:off x="1901952" y="427939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42336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3" name="Rectangle 42"/>
          <p:cNvSpPr/>
          <p:nvPr/>
        </p:nvSpPr>
        <p:spPr>
          <a:xfrm>
            <a:off x="1051560" y="44348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education</a:t>
            </a:r>
          </a:p>
        </p:txBody>
      </p:sp>
      <p:sp>
        <p:nvSpPr>
          <p:cNvPr id="44" name="Rectangle 43"/>
          <p:cNvSpPr/>
          <p:nvPr/>
        </p:nvSpPr>
        <p:spPr>
          <a:xfrm>
            <a:off x="1901952" y="446227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74920" y="44165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6" name="Rectangle 45"/>
          <p:cNvSpPr/>
          <p:nvPr/>
        </p:nvSpPr>
        <p:spPr>
          <a:xfrm>
            <a:off x="1051560" y="46177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weather</a:t>
            </a:r>
          </a:p>
        </p:txBody>
      </p:sp>
      <p:sp>
        <p:nvSpPr>
          <p:cNvPr id="47" name="Rectangle 46"/>
          <p:cNvSpPr/>
          <p:nvPr/>
        </p:nvSpPr>
        <p:spPr>
          <a:xfrm>
            <a:off x="1901952" y="4645152"/>
            <a:ext cx="32330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74920" y="45994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3</a:t>
            </a:r>
          </a:p>
        </p:txBody>
      </p:sp>
      <p:sp>
        <p:nvSpPr>
          <p:cNvPr id="49" name="Rounded Rectangle 48"/>
          <p:cNvSpPr/>
          <p:nvPr/>
        </p:nvSpPr>
        <p:spPr>
          <a:xfrm>
            <a:off x="6858000" y="2514600"/>
            <a:ext cx="3977639"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14032"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复杂样本标签</a:t>
            </a:r>
          </a:p>
        </p:txBody>
      </p:sp>
      <p:sp>
        <p:nvSpPr>
          <p:cNvPr id="51" name="Rectangle 50"/>
          <p:cNvSpPr/>
          <p:nvPr/>
        </p:nvSpPr>
        <p:spPr>
          <a:xfrm>
            <a:off x="7150608" y="3246120"/>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E97132"/>
                </a:solidFill>
                <a:latin typeface="Arial"/>
              </a:rPr>
              <a:t>multi_intent</a:t>
            </a:r>
          </a:p>
        </p:txBody>
      </p:sp>
      <p:sp>
        <p:nvSpPr>
          <p:cNvPr id="52" name="Rectangle 51"/>
          <p:cNvSpPr/>
          <p:nvPr/>
        </p:nvSpPr>
        <p:spPr>
          <a:xfrm>
            <a:off x="8613648" y="325526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test=12</a:t>
            </a:r>
          </a:p>
        </p:txBody>
      </p:sp>
      <p:sp>
        <p:nvSpPr>
          <p:cNvPr id="53" name="Rectangle 52"/>
          <p:cNvSpPr/>
          <p:nvPr/>
        </p:nvSpPr>
        <p:spPr>
          <a:xfrm>
            <a:off x="7150608" y="381304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B93232"/>
                </a:solidFill>
                <a:latin typeface="Arial"/>
              </a:rPr>
              <a:t>high_risk</a:t>
            </a:r>
          </a:p>
        </p:txBody>
      </p:sp>
      <p:sp>
        <p:nvSpPr>
          <p:cNvPr id="54" name="Rectangle 53"/>
          <p:cNvSpPr/>
          <p:nvPr/>
        </p:nvSpPr>
        <p:spPr>
          <a:xfrm>
            <a:off x="8613648" y="3822191"/>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test=4</a:t>
            </a:r>
          </a:p>
        </p:txBody>
      </p:sp>
      <p:sp>
        <p:nvSpPr>
          <p:cNvPr id="55" name="Rectangle 54"/>
          <p:cNvSpPr/>
          <p:nvPr/>
        </p:nvSpPr>
        <p:spPr>
          <a:xfrm>
            <a:off x="822960" y="5715000"/>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样本覆盖 finance、security、gov、productivity 等基础资源相关语义任务。</a:t>
            </a:r>
          </a:p>
        </p:txBody>
      </p:sp>
      <p:sp>
        <p:nvSpPr>
          <p:cNvPr id="56" name="Rectangle 5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8" name="Rectangle 5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评测协议：冻结主口径，区分主结果、诊断结果与探索结果</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这页用于回答实验协议、配置选择和结果复现问题。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统一样本池</a:t>
            </a:r>
          </a:p>
        </p:txBody>
      </p:sp>
      <p:sp>
        <p:nvSpPr>
          <p:cNvPr id="12" name="Rectangle 11"/>
          <p:cNvSpPr/>
          <p:nvPr/>
        </p:nvSpPr>
        <p:spPr>
          <a:xfrm>
            <a:off x="9418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dev + blind + challenge + holdout2 + holdout3 = 563</a:t>
            </a:r>
          </a:p>
        </p:txBody>
      </p:sp>
      <p:sp>
        <p:nvSpPr>
          <p:cNvPr id="13" name="Rounded Rectangle 12"/>
          <p:cNvSpPr/>
          <p:nvPr/>
        </p:nvSpPr>
        <p:spPr>
          <a:xfrm>
            <a:off x="35204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850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train=450</a:t>
            </a:r>
          </a:p>
        </p:txBody>
      </p:sp>
      <p:sp>
        <p:nvSpPr>
          <p:cNvPr id="15" name="Rectangle 14"/>
          <p:cNvSpPr/>
          <p:nvPr/>
        </p:nvSpPr>
        <p:spPr>
          <a:xfrm>
            <a:off x="36850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方案开发 / 阈值选择 / 配置选择</a:t>
            </a:r>
          </a:p>
        </p:txBody>
      </p:sp>
      <p:sp>
        <p:nvSpPr>
          <p:cNvPr id="16" name="Rounded Rectangle 15"/>
          <p:cNvSpPr/>
          <p:nvPr/>
        </p:nvSpPr>
        <p:spPr>
          <a:xfrm>
            <a:off x="62636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28231"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test=113</a:t>
            </a:r>
          </a:p>
        </p:txBody>
      </p:sp>
      <p:sp>
        <p:nvSpPr>
          <p:cNvPr id="18" name="Rectangle 17"/>
          <p:cNvSpPr/>
          <p:nvPr/>
        </p:nvSpPr>
        <p:spPr>
          <a:xfrm>
            <a:off x="6428231"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一次性主结果报告</a:t>
            </a:r>
          </a:p>
        </p:txBody>
      </p:sp>
      <p:sp>
        <p:nvSpPr>
          <p:cNvPr id="19" name="Rounded Rectangle 18"/>
          <p:cNvSpPr/>
          <p:nvPr/>
        </p:nvSpPr>
        <p:spPr>
          <a:xfrm>
            <a:off x="90068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714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6B49C8"/>
                </a:solidFill>
                <a:latin typeface="Microsoft YaHei"/>
              </a:rPr>
              <a:t>holdout3 子集</a:t>
            </a:r>
          </a:p>
        </p:txBody>
      </p:sp>
      <p:sp>
        <p:nvSpPr>
          <p:cNvPr id="21" name="Rectangle 20"/>
          <p:cNvSpPr/>
          <p:nvPr/>
        </p:nvSpPr>
        <p:spPr>
          <a:xfrm>
            <a:off x="91714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协作消融与 bucket 诊断</a:t>
            </a:r>
          </a:p>
        </p:txBody>
      </p:sp>
      <p:sp>
        <p:nvSpPr>
          <p:cNvPr id="22" name="Rounded Rectangle 21"/>
          <p:cNvSpPr/>
          <p:nvPr/>
        </p:nvSpPr>
        <p:spPr>
          <a:xfrm>
            <a:off x="914400" y="3154680"/>
            <a:ext cx="475488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3456432"/>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防泄漏与可复现</a:t>
            </a:r>
          </a:p>
        </p:txBody>
      </p:sp>
      <p:sp>
        <p:nvSpPr>
          <p:cNvPr id="24" name="Oval 23"/>
          <p:cNvSpPr/>
          <p:nvPr/>
        </p:nvSpPr>
        <p:spPr>
          <a:xfrm>
            <a:off x="1188720" y="3877055"/>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822191"/>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候选快照与 gold 标签分离</a:t>
            </a:r>
          </a:p>
        </p:txBody>
      </p:sp>
      <p:sp>
        <p:nvSpPr>
          <p:cNvPr id="26" name="Oval 25"/>
          <p:cNvSpPr/>
          <p:nvPr/>
        </p:nvSpPr>
        <p:spPr>
          <a:xfrm>
            <a:off x="1188720" y="411479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53312" y="4059935"/>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主结果只讲冻结 train/test</a:t>
            </a:r>
          </a:p>
        </p:txBody>
      </p:sp>
      <p:sp>
        <p:nvSpPr>
          <p:cNvPr id="28" name="Oval 27"/>
          <p:cNvSpPr/>
          <p:nvPr/>
        </p:nvSpPr>
        <p:spPr>
          <a:xfrm>
            <a:off x="1188720" y="435254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97679"/>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历史 split 只作诊断材料</a:t>
            </a:r>
          </a:p>
        </p:txBody>
      </p:sp>
      <p:sp>
        <p:nvSpPr>
          <p:cNvPr id="30" name="Rounded Rectangle 29"/>
          <p:cNvSpPr/>
          <p:nvPr/>
        </p:nvSpPr>
        <p:spPr>
          <a:xfrm>
            <a:off x="6400800" y="3154680"/>
            <a:ext cx="416052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456432"/>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指标</a:t>
            </a:r>
          </a:p>
        </p:txBody>
      </p:sp>
      <p:sp>
        <p:nvSpPr>
          <p:cNvPr id="32" name="Rectangle 31"/>
          <p:cNvSpPr/>
          <p:nvPr/>
        </p:nvSpPr>
        <p:spPr>
          <a:xfrm>
            <a:off x="672084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PrimaryAcc@1</a:t>
            </a:r>
          </a:p>
        </p:txBody>
      </p:sp>
      <p:sp>
        <p:nvSpPr>
          <p:cNvPr id="33" name="Rectangle 32"/>
          <p:cNvSpPr/>
          <p:nvPr/>
        </p:nvSpPr>
        <p:spPr>
          <a:xfrm>
            <a:off x="836676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Acceptable@1</a:t>
            </a:r>
          </a:p>
        </p:txBody>
      </p:sp>
      <p:sp>
        <p:nvSpPr>
          <p:cNvPr id="34" name="Rectangle 33"/>
          <p:cNvSpPr/>
          <p:nvPr/>
        </p:nvSpPr>
        <p:spPr>
          <a:xfrm>
            <a:off x="672084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RelatedRecall</a:t>
            </a:r>
          </a:p>
        </p:txBody>
      </p:sp>
      <p:sp>
        <p:nvSpPr>
          <p:cNvPr id="35" name="Rectangle 34"/>
          <p:cNvSpPr/>
          <p:nvPr/>
        </p:nvSpPr>
        <p:spPr>
          <a:xfrm>
            <a:off x="836676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RelatedPrecision</a:t>
            </a:r>
          </a:p>
        </p:txBody>
      </p:sp>
      <p:sp>
        <p:nvSpPr>
          <p:cNvPr id="36" name="Rectangle 35"/>
          <p:cNvSpPr/>
          <p:nvPr/>
        </p:nvSpPr>
        <p:spPr>
          <a:xfrm>
            <a:off x="6720840" y="4334256"/>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Changed/Fix/Regress</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主结果：结构化语义路由构成主要性能台阶，协作复核释放后段修正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测试集 PrimaryAcc@1 从规则路由 78.76% 提升到扩展配置 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13232" y="1234440"/>
            <a:ext cx="6629400" cy="41148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34440" y="4199534"/>
            <a:ext cx="621792" cy="601065"/>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69848" y="3943502"/>
            <a:ext cx="95097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1">
                <a:solidFill>
                  <a:srgbClr val="0B63CE"/>
                </a:solidFill>
                <a:latin typeface="Arial"/>
              </a:rPr>
              <a:t>78.76%</a:t>
            </a:r>
          </a:p>
        </p:txBody>
      </p:sp>
      <p:sp>
        <p:nvSpPr>
          <p:cNvPr id="13" name="Rectangle 12"/>
          <p:cNvSpPr/>
          <p:nvPr/>
        </p:nvSpPr>
        <p:spPr>
          <a:xfrm>
            <a:off x="914400" y="4946904"/>
            <a:ext cx="12435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规则路由</a:t>
            </a:r>
          </a:p>
        </p:txBody>
      </p:sp>
      <p:sp>
        <p:nvSpPr>
          <p:cNvPr id="14" name="Rectangle 13"/>
          <p:cNvSpPr/>
          <p:nvPr/>
        </p:nvSpPr>
        <p:spPr>
          <a:xfrm>
            <a:off x="2606040" y="3082006"/>
            <a:ext cx="621792" cy="1718593"/>
          </a:xfrm>
          <a:prstGeom prst="rect">
            <a:avLst/>
          </a:prstGeom>
          <a:solidFill>
            <a:srgbClr val="0E8A57"/>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41448" y="2825974"/>
            <a:ext cx="95097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1">
                <a:solidFill>
                  <a:srgbClr val="0E8A57"/>
                </a:solidFill>
                <a:latin typeface="Arial"/>
              </a:rPr>
              <a:t>87.61%</a:t>
            </a:r>
          </a:p>
        </p:txBody>
      </p:sp>
      <p:sp>
        <p:nvSpPr>
          <p:cNvPr id="16" name="Rectangle 15"/>
          <p:cNvSpPr/>
          <p:nvPr/>
        </p:nvSpPr>
        <p:spPr>
          <a:xfrm>
            <a:off x="2286000" y="4946904"/>
            <a:ext cx="12435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结构化语义路由</a:t>
            </a:r>
          </a:p>
        </p:txBody>
      </p:sp>
      <p:sp>
        <p:nvSpPr>
          <p:cNvPr id="17" name="Rectangle 16"/>
          <p:cNvSpPr/>
          <p:nvPr/>
        </p:nvSpPr>
        <p:spPr>
          <a:xfrm>
            <a:off x="3977639" y="2969622"/>
            <a:ext cx="621792" cy="183097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13048" y="2713590"/>
            <a:ext cx="95097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1">
                <a:solidFill>
                  <a:srgbClr val="E97132"/>
                </a:solidFill>
                <a:latin typeface="Arial"/>
              </a:rPr>
              <a:t>88.50%</a:t>
            </a:r>
          </a:p>
        </p:txBody>
      </p:sp>
      <p:sp>
        <p:nvSpPr>
          <p:cNvPr id="19" name="Rectangle 18"/>
          <p:cNvSpPr/>
          <p:nvPr/>
        </p:nvSpPr>
        <p:spPr>
          <a:xfrm>
            <a:off x="3657599" y="4946904"/>
            <a:ext cx="12435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默认协作复核</a:t>
            </a:r>
          </a:p>
        </p:txBody>
      </p:sp>
      <p:sp>
        <p:nvSpPr>
          <p:cNvPr id="20" name="Rectangle 19"/>
          <p:cNvSpPr/>
          <p:nvPr/>
        </p:nvSpPr>
        <p:spPr>
          <a:xfrm>
            <a:off x="5349240" y="2411490"/>
            <a:ext cx="621792" cy="2389109"/>
          </a:xfrm>
          <a:prstGeom prst="rect">
            <a:avLst/>
          </a:prstGeom>
          <a:solidFill>
            <a:srgbClr val="B93232"/>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84648" y="2155458"/>
            <a:ext cx="95097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1">
                <a:solidFill>
                  <a:srgbClr val="B93232"/>
                </a:solidFill>
                <a:latin typeface="Arial"/>
              </a:rPr>
              <a:t>92.92%</a:t>
            </a:r>
          </a:p>
        </p:txBody>
      </p:sp>
      <p:sp>
        <p:nvSpPr>
          <p:cNvPr id="22" name="Rectangle 21"/>
          <p:cNvSpPr/>
          <p:nvPr/>
        </p:nvSpPr>
        <p:spPr>
          <a:xfrm>
            <a:off x="5029200" y="4946904"/>
            <a:ext cx="12435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扩展决策配置</a:t>
            </a:r>
          </a:p>
        </p:txBody>
      </p:sp>
      <p:sp>
        <p:nvSpPr>
          <p:cNvPr id="23" name="Rectangle 22"/>
          <p:cNvSpPr/>
          <p:nvPr/>
        </p:nvSpPr>
        <p:spPr>
          <a:xfrm>
            <a:off x="1005840" y="1572768"/>
            <a:ext cx="2377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102033"/>
                </a:solidFill>
                <a:latin typeface="Arial"/>
              </a:rPr>
              <a:t>PrimaryAcc@1 / test=113</a:t>
            </a:r>
          </a:p>
        </p:txBody>
      </p:sp>
      <p:sp>
        <p:nvSpPr>
          <p:cNvPr id="24" name="Rounded Rectangle 23"/>
          <p:cNvSpPr/>
          <p:nvPr/>
        </p:nvSpPr>
        <p:spPr>
          <a:xfrm>
            <a:off x="7818120" y="1353312"/>
            <a:ext cx="3154680" cy="10515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83879" y="1572768"/>
            <a:ext cx="233172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800" b="1">
                <a:solidFill>
                  <a:srgbClr val="B93232"/>
                </a:solidFill>
                <a:latin typeface="Arial"/>
              </a:rPr>
              <a:t>92.92%</a:t>
            </a:r>
          </a:p>
        </p:txBody>
      </p:sp>
      <p:sp>
        <p:nvSpPr>
          <p:cNvPr id="26" name="Rectangle 25"/>
          <p:cNvSpPr/>
          <p:nvPr/>
        </p:nvSpPr>
        <p:spPr>
          <a:xfrm>
            <a:off x="8183879" y="1993392"/>
            <a:ext cx="2331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00" b="1">
                <a:solidFill>
                  <a:srgbClr val="102033"/>
                </a:solidFill>
                <a:latin typeface="Microsoft YaHei"/>
              </a:rPr>
              <a:t>扩展配置测试准确率</a:t>
            </a:r>
          </a:p>
        </p:txBody>
      </p:sp>
      <p:sp>
        <p:nvSpPr>
          <p:cNvPr id="27" name="Rounded Rectangle 26"/>
          <p:cNvSpPr/>
          <p:nvPr/>
        </p:nvSpPr>
        <p:spPr>
          <a:xfrm>
            <a:off x="7818120" y="2743200"/>
            <a:ext cx="3154680" cy="868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2926080"/>
            <a:ext cx="1280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可接受准确率</a:t>
            </a:r>
          </a:p>
        </p:txBody>
      </p:sp>
      <p:sp>
        <p:nvSpPr>
          <p:cNvPr id="29" name="Rectangle 28"/>
          <p:cNvSpPr/>
          <p:nvPr/>
        </p:nvSpPr>
        <p:spPr>
          <a:xfrm>
            <a:off x="8138160" y="3218688"/>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81.42% → 91.15%</a:t>
            </a:r>
          </a:p>
        </p:txBody>
      </p:sp>
      <p:sp>
        <p:nvSpPr>
          <p:cNvPr id="30" name="Rounded Rectangle 29"/>
          <p:cNvSpPr/>
          <p:nvPr/>
        </p:nvSpPr>
        <p:spPr>
          <a:xfrm>
            <a:off x="7818120" y="3931920"/>
            <a:ext cx="3154680" cy="868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4114800"/>
            <a:ext cx="1280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相关能力恢复</a:t>
            </a:r>
          </a:p>
        </p:txBody>
      </p:sp>
      <p:sp>
        <p:nvSpPr>
          <p:cNvPr id="32" name="Rectangle 31"/>
          <p:cNvSpPr/>
          <p:nvPr/>
        </p:nvSpPr>
        <p:spPr>
          <a:xfrm>
            <a:off x="8138160" y="4407408"/>
            <a:ext cx="21945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Recall 28.95% → 36.84%    Precision 37.93% → 42.42%</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消融结果：放行策略与职责化证据配套带来后段收益</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五种协议慢路径覆盖率相同，差异来自有效证据向授权改判的转化能力。</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13232" y="1234440"/>
            <a:ext cx="5394960" cy="40233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15568" y="3864292"/>
            <a:ext cx="420624" cy="890587"/>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40" y="3644836"/>
            <a:ext cx="65836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0B63CE"/>
                </a:solidFill>
                <a:latin typeface="Arial"/>
              </a:rPr>
              <a:t>86.25%</a:t>
            </a:r>
          </a:p>
        </p:txBody>
      </p:sp>
      <p:sp>
        <p:nvSpPr>
          <p:cNvPr id="13" name="Rectangle 12"/>
          <p:cNvSpPr/>
          <p:nvPr/>
        </p:nvSpPr>
        <p:spPr>
          <a:xfrm>
            <a:off x="886968" y="4919472"/>
            <a:ext cx="89611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0">
                <a:solidFill>
                  <a:srgbClr val="53657A"/>
                </a:solidFill>
                <a:latin typeface="Arial"/>
              </a:rPr>
              <a:t>fastpath</a:t>
            </a:r>
          </a:p>
        </p:txBody>
      </p:sp>
      <p:sp>
        <p:nvSpPr>
          <p:cNvPr id="14" name="Rectangle 13"/>
          <p:cNvSpPr/>
          <p:nvPr/>
        </p:nvSpPr>
        <p:spPr>
          <a:xfrm>
            <a:off x="1956816" y="3864292"/>
            <a:ext cx="420624" cy="890587"/>
          </a:xfrm>
          <a:prstGeom prst="rect">
            <a:avLst/>
          </a:prstGeom>
          <a:solidFill>
            <a:srgbClr val="53657A"/>
          </a:solidFill>
          <a:ln w="12700">
            <a:solidFill>
              <a:srgbClr val="536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47088" y="3644836"/>
            <a:ext cx="65836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53657A"/>
                </a:solidFill>
                <a:latin typeface="Arial"/>
              </a:rPr>
              <a:t>86.25%</a:t>
            </a:r>
          </a:p>
        </p:txBody>
      </p:sp>
      <p:sp>
        <p:nvSpPr>
          <p:cNvPr id="16" name="Rectangle 15"/>
          <p:cNvSpPr/>
          <p:nvPr/>
        </p:nvSpPr>
        <p:spPr>
          <a:xfrm>
            <a:off x="1728216" y="4919472"/>
            <a:ext cx="89611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0">
                <a:solidFill>
                  <a:srgbClr val="53657A"/>
                </a:solidFill>
                <a:latin typeface="Arial"/>
              </a:rPr>
              <a:t>single</a:t>
            </a:r>
          </a:p>
        </p:txBody>
      </p:sp>
      <p:sp>
        <p:nvSpPr>
          <p:cNvPr id="17" name="Rectangle 16"/>
          <p:cNvSpPr/>
          <p:nvPr/>
        </p:nvSpPr>
        <p:spPr>
          <a:xfrm>
            <a:off x="2798064" y="3864292"/>
            <a:ext cx="420624" cy="890587"/>
          </a:xfrm>
          <a:prstGeom prst="rect">
            <a:avLst/>
          </a:prstGeom>
          <a:solidFill>
            <a:srgbClr val="53657A"/>
          </a:solidFill>
          <a:ln w="12700">
            <a:solidFill>
              <a:srgbClr val="536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88336" y="3644836"/>
            <a:ext cx="65836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53657A"/>
                </a:solidFill>
                <a:latin typeface="Arial"/>
              </a:rPr>
              <a:t>86.25%</a:t>
            </a:r>
          </a:p>
        </p:txBody>
      </p:sp>
      <p:sp>
        <p:nvSpPr>
          <p:cNvPr id="19" name="Rectangle 18"/>
          <p:cNvSpPr/>
          <p:nvPr/>
        </p:nvSpPr>
        <p:spPr>
          <a:xfrm>
            <a:off x="2569464" y="4919472"/>
            <a:ext cx="89611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0">
                <a:solidFill>
                  <a:srgbClr val="53657A"/>
                </a:solidFill>
                <a:latin typeface="Arial"/>
              </a:rPr>
              <a:t>homogeneous</a:t>
            </a:r>
          </a:p>
        </p:txBody>
      </p:sp>
      <p:sp>
        <p:nvSpPr>
          <p:cNvPr id="20" name="Rectangle 19"/>
          <p:cNvSpPr/>
          <p:nvPr/>
        </p:nvSpPr>
        <p:spPr>
          <a:xfrm>
            <a:off x="3639312" y="3864292"/>
            <a:ext cx="420624" cy="89058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29584" y="3644836"/>
            <a:ext cx="65836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E97132"/>
                </a:solidFill>
                <a:latin typeface="Arial"/>
              </a:rPr>
              <a:t>86.25%</a:t>
            </a:r>
          </a:p>
        </p:txBody>
      </p:sp>
      <p:sp>
        <p:nvSpPr>
          <p:cNvPr id="22" name="Rectangle 21"/>
          <p:cNvSpPr/>
          <p:nvPr/>
        </p:nvSpPr>
        <p:spPr>
          <a:xfrm>
            <a:off x="3410712" y="4919472"/>
            <a:ext cx="89611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0">
                <a:solidFill>
                  <a:srgbClr val="53657A"/>
                </a:solidFill>
                <a:latin typeface="Arial"/>
              </a:rPr>
              <a:t>hetero-v3</a:t>
            </a:r>
          </a:p>
        </p:txBody>
      </p:sp>
      <p:sp>
        <p:nvSpPr>
          <p:cNvPr id="23" name="Rectangle 22"/>
          <p:cNvSpPr/>
          <p:nvPr/>
        </p:nvSpPr>
        <p:spPr>
          <a:xfrm>
            <a:off x="4480560" y="2554605"/>
            <a:ext cx="420624" cy="2200275"/>
          </a:xfrm>
          <a:prstGeom prst="rect">
            <a:avLst/>
          </a:prstGeom>
          <a:solidFill>
            <a:srgbClr val="B93232"/>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70832" y="2335149"/>
            <a:ext cx="65836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B93232"/>
                </a:solidFill>
                <a:latin typeface="Arial"/>
              </a:rPr>
              <a:t>92.50%</a:t>
            </a:r>
          </a:p>
        </p:txBody>
      </p:sp>
      <p:sp>
        <p:nvSpPr>
          <p:cNvPr id="25" name="Rectangle 24"/>
          <p:cNvSpPr/>
          <p:nvPr/>
        </p:nvSpPr>
        <p:spPr>
          <a:xfrm>
            <a:off x="4251960" y="4919472"/>
            <a:ext cx="89611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0">
                <a:solidFill>
                  <a:srgbClr val="53657A"/>
                </a:solidFill>
                <a:latin typeface="Arial"/>
              </a:rPr>
              <a:t>expanded</a:t>
            </a:r>
          </a:p>
        </p:txBody>
      </p:sp>
      <p:sp>
        <p:nvSpPr>
          <p:cNvPr id="26" name="Rectangle 25"/>
          <p:cNvSpPr/>
          <p:nvPr/>
        </p:nvSpPr>
        <p:spPr>
          <a:xfrm>
            <a:off x="960120" y="1536192"/>
            <a:ext cx="2560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holdout3 test=80 / PrimaryAcc@1</a:t>
            </a:r>
          </a:p>
        </p:txBody>
      </p:sp>
      <p:sp>
        <p:nvSpPr>
          <p:cNvPr id="27" name="Rounded Rectangle 26"/>
          <p:cNvSpPr/>
          <p:nvPr/>
        </p:nvSpPr>
        <p:spPr>
          <a:xfrm>
            <a:off x="6766560" y="1463040"/>
            <a:ext cx="3520440" cy="1115568"/>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0" y="1783080"/>
            <a:ext cx="150876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B93232"/>
                </a:solidFill>
                <a:latin typeface="Arial"/>
              </a:rPr>
              <a:t>5 / 5 / 0</a:t>
            </a:r>
          </a:p>
        </p:txBody>
      </p:sp>
      <p:sp>
        <p:nvSpPr>
          <p:cNvPr id="29" name="Rectangle 28"/>
          <p:cNvSpPr/>
          <p:nvPr/>
        </p:nvSpPr>
        <p:spPr>
          <a:xfrm>
            <a:off x="7315200" y="2148840"/>
            <a:ext cx="2103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pooled test 改写 / 有效修正 / 回归</a:t>
            </a:r>
          </a:p>
        </p:txBody>
      </p:sp>
      <p:sp>
        <p:nvSpPr>
          <p:cNvPr id="30" name="Rounded Rectangle 29"/>
          <p:cNvSpPr/>
          <p:nvPr/>
        </p:nvSpPr>
        <p:spPr>
          <a:xfrm>
            <a:off x="6766560" y="3063240"/>
            <a:ext cx="3977639" cy="148132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40880" y="3364992"/>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关键解释</a:t>
            </a:r>
          </a:p>
        </p:txBody>
      </p:sp>
      <p:sp>
        <p:nvSpPr>
          <p:cNvPr id="32" name="Oval 31"/>
          <p:cNvSpPr/>
          <p:nvPr/>
        </p:nvSpPr>
        <p:spPr>
          <a:xfrm>
            <a:off x="7059168" y="3785615"/>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23759" y="3730752"/>
            <a:ext cx="31089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慢路径覆盖率相同：0.4525</a:t>
            </a:r>
          </a:p>
        </p:txBody>
      </p:sp>
      <p:sp>
        <p:nvSpPr>
          <p:cNvPr id="34" name="Oval 33"/>
          <p:cNvSpPr/>
          <p:nvPr/>
        </p:nvSpPr>
        <p:spPr>
          <a:xfrm>
            <a:off x="7059168" y="4041648"/>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23759" y="3986784"/>
            <a:ext cx="31089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expanded 多修 18 个，0 回归</a:t>
            </a:r>
          </a:p>
        </p:txBody>
      </p:sp>
      <p:sp>
        <p:nvSpPr>
          <p:cNvPr id="36" name="Oval 35"/>
          <p:cNvSpPr/>
          <p:nvPr/>
        </p:nvSpPr>
        <p:spPr>
          <a:xfrm>
            <a:off x="7059168" y="429768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23759" y="4242816"/>
            <a:ext cx="31089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收益集中在主次意图区分、层级竞争和跨域重叠</a:t>
            </a:r>
          </a:p>
        </p:txBody>
      </p:sp>
      <p:sp>
        <p:nvSpPr>
          <p:cNvPr id="38" name="Rectangle 3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0" name="Rectangle 3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典型案例：复杂样本修正可以追到具体语义冲突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案例说明指标背后的语义冲突、证据链和改判依据。</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61872"/>
            <a:ext cx="31089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71600"/>
            <a:ext cx="296265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样本语义</a:t>
            </a:r>
          </a:p>
        </p:txBody>
      </p:sp>
      <p:sp>
        <p:nvSpPr>
          <p:cNvPr id="12" name="Rectangle 11"/>
          <p:cNvSpPr/>
          <p:nvPr/>
        </p:nvSpPr>
        <p:spPr>
          <a:xfrm>
            <a:off x="3767328" y="1261872"/>
            <a:ext cx="21945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0" y="1371600"/>
            <a:ext cx="204825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A_llm_v2 初判</a:t>
            </a:r>
          </a:p>
        </p:txBody>
      </p:sp>
      <p:sp>
        <p:nvSpPr>
          <p:cNvPr id="14" name="Rectangle 13"/>
          <p:cNvSpPr/>
          <p:nvPr/>
        </p:nvSpPr>
        <p:spPr>
          <a:xfrm>
            <a:off x="5961888" y="1261872"/>
            <a:ext cx="21945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71600"/>
            <a:ext cx="204825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expanded 修正</a:t>
            </a:r>
          </a:p>
        </p:txBody>
      </p:sp>
      <p:sp>
        <p:nvSpPr>
          <p:cNvPr id="16" name="Rectangle 15"/>
          <p:cNvSpPr/>
          <p:nvPr/>
        </p:nvSpPr>
        <p:spPr>
          <a:xfrm>
            <a:off x="8156448" y="1261872"/>
            <a:ext cx="301752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371600"/>
            <a:ext cx="287121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解释</a:t>
            </a:r>
          </a:p>
        </p:txBody>
      </p:sp>
      <p:sp>
        <p:nvSpPr>
          <p:cNvPr id="18" name="Rectangle 17"/>
          <p:cNvSpPr/>
          <p:nvPr/>
        </p:nvSpPr>
        <p:spPr>
          <a:xfrm>
            <a:off x="658368" y="1645919"/>
            <a:ext cx="31089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 y="1847088"/>
            <a:ext cx="28895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材料骨架一页评审</a:t>
            </a:r>
          </a:p>
        </p:txBody>
      </p:sp>
      <p:sp>
        <p:nvSpPr>
          <p:cNvPr id="20" name="Rectangle 19"/>
          <p:cNvSpPr/>
          <p:nvPr/>
        </p:nvSpPr>
        <p:spPr>
          <a:xfrm>
            <a:off x="3767328" y="1645919"/>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77056" y="1847088"/>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course.education.cn</a:t>
            </a:r>
          </a:p>
        </p:txBody>
      </p:sp>
      <p:sp>
        <p:nvSpPr>
          <p:cNvPr id="22" name="Rectangle 21"/>
          <p:cNvSpPr/>
          <p:nvPr/>
        </p:nvSpPr>
        <p:spPr>
          <a:xfrm>
            <a:off x="5961888" y="1645919"/>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71616" y="1847088"/>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docs.productivity.cn</a:t>
            </a:r>
          </a:p>
        </p:txBody>
      </p:sp>
      <p:sp>
        <p:nvSpPr>
          <p:cNvPr id="24" name="Rectangle 23"/>
          <p:cNvSpPr/>
          <p:nvPr/>
        </p:nvSpPr>
        <p:spPr>
          <a:xfrm>
            <a:off x="8156448" y="1645919"/>
            <a:ext cx="301752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66175" y="1847088"/>
            <a:ext cx="2798063"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文档产出才是主任务</a:t>
            </a:r>
          </a:p>
        </p:txBody>
      </p:sp>
      <p:sp>
        <p:nvSpPr>
          <p:cNvPr id="26" name="Rectangle 25"/>
          <p:cNvSpPr/>
          <p:nvPr/>
        </p:nvSpPr>
        <p:spPr>
          <a:xfrm>
            <a:off x="658368" y="2359152"/>
            <a:ext cx="31089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8096" y="2560320"/>
            <a:ext cx="28895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到站后二次换乘</a:t>
            </a:r>
          </a:p>
        </p:txBody>
      </p:sp>
      <p:sp>
        <p:nvSpPr>
          <p:cNvPr id="28" name="Rectangle 27"/>
          <p:cNvSpPr/>
          <p:nvPr/>
        </p:nvSpPr>
        <p:spPr>
          <a:xfrm>
            <a:off x="3767328" y="2359152"/>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77056" y="2560320"/>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flight.travel.cn</a:t>
            </a:r>
          </a:p>
        </p:txBody>
      </p:sp>
      <p:sp>
        <p:nvSpPr>
          <p:cNvPr id="30" name="Rectangle 29"/>
          <p:cNvSpPr/>
          <p:nvPr/>
        </p:nvSpPr>
        <p:spPr>
          <a:xfrm>
            <a:off x="5961888" y="2359152"/>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1616" y="2560320"/>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transport.travel.cn</a:t>
            </a:r>
          </a:p>
        </p:txBody>
      </p:sp>
      <p:sp>
        <p:nvSpPr>
          <p:cNvPr id="32" name="Rectangle 31"/>
          <p:cNvSpPr/>
          <p:nvPr/>
        </p:nvSpPr>
        <p:spPr>
          <a:xfrm>
            <a:off x="8156448" y="2359152"/>
            <a:ext cx="301752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66175" y="2560320"/>
            <a:ext cx="2798063"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接驳优先于航班信息</a:t>
            </a:r>
          </a:p>
        </p:txBody>
      </p:sp>
      <p:sp>
        <p:nvSpPr>
          <p:cNvPr id="34" name="Rectangle 33"/>
          <p:cNvSpPr/>
          <p:nvPr/>
        </p:nvSpPr>
        <p:spPr>
          <a:xfrm>
            <a:off x="658368" y="3072384"/>
            <a:ext cx="31089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273552"/>
            <a:ext cx="28895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先看券再比价</a:t>
            </a:r>
          </a:p>
        </p:txBody>
      </p:sp>
      <p:sp>
        <p:nvSpPr>
          <p:cNvPr id="36" name="Rectangle 35"/>
          <p:cNvSpPr/>
          <p:nvPr/>
        </p:nvSpPr>
        <p:spPr>
          <a:xfrm>
            <a:off x="3767328" y="3072384"/>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77056" y="3273552"/>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price.commerce.cn</a:t>
            </a:r>
          </a:p>
        </p:txBody>
      </p:sp>
      <p:sp>
        <p:nvSpPr>
          <p:cNvPr id="38" name="Rectangle 37"/>
          <p:cNvSpPr/>
          <p:nvPr/>
        </p:nvSpPr>
        <p:spPr>
          <a:xfrm>
            <a:off x="5961888" y="3072384"/>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71616" y="3273552"/>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coupon.commerce.cn</a:t>
            </a:r>
          </a:p>
        </p:txBody>
      </p:sp>
      <p:sp>
        <p:nvSpPr>
          <p:cNvPr id="40" name="Rectangle 39"/>
          <p:cNvSpPr/>
          <p:nvPr/>
        </p:nvSpPr>
        <p:spPr>
          <a:xfrm>
            <a:off x="8156448" y="3072384"/>
            <a:ext cx="301752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66175" y="3273552"/>
            <a:ext cx="2798063"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优惠规则是主任务</a:t>
            </a:r>
          </a:p>
        </p:txBody>
      </p:sp>
      <p:sp>
        <p:nvSpPr>
          <p:cNvPr id="42" name="Rectangle 41"/>
          <p:cNvSpPr/>
          <p:nvPr/>
        </p:nvSpPr>
        <p:spPr>
          <a:xfrm>
            <a:off x="658368" y="3785615"/>
            <a:ext cx="31089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 y="3986783"/>
            <a:ext cx="28895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杭州多出一晚活动</a:t>
            </a:r>
          </a:p>
        </p:txBody>
      </p:sp>
      <p:sp>
        <p:nvSpPr>
          <p:cNvPr id="44" name="Rectangle 43"/>
          <p:cNvSpPr/>
          <p:nvPr/>
        </p:nvSpPr>
        <p:spPr>
          <a:xfrm>
            <a:off x="3767328" y="3785615"/>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77056" y="3986783"/>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hotel.travel.cn</a:t>
            </a:r>
          </a:p>
        </p:txBody>
      </p:sp>
      <p:sp>
        <p:nvSpPr>
          <p:cNvPr id="46" name="Rectangle 45"/>
          <p:cNvSpPr/>
          <p:nvPr/>
        </p:nvSpPr>
        <p:spPr>
          <a:xfrm>
            <a:off x="5961888" y="3785615"/>
            <a:ext cx="219456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71616" y="3986783"/>
            <a:ext cx="19751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activity.travel.cn</a:t>
            </a:r>
          </a:p>
        </p:txBody>
      </p:sp>
      <p:sp>
        <p:nvSpPr>
          <p:cNvPr id="48" name="Rectangle 47"/>
          <p:cNvSpPr/>
          <p:nvPr/>
        </p:nvSpPr>
        <p:spPr>
          <a:xfrm>
            <a:off x="8156448" y="3785615"/>
            <a:ext cx="3017520" cy="71323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66175" y="3986783"/>
            <a:ext cx="2798063"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活动选择优先于住宿调整</a:t>
            </a:r>
          </a:p>
        </p:txBody>
      </p:sp>
      <p:sp>
        <p:nvSpPr>
          <p:cNvPr id="50" name="Rectangle 49"/>
          <p:cNvSpPr/>
          <p:nvPr/>
        </p:nvSpPr>
        <p:spPr>
          <a:xfrm>
            <a:off x="749808" y="5074920"/>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案例价值：评审可以看到问题类型、错误来源、修正结果和解释口径，补足总准确率之外的证据。</a:t>
            </a:r>
          </a:p>
        </p:txBody>
      </p:sp>
      <p:sp>
        <p:nvSpPr>
          <p:cNvPr id="51" name="Rectangle 5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3" name="Rectangle 5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突破创新：把前沿多智能体研究压实到基础资源可用形态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创新点不只来自模型调用，而来自问题收敛、地址体系、协作控制、可信证据和验证资产的组合突破。</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417320"/>
            <a:ext cx="3154680" cy="10515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B63CE"/>
                </a:solidFill>
                <a:latin typeface="Arial"/>
              </a:rPr>
              <a:t>01</a:t>
            </a:r>
          </a:p>
        </p:txBody>
      </p:sp>
      <p:sp>
        <p:nvSpPr>
          <p:cNvPr id="12" name="Rectangle 11"/>
          <p:cNvSpPr/>
          <p:nvPr/>
        </p:nvSpPr>
        <p:spPr>
          <a:xfrm>
            <a:off x="14356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问题形态突破</a:t>
            </a:r>
          </a:p>
        </p:txBody>
      </p:sp>
      <p:sp>
        <p:nvSpPr>
          <p:cNvPr id="13" name="Rectangle 12"/>
          <p:cNvSpPr/>
          <p:nvPr/>
        </p:nvSpPr>
        <p:spPr>
          <a:xfrm>
            <a:off x="14356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从开放式智能体讨论，收敛到基础资源能力入口治理</a:t>
            </a:r>
          </a:p>
        </p:txBody>
      </p:sp>
      <p:sp>
        <p:nvSpPr>
          <p:cNvPr id="14" name="Rounded Rectangle 13"/>
          <p:cNvSpPr/>
          <p:nvPr/>
        </p:nvSpPr>
        <p:spPr>
          <a:xfrm>
            <a:off x="4434840" y="1417320"/>
            <a:ext cx="3154680" cy="10515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94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E8A57"/>
                </a:solidFill>
                <a:latin typeface="Arial"/>
              </a:rPr>
              <a:t>02</a:t>
            </a:r>
          </a:p>
        </p:txBody>
      </p:sp>
      <p:sp>
        <p:nvSpPr>
          <p:cNvPr id="16" name="Rectangle 15"/>
          <p:cNvSpPr/>
          <p:nvPr/>
        </p:nvSpPr>
        <p:spPr>
          <a:xfrm>
            <a:off x="50932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地址体系突破</a:t>
            </a:r>
          </a:p>
        </p:txBody>
      </p:sp>
      <p:sp>
        <p:nvSpPr>
          <p:cNvPr id="17" name="Rectangle 16"/>
          <p:cNvSpPr/>
          <p:nvPr/>
        </p:nvSpPr>
        <p:spPr>
          <a:xfrm>
            <a:off x="50932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区分 routing_fqdn 与 agent_fqdn，打通能力地址和实例地址</a:t>
            </a:r>
          </a:p>
        </p:txBody>
      </p:sp>
      <p:sp>
        <p:nvSpPr>
          <p:cNvPr id="18" name="Rounded Rectangle 17"/>
          <p:cNvSpPr/>
          <p:nvPr/>
        </p:nvSpPr>
        <p:spPr>
          <a:xfrm>
            <a:off x="8092440" y="1417320"/>
            <a:ext cx="3154680" cy="10515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570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E97132"/>
                </a:solidFill>
                <a:latin typeface="Arial"/>
              </a:rPr>
              <a:t>03</a:t>
            </a:r>
          </a:p>
        </p:txBody>
      </p:sp>
      <p:sp>
        <p:nvSpPr>
          <p:cNvPr id="20" name="Rectangle 19"/>
          <p:cNvSpPr/>
          <p:nvPr/>
        </p:nvSpPr>
        <p:spPr>
          <a:xfrm>
            <a:off x="8750808"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语义裁决突破</a:t>
            </a:r>
          </a:p>
        </p:txBody>
      </p:sp>
      <p:sp>
        <p:nvSpPr>
          <p:cNvPr id="21" name="Rectangle 20"/>
          <p:cNvSpPr/>
          <p:nvPr/>
        </p:nvSpPr>
        <p:spPr>
          <a:xfrm>
            <a:off x="8750808"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将大模型判断结构化为候选级证据、置信与冲突摘要</a:t>
            </a:r>
          </a:p>
        </p:txBody>
      </p:sp>
      <p:sp>
        <p:nvSpPr>
          <p:cNvPr id="22" name="Rounded Rectangle 21"/>
          <p:cNvSpPr/>
          <p:nvPr/>
        </p:nvSpPr>
        <p:spPr>
          <a:xfrm>
            <a:off x="777240" y="2862072"/>
            <a:ext cx="3154680" cy="10515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6B49C8"/>
                </a:solidFill>
                <a:latin typeface="Arial"/>
              </a:rPr>
              <a:t>04</a:t>
            </a:r>
          </a:p>
        </p:txBody>
      </p:sp>
      <p:sp>
        <p:nvSpPr>
          <p:cNvPr id="24" name="Rectangle 23"/>
          <p:cNvSpPr/>
          <p:nvPr/>
        </p:nvSpPr>
        <p:spPr>
          <a:xfrm>
            <a:off x="14356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协作控制突破</a:t>
            </a:r>
          </a:p>
        </p:txBody>
      </p:sp>
      <p:sp>
        <p:nvSpPr>
          <p:cNvPr id="25" name="Rectangle 24"/>
          <p:cNvSpPr/>
          <p:nvPr/>
        </p:nvSpPr>
        <p:spPr>
          <a:xfrm>
            <a:off x="14356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职责化角色复核 + 显式授权，控制改判边界和回归风险</a:t>
            </a:r>
          </a:p>
        </p:txBody>
      </p:sp>
      <p:sp>
        <p:nvSpPr>
          <p:cNvPr id="26" name="Rounded Rectangle 25"/>
          <p:cNvSpPr/>
          <p:nvPr/>
        </p:nvSpPr>
        <p:spPr>
          <a:xfrm>
            <a:off x="4434840" y="2862072"/>
            <a:ext cx="3154680" cy="1051560"/>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99431"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B93232"/>
                </a:solidFill>
                <a:latin typeface="Arial"/>
              </a:rPr>
              <a:t>05</a:t>
            </a:r>
          </a:p>
        </p:txBody>
      </p:sp>
      <p:sp>
        <p:nvSpPr>
          <p:cNvPr id="28" name="Rectangle 27"/>
          <p:cNvSpPr/>
          <p:nvPr/>
        </p:nvSpPr>
        <p:spPr>
          <a:xfrm>
            <a:off x="50932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可信证据突破</a:t>
            </a:r>
          </a:p>
        </p:txBody>
      </p:sp>
      <p:sp>
        <p:nvSpPr>
          <p:cNvPr id="29" name="Rectangle 28"/>
          <p:cNvSpPr/>
          <p:nvPr/>
        </p:nvSpPr>
        <p:spPr>
          <a:xfrm>
            <a:off x="50932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统一 trace contract 支撑过程回放、错误归因和审计展示</a:t>
            </a:r>
          </a:p>
        </p:txBody>
      </p:sp>
      <p:sp>
        <p:nvSpPr>
          <p:cNvPr id="30" name="Rounded Rectangle 29"/>
          <p:cNvSpPr/>
          <p:nvPr/>
        </p:nvSpPr>
        <p:spPr>
          <a:xfrm>
            <a:off x="914400" y="4956048"/>
            <a:ext cx="9875520" cy="71323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88720" y="5157216"/>
            <a:ext cx="81381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攻关结果：形成“命名空间—语义路由—协作复核—执行落点—可信轨迹”的可复用技术链条。</a:t>
            </a:r>
          </a:p>
        </p:txBody>
      </p:sp>
      <p:sp>
        <p:nvSpPr>
          <p:cNvPr id="32" name="Rectangle 31"/>
          <p:cNvSpPr/>
          <p:nvPr/>
        </p:nvSpPr>
        <p:spPr>
          <a:xfrm>
            <a:off x="1188720" y="5422392"/>
            <a:ext cx="768096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这条链条支撑重点项目从研究命题、实验验证到论文/专利/原型展示的统一表达。</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成果证据：论文、报告、专利、宣传和图示材料已经成套沉淀</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这一页把文档成果显性化，避免答辩只停留在技术流程。</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evidence_wall.png"/>
          <p:cNvPicPr>
            <a:picLocks noChangeAspect="1"/>
          </p:cNvPicPr>
          <p:nvPr/>
        </p:nvPicPr>
        <p:blipFill>
          <a:blip r:embed="rId3"/>
          <a:stretch>
            <a:fillRect/>
          </a:stretch>
        </p:blipFill>
        <p:spPr>
          <a:xfrm>
            <a:off x="566928" y="1115568"/>
            <a:ext cx="7680960" cy="4023360"/>
          </a:xfrm>
          <a:prstGeom prst="rect">
            <a:avLst/>
          </a:prstGeom>
        </p:spPr>
      </p:pic>
      <p:sp>
        <p:nvSpPr>
          <p:cNvPr id="11" name="Rounded Rectangle 10"/>
          <p:cNvSpPr/>
          <p:nvPr/>
        </p:nvSpPr>
        <p:spPr>
          <a:xfrm>
            <a:off x="8549640" y="1371600"/>
            <a:ext cx="2377440" cy="33832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691640"/>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材料清单</a:t>
            </a:r>
          </a:p>
        </p:txBody>
      </p:sp>
      <p:sp>
        <p:nvSpPr>
          <p:cNvPr id="13" name="Oval 12"/>
          <p:cNvSpPr/>
          <p:nvPr/>
        </p:nvSpPr>
        <p:spPr>
          <a:xfrm>
            <a:off x="8851392" y="21762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15984" y="212140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技术研究报告</a:t>
            </a:r>
          </a:p>
        </p:txBody>
      </p:sp>
      <p:sp>
        <p:nvSpPr>
          <p:cNvPr id="15" name="Oval 14"/>
          <p:cNvSpPr/>
          <p:nvPr/>
        </p:nvSpPr>
        <p:spPr>
          <a:xfrm>
            <a:off x="8851392" y="248716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15984" y="2432303"/>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论文投稿稿</a:t>
            </a:r>
          </a:p>
        </p:txBody>
      </p:sp>
      <p:sp>
        <p:nvSpPr>
          <p:cNvPr id="17" name="Oval 16"/>
          <p:cNvSpPr/>
          <p:nvPr/>
        </p:nvSpPr>
        <p:spPr>
          <a:xfrm>
            <a:off x="8851392" y="27980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5984" y="27432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专利技术交底书</a:t>
            </a:r>
          </a:p>
        </p:txBody>
      </p:sp>
      <p:sp>
        <p:nvSpPr>
          <p:cNvPr id="19" name="Oval 18"/>
          <p:cNvSpPr/>
          <p:nvPr/>
        </p:nvSpPr>
        <p:spPr>
          <a:xfrm>
            <a:off x="8851392" y="310896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3054096"/>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权利要求书/说明书</a:t>
            </a:r>
          </a:p>
        </p:txBody>
      </p:sp>
      <p:sp>
        <p:nvSpPr>
          <p:cNvPr id="21" name="Oval 20"/>
          <p:cNvSpPr/>
          <p:nvPr/>
        </p:nvSpPr>
        <p:spPr>
          <a:xfrm>
            <a:off x="8851392" y="34198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984" y="3364991"/>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成果宣传稿</a:t>
            </a:r>
          </a:p>
        </p:txBody>
      </p:sp>
      <p:sp>
        <p:nvSpPr>
          <p:cNvPr id="23" name="Oval 22"/>
          <p:cNvSpPr/>
          <p:nvPr/>
        </p:nvSpPr>
        <p:spPr>
          <a:xfrm>
            <a:off x="8851392" y="3730751"/>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5984" y="3675887"/>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验收报告填写版</a:t>
            </a:r>
          </a:p>
        </p:txBody>
      </p:sp>
      <p:sp>
        <p:nvSpPr>
          <p:cNvPr id="25" name="Rectangle 24"/>
          <p:cNvSpPr/>
          <p:nvPr/>
        </p:nvSpPr>
        <p:spPr>
          <a:xfrm>
            <a:off x="777240" y="5715000"/>
            <a:ext cx="7315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材料体系已经覆盖评审、投稿、专利、宣传和后续报送不同场景。</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考核指标完成情况：硬指标均已形成对应产物</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需补充正式专利提交/展示记录时，可在最终版替换为回执或会议证明。</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49808" y="1234440"/>
            <a:ext cx="292608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59" y="1344168"/>
            <a:ext cx="277977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考核指标</a:t>
            </a:r>
          </a:p>
        </p:txBody>
      </p:sp>
      <p:sp>
        <p:nvSpPr>
          <p:cNvPr id="12" name="Rectangle 11"/>
          <p:cNvSpPr/>
          <p:nvPr/>
        </p:nvSpPr>
        <p:spPr>
          <a:xfrm>
            <a:off x="3675888" y="1234440"/>
            <a:ext cx="1417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9040" y="1344168"/>
            <a:ext cx="127101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状态</a:t>
            </a:r>
          </a:p>
        </p:txBody>
      </p:sp>
      <p:sp>
        <p:nvSpPr>
          <p:cNvPr id="14" name="Rectangle 13"/>
          <p:cNvSpPr/>
          <p:nvPr/>
        </p:nvSpPr>
        <p:spPr>
          <a:xfrm>
            <a:off x="5093208" y="1234440"/>
            <a:ext cx="580644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66360" y="1344168"/>
            <a:ext cx="566013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证据说明</a:t>
            </a:r>
          </a:p>
        </p:txBody>
      </p:sp>
      <p:sp>
        <p:nvSpPr>
          <p:cNvPr id="16" name="Rectangle 15"/>
          <p:cNvSpPr/>
          <p:nvPr/>
        </p:nvSpPr>
        <p:spPr>
          <a:xfrm>
            <a:off x="749808" y="1655064"/>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1911095"/>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多智能体协作原型框架</a:t>
            </a:r>
          </a:p>
        </p:txBody>
      </p:sp>
      <p:sp>
        <p:nvSpPr>
          <p:cNvPr id="18" name="Rectangle 17"/>
          <p:cNvSpPr/>
          <p:nvPr/>
        </p:nvSpPr>
        <p:spPr>
          <a:xfrm>
            <a:off x="3675888" y="1655064"/>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85616" y="1911095"/>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0" name="Rectangle 19"/>
          <p:cNvSpPr/>
          <p:nvPr/>
        </p:nvSpPr>
        <p:spPr>
          <a:xfrm>
            <a:off x="5093208" y="1655064"/>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02936" y="1911095"/>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覆盖候选组织、结构化裁决、协作复核、过程记录和结果展示</a:t>
            </a:r>
          </a:p>
        </p:txBody>
      </p:sp>
      <p:sp>
        <p:nvSpPr>
          <p:cNvPr id="22" name="Rectangle 21"/>
          <p:cNvSpPr/>
          <p:nvPr/>
        </p:nvSpPr>
        <p:spPr>
          <a:xfrm>
            <a:off x="749808" y="2459736"/>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 y="2715768"/>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技术研究报告或论文</a:t>
            </a:r>
          </a:p>
        </p:txBody>
      </p:sp>
      <p:sp>
        <p:nvSpPr>
          <p:cNvPr id="24" name="Rectangle 23"/>
          <p:cNvSpPr/>
          <p:nvPr/>
        </p:nvSpPr>
        <p:spPr>
          <a:xfrm>
            <a:off x="3675888" y="2459736"/>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785616" y="2715768"/>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6" name="Rectangle 25"/>
          <p:cNvSpPr/>
          <p:nvPr/>
        </p:nvSpPr>
        <p:spPr>
          <a:xfrm>
            <a:off x="5093208" y="2459736"/>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02936" y="2715768"/>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技术报告、论文稿、图表、实验协议与结果分析齐备</a:t>
            </a:r>
          </a:p>
        </p:txBody>
      </p:sp>
      <p:sp>
        <p:nvSpPr>
          <p:cNvPr id="28" name="Rectangle 27"/>
          <p:cNvSpPr/>
          <p:nvPr/>
        </p:nvSpPr>
        <p:spPr>
          <a:xfrm>
            <a:off x="749808" y="3264408"/>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9536" y="3520440"/>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发明专利</a:t>
            </a:r>
          </a:p>
        </p:txBody>
      </p:sp>
      <p:sp>
        <p:nvSpPr>
          <p:cNvPr id="30" name="Rectangle 29"/>
          <p:cNvSpPr/>
          <p:nvPr/>
        </p:nvSpPr>
        <p:spPr>
          <a:xfrm>
            <a:off x="3675888" y="3264408"/>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5616" y="3520440"/>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材料已形成</a:t>
            </a:r>
          </a:p>
        </p:txBody>
      </p:sp>
      <p:sp>
        <p:nvSpPr>
          <p:cNvPr id="32" name="Rectangle 31"/>
          <p:cNvSpPr/>
          <p:nvPr/>
        </p:nvSpPr>
        <p:spPr>
          <a:xfrm>
            <a:off x="5093208" y="3264408"/>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02936" y="3520440"/>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交底书、权利要求书、说明书摘要和附图已整理</a:t>
            </a:r>
          </a:p>
        </p:txBody>
      </p:sp>
      <p:sp>
        <p:nvSpPr>
          <p:cNvPr id="34" name="Rectangle 33"/>
          <p:cNvSpPr/>
          <p:nvPr/>
        </p:nvSpPr>
        <p:spPr>
          <a:xfrm>
            <a:off x="749808" y="4069080"/>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 y="4325112"/>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对内成果展示或汇报演示</a:t>
            </a:r>
          </a:p>
        </p:txBody>
      </p:sp>
      <p:sp>
        <p:nvSpPr>
          <p:cNvPr id="36" name="Rectangle 35"/>
          <p:cNvSpPr/>
          <p:nvPr/>
        </p:nvSpPr>
        <p:spPr>
          <a:xfrm>
            <a:off x="3675888" y="4069080"/>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5616" y="4325112"/>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已形成支撑</a:t>
            </a:r>
          </a:p>
        </p:txBody>
      </p:sp>
      <p:sp>
        <p:nvSpPr>
          <p:cNvPr id="38" name="Rectangle 37"/>
          <p:cNvSpPr/>
          <p:nvPr/>
        </p:nvSpPr>
        <p:spPr>
          <a:xfrm>
            <a:off x="5093208" y="4069080"/>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02936" y="4325112"/>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PPT、Demo 脚本、原型截图/录屏可继续补强</a:t>
            </a:r>
          </a:p>
        </p:txBody>
      </p:sp>
      <p:sp>
        <p:nvSpPr>
          <p:cNvPr id="40" name="Rounded Rectangle 39"/>
          <p:cNvSpPr/>
          <p:nvPr/>
        </p:nvSpPr>
        <p:spPr>
          <a:xfrm>
            <a:off x="914400" y="5212080"/>
            <a:ext cx="960120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70432" y="5413248"/>
            <a:ext cx="81381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102033"/>
                </a:solidFill>
                <a:latin typeface="Microsoft YaHei"/>
              </a:rPr>
              <a:t>验收建议：最终提交包按 PPT、研究报告/论文、专利、原型演示、实验复现、附录材料六类组织。</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问题边界与下一步：保留严谨表述，避免过度承诺</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评审往往会追问规模化、成本、外推性和端到端联调，这页提前回答。</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417320"/>
            <a:ext cx="4526280" cy="100584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3"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外推性</a:t>
            </a:r>
          </a:p>
        </p:txBody>
      </p:sp>
      <p:sp>
        <p:nvSpPr>
          <p:cNvPr id="12" name="Rectangle 11"/>
          <p:cNvSpPr/>
          <p:nvPr/>
        </p:nvSpPr>
        <p:spPr>
          <a:xfrm>
            <a:off x="2048255"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现有结果建立在冻结样本与后验诊断池上，后续需扩展独立验证样本。</a:t>
            </a:r>
          </a:p>
        </p:txBody>
      </p:sp>
      <p:sp>
        <p:nvSpPr>
          <p:cNvPr id="13" name="Rounded Rectangle 12"/>
          <p:cNvSpPr/>
          <p:nvPr/>
        </p:nvSpPr>
        <p:spPr>
          <a:xfrm>
            <a:off x="6044184" y="1417320"/>
            <a:ext cx="4526280" cy="100584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2784"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运行成本</a:t>
            </a:r>
          </a:p>
        </p:txBody>
      </p:sp>
      <p:sp>
        <p:nvSpPr>
          <p:cNvPr id="15" name="Rectangle 14"/>
          <p:cNvSpPr/>
          <p:nvPr/>
        </p:nvSpPr>
        <p:spPr>
          <a:xfrm>
            <a:off x="7306056"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已用慢路径率与修正收益做代理，真实 token、时延、稳定性仍需统一记录。</a:t>
            </a:r>
          </a:p>
        </p:txBody>
      </p:sp>
      <p:sp>
        <p:nvSpPr>
          <p:cNvPr id="16" name="Rounded Rectangle 15"/>
          <p:cNvSpPr/>
          <p:nvPr/>
        </p:nvSpPr>
        <p:spPr>
          <a:xfrm>
            <a:off x="786384" y="2834640"/>
            <a:ext cx="4526280" cy="100584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3"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E8A57"/>
                </a:solidFill>
                <a:latin typeface="Microsoft YaHei"/>
              </a:rPr>
              <a:t>系统联调</a:t>
            </a:r>
          </a:p>
        </p:txBody>
      </p:sp>
      <p:sp>
        <p:nvSpPr>
          <p:cNvPr id="18" name="Rectangle 17"/>
          <p:cNvSpPr/>
          <p:nvPr/>
        </p:nvSpPr>
        <p:spPr>
          <a:xfrm>
            <a:off x="2048255"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Stage C 已有原型设计与测试，完整业务端到端联调需继续推进。</a:t>
            </a:r>
          </a:p>
        </p:txBody>
      </p:sp>
      <p:sp>
        <p:nvSpPr>
          <p:cNvPr id="19" name="Rounded Rectangle 18"/>
          <p:cNvSpPr/>
          <p:nvPr/>
        </p:nvSpPr>
        <p:spPr>
          <a:xfrm>
            <a:off x="6044184" y="2834640"/>
            <a:ext cx="4526280" cy="100584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6B49C8"/>
                </a:solidFill>
                <a:latin typeface="Microsoft YaHei"/>
              </a:rPr>
              <a:t>可信强度</a:t>
            </a:r>
          </a:p>
        </p:txBody>
      </p:sp>
      <p:sp>
        <p:nvSpPr>
          <p:cNvPr id="21" name="Rectangle 20"/>
          <p:cNvSpPr/>
          <p:nvPr/>
        </p:nvSpPr>
        <p:spPr>
          <a:xfrm>
            <a:off x="7306056"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当前是工程审计能力，后续可加入 hash-chain 与篡改检测。</a:t>
            </a:r>
          </a:p>
        </p:txBody>
      </p:sp>
      <p:sp>
        <p:nvSpPr>
          <p:cNvPr id="22" name="Rounded Rectangle 21"/>
          <p:cNvSpPr/>
          <p:nvPr/>
        </p:nvSpPr>
        <p:spPr>
          <a:xfrm>
            <a:off x="914400" y="4800600"/>
            <a:ext cx="9875520" cy="78638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0432" y="5074920"/>
            <a:ext cx="8503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FFFFFF"/>
                </a:solidFill>
                <a:latin typeface="Microsoft YaHei"/>
              </a:rPr>
              <a:t>后续重点：扩大验证范围、完善质量/成本/时延日志、推动演示端联调、凝练标准化表达与业务试点。</a:t>
            </a:r>
          </a:p>
        </p:txBody>
      </p:sp>
      <p:sp>
        <p:nvSpPr>
          <p:cNvPr id="24" name="Rectangle 2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6" name="Rectangle 2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1097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总结</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965960"/>
            <a:ext cx="347472" cy="347472"/>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2066543"/>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1</a:t>
            </a:r>
          </a:p>
        </p:txBody>
      </p:sp>
      <p:sp>
        <p:nvSpPr>
          <p:cNvPr id="7" name="Rectangle 6"/>
          <p:cNvSpPr/>
          <p:nvPr/>
        </p:nvSpPr>
        <p:spPr>
          <a:xfrm>
            <a:off x="1417320" y="19842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完成验收指标</a:t>
            </a:r>
          </a:p>
        </p:txBody>
      </p:sp>
      <p:sp>
        <p:nvSpPr>
          <p:cNvPr id="8" name="Rectangle 7"/>
          <p:cNvSpPr/>
          <p:nvPr/>
        </p:nvSpPr>
        <p:spPr>
          <a:xfrm>
            <a:off x="1426464" y="23500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原型、报告/论文、专利材料、展示支撑均已形成。</a:t>
            </a:r>
          </a:p>
        </p:txBody>
      </p:sp>
      <p:sp>
        <p:nvSpPr>
          <p:cNvPr id="9" name="Oval 8"/>
          <p:cNvSpPr/>
          <p:nvPr/>
        </p:nvSpPr>
        <p:spPr>
          <a:xfrm>
            <a:off x="877824" y="2880360"/>
            <a:ext cx="347472" cy="347472"/>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9809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2</a:t>
            </a:r>
          </a:p>
        </p:txBody>
      </p:sp>
      <p:sp>
        <p:nvSpPr>
          <p:cNvPr id="11" name="Rectangle 10"/>
          <p:cNvSpPr/>
          <p:nvPr/>
        </p:nvSpPr>
        <p:spPr>
          <a:xfrm>
            <a:off x="1417320" y="28986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形成技术闭环</a:t>
            </a:r>
          </a:p>
        </p:txBody>
      </p:sp>
      <p:sp>
        <p:nvSpPr>
          <p:cNvPr id="12" name="Rectangle 11"/>
          <p:cNvSpPr/>
          <p:nvPr/>
        </p:nvSpPr>
        <p:spPr>
          <a:xfrm>
            <a:off x="1426464" y="32644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能力命名、语义路由、职责化复核、执行落点和过程轨迹贯通。</a:t>
            </a:r>
          </a:p>
        </p:txBody>
      </p:sp>
      <p:sp>
        <p:nvSpPr>
          <p:cNvPr id="13" name="Oval 12"/>
          <p:cNvSpPr/>
          <p:nvPr/>
        </p:nvSpPr>
        <p:spPr>
          <a:xfrm>
            <a:off x="877824" y="3794760"/>
            <a:ext cx="347472" cy="34747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8953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3</a:t>
            </a:r>
          </a:p>
        </p:txBody>
      </p:sp>
      <p:sp>
        <p:nvSpPr>
          <p:cNvPr id="15" name="Rectangle 14"/>
          <p:cNvSpPr/>
          <p:nvPr/>
        </p:nvSpPr>
        <p:spPr>
          <a:xfrm>
            <a:off x="1417320" y="38130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具备延展价值</a:t>
            </a:r>
          </a:p>
        </p:txBody>
      </p:sp>
      <p:sp>
        <p:nvSpPr>
          <p:cNvPr id="16" name="Rectangle 15"/>
          <p:cNvSpPr/>
          <p:nvPr/>
        </p:nvSpPr>
        <p:spPr>
          <a:xfrm>
            <a:off x="1426464" y="41788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可继续支撑 AgentDNS、智能体标识、服务发现与治理审计方向。</a:t>
            </a:r>
          </a:p>
        </p:txBody>
      </p:sp>
      <p:sp>
        <p:nvSpPr>
          <p:cNvPr id="17" name="Rectangle 16"/>
          <p:cNvSpPr/>
          <p:nvPr/>
        </p:nvSpPr>
        <p:spPr>
          <a:xfrm>
            <a:off x="713232" y="5833872"/>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18" name="Rectangle 17"/>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19" name="Rectangle 18"/>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