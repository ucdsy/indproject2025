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b288125db894a82" /><Relationship Type="http://schemas.openxmlformats.org/officeDocument/2006/relationships/extended-properties" Target="/docProps/app.xml" Id="R835abf8c76b04e76" /><Relationship Type="http://schemas.openxmlformats.org/officeDocument/2006/relationships/officeDocument" Target="/ppt/presentation.xml" Id="R903e6c53afea44c0" /></Relationships>
</file>

<file path=ppt/presentation.xml><?xml version="1.0" encoding="utf-8"?>
<p:presentation xmlns:p="http://schemas.openxmlformats.org/presentationml/2006/main">
  <p:sldMasterIdLst>
    <p:sldMasterId xmlns:r="http://schemas.openxmlformats.org/officeDocument/2006/relationships" id="2147483648" r:id="R6213e4be13344797"/>
  </p:sldMasterIdLst>
  <p:notesMasterIdLst>
    <p:notesMasterId xmlns:r="http://schemas.openxmlformats.org/officeDocument/2006/relationships" r:id="R367d3981df714f4e"/>
  </p:notesMasterIdLst>
  <p:sldIdLst>
    <p:sldId xmlns:r="http://schemas.openxmlformats.org/officeDocument/2006/relationships" id="256" r:id="R4cfa04c4de5d4fad"/>
    <p:sldId xmlns:r="http://schemas.openxmlformats.org/officeDocument/2006/relationships" id="257" r:id="R44efd788fe154644"/>
    <p:sldId xmlns:r="http://schemas.openxmlformats.org/officeDocument/2006/relationships" id="258" r:id="R48a3ab76db824ade"/>
    <p:sldId xmlns:r="http://schemas.openxmlformats.org/officeDocument/2006/relationships" id="259" r:id="Rb56e4f867a4f4535"/>
    <p:sldId xmlns:r="http://schemas.openxmlformats.org/officeDocument/2006/relationships" id="260" r:id="R4c0e55178f3e47c4"/>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6213e4be13344797" /><Relationship Type="http://schemas.openxmlformats.org/officeDocument/2006/relationships/theme" Target="/ppt/theme/theme1.xml" Id="R912d06a6910a4917" /><Relationship Type="http://schemas.openxmlformats.org/officeDocument/2006/relationships/notesMaster" Target="/ppt/notesMasters/notesMaster1.xml" Id="R367d3981df714f4e" /><Relationship Type="http://schemas.openxmlformats.org/officeDocument/2006/relationships/presProps" Target="/ppt/presProps.xml" Id="R10e034018c2d46ab" /><Relationship Type="http://schemas.openxmlformats.org/officeDocument/2006/relationships/viewProps" Target="/ppt/viewProps.xml" Id="R56785849883b44b9" /><Relationship Type="http://schemas.openxmlformats.org/officeDocument/2006/relationships/tableStyles" Target="/ppt/tableStyles.xml" Id="R9dad648627ca4c8d" /><Relationship Type="http://schemas.openxmlformats.org/officeDocument/2006/relationships/slide" Target="/ppt/slides/slide1.xml" Id="R4cfa04c4de5d4fad" /><Relationship Type="http://schemas.openxmlformats.org/officeDocument/2006/relationships/slide" Target="/ppt/slides/slide2.xml" Id="R44efd788fe154644" /><Relationship Type="http://schemas.openxmlformats.org/officeDocument/2006/relationships/slide" Target="/ppt/slides/slide3.xml" Id="R48a3ab76db824ade" /><Relationship Type="http://schemas.openxmlformats.org/officeDocument/2006/relationships/slide" Target="/ppt/slides/slide4.xml" Id="Rb56e4f867a4f4535" /><Relationship Type="http://schemas.openxmlformats.org/officeDocument/2006/relationships/slide" Target="/ppt/slides/slide5.xml" Id="R4c0e55178f3e47c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73eba3833dd5455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Office">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ae9de21cb594a8e" /><Relationship Type="http://schemas.openxmlformats.org/officeDocument/2006/relationships/notesMaster" Target="/ppt/notesMasters/notesMaster1.xml" Id="Rb7a86e8ed55e4867" /></Relationships>
</file>

<file path=ppt/notesSlides/_rels/notesSlide2.xml.rels>&#65279;<?xml version="1.0" encoding="utf-8"?><Relationships xmlns="http://schemas.openxmlformats.org/package/2006/relationships"><Relationship Type="http://schemas.openxmlformats.org/officeDocument/2006/relationships/slide" Target="/ppt/slides/slide2.xml" Id="R11f8a8c78ff14fff" /><Relationship Type="http://schemas.openxmlformats.org/officeDocument/2006/relationships/notesMaster" Target="/ppt/notesMasters/notesMaster1.xml" Id="Ra4992a6795304fd5" /></Relationships>
</file>

<file path=ppt/notesSlides/_rels/notesSlide3.xml.rels>&#65279;<?xml version="1.0" encoding="utf-8"?><Relationships xmlns="http://schemas.openxmlformats.org/package/2006/relationships"><Relationship Type="http://schemas.openxmlformats.org/officeDocument/2006/relationships/slide" Target="/ppt/slides/slide3.xml" Id="R7511b5a13c2e432e" /><Relationship Type="http://schemas.openxmlformats.org/officeDocument/2006/relationships/notesMaster" Target="/ppt/notesMasters/notesMaster1.xml" Id="Rf4d7b2e0472c4d8a" /></Relationships>
</file>

<file path=ppt/notesSlides/_rels/notesSlide4.xml.rels>&#65279;<?xml version="1.0" encoding="utf-8"?><Relationships xmlns="http://schemas.openxmlformats.org/package/2006/relationships"><Relationship Type="http://schemas.openxmlformats.org/officeDocument/2006/relationships/slide" Target="/ppt/slides/slide4.xml" Id="Rfa17279367954ff7" /><Relationship Type="http://schemas.openxmlformats.org/officeDocument/2006/relationships/notesMaster" Target="/ppt/notesMasters/notesMaster1.xml" Id="Raf33dfece83842dd" /></Relationships>
</file>

<file path=ppt/notesSlides/_rels/notesSlide5.xml.rels>&#65279;<?xml version="1.0" encoding="utf-8"?><Relationships xmlns="http://schemas.openxmlformats.org/package/2006/relationships"><Relationship Type="http://schemas.openxmlformats.org/officeDocument/2006/relationships/slide" Target="/ppt/slides/slide5.xml" Id="R1dddbf2332ae4d8f" /><Relationship Type="http://schemas.openxmlformats.org/officeDocument/2006/relationships/notesMaster" Target="/ppt/notesMasters/notesMaster1.xml" Id="Rba3bd17f715f4bc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本项目提出了 </a:t>
            </a:r>
            <a:r>
              <a:rPr b="1"/>
              <a:t>CHPMN </a:t>
            </a:r>
            <a:r>
              <a:rPr b="1"/>
              <a:t>智能分析模型，面向 </a:t>
            </a:r>
            <a:r>
              <a:rPr b="1"/>
              <a:t>DNS </a:t>
            </a:r>
            <a:r>
              <a:rPr b="1"/>
              <a:t>流量场景开展识别与评估。</a:t>
            </a:r>
            <a:br/>
            <a:r>
              <a:t>该模型首先对 </a:t>
            </a:r>
            <a:r>
              <a:t>DNS </a:t>
            </a:r>
            <a:r>
              <a:t>流量中的结构关系、行为特征及潜在关联进行统一建模；</a:t>
            </a:r>
            <a:br/>
            <a:r>
              <a:t>在此基础上，从拓扑特征、属性特征和因果关联等多个层面提取典型模式，并进行融合分析；</a:t>
            </a:r>
            <a:br/>
            <a:r>
              <a:t>最终形成评估结果，为异常流量识别和安全研判提供支撑。</a:t>
            </a:r>
          </a:p>
          <a:p xmlns:a="http://schemas.openxmlformats.org/drawingml/2006/main">
            <a:r>
              <a:rPr b="1"/>
              <a:t>从实验评估结果看，</a:t>
            </a:r>
            <a:r>
              <a:rPr b="1"/>
              <a:t>CHPMN </a:t>
            </a:r>
            <a:r>
              <a:rPr b="1"/>
              <a:t>模型在不同数据规模条件下均保持了较好的稳定性和识别能力，整体效果优于现有对比方法，体现出较强的应用价值。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这页大概展示了对</a:t>
            </a:r>
            <a:r>
              <a:t>DNSOP</a:t>
            </a:r>
            <a:r>
              <a:t>工作组历史邮件的统计数据情况</a:t>
            </a:r>
          </a:p>
          <a:p xmlns:a="http://schemas.openxmlformats.org/drawingml/2006/main"/>
          <a:p xmlns:a="http://schemas.openxmlformats.org/drawingml/2006/main">
            <a:r>
              <a:t>上图：每月几百封邮件，</a:t>
            </a:r>
            <a:r>
              <a:t>14</a:t>
            </a:r>
            <a:r>
              <a:t>年开始变多</a:t>
            </a:r>
          </a:p>
          <a:p xmlns:a="http://schemas.openxmlformats.org/drawingml/2006/main">
            <a:r>
              <a:t>左下：按人统计邮件长度（谁最爱码字）</a:t>
            </a:r>
          </a:p>
          <a:p xmlns:a="http://schemas.openxmlformats.org/drawingml/2006/main">
            <a:r>
              <a:t>右下：按人统计邮件数量（谁最爱发邮件）</a:t>
            </a:r>
          </a:p>
          <a:p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我们想做的不是一个什么都回答的大模型，而是一个基于 </a:t>
            </a:r>
            <a:r>
              <a:t>IETF </a:t>
            </a:r>
            <a:r>
              <a:t>邮件归档和 </a:t>
            </a:r>
            <a:r>
              <a:t>RFC </a:t>
            </a:r>
            <a:r>
              <a:t>的专业智能体。</a:t>
            </a:r>
            <a:br/>
            <a:r>
              <a:t>它的核心价值，是把“正式标准结论”和“形成结论前的讨论过程”结合起来，通过</a:t>
            </a:r>
            <a:r>
              <a:t>RAG</a:t>
            </a:r>
            <a:r>
              <a:t>让模型先找依据、再做受控分析，最后给出可追溯答案。</a:t>
            </a:r>
            <a:br/>
            <a:r>
              <a:t>这样既能提升专业问答和标准跟踪能力，也能通过“基于证据回答、证据不足就提示”的方式，尽量降低幻觉。</a:t>
            </a:r>
          </a:p>
          <a:p xmlns:a="http://schemas.openxmlformats.org/drawingml/2006/main"/>
          <a:p xmlns:a="http://schemas.openxmlformats.org/drawingml/2006/main">
            <a:r>
              <a:t>我们主要考虑以下场景：</a:t>
            </a:r>
          </a:p>
          <a:p xmlns:a="http://schemas.openxmlformats.org/drawingml/2006/main">
            <a:r>
              <a:t>以 </a:t>
            </a:r>
            <a:r>
              <a:t>IETF </a:t>
            </a:r>
            <a:r>
              <a:t>邮件归档、会议记录和 </a:t>
            </a:r>
            <a:r>
              <a:t>RFC </a:t>
            </a:r>
            <a:r>
              <a:t>为主要知识来源，做一个懂互联网标准、能围绕标准材料开展分析的专业智能体。它不只是回答“这份标准讲了什么”，还能够帮助我们理清一项技术是怎么讨论出来的、目前推进到了哪一步、后面有没有希望继续往前走；对新 </a:t>
            </a:r>
            <a:r>
              <a:t>draft</a:t>
            </a:r>
            <a:r>
              <a:t>，还可以辅助分析其形成 </a:t>
            </a:r>
            <a:r>
              <a:t>RFC </a:t>
            </a:r>
            <a:r>
              <a:t>的可能性，提前整理专家可能会追问的问题，帮助我们更高效地做标准跟踪、会议准备、信息分析和工作支撑。</a:t>
            </a:r>
          </a:p>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a15cf103fe844b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1cce4d23d844dd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e21a156c9be4f4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b38f536e688499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9a5613093f2415f"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17cae14b70847a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5f6b2b0c55de4eb3"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b64b1dfd177b43ef"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e4ab184ed8bb4c79"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bcfd34cd37a743bc"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c91bafc3bd974610" /></Relationships>
</file>

<file path=ppt/slideLayouts/slideLayout1.xml><?xml version="1.0" encoding="utf-8"?>
<p:sldLayout xmlns:p="http://schemas.openxmlformats.org/presentationml/2006/main">
  <p:cSld>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type="objTx">
  <p:cSld name="内容与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EA304954-ECAE-6739-98A8-89C663BA40CA}"/>
              </a:ext>
            </a:extLst>
          </p:cNvPr>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p:txBody>
      </p:sp>
      <p:sp>
        <p:nvSpPr>
          <p:cNvPr id="4" name="文本占位符 3">
            <a:extLst xmlns:a="http://schemas.openxmlformats.org/drawingml/2006/main">
              <a:ext uri="{FF2B5EF4-FFF2-40B4-BE49-F238E27FC236}">
                <a16:creationId xmlns:a16="http://schemas.microsoft.com/office/drawing/2014/main" id="{C813B23D-B9DE-8A27-0D6E-8E79B30FF728}"/>
              </a:ext>
            </a:extLst>
          </p:cNvPr>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p:txBody>
      </p:sp>
      <p:sp>
        <p:nvSpPr>
          <p:cNvPr id="5" name="日期占位符 4">
            <a:extLst xmlns:a="http://schemas.openxmlformats.org/drawingml/2006/main">
              <a:ext uri="{FF2B5EF4-FFF2-40B4-BE49-F238E27FC236}">
                <a16:creationId xmlns:a16="http://schemas.microsoft.com/office/drawing/2014/main" id="{BBFC09C1-3E4D-1FEC-BCA2-0A6BDB8C1FAD}"/>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6" name="页脚占位符 5">
            <a:extLst xmlns:a="http://schemas.openxmlformats.org/drawingml/2006/main">
              <a:ext uri="{FF2B5EF4-FFF2-40B4-BE49-F238E27FC236}">
                <a16:creationId xmlns:a16="http://schemas.microsoft.com/office/drawing/2014/main" id="{83A4F7A4-CA3E-03DA-C6CC-FEFC9E8FDCD6}"/>
              </a:ext>
            </a:extLst>
          </p:cNvPr>
          <p:cNvSpPr/>
          <p:nvPr>
            <p:ph type="ftr" idx="11"/>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3.xml><?xml version="1.0" encoding="utf-8"?>
<p:sldLayout xmlns:p="http://schemas.openxmlformats.org/presentationml/2006/main" type="secHead">
  <p:cSld name="节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BDB212B5-EF53-9A0D-D65F-9A5211969651}"/>
              </a:ext>
            </a:extLst>
          </p:cNvPr>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p:txBody>
      </p:sp>
      <p:sp>
        <p:nvSpPr>
          <p:cNvPr id="3" name="文本占位符 2">
            <a:extLst xmlns:a="http://schemas.openxmlformats.org/drawingml/2006/main">
              <a:ext uri="{FF2B5EF4-FFF2-40B4-BE49-F238E27FC236}">
                <a16:creationId xmlns:a16="http://schemas.microsoft.com/office/drawing/2014/main" id="{63C8B31D-629C-C373-4D63-A6D691F12F28}"/>
              </a:ext>
            </a:extLst>
          </p:cNvPr>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xmlns:a="http://schemas.openxmlformats.org/drawingml/2006/main"/>
        </p:txBody>
      </p:sp>
      <p:sp>
        <p:nvSpPr>
          <p:cNvPr id="4" name="日期占位符 3">
            <a:extLst xmlns:a="http://schemas.openxmlformats.org/drawingml/2006/main">
              <a:ext uri="{FF2B5EF4-FFF2-40B4-BE49-F238E27FC236}">
                <a16:creationId xmlns:a16="http://schemas.microsoft.com/office/drawing/2014/main" id="{B140985E-F433-251E-F5CD-79A8376C3078}"/>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5" name="页脚占位符 4">
            <a:extLst xmlns:a="http://schemas.openxmlformats.org/drawingml/2006/main">
              <a:ext uri="{FF2B5EF4-FFF2-40B4-BE49-F238E27FC236}">
                <a16:creationId xmlns:a16="http://schemas.microsoft.com/office/drawing/2014/main" id="{4606BBBB-0BE3-7460-1E2B-99B9F9B13F98}"/>
              </a:ext>
            </a:extLst>
          </p:cNvPr>
          <p:cNvSpPr/>
          <p:nvPr>
            <p:ph type="ftr" idx="11"/>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4.xml><?xml version="1.0" encoding="utf-8"?>
<p:sldLayout xmlns:p="http://schemas.openxmlformats.org/presentationml/2006/main" type="blank">
  <p:cSld name="空白">
    <p:spTree>
      <p:nvGrpSpPr>
        <p:cNvPr id="1" name=""/>
        <p:cNvGrpSpPr/>
        <p:nvPr/>
      </p:nvGrpSpPr>
      <p:grpSpPr>
        <a:xfrm xmlns:a="http://schemas.openxmlformats.org/drawingml/2006/main"/>
      </p:grpSpPr>
      <p:sp>
        <p:nvSpPr>
          <p:cNvPr id="2" name="日期占位符 1">
            <a:extLst xmlns:a="http://schemas.openxmlformats.org/drawingml/2006/main">
              <a:ext uri="{FF2B5EF4-FFF2-40B4-BE49-F238E27FC236}">
                <a16:creationId xmlns:a16="http://schemas.microsoft.com/office/drawing/2014/main" id="{22BBB213-E159-7A34-25FF-54B2D59EF3DF}"/>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3" name="页脚占位符 2">
            <a:extLst xmlns:a="http://schemas.openxmlformats.org/drawingml/2006/main">
              <a:ext uri="{FF2B5EF4-FFF2-40B4-BE49-F238E27FC236}">
                <a16:creationId xmlns:a16="http://schemas.microsoft.com/office/drawing/2014/main" id="{BFEFA302-D8FF-94F4-A1E8-DD273827C9D6}"/>
              </a:ext>
            </a:extLst>
          </p:cNvPr>
          <p:cNvSpPr/>
          <p:nvPr>
            <p:ph type="ftr" idx="11"/>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5.xml><?xml version="1.0" encoding="utf-8"?>
<p:sldLayout xmlns:p="http://schemas.openxmlformats.org/presentationml/2006/main" type="obj">
  <p:cSld name="标题和内容">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E5289CBB-BFC5-5B8F-EBD8-4B78FDF2D4BD}"/>
              </a:ext>
            </a:extLst>
          </p:cNvPr>
          <p:cNvSpPr/>
          <p:nvPr>
            <p:ph type="title" idx="0"/>
          </p:nvPr>
        </p:nvSpPr>
        <p:spPr/>
        <p:txBody>
          <a:bodyPr xmlns:a="http://schemas.openxmlformats.org/drawingml/2006/main"/>
          <a:lstStyle xmlns:a="http://schemas.openxmlformats.org/drawingml/2006/main"/>
          <a:p xmlns:a="http://schemas.openxmlformats.org/drawingml/2006/main"/>
        </p:txBody>
      </p:sp>
      <p:sp>
        <p:nvSpPr>
          <p:cNvPr id="4" name="日期占位符 3">
            <a:extLst xmlns:a="http://schemas.openxmlformats.org/drawingml/2006/main">
              <a:ext uri="{FF2B5EF4-FFF2-40B4-BE49-F238E27FC236}">
                <a16:creationId xmlns:a16="http://schemas.microsoft.com/office/drawing/2014/main" id="{57D76409-8447-BB2E-5D50-8ECBB0C2F866}"/>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5" name="页脚占位符 4">
            <a:extLst xmlns:a="http://schemas.openxmlformats.org/drawingml/2006/main">
              <a:ext uri="{FF2B5EF4-FFF2-40B4-BE49-F238E27FC236}">
                <a16:creationId xmlns:a16="http://schemas.microsoft.com/office/drawing/2014/main" id="{C83E195D-4445-1ED9-B459-2BED693CCA44}"/>
              </a:ext>
            </a:extLst>
          </p:cNvPr>
          <p:cNvSpPr/>
          <p:nvPr>
            <p:ph type="ftr" idx="11"/>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6.xml><?xml version="1.0" encoding="utf-8"?>
<p:sldLayout xmlns:p="http://schemas.openxmlformats.org/presentationml/2006/main" type="title">
  <p:cSld name="标题幻灯片">
    <p:spTree>
      <p:nvGrpSpPr>
        <p:cNvPr id="1" name=""/>
        <p:cNvGrpSpPr/>
        <p:nvPr/>
      </p:nvGrpSpPr>
      <p:grpSpPr>
        <a:xfrm xmlns:a="http://schemas.openxmlformats.org/drawingml/2006/main"/>
      </p:grpSpPr>
      <p:sp>
        <p:nvSpPr>
          <p:cNvPr id="4" name="日期占位符 3">
            <a:extLst xmlns:a="http://schemas.openxmlformats.org/drawingml/2006/main">
              <a:ext uri="{FF2B5EF4-FFF2-40B4-BE49-F238E27FC236}">
                <a16:creationId xmlns:a16="http://schemas.microsoft.com/office/drawing/2014/main" id="{0B448FF4-A0F7-C178-7E73-A6B5A0F57E03}"/>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5" name="页脚占位符 4">
            <a:extLst xmlns:a="http://schemas.openxmlformats.org/drawingml/2006/main">
              <a:ext uri="{FF2B5EF4-FFF2-40B4-BE49-F238E27FC236}">
                <a16:creationId xmlns:a16="http://schemas.microsoft.com/office/drawing/2014/main" id="{B1CAFAD6-E5B0-D783-24F6-1A64AC58BA5A}"/>
              </a:ext>
            </a:extLst>
          </p:cNvPr>
          <p:cNvSpPr/>
          <p:nvPr>
            <p:ph type="ftr" idx="11"/>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7.xml><?xml version="1.0" encoding="utf-8"?>
<p:sldLayout xmlns:p="http://schemas.openxmlformats.org/presentationml/2006/main" type="titleOnly">
  <p:cSld name="仅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6B501D4A-31E0-D117-9FD2-48C9503CA641}"/>
              </a:ext>
            </a:extLst>
          </p:cNvPr>
          <p:cNvSpPr/>
          <p:nvPr>
            <p:ph type="title" idx="0"/>
          </p:nvPr>
        </p:nvSpPr>
        <p:spPr/>
        <p:txBody>
          <a:bodyPr xmlns:a="http://schemas.openxmlformats.org/drawingml/2006/main"/>
          <a:lstStyle xmlns:a="http://schemas.openxmlformats.org/drawingml/2006/main"/>
          <a:p xmlns:a="http://schemas.openxmlformats.org/drawingml/2006/main"/>
        </p:txBody>
      </p:sp>
      <p:sp>
        <p:nvSpPr>
          <p:cNvPr id="3" name="日期占位符 2">
            <a:extLst xmlns:a="http://schemas.openxmlformats.org/drawingml/2006/main">
              <a:ext uri="{FF2B5EF4-FFF2-40B4-BE49-F238E27FC236}">
                <a16:creationId xmlns:a16="http://schemas.microsoft.com/office/drawing/2014/main" id="{EC84EFB4-2388-2E73-619C-7D2B1BF7A4FE}"/>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4" name="页脚占位符 3">
            <a:extLst xmlns:a="http://schemas.openxmlformats.org/drawingml/2006/main">
              <a:ext uri="{FF2B5EF4-FFF2-40B4-BE49-F238E27FC236}">
                <a16:creationId xmlns:a16="http://schemas.microsoft.com/office/drawing/2014/main" id="{5309E9E4-241D-3EDA-0285-D0D377569939}"/>
              </a:ext>
            </a:extLst>
          </p:cNvPr>
          <p:cNvSpPr/>
          <p:nvPr>
            <p:ph type="ftr" idx="11"/>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8.xml><?xml version="1.0" encoding="utf-8"?>
<p:sldLayout xmlns:p="http://schemas.openxmlformats.org/presentationml/2006/main" type="vertTitleAndTx">
  <p:cSld name="竖排标题与文本">
    <p:spTree>
      <p:nvGrpSpPr>
        <p:cNvPr id="1" name=""/>
        <p:cNvGrpSpPr/>
        <p:nvPr/>
      </p:nvGrpSpPr>
      <p:grpSpPr>
        <a:xfrm xmlns:a="http://schemas.openxmlformats.org/drawingml/2006/main"/>
      </p:grpSpPr>
      <p:sp>
        <p:nvSpPr>
          <p:cNvPr id="2" name="竖排标题 1">
            <a:extLst xmlns:a="http://schemas.openxmlformats.org/drawingml/2006/main">
              <a:ext uri="{FF2B5EF4-FFF2-40B4-BE49-F238E27FC236}">
                <a16:creationId xmlns:a16="http://schemas.microsoft.com/office/drawing/2014/main" id="{C07DC162-B8C0-3866-92A2-95F202CB3664}"/>
              </a:ext>
            </a:extLst>
          </p:cNvPr>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p:txBody>
      </p:sp>
      <p:sp>
        <p:nvSpPr>
          <p:cNvPr id="3" name="竖排文字占位符 2">
            <a:extLst xmlns:a="http://schemas.openxmlformats.org/drawingml/2006/main">
              <a:ext uri="{FF2B5EF4-FFF2-40B4-BE49-F238E27FC236}">
                <a16:creationId xmlns:a16="http://schemas.microsoft.com/office/drawing/2014/main" id="{A2E63984-836D-FBE9-1AE4-EF4DCC0C79DE}"/>
              </a:ext>
            </a:extLst>
          </p:cNvPr>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p:txBody>
      </p:sp>
      <p:sp>
        <p:nvSpPr>
          <p:cNvPr id="4" name="日期占位符 3">
            <a:extLst xmlns:a="http://schemas.openxmlformats.org/drawingml/2006/main">
              <a:ext uri="{FF2B5EF4-FFF2-40B4-BE49-F238E27FC236}">
                <a16:creationId xmlns:a16="http://schemas.microsoft.com/office/drawing/2014/main" id="{207DC3B2-9A13-8A03-B4EB-96B4CFAECE8E}"/>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5" name="页脚占位符 4">
            <a:extLst xmlns:a="http://schemas.openxmlformats.org/drawingml/2006/main">
              <a:ext uri="{FF2B5EF4-FFF2-40B4-BE49-F238E27FC236}">
                <a16:creationId xmlns:a16="http://schemas.microsoft.com/office/drawing/2014/main" id="{F9931D67-AA92-8070-8EF7-0FFC4A450EE1}"/>
              </a:ext>
            </a:extLst>
          </p:cNvPr>
          <p:cNvSpPr/>
          <p:nvPr>
            <p:ph type="ftr" idx="11"/>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9.xml><?xml version="1.0" encoding="utf-8"?>
<p:sldLayout xmlns:p="http://schemas.openxmlformats.org/presentationml/2006/main" type="twoTxTwoObj">
  <p:cSld name="比较">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41CEFC3D-E919-74C5-C940-737C9E327749}"/>
              </a:ext>
            </a:extLst>
          </p:cNvPr>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p:txBody>
      </p:sp>
      <p:sp>
        <p:nvSpPr>
          <p:cNvPr id="3" name="文本占位符 2">
            <a:extLst xmlns:a="http://schemas.openxmlformats.org/drawingml/2006/main">
              <a:ext uri="{FF2B5EF4-FFF2-40B4-BE49-F238E27FC236}">
                <a16:creationId xmlns:a16="http://schemas.microsoft.com/office/drawing/2014/main" id="{1AC52385-A5B6-5C45-2ADE-10F22D336911}"/>
              </a:ext>
            </a:extLst>
          </p:cNvPr>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p:txBody>
      </p:sp>
      <p:sp>
        <p:nvSpPr>
          <p:cNvPr id="5" name="文本占位符 4">
            <a:extLst xmlns:a="http://schemas.openxmlformats.org/drawingml/2006/main">
              <a:ext uri="{FF2B5EF4-FFF2-40B4-BE49-F238E27FC236}">
                <a16:creationId xmlns:a16="http://schemas.microsoft.com/office/drawing/2014/main" id="{6120A41F-33C1-1E01-CD99-789028CB05B7}"/>
              </a:ext>
            </a:extLst>
          </p:cNvPr>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p:txBody>
      </p:sp>
      <p:sp>
        <p:nvSpPr>
          <p:cNvPr id="7" name="日期占位符 6">
            <a:extLst xmlns:a="http://schemas.openxmlformats.org/drawingml/2006/main">
              <a:ext uri="{FF2B5EF4-FFF2-40B4-BE49-F238E27FC236}">
                <a16:creationId xmlns:a16="http://schemas.microsoft.com/office/drawing/2014/main" id="{06CAB4B5-1FB8-117C-4F9E-742AC22C4942}"/>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8" name="页脚占位符 7">
            <a:extLst xmlns:a="http://schemas.openxmlformats.org/drawingml/2006/main">
              <a:ext uri="{FF2B5EF4-FFF2-40B4-BE49-F238E27FC236}">
                <a16:creationId xmlns:a16="http://schemas.microsoft.com/office/drawing/2014/main" id="{72B07209-9F92-161D-1DB0-F354FFB1D1B3}"/>
              </a:ext>
            </a:extLst>
          </p:cNvPr>
          <p:cNvSpPr/>
          <p:nvPr>
            <p:ph type="ftr" idx="11"/>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10.xml><?xml version="1.0" encoding="utf-8"?>
<p:sldLayout xmlns:p="http://schemas.openxmlformats.org/presentationml/2006/main" type="vertTx">
  <p:cSld name="标题和竖排文字">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015DC0DC-1D7C-D2A1-EB8A-AB7B5DEDFBA5}"/>
              </a:ext>
            </a:extLst>
          </p:cNvPr>
          <p:cNvSpPr/>
          <p:nvPr>
            <p:ph type="title" idx="0"/>
          </p:nvPr>
        </p:nvSpPr>
        <p:spPr/>
        <p:txBody>
          <a:bodyPr xmlns:a="http://schemas.openxmlformats.org/drawingml/2006/main"/>
          <a:lstStyle xmlns:a="http://schemas.openxmlformats.org/drawingml/2006/main"/>
          <a:p xmlns:a="http://schemas.openxmlformats.org/drawingml/2006/main"/>
        </p:txBody>
      </p:sp>
      <p:sp>
        <p:nvSpPr>
          <p:cNvPr id="3" name="竖排文字占位符 2">
            <a:extLst xmlns:a="http://schemas.openxmlformats.org/drawingml/2006/main">
              <a:ext uri="{FF2B5EF4-FFF2-40B4-BE49-F238E27FC236}">
                <a16:creationId xmlns:a16="http://schemas.microsoft.com/office/drawing/2014/main" id="{8BD7F6F4-9DD7-9F24-6840-4189E32F2151}"/>
              </a:ext>
            </a:extLst>
          </p:cNvPr>
          <p:cNvSpPr/>
          <p:nvPr>
            <p:ph type="body" idx="1"/>
          </p:nvPr>
        </p:nvSpPr>
        <p:spPr/>
        <p:txBody>
          <a:bodyPr xmlns:a="http://schemas.openxmlformats.org/drawingml/2006/main" vert="eaVert"/>
          <a:lstStyle xmlns:a="http://schemas.openxmlformats.org/drawingml/2006/main"/>
          <a:p xmlns:a="http://schemas.openxmlformats.org/drawingml/2006/main"/>
        </p:txBody>
      </p:sp>
      <p:sp>
        <p:nvSpPr>
          <p:cNvPr id="4" name="日期占位符 3">
            <a:extLst xmlns:a="http://schemas.openxmlformats.org/drawingml/2006/main">
              <a:ext uri="{FF2B5EF4-FFF2-40B4-BE49-F238E27FC236}">
                <a16:creationId xmlns:a16="http://schemas.microsoft.com/office/drawing/2014/main" id="{09516854-E8DC-038F-03AF-C1281F3DDC1F}"/>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5" name="页脚占位符 4">
            <a:extLst xmlns:a="http://schemas.openxmlformats.org/drawingml/2006/main">
              <a:ext uri="{FF2B5EF4-FFF2-40B4-BE49-F238E27FC236}">
                <a16:creationId xmlns:a16="http://schemas.microsoft.com/office/drawing/2014/main" id="{FE651532-4FEE-DEA2-DB7C-E53856BCDC64}"/>
              </a:ext>
            </a:extLst>
          </p:cNvPr>
          <p:cNvSpPr/>
          <p:nvPr>
            <p:ph type="ftr" idx="11"/>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11.xml><?xml version="1.0" encoding="utf-8"?>
<p:sldLayout xmlns:p="http://schemas.openxmlformats.org/presentationml/2006/main" type="twoObj">
  <p:cSld name="两栏内容">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EB490A84-9CD3-744C-0BCF-62BA43B19EA0}"/>
              </a:ext>
            </a:extLst>
          </p:cNvPr>
          <p:cNvSpPr/>
          <p:nvPr>
            <p:ph type="title" idx="0"/>
          </p:nvPr>
        </p:nvSpPr>
        <p:spPr/>
        <p:txBody>
          <a:bodyPr xmlns:a="http://schemas.openxmlformats.org/drawingml/2006/main"/>
          <a:lstStyle xmlns:a="http://schemas.openxmlformats.org/drawingml/2006/main"/>
          <a:p xmlns:a="http://schemas.openxmlformats.org/drawingml/2006/main"/>
        </p:txBody>
      </p:sp>
      <p:sp>
        <p:nvSpPr>
          <p:cNvPr id="5" name="日期占位符 4">
            <a:extLst xmlns:a="http://schemas.openxmlformats.org/drawingml/2006/main">
              <a:ext uri="{FF2B5EF4-FFF2-40B4-BE49-F238E27FC236}">
                <a16:creationId xmlns:a16="http://schemas.microsoft.com/office/drawing/2014/main" id="{5736FA12-36DF-4D92-E7FB-21F7D06348F1}"/>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6" name="页脚占位符 5">
            <a:extLst xmlns:a="http://schemas.openxmlformats.org/drawingml/2006/main">
              <a:ext uri="{FF2B5EF4-FFF2-40B4-BE49-F238E27FC236}">
                <a16:creationId xmlns:a16="http://schemas.microsoft.com/office/drawing/2014/main" id="{2C412902-2CE0-5BD9-F3C4-6F57A45A533E}"/>
              </a:ext>
            </a:extLst>
          </p:cNvPr>
          <p:cNvSpPr/>
          <p:nvPr>
            <p:ph type="ftr" idx="11"/>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12.xml><?xml version="1.0" encoding="utf-8"?>
<p:sldLayout xmlns:p="http://schemas.openxmlformats.org/presentationml/2006/main" type="picTx">
  <p:cSld name="图片与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16F922D8-A10C-BE09-57C7-6EB8CB2F344E}"/>
              </a:ext>
            </a:extLst>
          </p:cNvPr>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p:txBody>
      </p:sp>
      <p:sp>
        <p:nvSpPr>
          <p:cNvPr id="3" name="图片占位符 2">
            <a:extLst xmlns:a="http://schemas.openxmlformats.org/drawingml/2006/main">
              <a:ext uri="{FF2B5EF4-FFF2-40B4-BE49-F238E27FC236}">
                <a16:creationId xmlns:a16="http://schemas.microsoft.com/office/drawing/2014/main" id="{2BAEE742-C1D6-8349-0502-25F1F9AAF75B}"/>
              </a:ext>
            </a:extLst>
          </p:cNvPr>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p:txBody>
      </p:sp>
      <p:sp>
        <p:nvSpPr>
          <p:cNvPr id="4" name="文本占位符 3">
            <a:extLst xmlns:a="http://schemas.openxmlformats.org/drawingml/2006/main">
              <a:ext uri="{FF2B5EF4-FFF2-40B4-BE49-F238E27FC236}">
                <a16:creationId xmlns:a16="http://schemas.microsoft.com/office/drawing/2014/main" id="{AA020A07-6F5A-DC59-B66C-55D3E33256BB}"/>
              </a:ext>
            </a:extLst>
          </p:cNvPr>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p:txBody>
      </p:sp>
      <p:sp>
        <p:nvSpPr>
          <p:cNvPr id="5" name="日期占位符 4">
            <a:extLst xmlns:a="http://schemas.openxmlformats.org/drawingml/2006/main">
              <a:ext uri="{FF2B5EF4-FFF2-40B4-BE49-F238E27FC236}">
                <a16:creationId xmlns:a16="http://schemas.microsoft.com/office/drawing/2014/main" id="{B425A5E9-A88D-DB80-116C-A4F51C781EDE}"/>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6" name="页脚占位符 5">
            <a:extLst xmlns:a="http://schemas.openxmlformats.org/drawingml/2006/main">
              <a:ext uri="{FF2B5EF4-FFF2-40B4-BE49-F238E27FC236}">
                <a16:creationId xmlns:a16="http://schemas.microsoft.com/office/drawing/2014/main" id="{C3CB7815-B06D-339C-C8AD-462CE1590363}"/>
              </a:ext>
            </a:extLst>
          </p:cNvPr>
          <p:cNvSpPr/>
          <p:nvPr>
            <p:ph type="ftr" idx="11"/>
          </p:nvPr>
        </p:nvSpPr>
        <p:spPr/>
        <p:txBody>
          <a:bodyPr xmlns:a="http://schemas.openxmlformats.org/drawingml/2006/main"/>
          <a:lstStyle xmlns:a="http://schemas.openxmlformats.org/drawingml/2006/main"/>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9ffaf0984f3a4d6f" /><Relationship Type="http://schemas.openxmlformats.org/officeDocument/2006/relationships/theme" Target="/ppt/theme/theme1.xml" Id="Raa1b61fbbdba4158" /><Relationship Type="http://schemas.openxmlformats.org/officeDocument/2006/relationships/slideLayout" Target="/ppt/slideLayouts/slideLayout2.xml" Id="R1aeb8fc4f6794a3d" /><Relationship Type="http://schemas.openxmlformats.org/officeDocument/2006/relationships/slideLayout" Target="/ppt/slideLayouts/slideLayout3.xml" Id="R52cad8f9372a468d" /><Relationship Type="http://schemas.openxmlformats.org/officeDocument/2006/relationships/slideLayout" Target="/ppt/slideLayouts/slideLayout4.xml" Id="R332d5b7e87d347ef" /><Relationship Type="http://schemas.openxmlformats.org/officeDocument/2006/relationships/slideLayout" Target="/ppt/slideLayouts/slideLayout5.xml" Id="Rb93437b7fae3474e" /><Relationship Type="http://schemas.openxmlformats.org/officeDocument/2006/relationships/slideLayout" Target="/ppt/slideLayouts/slideLayout6.xml" Id="R13566b3bd51c418c" /><Relationship Type="http://schemas.openxmlformats.org/officeDocument/2006/relationships/slideLayout" Target="/ppt/slideLayouts/slideLayout7.xml" Id="Raef8d511fcc944eb" /><Relationship Type="http://schemas.openxmlformats.org/officeDocument/2006/relationships/slideLayout" Target="/ppt/slideLayouts/slideLayout8.xml" Id="R967f4c1147ce4022" /><Relationship Type="http://schemas.openxmlformats.org/officeDocument/2006/relationships/slideLayout" Target="/ppt/slideLayouts/slideLayout9.xml" Id="R09ce4e461af1427a" /><Relationship Type="http://schemas.openxmlformats.org/officeDocument/2006/relationships/slideLayout" Target="/ppt/slideLayouts/slideLayout10.xml" Id="R1cefe7394a134fc1" /><Relationship Type="http://schemas.openxmlformats.org/officeDocument/2006/relationships/slideLayout" Target="/ppt/slideLayouts/slideLayout11.xml" Id="R3e575259485046ae" /><Relationship Type="http://schemas.openxmlformats.org/officeDocument/2006/relationships/slideLayout" Target="/ppt/slideLayouts/slideLayout12.xml" Id="Rdd7d9c83eafd40ca"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标题占位符 1">
            <a:extLst xmlns:a="http://schemas.openxmlformats.org/drawingml/2006/main">
              <a:ext uri="{FF2B5EF4-FFF2-40B4-BE49-F238E27FC236}">
                <a16:creationId xmlns:a16="http://schemas.microsoft.com/office/drawing/2014/main" id="{8F7BFBC2-292F-AB71-C79D-508EE55FE08D}"/>
              </a:ext>
            </a:extLst>
          </p:cNvPr>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p:txBody>
      </p:sp>
      <p:sp>
        <p:nvSpPr>
          <p:cNvPr id="3" name="文本占位符 2">
            <a:extLst xmlns:a="http://schemas.openxmlformats.org/drawingml/2006/main">
              <a:ext uri="{FF2B5EF4-FFF2-40B4-BE49-F238E27FC236}">
                <a16:creationId xmlns:a16="http://schemas.microsoft.com/office/drawing/2014/main" id="{1139257A-8875-823B-8818-C04E3B1AEAB1}"/>
              </a:ext>
            </a:extLst>
          </p:cNvPr>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p:txBody>
      </p:sp>
      <p:sp>
        <p:nvSpPr>
          <p:cNvPr id="4" name="日期占位符 3">
            <a:extLst xmlns:a="http://schemas.openxmlformats.org/drawingml/2006/main">
              <a:ext uri="{FF2B5EF4-FFF2-40B4-BE49-F238E27FC236}">
                <a16:creationId xmlns:a16="http://schemas.microsoft.com/office/drawing/2014/main" id="{EDB65F45-3644-1B75-AB46-C1F8C531E571}"/>
              </a:ext>
            </a:extLst>
          </p:cNvPr>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82000"/>
                  </a:schemeClr>
                </a:solidFill>
              </a:defRPr>
            </a:lvl1pPr>
          </a:lstStyle>
          <a:p xmlns:a="http://schemas.openxmlformats.org/drawingml/2006/main"/>
        </p:txBody>
      </p:sp>
      <p:sp>
        <p:nvSpPr>
          <p:cNvPr id="5" name="页脚占位符 4">
            <a:extLst xmlns:a="http://schemas.openxmlformats.org/drawingml/2006/main">
              <a:ext uri="{FF2B5EF4-FFF2-40B4-BE49-F238E27FC236}">
                <a16:creationId xmlns:a16="http://schemas.microsoft.com/office/drawing/2014/main" id="{AD4F6BAE-1968-679C-29CE-E64B22D34568}"/>
              </a:ext>
            </a:extLst>
          </p:cNvPr>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82000"/>
                  </a:schemeClr>
                </a:solidFill>
              </a:defRPr>
            </a:lvl1pPr>
          </a:lstStyle>
          <a:p xmlns:a="http://schemas.openxmlformats.org/drawingml/2006/main"/>
        </p:txBody>
      </p:sp>
      <p:sp>
        <p:nvSpPr>
          <p:cNvPr id="6" name="灯片编号占位符 5">
            <a:extLst xmlns:a="http://schemas.openxmlformats.org/drawingml/2006/main">
              <a:ext uri="{FF2B5EF4-FFF2-40B4-BE49-F238E27FC236}">
                <a16:creationId xmlns:a16="http://schemas.microsoft.com/office/drawing/2014/main" id="{FE99AF3E-4F8C-73CD-476A-6D085BF54314}"/>
              </a:ext>
            </a:extLst>
          </p:cNvPr>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82000"/>
                  </a:schemeClr>
                </a:solidFill>
              </a:defRPr>
            </a:lvl1pPr>
          </a:lstStyle>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8" r:id="R9ffaf0984f3a4d6f"/>
    <p:sldLayoutId xmlns:r="http://schemas.openxmlformats.org/officeDocument/2006/relationships" id="2147483649" r:id="R1aeb8fc4f6794a3d"/>
    <p:sldLayoutId xmlns:r="http://schemas.openxmlformats.org/officeDocument/2006/relationships" id="2147483650" r:id="R52cad8f9372a468d"/>
    <p:sldLayoutId xmlns:r="http://schemas.openxmlformats.org/officeDocument/2006/relationships" id="2147483651" r:id="R332d5b7e87d347ef"/>
    <p:sldLayoutId xmlns:r="http://schemas.openxmlformats.org/officeDocument/2006/relationships" id="2147483652" r:id="Rb93437b7fae3474e"/>
    <p:sldLayoutId xmlns:r="http://schemas.openxmlformats.org/officeDocument/2006/relationships" id="2147483653" r:id="R13566b3bd51c418c"/>
    <p:sldLayoutId xmlns:r="http://schemas.openxmlformats.org/officeDocument/2006/relationships" id="2147483654" r:id="Raef8d511fcc944eb"/>
    <p:sldLayoutId xmlns:r="http://schemas.openxmlformats.org/officeDocument/2006/relationships" id="2147483655" r:id="R967f4c1147ce4022"/>
    <p:sldLayoutId xmlns:r="http://schemas.openxmlformats.org/officeDocument/2006/relationships" id="2147483656" r:id="R09ce4e461af1427a"/>
    <p:sldLayoutId xmlns:r="http://schemas.openxmlformats.org/officeDocument/2006/relationships" id="2147483657" r:id="R1cefe7394a134fc1"/>
    <p:sldLayoutId xmlns:r="http://schemas.openxmlformats.org/officeDocument/2006/relationships" id="2147483658" r:id="R3e575259485046ae"/>
    <p:sldLayoutId xmlns:r="http://schemas.openxmlformats.org/officeDocument/2006/relationships" id="2147483659" r:id="Rdd7d9c83eafd40c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1.xml" Id="Rcce19f4c30ff4e86" /><Relationship Type="http://schemas.openxmlformats.org/officeDocument/2006/relationships/notesSlide" Target="/ppt/notesSlides/notesSlide1.xml" Id="Rdc3fb972ef464d4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f57b723fcc34adf" /><Relationship Type="http://schemas.openxmlformats.org/officeDocument/2006/relationships/image" Target="/ppt/media/image.png" Id="R959fca2d6ee748e6" /><Relationship Type="http://schemas.openxmlformats.org/officeDocument/2006/relationships/image" Target="/ppt/media/image2.png" Id="Ra2649f0d7cfe43e9" /><Relationship Type="http://schemas.openxmlformats.org/officeDocument/2006/relationships/image" Target="/ppt/media/image3.png" Id="R8fa6ac3abe804c42" /><Relationship Type="http://schemas.openxmlformats.org/officeDocument/2006/relationships/notesSlide" Target="/ppt/notesSlides/notesSlide2.xml" Id="R69ec5c332d504c1c" /></Relationships>
</file>

<file path=ppt/slides/_rels/slide3.xml.rels>&#65279;<?xml version="1.0" encoding="utf-8"?><Relationships xmlns="http://schemas.openxmlformats.org/package/2006/relationships"><Relationship Type="http://schemas.openxmlformats.org/officeDocument/2006/relationships/slideLayout" Target="/ppt/slideLayouts/slideLayout5.xml" Id="R35647372974c4c89" /><Relationship Type="http://schemas.openxmlformats.org/officeDocument/2006/relationships/image" Target="/ppt/media/image4.png" Id="R42363d37bde54628" /><Relationship Type="http://schemas.openxmlformats.org/officeDocument/2006/relationships/image" Target="/ppt/media/image5.png" Id="R23ced2b140424815" /><Relationship Type="http://schemas.openxmlformats.org/officeDocument/2006/relationships/image" Target="/ppt/media/image6.png" Id="R1392dcc8f1c64a7b" /><Relationship Type="http://schemas.openxmlformats.org/officeDocument/2006/relationships/notesSlide" Target="/ppt/notesSlides/notesSlide3.xml" Id="R3c220e9bb0334c9f" /></Relationships>
</file>

<file path=ppt/slides/_rels/slide4.xml.rels>&#65279;<?xml version="1.0" encoding="utf-8"?><Relationships xmlns="http://schemas.openxmlformats.org/package/2006/relationships"><Relationship Type="http://schemas.openxmlformats.org/officeDocument/2006/relationships/slideLayout" Target="/ppt/slideLayouts/slideLayout5.xml" Id="R1270ec59bc744d46" /><Relationship Type="http://schemas.openxmlformats.org/officeDocument/2006/relationships/notesSlide" Target="/ppt/notesSlides/notesSlide4.xml" Id="Rcc539ee742704a06" /></Relationships>
</file>

<file path=ppt/slides/_rels/slide5.xml.rels>&#65279;<?xml version="1.0" encoding="utf-8"?><Relationships xmlns="http://schemas.openxmlformats.org/package/2006/relationships"><Relationship Type="http://schemas.openxmlformats.org/officeDocument/2006/relationships/slideLayout" Target="/ppt/slideLayouts/slideLayout5.xml" Id="Rea296d90fffe4ba5" /><Relationship Type="http://schemas.openxmlformats.org/officeDocument/2006/relationships/image" Target="/ppt/media/image7.png" Id="Re4de89ff39714eab" /><Relationship Type="http://schemas.openxmlformats.org/officeDocument/2006/relationships/notesSlide" Target="/ppt/notesSlides/notesSlide5.xml" Id="R27b1cf613c0640c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60817AE-F624-4D7E-889F-C9AC8AF98929}"/>
              </a:ext>
            </a:extLst>
          </p:cNvPr>
          <p:cNvSpPr>
            <a:spLocks xmlns:a="http://schemas.openxmlformats.org/drawingml/2006/main" noGrp="1"/>
          </p:cNvSpPr>
          <p:nvPr/>
        </p:nvSpPr>
        <p:spPr>
          <a:xfrm xmlns:a="http://schemas.openxmlformats.org/drawingml/2006/main">
            <a:off x="457200" y="257175"/>
            <a:ext cx="9810750" cy="3238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0E2841"/>
                </a:solidFill>
              </a:defRPr>
            </a:pPr>
            <a:r>
              <a:rPr sz="1650" b="1">
                <a:solidFill>
                  <a:srgbClr val="0E2841"/>
                </a:solidFill>
              </a:rPr>
              <a:t>面向互联网基础资源的大模型多智能体协作与可信认知标识技术研究 - 成果概览</a:t>
            </a:r>
          </a:p>
        </p:txBody>
      </p:sp>
      <p:sp>
        <p:nvSpPr>
          <p:cNvPr id="2" name="">
            <a:extLst xmlns:a="http://schemas.openxmlformats.org/drawingml/2006/main">
              <a:ext uri="{FF2B5EF4-FFF2-40B4-BE49-F238E27FC236}">
                <a16:creationId xmlns:a16="http://schemas.microsoft.com/office/drawing/2014/main" id="{6FC93FE1-7865-4992-B502-BC0B2AC1C42B}"/>
              </a:ext>
            </a:extLst>
          </p:cNvPr>
          <p:cNvSpPr>
            <a:spLocks xmlns:a="http://schemas.openxmlformats.org/drawingml/2006/main" noGrp="1"/>
          </p:cNvSpPr>
          <p:nvPr/>
        </p:nvSpPr>
        <p:spPr>
          <a:xfrm xmlns:a="http://schemas.openxmlformats.org/drawingml/2006/main">
            <a:off x="457200" y="685800"/>
            <a:ext cx="1714500" cy="38100"/>
          </a:xfrm>
          <a:prstGeom xmlns:a="http://schemas.openxmlformats.org/drawingml/2006/main" prst="rect">
            <a:avLst/>
          </a:prstGeom>
          <a:solidFill xmlns:a="http://schemas.openxmlformats.org/drawingml/2006/main">
            <a:srgbClr val="1D4F8C"/>
          </a:solidFill>
          <a:ln xmlns:a="http://schemas.openxmlformats.org/drawingml/2006/main" w="0">
            <a:solidFill>
              <a:srgbClr val="1D4F8C"/>
            </a:solidFill>
          </a:ln>
        </p:spPr>
      </p:sp>
      <p:sp>
        <p:nvSpPr>
          <p:cNvPr id="3" name="">
            <a:extLst xmlns:a="http://schemas.openxmlformats.org/drawingml/2006/main">
              <a:ext uri="{FF2B5EF4-FFF2-40B4-BE49-F238E27FC236}">
                <a16:creationId xmlns:a16="http://schemas.microsoft.com/office/drawing/2014/main" id="{2428DFD7-CCE4-4CA9-81A7-D67818671017}"/>
              </a:ext>
            </a:extLst>
          </p:cNvPr>
          <p:cNvSpPr>
            <a:spLocks xmlns:a="http://schemas.openxmlformats.org/drawingml/2006/main" noGrp="1"/>
          </p:cNvSpPr>
          <p:nvPr/>
        </p:nvSpPr>
        <p:spPr>
          <a:xfrm xmlns:a="http://schemas.openxmlformats.org/drawingml/2006/main">
            <a:off x="457200" y="838200"/>
            <a:ext cx="8229600" cy="314325"/>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4B5563"/>
                </a:solidFill>
              </a:defRPr>
            </a:pPr>
            <a:r>
              <a:rPr sz="1275" b="0">
                <a:solidFill>
                  <a:srgbClr val="4B5563"/>
                </a:solidFill>
              </a:rPr>
              <a:t>把自然语言请求稳定映射为能力地址与执行实例，并把候选、裁决、复核、授权全过程沉淀为可回放证据链。</a:t>
            </a:r>
          </a:p>
        </p:txBody>
      </p:sp>
      <p:sp>
        <p:nvSpPr>
          <p:cNvPr id="4" name="">
            <a:extLst xmlns:a="http://schemas.openxmlformats.org/drawingml/2006/main">
              <a:ext uri="{FF2B5EF4-FFF2-40B4-BE49-F238E27FC236}">
                <a16:creationId xmlns:a16="http://schemas.microsoft.com/office/drawing/2014/main" id="{A92CC8DB-EAC0-4EED-9B18-057E306F44DD}"/>
              </a:ext>
            </a:extLst>
          </p:cNvPr>
          <p:cNvSpPr>
            <a:spLocks xmlns:a="http://schemas.openxmlformats.org/drawingml/2006/main" noGrp="1"/>
          </p:cNvSpPr>
          <p:nvPr/>
        </p:nvSpPr>
        <p:spPr>
          <a:xfrm xmlns:a="http://schemas.openxmlformats.org/drawingml/2006/main">
            <a:off x="457200" y="1381125"/>
            <a:ext cx="8172450" cy="1619250"/>
          </a:xfrm>
          <a:prstGeom xmlns:a="http://schemas.openxmlformats.org/drawingml/2006/main" prst="roundRect">
            <a:avLst>
              <a:gd name="adj" fmla="val 9000"/>
            </a:avLst>
          </a:prstGeom>
          <a:solidFill xmlns:a="http://schemas.openxmlformats.org/drawingml/2006/main">
            <a:srgbClr val="F5F9FF"/>
          </a:solidFill>
          <a:ln xmlns:a="http://schemas.openxmlformats.org/drawingml/2006/main" w="9525">
            <a:solidFill>
              <a:srgbClr val="BFD7F6"/>
            </a:solidFill>
          </a:ln>
        </p:spPr>
      </p:sp>
      <p:sp>
        <p:nvSpPr>
          <p:cNvPr id="5" name="">
            <a:extLst xmlns:a="http://schemas.openxmlformats.org/drawingml/2006/main">
              <a:ext uri="{FF2B5EF4-FFF2-40B4-BE49-F238E27FC236}">
                <a16:creationId xmlns:a16="http://schemas.microsoft.com/office/drawing/2014/main" id="{A60855DF-D087-44A0-9916-462E4686C44C}"/>
              </a:ext>
            </a:extLst>
          </p:cNvPr>
          <p:cNvSpPr>
            <a:spLocks xmlns:a="http://schemas.openxmlformats.org/drawingml/2006/main" noGrp="1"/>
          </p:cNvSpPr>
          <p:nvPr/>
        </p:nvSpPr>
        <p:spPr>
          <a:xfrm xmlns:a="http://schemas.openxmlformats.org/drawingml/2006/main">
            <a:off x="666750" y="1562100"/>
            <a:ext cx="142875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0E2841"/>
                </a:solidFill>
              </a:defRPr>
            </a:pPr>
            <a:r>
              <a:rPr sz="1350" b="1">
                <a:solidFill>
                  <a:srgbClr val="0E2841"/>
                </a:solidFill>
              </a:rPr>
              <a:t>技术路线</a:t>
            </a:r>
          </a:p>
        </p:txBody>
      </p:sp>
      <p:sp>
        <p:nvSpPr>
          <p:cNvPr id="6" name="">
            <a:extLst xmlns:a="http://schemas.openxmlformats.org/drawingml/2006/main">
              <a:ext uri="{FF2B5EF4-FFF2-40B4-BE49-F238E27FC236}">
                <a16:creationId xmlns:a16="http://schemas.microsoft.com/office/drawing/2014/main" id="{E4E101E8-5431-47CB-9509-4A806EA98C28}"/>
              </a:ext>
            </a:extLst>
          </p:cNvPr>
          <p:cNvSpPr>
            <a:spLocks xmlns:a="http://schemas.openxmlformats.org/drawingml/2006/main" noGrp="1"/>
          </p:cNvSpPr>
          <p:nvPr/>
        </p:nvSpPr>
        <p:spPr>
          <a:xfrm xmlns:a="http://schemas.openxmlformats.org/drawingml/2006/main">
            <a:off x="685800" y="1933575"/>
            <a:ext cx="1295400" cy="742950"/>
          </a:xfrm>
          <a:prstGeom xmlns:a="http://schemas.openxmlformats.org/drawingml/2006/main" prst="roundRect">
            <a:avLst>
              <a:gd name="adj" fmla="val 9000"/>
            </a:avLst>
          </a:prstGeom>
          <a:solidFill xmlns:a="http://schemas.openxmlformats.org/drawingml/2006/main">
            <a:srgbClr val="EEF5FF"/>
          </a:solidFill>
          <a:ln xmlns:a="http://schemas.openxmlformats.org/drawingml/2006/main" w="11430">
            <a:solidFill>
              <a:srgbClr val="BFD7F6"/>
            </a:solidFill>
          </a:ln>
        </p:spPr>
      </p:sp>
      <p:sp>
        <p:nvSpPr>
          <p:cNvPr id="7" name="">
            <a:extLst xmlns:a="http://schemas.openxmlformats.org/drawingml/2006/main">
              <a:ext uri="{FF2B5EF4-FFF2-40B4-BE49-F238E27FC236}">
                <a16:creationId xmlns:a16="http://schemas.microsoft.com/office/drawing/2014/main" id="{2B2AC82F-F543-4D8C-9A1F-C70A06AA354D}"/>
              </a:ext>
            </a:extLst>
          </p:cNvPr>
          <p:cNvSpPr>
            <a:spLocks xmlns:a="http://schemas.openxmlformats.org/drawingml/2006/main" noGrp="1"/>
          </p:cNvSpPr>
          <p:nvPr/>
        </p:nvSpPr>
        <p:spPr>
          <a:xfrm xmlns:a="http://schemas.openxmlformats.org/drawingml/2006/main">
            <a:off x="819150" y="2047875"/>
            <a:ext cx="102870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D4F8C"/>
                </a:solidFill>
              </a:defRPr>
            </a:pPr>
            <a:r>
              <a:rPr sz="1350" b="1">
                <a:solidFill>
                  <a:srgbClr val="1D4F8C"/>
                </a:solidFill>
              </a:rPr>
              <a:t>命名空间</a:t>
            </a:r>
          </a:p>
        </p:txBody>
      </p:sp>
      <p:sp>
        <p:nvSpPr>
          <p:cNvPr id="8" name="">
            <a:extLst xmlns:a="http://schemas.openxmlformats.org/drawingml/2006/main">
              <a:ext uri="{FF2B5EF4-FFF2-40B4-BE49-F238E27FC236}">
                <a16:creationId xmlns:a16="http://schemas.microsoft.com/office/drawing/2014/main" id="{F88995CC-615A-4CD0-AA71-20D95D55DD57}"/>
              </a:ext>
            </a:extLst>
          </p:cNvPr>
          <p:cNvSpPr>
            <a:spLocks xmlns:a="http://schemas.openxmlformats.org/drawingml/2006/main" noGrp="1"/>
          </p:cNvSpPr>
          <p:nvPr/>
        </p:nvSpPr>
        <p:spPr>
          <a:xfrm xmlns:a="http://schemas.openxmlformats.org/drawingml/2006/main">
            <a:off x="819150" y="2362200"/>
            <a:ext cx="102870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87129"/>
          </a:bodyPr>
          <a:lstStyle xmlns:a="http://schemas.openxmlformats.org/drawingml/2006/main"/>
          <a:p xmlns:a="http://schemas.openxmlformats.org/drawingml/2006/main">
            <a:pPr algn="l">
              <a:defRPr sz="938" b="0">
                <a:solidFill>
                  <a:srgbClr val="4B5563"/>
                </a:solidFill>
              </a:defRPr>
            </a:pPr>
            <a:r>
              <a:rPr sz="938" b="0">
                <a:solidFill>
                  <a:srgbClr val="4B5563"/>
                </a:solidFill>
              </a:rPr>
              <a:t>能力地址与实例地址分层表达</a:t>
            </a:r>
          </a:p>
        </p:txBody>
      </p:sp>
      <p:sp>
        <p:nvSpPr>
          <p:cNvPr id="9" name="">
            <a:extLst xmlns:a="http://schemas.openxmlformats.org/drawingml/2006/main">
              <a:ext uri="{FF2B5EF4-FFF2-40B4-BE49-F238E27FC236}">
                <a16:creationId xmlns:a16="http://schemas.microsoft.com/office/drawing/2014/main" id="{0B42DE45-CACA-40EB-9216-2C30A2C52862}"/>
              </a:ext>
            </a:extLst>
          </p:cNvPr>
          <p:cNvSpPr>
            <a:spLocks xmlns:a="http://schemas.openxmlformats.org/drawingml/2006/main" noGrp="1"/>
          </p:cNvSpPr>
          <p:nvPr/>
        </p:nvSpPr>
        <p:spPr>
          <a:xfrm xmlns:a="http://schemas.openxmlformats.org/drawingml/2006/main">
            <a:off x="2076450" y="2200275"/>
            <a:ext cx="285750" cy="209550"/>
          </a:xfrm>
          <a:prstGeom xmlns:a="http://schemas.openxmlformats.org/drawingml/2006/main" prst="rightArrow">
            <a:avLst/>
          </a:prstGeom>
          <a:solidFill xmlns:a="http://schemas.openxmlformats.org/drawingml/2006/main">
            <a:srgbClr val="BFD7F6"/>
          </a:solidFill>
          <a:ln xmlns:a="http://schemas.openxmlformats.org/drawingml/2006/main" w="0">
            <a:solidFill>
              <a:srgbClr val="BFD7F6"/>
            </a:solidFill>
          </a:ln>
        </p:spPr>
      </p:sp>
      <p:sp>
        <p:nvSpPr>
          <p:cNvPr id="10" name="">
            <a:extLst xmlns:a="http://schemas.openxmlformats.org/drawingml/2006/main">
              <a:ext uri="{FF2B5EF4-FFF2-40B4-BE49-F238E27FC236}">
                <a16:creationId xmlns:a16="http://schemas.microsoft.com/office/drawing/2014/main" id="{9541CABE-A31B-4F2B-8E69-469342D6572C}"/>
              </a:ext>
            </a:extLst>
          </p:cNvPr>
          <p:cNvSpPr>
            <a:spLocks xmlns:a="http://schemas.openxmlformats.org/drawingml/2006/main" noGrp="1"/>
          </p:cNvSpPr>
          <p:nvPr/>
        </p:nvSpPr>
        <p:spPr>
          <a:xfrm xmlns:a="http://schemas.openxmlformats.org/drawingml/2006/main">
            <a:off x="2457450" y="1933575"/>
            <a:ext cx="1295400" cy="742950"/>
          </a:xfrm>
          <a:prstGeom xmlns:a="http://schemas.openxmlformats.org/drawingml/2006/main" prst="roundRect">
            <a:avLst>
              <a:gd name="adj" fmla="val 9000"/>
            </a:avLst>
          </a:prstGeom>
          <a:solidFill xmlns:a="http://schemas.openxmlformats.org/drawingml/2006/main">
            <a:srgbClr val="EEF5FF"/>
          </a:solidFill>
          <a:ln xmlns:a="http://schemas.openxmlformats.org/drawingml/2006/main" w="11430">
            <a:solidFill>
              <a:srgbClr val="BFD7F6"/>
            </a:solidFill>
          </a:ln>
        </p:spPr>
      </p:sp>
      <p:sp>
        <p:nvSpPr>
          <p:cNvPr id="11" name="">
            <a:extLst xmlns:a="http://schemas.openxmlformats.org/drawingml/2006/main">
              <a:ext uri="{FF2B5EF4-FFF2-40B4-BE49-F238E27FC236}">
                <a16:creationId xmlns:a16="http://schemas.microsoft.com/office/drawing/2014/main" id="{0604D96E-B861-44A2-9C18-44CFB131ED33}"/>
              </a:ext>
            </a:extLst>
          </p:cNvPr>
          <p:cNvSpPr>
            <a:spLocks xmlns:a="http://schemas.openxmlformats.org/drawingml/2006/main" noGrp="1"/>
          </p:cNvSpPr>
          <p:nvPr/>
        </p:nvSpPr>
        <p:spPr>
          <a:xfrm xmlns:a="http://schemas.openxmlformats.org/drawingml/2006/main">
            <a:off x="2590800" y="2047875"/>
            <a:ext cx="102870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56082"/>
                </a:solidFill>
              </a:defRPr>
            </a:pPr>
            <a:r>
              <a:rPr sz="1350" b="1">
                <a:solidFill>
                  <a:srgbClr val="156082"/>
                </a:solidFill>
              </a:rPr>
              <a:t>候选召回</a:t>
            </a:r>
          </a:p>
        </p:txBody>
      </p:sp>
      <p:sp>
        <p:nvSpPr>
          <p:cNvPr id="12" name="">
            <a:extLst xmlns:a="http://schemas.openxmlformats.org/drawingml/2006/main">
              <a:ext uri="{FF2B5EF4-FFF2-40B4-BE49-F238E27FC236}">
                <a16:creationId xmlns:a16="http://schemas.microsoft.com/office/drawing/2014/main" id="{27288069-C0D8-403A-AD39-43F07B68528A}"/>
              </a:ext>
            </a:extLst>
          </p:cNvPr>
          <p:cNvSpPr>
            <a:spLocks xmlns:a="http://schemas.openxmlformats.org/drawingml/2006/main" noGrp="1"/>
          </p:cNvSpPr>
          <p:nvPr/>
        </p:nvSpPr>
        <p:spPr>
          <a:xfrm xmlns:a="http://schemas.openxmlformats.org/drawingml/2006/main">
            <a:off x="2590800" y="2362200"/>
            <a:ext cx="102870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87129"/>
          </a:bodyPr>
          <a:lstStyle xmlns:a="http://schemas.openxmlformats.org/drawingml/2006/main"/>
          <a:p xmlns:a="http://schemas.openxmlformats.org/drawingml/2006/main">
            <a:pPr algn="l">
              <a:defRPr sz="938" b="0">
                <a:solidFill>
                  <a:srgbClr val="4B5563"/>
                </a:solidFill>
              </a:defRPr>
            </a:pPr>
            <a:r>
              <a:rPr sz="938" b="0">
                <a:solidFill>
                  <a:srgbClr val="4B5563"/>
                </a:solidFill>
              </a:rPr>
              <a:t>受限候选集合</a:t>
            </a:r>
          </a:p>
          <a:p xmlns:a="http://schemas.openxmlformats.org/drawingml/2006/main">
            <a:pPr algn="l">
              <a:defRPr sz="938" b="0">
                <a:solidFill>
                  <a:srgbClr val="4B5563"/>
                </a:solidFill>
              </a:defRPr>
            </a:pPr>
            <a:r>
              <a:rPr sz="938" b="0">
                <a:solidFill>
                  <a:srgbClr val="4B5563"/>
                </a:solidFill>
              </a:rPr>
              <a:t>避免开放式漂移</a:t>
            </a:r>
          </a:p>
        </p:txBody>
      </p:sp>
      <p:sp>
        <p:nvSpPr>
          <p:cNvPr id="13" name="">
            <a:extLst xmlns:a="http://schemas.openxmlformats.org/drawingml/2006/main">
              <a:ext uri="{FF2B5EF4-FFF2-40B4-BE49-F238E27FC236}">
                <a16:creationId xmlns:a16="http://schemas.microsoft.com/office/drawing/2014/main" id="{D25D2060-333B-4913-928F-A051C3AF29D2}"/>
              </a:ext>
            </a:extLst>
          </p:cNvPr>
          <p:cNvSpPr>
            <a:spLocks xmlns:a="http://schemas.openxmlformats.org/drawingml/2006/main" noGrp="1"/>
          </p:cNvSpPr>
          <p:nvPr/>
        </p:nvSpPr>
        <p:spPr>
          <a:xfrm xmlns:a="http://schemas.openxmlformats.org/drawingml/2006/main">
            <a:off x="3848100" y="2200275"/>
            <a:ext cx="285750" cy="209550"/>
          </a:xfrm>
          <a:prstGeom xmlns:a="http://schemas.openxmlformats.org/drawingml/2006/main" prst="rightArrow">
            <a:avLst/>
          </a:prstGeom>
          <a:solidFill xmlns:a="http://schemas.openxmlformats.org/drawingml/2006/main">
            <a:srgbClr val="BFD7F6"/>
          </a:solidFill>
          <a:ln xmlns:a="http://schemas.openxmlformats.org/drawingml/2006/main" w="0">
            <a:solidFill>
              <a:srgbClr val="BFD7F6"/>
            </a:solidFill>
          </a:ln>
        </p:spPr>
      </p:sp>
      <p:sp>
        <p:nvSpPr>
          <p:cNvPr id="14" name="">
            <a:extLst xmlns:a="http://schemas.openxmlformats.org/drawingml/2006/main">
              <a:ext uri="{FF2B5EF4-FFF2-40B4-BE49-F238E27FC236}">
                <a16:creationId xmlns:a16="http://schemas.microsoft.com/office/drawing/2014/main" id="{AA9A6F11-ACF1-4B4E-AEE1-A2B872415FE0}"/>
              </a:ext>
            </a:extLst>
          </p:cNvPr>
          <p:cNvSpPr>
            <a:spLocks xmlns:a="http://schemas.openxmlformats.org/drawingml/2006/main" noGrp="1"/>
          </p:cNvSpPr>
          <p:nvPr/>
        </p:nvSpPr>
        <p:spPr>
          <a:xfrm xmlns:a="http://schemas.openxmlformats.org/drawingml/2006/main">
            <a:off x="4229100" y="1933575"/>
            <a:ext cx="1295400" cy="742950"/>
          </a:xfrm>
          <a:prstGeom xmlns:a="http://schemas.openxmlformats.org/drawingml/2006/main" prst="roundRect">
            <a:avLst>
              <a:gd name="adj" fmla="val 9000"/>
            </a:avLst>
          </a:prstGeom>
          <a:solidFill xmlns:a="http://schemas.openxmlformats.org/drawingml/2006/main">
            <a:srgbClr val="EEF5FF"/>
          </a:solidFill>
          <a:ln xmlns:a="http://schemas.openxmlformats.org/drawingml/2006/main" w="11430">
            <a:solidFill>
              <a:srgbClr val="BFD7F6"/>
            </a:solidFill>
          </a:ln>
        </p:spPr>
      </p:sp>
      <p:sp>
        <p:nvSpPr>
          <p:cNvPr id="15" name="">
            <a:extLst xmlns:a="http://schemas.openxmlformats.org/drawingml/2006/main">
              <a:ext uri="{FF2B5EF4-FFF2-40B4-BE49-F238E27FC236}">
                <a16:creationId xmlns:a16="http://schemas.microsoft.com/office/drawing/2014/main" id="{6169D28A-CFF4-4640-A90C-103A077E9EE2}"/>
              </a:ext>
            </a:extLst>
          </p:cNvPr>
          <p:cNvSpPr>
            <a:spLocks xmlns:a="http://schemas.openxmlformats.org/drawingml/2006/main" noGrp="1"/>
          </p:cNvSpPr>
          <p:nvPr/>
        </p:nvSpPr>
        <p:spPr>
          <a:xfrm xmlns:a="http://schemas.openxmlformats.org/drawingml/2006/main">
            <a:off x="4362450" y="2047875"/>
            <a:ext cx="102870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D4F8C"/>
                </a:solidFill>
              </a:defRPr>
            </a:pPr>
            <a:r>
              <a:rPr sz="1350" b="1">
                <a:solidFill>
                  <a:srgbClr val="1D4F8C"/>
                </a:solidFill>
              </a:rPr>
              <a:t>结构裁决</a:t>
            </a:r>
          </a:p>
        </p:txBody>
      </p:sp>
      <p:sp>
        <p:nvSpPr>
          <p:cNvPr id="16" name="">
            <a:extLst xmlns:a="http://schemas.openxmlformats.org/drawingml/2006/main">
              <a:ext uri="{FF2B5EF4-FFF2-40B4-BE49-F238E27FC236}">
                <a16:creationId xmlns:a16="http://schemas.microsoft.com/office/drawing/2014/main" id="{33ECF828-8E75-4195-855F-E6B434B90867}"/>
              </a:ext>
            </a:extLst>
          </p:cNvPr>
          <p:cNvSpPr>
            <a:spLocks xmlns:a="http://schemas.openxmlformats.org/drawingml/2006/main" noGrp="1"/>
          </p:cNvSpPr>
          <p:nvPr/>
        </p:nvSpPr>
        <p:spPr>
          <a:xfrm xmlns:a="http://schemas.openxmlformats.org/drawingml/2006/main">
            <a:off x="4362450" y="2362200"/>
            <a:ext cx="102870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87129"/>
          </a:bodyPr>
          <a:lstStyle xmlns:a="http://schemas.openxmlformats.org/drawingml/2006/main"/>
          <a:p xmlns:a="http://schemas.openxmlformats.org/drawingml/2006/main">
            <a:pPr algn="l">
              <a:defRPr sz="938" b="0">
                <a:solidFill>
                  <a:srgbClr val="4B5563"/>
                </a:solidFill>
              </a:defRPr>
            </a:pPr>
            <a:r>
              <a:rPr sz="938" b="0">
                <a:solidFill>
                  <a:srgbClr val="4B5563"/>
                </a:solidFill>
              </a:rPr>
              <a:t>主能力 + 相关能力</a:t>
            </a:r>
          </a:p>
          <a:p xmlns:a="http://schemas.openxmlformats.org/drawingml/2006/main">
            <a:pPr algn="l">
              <a:defRPr sz="938" b="0">
                <a:solidFill>
                  <a:srgbClr val="4B5563"/>
                </a:solidFill>
              </a:defRPr>
            </a:pPr>
            <a:r>
              <a:rPr sz="938" b="0">
                <a:solidFill>
                  <a:srgbClr val="4B5563"/>
                </a:solidFill>
              </a:rPr>
              <a:t>不确定性下传</a:t>
            </a:r>
          </a:p>
        </p:txBody>
      </p:sp>
      <p:sp>
        <p:nvSpPr>
          <p:cNvPr id="17" name="">
            <a:extLst xmlns:a="http://schemas.openxmlformats.org/drawingml/2006/main">
              <a:ext uri="{FF2B5EF4-FFF2-40B4-BE49-F238E27FC236}">
                <a16:creationId xmlns:a16="http://schemas.microsoft.com/office/drawing/2014/main" id="{5C991617-2050-4DA5-B9E0-86EAA2FC347C}"/>
              </a:ext>
            </a:extLst>
          </p:cNvPr>
          <p:cNvSpPr>
            <a:spLocks xmlns:a="http://schemas.openxmlformats.org/drawingml/2006/main" noGrp="1"/>
          </p:cNvSpPr>
          <p:nvPr/>
        </p:nvSpPr>
        <p:spPr>
          <a:xfrm xmlns:a="http://schemas.openxmlformats.org/drawingml/2006/main">
            <a:off x="5619750" y="2200275"/>
            <a:ext cx="285750" cy="209550"/>
          </a:xfrm>
          <a:prstGeom xmlns:a="http://schemas.openxmlformats.org/drawingml/2006/main" prst="rightArrow">
            <a:avLst/>
          </a:prstGeom>
          <a:solidFill xmlns:a="http://schemas.openxmlformats.org/drawingml/2006/main">
            <a:srgbClr val="BFD7F6"/>
          </a:solidFill>
          <a:ln xmlns:a="http://schemas.openxmlformats.org/drawingml/2006/main" w="0">
            <a:solidFill>
              <a:srgbClr val="BFD7F6"/>
            </a:solidFill>
          </a:ln>
        </p:spPr>
      </p:sp>
      <p:sp>
        <p:nvSpPr>
          <p:cNvPr id="18" name="">
            <a:extLst xmlns:a="http://schemas.openxmlformats.org/drawingml/2006/main">
              <a:ext uri="{FF2B5EF4-FFF2-40B4-BE49-F238E27FC236}">
                <a16:creationId xmlns:a16="http://schemas.microsoft.com/office/drawing/2014/main" id="{A36A6170-B0EF-4320-AEF6-A7EF79491F62}"/>
              </a:ext>
            </a:extLst>
          </p:cNvPr>
          <p:cNvSpPr>
            <a:spLocks xmlns:a="http://schemas.openxmlformats.org/drawingml/2006/main" noGrp="1"/>
          </p:cNvSpPr>
          <p:nvPr/>
        </p:nvSpPr>
        <p:spPr>
          <a:xfrm xmlns:a="http://schemas.openxmlformats.org/drawingml/2006/main">
            <a:off x="6000750" y="1933575"/>
            <a:ext cx="1295400" cy="742950"/>
          </a:xfrm>
          <a:prstGeom xmlns:a="http://schemas.openxmlformats.org/drawingml/2006/main" prst="roundRect">
            <a:avLst>
              <a:gd name="adj" fmla="val 9000"/>
            </a:avLst>
          </a:prstGeom>
          <a:solidFill xmlns:a="http://schemas.openxmlformats.org/drawingml/2006/main">
            <a:srgbClr val="EEF5FF"/>
          </a:solidFill>
          <a:ln xmlns:a="http://schemas.openxmlformats.org/drawingml/2006/main" w="11430">
            <a:solidFill>
              <a:srgbClr val="BFD7F6"/>
            </a:solidFill>
          </a:ln>
        </p:spPr>
      </p:sp>
      <p:sp>
        <p:nvSpPr>
          <p:cNvPr id="19" name="">
            <a:extLst xmlns:a="http://schemas.openxmlformats.org/drawingml/2006/main">
              <a:ext uri="{FF2B5EF4-FFF2-40B4-BE49-F238E27FC236}">
                <a16:creationId xmlns:a16="http://schemas.microsoft.com/office/drawing/2014/main" id="{B9BF00CF-87FD-48F6-9C36-487876D17D99}"/>
              </a:ext>
            </a:extLst>
          </p:cNvPr>
          <p:cNvSpPr>
            <a:spLocks xmlns:a="http://schemas.openxmlformats.org/drawingml/2006/main" noGrp="1"/>
          </p:cNvSpPr>
          <p:nvPr/>
        </p:nvSpPr>
        <p:spPr>
          <a:xfrm xmlns:a="http://schemas.openxmlformats.org/drawingml/2006/main">
            <a:off x="6134100" y="2047875"/>
            <a:ext cx="102870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96B24"/>
                </a:solidFill>
              </a:defRPr>
            </a:pPr>
            <a:r>
              <a:rPr sz="1350" b="1">
                <a:solidFill>
                  <a:srgbClr val="196B24"/>
                </a:solidFill>
              </a:rPr>
              <a:t>协作复核</a:t>
            </a:r>
          </a:p>
        </p:txBody>
      </p:sp>
      <p:sp>
        <p:nvSpPr>
          <p:cNvPr id="20" name="">
            <a:extLst xmlns:a="http://schemas.openxmlformats.org/drawingml/2006/main">
              <a:ext uri="{FF2B5EF4-FFF2-40B4-BE49-F238E27FC236}">
                <a16:creationId xmlns:a16="http://schemas.microsoft.com/office/drawing/2014/main" id="{94AA1F30-ECF7-4621-93AF-71658588BD13}"/>
              </a:ext>
            </a:extLst>
          </p:cNvPr>
          <p:cNvSpPr>
            <a:spLocks xmlns:a="http://schemas.openxmlformats.org/drawingml/2006/main" noGrp="1"/>
          </p:cNvSpPr>
          <p:nvPr/>
        </p:nvSpPr>
        <p:spPr>
          <a:xfrm xmlns:a="http://schemas.openxmlformats.org/drawingml/2006/main">
            <a:off x="6134100" y="2362200"/>
            <a:ext cx="102870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87129"/>
          </a:bodyPr>
          <a:lstStyle xmlns:a="http://schemas.openxmlformats.org/drawingml/2006/main"/>
          <a:p xmlns:a="http://schemas.openxmlformats.org/drawingml/2006/main">
            <a:pPr algn="l">
              <a:defRPr sz="938" b="0">
                <a:solidFill>
                  <a:srgbClr val="4B5563"/>
                </a:solidFill>
              </a:defRPr>
            </a:pPr>
            <a:r>
              <a:rPr sz="938" b="0">
                <a:solidFill>
                  <a:srgbClr val="4B5563"/>
                </a:solidFill>
              </a:rPr>
              <a:t>复杂样本慢路径</a:t>
            </a:r>
          </a:p>
          <a:p xmlns:a="http://schemas.openxmlformats.org/drawingml/2006/main">
            <a:pPr algn="l">
              <a:defRPr sz="938" b="0">
                <a:solidFill>
                  <a:srgbClr val="4B5563"/>
                </a:solidFill>
              </a:defRPr>
            </a:pPr>
            <a:r>
              <a:rPr sz="938" b="0">
                <a:solidFill>
                  <a:srgbClr val="4B5563"/>
                </a:solidFill>
              </a:rPr>
              <a:t>职责化改判</a:t>
            </a:r>
          </a:p>
        </p:txBody>
      </p:sp>
      <p:sp>
        <p:nvSpPr>
          <p:cNvPr id="21" name="">
            <a:extLst xmlns:a="http://schemas.openxmlformats.org/drawingml/2006/main">
              <a:ext uri="{FF2B5EF4-FFF2-40B4-BE49-F238E27FC236}">
                <a16:creationId xmlns:a16="http://schemas.microsoft.com/office/drawing/2014/main" id="{ABA52ABF-7893-4188-AAB8-DBBEE0132973}"/>
              </a:ext>
            </a:extLst>
          </p:cNvPr>
          <p:cNvSpPr>
            <a:spLocks xmlns:a="http://schemas.openxmlformats.org/drawingml/2006/main" noGrp="1"/>
          </p:cNvSpPr>
          <p:nvPr/>
        </p:nvSpPr>
        <p:spPr>
          <a:xfrm xmlns:a="http://schemas.openxmlformats.org/drawingml/2006/main">
            <a:off x="7391400" y="2200275"/>
            <a:ext cx="285750" cy="209550"/>
          </a:xfrm>
          <a:prstGeom xmlns:a="http://schemas.openxmlformats.org/drawingml/2006/main" prst="rightArrow">
            <a:avLst/>
          </a:prstGeom>
          <a:solidFill xmlns:a="http://schemas.openxmlformats.org/drawingml/2006/main">
            <a:srgbClr val="BFD7F6"/>
          </a:solidFill>
          <a:ln xmlns:a="http://schemas.openxmlformats.org/drawingml/2006/main" w="0">
            <a:solidFill>
              <a:srgbClr val="BFD7F6"/>
            </a:solidFill>
          </a:ln>
        </p:spPr>
      </p:sp>
      <p:sp>
        <p:nvSpPr>
          <p:cNvPr id="22" name="">
            <a:extLst xmlns:a="http://schemas.openxmlformats.org/drawingml/2006/main">
              <a:ext uri="{FF2B5EF4-FFF2-40B4-BE49-F238E27FC236}">
                <a16:creationId xmlns:a16="http://schemas.microsoft.com/office/drawing/2014/main" id="{20E21771-0784-4DE1-A8F1-1ECF3DBAB415}"/>
              </a:ext>
            </a:extLst>
          </p:cNvPr>
          <p:cNvSpPr>
            <a:spLocks xmlns:a="http://schemas.openxmlformats.org/drawingml/2006/main" noGrp="1"/>
          </p:cNvSpPr>
          <p:nvPr/>
        </p:nvSpPr>
        <p:spPr>
          <a:xfrm xmlns:a="http://schemas.openxmlformats.org/drawingml/2006/main">
            <a:off x="7772400" y="1933575"/>
            <a:ext cx="647700" cy="742950"/>
          </a:xfrm>
          <a:prstGeom xmlns:a="http://schemas.openxmlformats.org/drawingml/2006/main" prst="roundRect">
            <a:avLst>
              <a:gd name="adj" fmla="val 9000"/>
            </a:avLst>
          </a:prstGeom>
          <a:solidFill xmlns:a="http://schemas.openxmlformats.org/drawingml/2006/main">
            <a:srgbClr val="EEF5FF"/>
          </a:solidFill>
          <a:ln xmlns:a="http://schemas.openxmlformats.org/drawingml/2006/main" w="11430">
            <a:solidFill>
              <a:srgbClr val="BFD7F6"/>
            </a:solidFill>
          </a:ln>
        </p:spPr>
      </p:sp>
      <p:sp>
        <p:nvSpPr>
          <p:cNvPr id="23" name="">
            <a:extLst xmlns:a="http://schemas.openxmlformats.org/drawingml/2006/main">
              <a:ext uri="{FF2B5EF4-FFF2-40B4-BE49-F238E27FC236}">
                <a16:creationId xmlns:a16="http://schemas.microsoft.com/office/drawing/2014/main" id="{DAD34471-BBE9-4590-8FBE-43139C92F674}"/>
              </a:ext>
            </a:extLst>
          </p:cNvPr>
          <p:cNvSpPr>
            <a:spLocks xmlns:a="http://schemas.openxmlformats.org/drawingml/2006/main" noGrp="1"/>
          </p:cNvSpPr>
          <p:nvPr/>
        </p:nvSpPr>
        <p:spPr>
          <a:xfrm xmlns:a="http://schemas.openxmlformats.org/drawingml/2006/main">
            <a:off x="7905750" y="2047875"/>
            <a:ext cx="38100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E97132"/>
                </a:solidFill>
              </a:defRPr>
            </a:pPr>
            <a:r>
              <a:rPr sz="1350" b="1">
                <a:solidFill>
                  <a:srgbClr val="E97132"/>
                </a:solidFill>
              </a:rPr>
              <a:t>留痕</a:t>
            </a:r>
          </a:p>
        </p:txBody>
      </p:sp>
      <p:sp>
        <p:nvSpPr>
          <p:cNvPr id="24" name="">
            <a:extLst xmlns:a="http://schemas.openxmlformats.org/drawingml/2006/main">
              <a:ext uri="{FF2B5EF4-FFF2-40B4-BE49-F238E27FC236}">
                <a16:creationId xmlns:a16="http://schemas.microsoft.com/office/drawing/2014/main" id="{B6345AEE-E787-43B8-A948-9AC283CF17FA}"/>
              </a:ext>
            </a:extLst>
          </p:cNvPr>
          <p:cNvSpPr>
            <a:spLocks xmlns:a="http://schemas.openxmlformats.org/drawingml/2006/main" noGrp="1"/>
          </p:cNvSpPr>
          <p:nvPr/>
        </p:nvSpPr>
        <p:spPr>
          <a:xfrm xmlns:a="http://schemas.openxmlformats.org/drawingml/2006/main">
            <a:off x="7905750" y="2362200"/>
            <a:ext cx="38100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87129"/>
          </a:bodyPr>
          <a:lstStyle xmlns:a="http://schemas.openxmlformats.org/drawingml/2006/main"/>
          <a:p xmlns:a="http://schemas.openxmlformats.org/drawingml/2006/main">
            <a:pPr algn="l">
              <a:defRPr sz="938" b="0">
                <a:solidFill>
                  <a:srgbClr val="4B5563"/>
                </a:solidFill>
              </a:defRPr>
            </a:pPr>
            <a:r>
              <a:rPr sz="938" b="0">
                <a:solidFill>
                  <a:srgbClr val="4B5563"/>
                </a:solidFill>
              </a:rPr>
              <a:t>trace</a:t>
            </a:r>
          </a:p>
          <a:p xmlns:a="http://schemas.openxmlformats.org/drawingml/2006/main">
            <a:pPr algn="l">
              <a:defRPr sz="938" b="0">
                <a:solidFill>
                  <a:srgbClr val="4B5563"/>
                </a:solidFill>
              </a:defRPr>
            </a:pPr>
            <a:r>
              <a:rPr sz="938" b="0">
                <a:solidFill>
                  <a:srgbClr val="4B5563"/>
                </a:solidFill>
              </a:rPr>
              <a:t>回放</a:t>
            </a:r>
          </a:p>
        </p:txBody>
      </p:sp>
      <p:sp>
        <p:nvSpPr>
          <p:cNvPr id="25" name="">
            <a:extLst xmlns:a="http://schemas.openxmlformats.org/drawingml/2006/main">
              <a:ext uri="{FF2B5EF4-FFF2-40B4-BE49-F238E27FC236}">
                <a16:creationId xmlns:a16="http://schemas.microsoft.com/office/drawing/2014/main" id="{A2F181D4-425D-4F47-8B72-0D142D18140E}"/>
              </a:ext>
            </a:extLst>
          </p:cNvPr>
          <p:cNvSpPr>
            <a:spLocks xmlns:a="http://schemas.openxmlformats.org/drawingml/2006/main" noGrp="1"/>
          </p:cNvSpPr>
          <p:nvPr/>
        </p:nvSpPr>
        <p:spPr>
          <a:xfrm xmlns:a="http://schemas.openxmlformats.org/drawingml/2006/main">
            <a:off x="457200" y="3209925"/>
            <a:ext cx="8172450" cy="1219200"/>
          </a:xfrm>
          <a:prstGeom xmlns:a="http://schemas.openxmlformats.org/drawingml/2006/main" prst="roundRect">
            <a:avLst>
              <a:gd name="adj" fmla="val 9000"/>
            </a:avLst>
          </a:prstGeom>
          <a:solidFill xmlns:a="http://schemas.openxmlformats.org/drawingml/2006/main">
            <a:srgbClr val="FFFFFF"/>
          </a:solidFill>
          <a:ln xmlns:a="http://schemas.openxmlformats.org/drawingml/2006/main" w="9525">
            <a:solidFill>
              <a:srgbClr val="D8E0EA"/>
            </a:solidFill>
          </a:ln>
        </p:spPr>
      </p:sp>
      <p:sp>
        <p:nvSpPr>
          <p:cNvPr id="26" name="">
            <a:extLst xmlns:a="http://schemas.openxmlformats.org/drawingml/2006/main">
              <a:ext uri="{FF2B5EF4-FFF2-40B4-BE49-F238E27FC236}">
                <a16:creationId xmlns:a16="http://schemas.microsoft.com/office/drawing/2014/main" id="{9B163477-1544-4E56-B1E0-5D896C4C601E}"/>
              </a:ext>
            </a:extLst>
          </p:cNvPr>
          <p:cNvSpPr>
            <a:spLocks xmlns:a="http://schemas.openxmlformats.org/drawingml/2006/main" noGrp="1"/>
          </p:cNvSpPr>
          <p:nvPr/>
        </p:nvSpPr>
        <p:spPr>
          <a:xfrm xmlns:a="http://schemas.openxmlformats.org/drawingml/2006/main">
            <a:off x="666750" y="3390900"/>
            <a:ext cx="114300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0E2841"/>
                </a:solidFill>
              </a:defRPr>
            </a:pPr>
            <a:r>
              <a:rPr sz="1275" b="1">
                <a:solidFill>
                  <a:srgbClr val="0E2841"/>
                </a:solidFill>
              </a:rPr>
              <a:t>核心判断</a:t>
            </a:r>
          </a:p>
        </p:txBody>
      </p:sp>
      <p:sp>
        <p:nvSpPr>
          <p:cNvPr id="27" name="">
            <a:extLst xmlns:a="http://schemas.openxmlformats.org/drawingml/2006/main">
              <a:ext uri="{FF2B5EF4-FFF2-40B4-BE49-F238E27FC236}">
                <a16:creationId xmlns:a16="http://schemas.microsoft.com/office/drawing/2014/main" id="{F613BE90-F709-4081-A21B-51250C3FB1EC}"/>
              </a:ext>
            </a:extLst>
          </p:cNvPr>
          <p:cNvSpPr>
            <a:spLocks xmlns:a="http://schemas.openxmlformats.org/drawingml/2006/main" noGrp="1"/>
          </p:cNvSpPr>
          <p:nvPr/>
        </p:nvSpPr>
        <p:spPr>
          <a:xfrm xmlns:a="http://schemas.openxmlformats.org/drawingml/2006/main">
            <a:off x="666750" y="3714750"/>
            <a:ext cx="7543800" cy="3238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94999"/>
          </a:bodyPr>
          <a:lstStyle xmlns:a="http://schemas.openxmlformats.org/drawingml/2006/main"/>
          <a:p xmlns:a="http://schemas.openxmlformats.org/drawingml/2006/main">
            <a:pPr algn="l">
              <a:defRPr sz="1125" b="0">
                <a:solidFill>
                  <a:srgbClr val="1F2D3D"/>
                </a:solidFill>
              </a:defRPr>
            </a:pPr>
            <a:r>
              <a:rPr sz="1125" b="0">
                <a:solidFill>
                  <a:srgbClr val="1F2D3D"/>
                </a:solidFill>
              </a:rPr>
              <a:t>不是把所有请求都交给多智能体讨论，而是用 fast-path 覆盖常规样本，只对低置信、高风险、多意图冲突样本触发异质协作复核。</a:t>
            </a:r>
          </a:p>
        </p:txBody>
      </p:sp>
      <p:sp>
        <p:nvSpPr>
          <p:cNvPr id="28" name="">
            <a:extLst xmlns:a="http://schemas.openxmlformats.org/drawingml/2006/main">
              <a:ext uri="{FF2B5EF4-FFF2-40B4-BE49-F238E27FC236}">
                <a16:creationId xmlns:a16="http://schemas.microsoft.com/office/drawing/2014/main" id="{3AE98CE2-9BF5-41C2-9392-71C1B0D2EA62}"/>
              </a:ext>
            </a:extLst>
          </p:cNvPr>
          <p:cNvSpPr>
            <a:spLocks xmlns:a="http://schemas.openxmlformats.org/drawingml/2006/main" noGrp="1"/>
          </p:cNvSpPr>
          <p:nvPr/>
        </p:nvSpPr>
        <p:spPr>
          <a:xfrm xmlns:a="http://schemas.openxmlformats.org/drawingml/2006/main">
            <a:off x="666750" y="4029075"/>
            <a:ext cx="7543800" cy="2857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95468"/>
          </a:bodyPr>
          <a:lstStyle xmlns:a="http://schemas.openxmlformats.org/drawingml/2006/main"/>
          <a:p xmlns:a="http://schemas.openxmlformats.org/drawingml/2006/main">
            <a:pPr algn="l">
              <a:defRPr sz="1013" b="0">
                <a:solidFill>
                  <a:srgbClr val="4B5563"/>
                </a:solidFill>
              </a:defRPr>
            </a:pPr>
            <a:r>
              <a:rPr sz="1013" b="0">
                <a:solidFill>
                  <a:srgbClr val="4B5563"/>
                </a:solidFill>
              </a:rPr>
              <a:t>当前主增量来自 Stage A llm v2 的结构化语义裁决；Stage B 定位为高精度慢路径修正器，在 challenge/holdout 场景提供选择性正向增益。</a:t>
            </a:r>
          </a:p>
        </p:txBody>
      </p:sp>
      <p:sp>
        <p:nvSpPr>
          <p:cNvPr id="29" name="">
            <a:extLst xmlns:a="http://schemas.openxmlformats.org/drawingml/2006/main">
              <a:ext uri="{FF2B5EF4-FFF2-40B4-BE49-F238E27FC236}">
                <a16:creationId xmlns:a16="http://schemas.microsoft.com/office/drawing/2014/main" id="{070493BB-F4ED-4768-8947-283AB462F109}"/>
              </a:ext>
            </a:extLst>
          </p:cNvPr>
          <p:cNvSpPr>
            <a:spLocks xmlns:a="http://schemas.openxmlformats.org/drawingml/2006/main" noGrp="1"/>
          </p:cNvSpPr>
          <p:nvPr/>
        </p:nvSpPr>
        <p:spPr>
          <a:xfrm xmlns:a="http://schemas.openxmlformats.org/drawingml/2006/main">
            <a:off x="8858250" y="1381125"/>
            <a:ext cx="2857500" cy="3048000"/>
          </a:xfrm>
          <a:prstGeom xmlns:a="http://schemas.openxmlformats.org/drawingml/2006/main" prst="roundRect">
            <a:avLst>
              <a:gd name="adj" fmla="val 9000"/>
            </a:avLst>
          </a:prstGeom>
          <a:solidFill xmlns:a="http://schemas.openxmlformats.org/drawingml/2006/main">
            <a:srgbClr val="F5F9FF"/>
          </a:solidFill>
          <a:ln xmlns:a="http://schemas.openxmlformats.org/drawingml/2006/main" w="9525">
            <a:solidFill>
              <a:srgbClr val="BFD7F6"/>
            </a:solidFill>
          </a:ln>
        </p:spPr>
      </p:sp>
      <p:sp>
        <p:nvSpPr>
          <p:cNvPr id="30" name="">
            <a:extLst xmlns:a="http://schemas.openxmlformats.org/drawingml/2006/main">
              <a:ext uri="{FF2B5EF4-FFF2-40B4-BE49-F238E27FC236}">
                <a16:creationId xmlns:a16="http://schemas.microsoft.com/office/drawing/2014/main" id="{2BE3CEA5-C622-4EA0-9F92-AAC389E0D481}"/>
              </a:ext>
            </a:extLst>
          </p:cNvPr>
          <p:cNvSpPr>
            <a:spLocks xmlns:a="http://schemas.openxmlformats.org/drawingml/2006/main" noGrp="1"/>
          </p:cNvSpPr>
          <p:nvPr/>
        </p:nvSpPr>
        <p:spPr>
          <a:xfrm xmlns:a="http://schemas.openxmlformats.org/drawingml/2006/main">
            <a:off x="9067800" y="1562100"/>
            <a:ext cx="114300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0E2841"/>
                </a:solidFill>
              </a:defRPr>
            </a:pPr>
            <a:r>
              <a:rPr sz="1350" b="1">
                <a:solidFill>
                  <a:srgbClr val="0E2841"/>
                </a:solidFill>
              </a:rPr>
              <a:t>关键结果</a:t>
            </a:r>
          </a:p>
        </p:txBody>
      </p:sp>
      <p:sp>
        <p:nvSpPr>
          <p:cNvPr id="31" name="">
            <a:extLst xmlns:a="http://schemas.openxmlformats.org/drawingml/2006/main">
              <a:ext uri="{FF2B5EF4-FFF2-40B4-BE49-F238E27FC236}">
                <a16:creationId xmlns:a16="http://schemas.microsoft.com/office/drawing/2014/main" id="{82E0F4C4-2836-4E68-81E0-88BF5CD83653}"/>
              </a:ext>
            </a:extLst>
          </p:cNvPr>
          <p:cNvSpPr>
            <a:spLocks xmlns:a="http://schemas.openxmlformats.org/drawingml/2006/main" noGrp="1"/>
          </p:cNvSpPr>
          <p:nvPr/>
        </p:nvSpPr>
        <p:spPr>
          <a:xfrm xmlns:a="http://schemas.openxmlformats.org/drawingml/2006/main">
            <a:off x="9067800" y="1933575"/>
            <a:ext cx="1257300" cy="1028700"/>
          </a:xfrm>
          <a:prstGeom xmlns:a="http://schemas.openxmlformats.org/drawingml/2006/main" prst="roundRect">
            <a:avLst>
              <a:gd name="adj" fmla="val 9000"/>
            </a:avLst>
          </a:prstGeom>
          <a:solidFill xmlns:a="http://schemas.openxmlformats.org/drawingml/2006/main">
            <a:srgbClr val="FFFFFF"/>
          </a:solidFill>
          <a:ln xmlns:a="http://schemas.openxmlformats.org/drawingml/2006/main" w="9525">
            <a:solidFill>
              <a:srgbClr val="D8E0EA"/>
            </a:solidFill>
          </a:ln>
        </p:spPr>
      </p:sp>
      <p:sp>
        <p:nvSpPr>
          <p:cNvPr id="32" name="">
            <a:extLst xmlns:a="http://schemas.openxmlformats.org/drawingml/2006/main">
              <a:ext uri="{FF2B5EF4-FFF2-40B4-BE49-F238E27FC236}">
                <a16:creationId xmlns:a16="http://schemas.microsoft.com/office/drawing/2014/main" id="{87790829-04BB-48F5-AACA-8186C45846D7}"/>
              </a:ext>
            </a:extLst>
          </p:cNvPr>
          <p:cNvSpPr>
            <a:spLocks xmlns:a="http://schemas.openxmlformats.org/drawingml/2006/main" noGrp="1"/>
          </p:cNvSpPr>
          <p:nvPr/>
        </p:nvSpPr>
        <p:spPr>
          <a:xfrm xmlns:a="http://schemas.openxmlformats.org/drawingml/2006/main">
            <a:off x="9067800" y="1933575"/>
            <a:ext cx="1257300" cy="57150"/>
          </a:xfrm>
          <a:prstGeom xmlns:a="http://schemas.openxmlformats.org/drawingml/2006/main" prst="rect">
            <a:avLst/>
          </a:prstGeom>
          <a:solidFill xmlns:a="http://schemas.openxmlformats.org/drawingml/2006/main">
            <a:srgbClr val="1D4F8C"/>
          </a:solidFill>
          <a:ln xmlns:a="http://schemas.openxmlformats.org/drawingml/2006/main" w="0">
            <a:solidFill>
              <a:srgbClr val="1D4F8C"/>
            </a:solidFill>
          </a:ln>
        </p:spPr>
      </p:sp>
      <p:sp>
        <p:nvSpPr>
          <p:cNvPr id="33" name="">
            <a:extLst xmlns:a="http://schemas.openxmlformats.org/drawingml/2006/main">
              <a:ext uri="{FF2B5EF4-FFF2-40B4-BE49-F238E27FC236}">
                <a16:creationId xmlns:a16="http://schemas.microsoft.com/office/drawing/2014/main" id="{F53F82B4-F42B-4D9D-9E23-E282AC593A6E}"/>
              </a:ext>
            </a:extLst>
          </p:cNvPr>
          <p:cNvSpPr>
            <a:spLocks xmlns:a="http://schemas.openxmlformats.org/drawingml/2006/main" noGrp="1"/>
          </p:cNvSpPr>
          <p:nvPr/>
        </p:nvSpPr>
        <p:spPr>
          <a:xfrm xmlns:a="http://schemas.openxmlformats.org/drawingml/2006/main">
            <a:off x="9201150" y="2095500"/>
            <a:ext cx="990600" cy="3048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87359"/>
          </a:bodyPr>
          <a:lstStyle xmlns:a="http://schemas.openxmlformats.org/drawingml/2006/main"/>
          <a:p xmlns:a="http://schemas.openxmlformats.org/drawingml/2006/main">
            <a:pPr algn="l">
              <a:defRPr sz="2250" b="1">
                <a:solidFill>
                  <a:srgbClr val="1D4F8C"/>
                </a:solidFill>
              </a:defRPr>
            </a:pPr>
            <a:r>
              <a:rPr sz="2250" b="1">
                <a:solidFill>
                  <a:srgbClr val="1D4F8C"/>
                </a:solidFill>
              </a:rPr>
              <a:t>563</a:t>
            </a:r>
          </a:p>
        </p:txBody>
      </p:sp>
      <p:sp>
        <p:nvSpPr>
          <p:cNvPr id="34" name="">
            <a:extLst xmlns:a="http://schemas.openxmlformats.org/drawingml/2006/main">
              <a:ext uri="{FF2B5EF4-FFF2-40B4-BE49-F238E27FC236}">
                <a16:creationId xmlns:a16="http://schemas.microsoft.com/office/drawing/2014/main" id="{914272AD-8E6A-4E93-B36F-5A7DF64F1B74}"/>
              </a:ext>
            </a:extLst>
          </p:cNvPr>
          <p:cNvSpPr>
            <a:spLocks xmlns:a="http://schemas.openxmlformats.org/drawingml/2006/main" noGrp="1"/>
          </p:cNvSpPr>
          <p:nvPr/>
        </p:nvSpPr>
        <p:spPr>
          <a:xfrm xmlns:a="http://schemas.openxmlformats.org/drawingml/2006/main">
            <a:off x="9201150" y="2438400"/>
            <a:ext cx="990600"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0E2841"/>
                </a:solidFill>
              </a:defRPr>
            </a:pPr>
            <a:r>
              <a:rPr sz="1125" b="1">
                <a:solidFill>
                  <a:srgbClr val="0E2841"/>
                </a:solidFill>
              </a:rPr>
              <a:t>样本资产</a:t>
            </a:r>
          </a:p>
        </p:txBody>
      </p:sp>
      <p:sp>
        <p:nvSpPr>
          <p:cNvPr id="35" name="">
            <a:extLst xmlns:a="http://schemas.openxmlformats.org/drawingml/2006/main">
              <a:ext uri="{FF2B5EF4-FFF2-40B4-BE49-F238E27FC236}">
                <a16:creationId xmlns:a16="http://schemas.microsoft.com/office/drawing/2014/main" id="{DC603602-CF76-44A8-B834-EB3530EB8A73}"/>
              </a:ext>
            </a:extLst>
          </p:cNvPr>
          <p:cNvSpPr>
            <a:spLocks xmlns:a="http://schemas.openxmlformats.org/drawingml/2006/main" noGrp="1"/>
          </p:cNvSpPr>
          <p:nvPr/>
        </p:nvSpPr>
        <p:spPr>
          <a:xfrm xmlns:a="http://schemas.openxmlformats.org/drawingml/2006/main">
            <a:off x="9201150" y="2657475"/>
            <a:ext cx="99060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99063"/>
          </a:bodyPr>
          <a:lstStyle xmlns:a="http://schemas.openxmlformats.org/drawingml/2006/main"/>
          <a:p xmlns:a="http://schemas.openxmlformats.org/drawingml/2006/main">
            <a:pPr algn="l">
              <a:defRPr sz="825" b="0">
                <a:solidFill>
                  <a:srgbClr val="4B5563"/>
                </a:solidFill>
              </a:defRPr>
            </a:pPr>
            <a:r>
              <a:rPr sz="825" b="0">
                <a:solidFill>
                  <a:srgbClr val="4B5563"/>
                </a:solidFill>
              </a:rPr>
              <a:t>覆盖 formal + holdout</a:t>
            </a:r>
          </a:p>
        </p:txBody>
      </p:sp>
      <p:sp>
        <p:nvSpPr>
          <p:cNvPr id="36" name="">
            <a:extLst xmlns:a="http://schemas.openxmlformats.org/drawingml/2006/main">
              <a:ext uri="{FF2B5EF4-FFF2-40B4-BE49-F238E27FC236}">
                <a16:creationId xmlns:a16="http://schemas.microsoft.com/office/drawing/2014/main" id="{2678627E-9C39-4D53-8661-8D9127777A31}"/>
              </a:ext>
            </a:extLst>
          </p:cNvPr>
          <p:cNvSpPr>
            <a:spLocks xmlns:a="http://schemas.openxmlformats.org/drawingml/2006/main" noGrp="1"/>
          </p:cNvSpPr>
          <p:nvPr/>
        </p:nvSpPr>
        <p:spPr>
          <a:xfrm xmlns:a="http://schemas.openxmlformats.org/drawingml/2006/main">
            <a:off x="10325100" y="1933575"/>
            <a:ext cx="1257300" cy="1028700"/>
          </a:xfrm>
          <a:prstGeom xmlns:a="http://schemas.openxmlformats.org/drawingml/2006/main" prst="roundRect">
            <a:avLst>
              <a:gd name="adj" fmla="val 9000"/>
            </a:avLst>
          </a:prstGeom>
          <a:solidFill xmlns:a="http://schemas.openxmlformats.org/drawingml/2006/main">
            <a:srgbClr val="FFFFFF"/>
          </a:solidFill>
          <a:ln xmlns:a="http://schemas.openxmlformats.org/drawingml/2006/main" w="9525">
            <a:solidFill>
              <a:srgbClr val="D8E0EA"/>
            </a:solidFill>
          </a:ln>
        </p:spPr>
      </p:sp>
      <p:sp>
        <p:nvSpPr>
          <p:cNvPr id="37" name="">
            <a:extLst xmlns:a="http://schemas.openxmlformats.org/drawingml/2006/main">
              <a:ext uri="{FF2B5EF4-FFF2-40B4-BE49-F238E27FC236}">
                <a16:creationId xmlns:a16="http://schemas.microsoft.com/office/drawing/2014/main" id="{A31C9CDB-2D99-4A39-A678-27D5EF73C4B8}"/>
              </a:ext>
            </a:extLst>
          </p:cNvPr>
          <p:cNvSpPr>
            <a:spLocks xmlns:a="http://schemas.openxmlformats.org/drawingml/2006/main" noGrp="1"/>
          </p:cNvSpPr>
          <p:nvPr/>
        </p:nvSpPr>
        <p:spPr>
          <a:xfrm xmlns:a="http://schemas.openxmlformats.org/drawingml/2006/main">
            <a:off x="10325100" y="1933575"/>
            <a:ext cx="1257300" cy="57150"/>
          </a:xfrm>
          <a:prstGeom xmlns:a="http://schemas.openxmlformats.org/drawingml/2006/main" prst="rect">
            <a:avLst/>
          </a:prstGeom>
          <a:solidFill xmlns:a="http://schemas.openxmlformats.org/drawingml/2006/main">
            <a:srgbClr val="196B24"/>
          </a:solidFill>
          <a:ln xmlns:a="http://schemas.openxmlformats.org/drawingml/2006/main" w="0">
            <a:solidFill>
              <a:srgbClr val="196B24"/>
            </a:solidFill>
          </a:ln>
        </p:spPr>
      </p:sp>
      <p:sp>
        <p:nvSpPr>
          <p:cNvPr id="38" name="">
            <a:extLst xmlns:a="http://schemas.openxmlformats.org/drawingml/2006/main">
              <a:ext uri="{FF2B5EF4-FFF2-40B4-BE49-F238E27FC236}">
                <a16:creationId xmlns:a16="http://schemas.microsoft.com/office/drawing/2014/main" id="{069C1CDD-4998-4977-BEFB-8E31DA5D2763}"/>
              </a:ext>
            </a:extLst>
          </p:cNvPr>
          <p:cNvSpPr>
            <a:spLocks xmlns:a="http://schemas.openxmlformats.org/drawingml/2006/main" noGrp="1"/>
          </p:cNvSpPr>
          <p:nvPr/>
        </p:nvSpPr>
        <p:spPr>
          <a:xfrm xmlns:a="http://schemas.openxmlformats.org/drawingml/2006/main">
            <a:off x="10458450" y="2095500"/>
            <a:ext cx="990600" cy="3048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87359"/>
          </a:bodyPr>
          <a:lstStyle xmlns:a="http://schemas.openxmlformats.org/drawingml/2006/main"/>
          <a:p xmlns:a="http://schemas.openxmlformats.org/drawingml/2006/main">
            <a:pPr algn="l">
              <a:defRPr sz="2250" b="1">
                <a:solidFill>
                  <a:srgbClr val="196B24"/>
                </a:solidFill>
              </a:defRPr>
            </a:pPr>
            <a:r>
              <a:rPr sz="2250" b="1">
                <a:solidFill>
                  <a:srgbClr val="196B24"/>
                </a:solidFill>
              </a:rPr>
              <a:t>90.74%</a:t>
            </a:r>
          </a:p>
        </p:txBody>
      </p:sp>
      <p:sp>
        <p:nvSpPr>
          <p:cNvPr id="39" name="">
            <a:extLst xmlns:a="http://schemas.openxmlformats.org/drawingml/2006/main">
              <a:ext uri="{FF2B5EF4-FFF2-40B4-BE49-F238E27FC236}">
                <a16:creationId xmlns:a16="http://schemas.microsoft.com/office/drawing/2014/main" id="{C4D0CE37-9EA0-4D90-8DC5-25E19A76D135}"/>
              </a:ext>
            </a:extLst>
          </p:cNvPr>
          <p:cNvSpPr>
            <a:spLocks xmlns:a="http://schemas.openxmlformats.org/drawingml/2006/main" noGrp="1"/>
          </p:cNvSpPr>
          <p:nvPr/>
        </p:nvSpPr>
        <p:spPr>
          <a:xfrm xmlns:a="http://schemas.openxmlformats.org/drawingml/2006/main">
            <a:off x="10458450" y="2438400"/>
            <a:ext cx="990600"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0E2841"/>
                </a:solidFill>
              </a:defRPr>
            </a:pPr>
            <a:r>
              <a:rPr sz="1125" b="1">
                <a:solidFill>
                  <a:srgbClr val="0E2841"/>
                </a:solidFill>
              </a:rPr>
              <a:t>holdout2</a:t>
            </a:r>
          </a:p>
        </p:txBody>
      </p:sp>
      <p:sp>
        <p:nvSpPr>
          <p:cNvPr id="40" name="">
            <a:extLst xmlns:a="http://schemas.openxmlformats.org/drawingml/2006/main">
              <a:ext uri="{FF2B5EF4-FFF2-40B4-BE49-F238E27FC236}">
                <a16:creationId xmlns:a16="http://schemas.microsoft.com/office/drawing/2014/main" id="{A9F69018-9CD4-4066-929C-E10F03D7FA06}"/>
              </a:ext>
            </a:extLst>
          </p:cNvPr>
          <p:cNvSpPr>
            <a:spLocks xmlns:a="http://schemas.openxmlformats.org/drawingml/2006/main" noGrp="1"/>
          </p:cNvSpPr>
          <p:nvPr/>
        </p:nvSpPr>
        <p:spPr>
          <a:xfrm xmlns:a="http://schemas.openxmlformats.org/drawingml/2006/main">
            <a:off x="10458450" y="2657475"/>
            <a:ext cx="99060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0">
                <a:solidFill>
                  <a:srgbClr val="4B5563"/>
                </a:solidFill>
              </a:defRPr>
            </a:pPr>
            <a:r>
              <a:rPr sz="825" b="0">
                <a:solidFill>
                  <a:srgbClr val="4B5563"/>
                </a:solidFill>
              </a:rPr>
              <a:t>A_llm_v2 -&gt; B</a:t>
            </a:r>
          </a:p>
        </p:txBody>
      </p:sp>
      <p:sp>
        <p:nvSpPr>
          <p:cNvPr id="41" name="">
            <a:extLst xmlns:a="http://schemas.openxmlformats.org/drawingml/2006/main">
              <a:ext uri="{FF2B5EF4-FFF2-40B4-BE49-F238E27FC236}">
                <a16:creationId xmlns:a16="http://schemas.microsoft.com/office/drawing/2014/main" id="{5EE12E32-B412-41F5-83BE-6A12EB424B9B}"/>
              </a:ext>
            </a:extLst>
          </p:cNvPr>
          <p:cNvSpPr>
            <a:spLocks xmlns:a="http://schemas.openxmlformats.org/drawingml/2006/main" noGrp="1"/>
          </p:cNvSpPr>
          <p:nvPr/>
        </p:nvSpPr>
        <p:spPr>
          <a:xfrm xmlns:a="http://schemas.openxmlformats.org/drawingml/2006/main">
            <a:off x="9067800" y="3114675"/>
            <a:ext cx="1257300" cy="1028700"/>
          </a:xfrm>
          <a:prstGeom xmlns:a="http://schemas.openxmlformats.org/drawingml/2006/main" prst="roundRect">
            <a:avLst>
              <a:gd name="adj" fmla="val 9000"/>
            </a:avLst>
          </a:prstGeom>
          <a:solidFill xmlns:a="http://schemas.openxmlformats.org/drawingml/2006/main">
            <a:srgbClr val="FFFFFF"/>
          </a:solidFill>
          <a:ln xmlns:a="http://schemas.openxmlformats.org/drawingml/2006/main" w="9525">
            <a:solidFill>
              <a:srgbClr val="D8E0EA"/>
            </a:solidFill>
          </a:ln>
        </p:spPr>
      </p:sp>
      <p:sp>
        <p:nvSpPr>
          <p:cNvPr id="42" name="">
            <a:extLst xmlns:a="http://schemas.openxmlformats.org/drawingml/2006/main">
              <a:ext uri="{FF2B5EF4-FFF2-40B4-BE49-F238E27FC236}">
                <a16:creationId xmlns:a16="http://schemas.microsoft.com/office/drawing/2014/main" id="{30B97757-1038-4757-88C9-CAFBA7FF2D69}"/>
              </a:ext>
            </a:extLst>
          </p:cNvPr>
          <p:cNvSpPr>
            <a:spLocks xmlns:a="http://schemas.openxmlformats.org/drawingml/2006/main" noGrp="1"/>
          </p:cNvSpPr>
          <p:nvPr/>
        </p:nvSpPr>
        <p:spPr>
          <a:xfrm xmlns:a="http://schemas.openxmlformats.org/drawingml/2006/main">
            <a:off x="9067800" y="3114675"/>
            <a:ext cx="1257300" cy="57150"/>
          </a:xfrm>
          <a:prstGeom xmlns:a="http://schemas.openxmlformats.org/drawingml/2006/main" prst="rect">
            <a:avLst/>
          </a:prstGeom>
          <a:solidFill xmlns:a="http://schemas.openxmlformats.org/drawingml/2006/main">
            <a:srgbClr val="156082"/>
          </a:solidFill>
          <a:ln xmlns:a="http://schemas.openxmlformats.org/drawingml/2006/main" w="0">
            <a:solidFill>
              <a:srgbClr val="156082"/>
            </a:solidFill>
          </a:ln>
        </p:spPr>
      </p:sp>
      <p:sp>
        <p:nvSpPr>
          <p:cNvPr id="43" name="">
            <a:extLst xmlns:a="http://schemas.openxmlformats.org/drawingml/2006/main">
              <a:ext uri="{FF2B5EF4-FFF2-40B4-BE49-F238E27FC236}">
                <a16:creationId xmlns:a16="http://schemas.microsoft.com/office/drawing/2014/main" id="{E41E4409-F906-4B71-9A64-2C08DBFE57A3}"/>
              </a:ext>
            </a:extLst>
          </p:cNvPr>
          <p:cNvSpPr>
            <a:spLocks xmlns:a="http://schemas.openxmlformats.org/drawingml/2006/main" noGrp="1"/>
          </p:cNvSpPr>
          <p:nvPr/>
        </p:nvSpPr>
        <p:spPr>
          <a:xfrm xmlns:a="http://schemas.openxmlformats.org/drawingml/2006/main">
            <a:off x="9201150" y="3276600"/>
            <a:ext cx="990600" cy="3048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87359"/>
          </a:bodyPr>
          <a:lstStyle xmlns:a="http://schemas.openxmlformats.org/drawingml/2006/main"/>
          <a:p xmlns:a="http://schemas.openxmlformats.org/drawingml/2006/main">
            <a:pPr algn="l">
              <a:defRPr sz="2250" b="1">
                <a:solidFill>
                  <a:srgbClr val="156082"/>
                </a:solidFill>
              </a:defRPr>
            </a:pPr>
            <a:r>
              <a:rPr sz="2250" b="1">
                <a:solidFill>
                  <a:srgbClr val="156082"/>
                </a:solidFill>
              </a:rPr>
              <a:t>88.50%</a:t>
            </a:r>
          </a:p>
        </p:txBody>
      </p:sp>
      <p:sp>
        <p:nvSpPr>
          <p:cNvPr id="44" name="">
            <a:extLst xmlns:a="http://schemas.openxmlformats.org/drawingml/2006/main">
              <a:ext uri="{FF2B5EF4-FFF2-40B4-BE49-F238E27FC236}">
                <a16:creationId xmlns:a16="http://schemas.microsoft.com/office/drawing/2014/main" id="{EE66802D-781A-4C66-B8E0-FC97F4DF1396}"/>
              </a:ext>
            </a:extLst>
          </p:cNvPr>
          <p:cNvSpPr>
            <a:spLocks xmlns:a="http://schemas.openxmlformats.org/drawingml/2006/main" noGrp="1"/>
          </p:cNvSpPr>
          <p:nvPr/>
        </p:nvSpPr>
        <p:spPr>
          <a:xfrm xmlns:a="http://schemas.openxmlformats.org/drawingml/2006/main">
            <a:off x="9201150" y="3619500"/>
            <a:ext cx="990600"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0E2841"/>
                </a:solidFill>
              </a:defRPr>
            </a:pPr>
            <a:r>
              <a:rPr sz="1125" b="1">
                <a:solidFill>
                  <a:srgbClr val="0E2841"/>
                </a:solidFill>
              </a:rPr>
              <a:t>pooled test</a:t>
            </a:r>
          </a:p>
        </p:txBody>
      </p:sp>
      <p:sp>
        <p:nvSpPr>
          <p:cNvPr id="45" name="">
            <a:extLst xmlns:a="http://schemas.openxmlformats.org/drawingml/2006/main">
              <a:ext uri="{FF2B5EF4-FFF2-40B4-BE49-F238E27FC236}">
                <a16:creationId xmlns:a16="http://schemas.microsoft.com/office/drawing/2014/main" id="{EB3B1564-9303-4DEB-A833-E0E3A3E2FB4F}"/>
              </a:ext>
            </a:extLst>
          </p:cNvPr>
          <p:cNvSpPr>
            <a:spLocks xmlns:a="http://schemas.openxmlformats.org/drawingml/2006/main" noGrp="1"/>
          </p:cNvSpPr>
          <p:nvPr/>
        </p:nvSpPr>
        <p:spPr>
          <a:xfrm xmlns:a="http://schemas.openxmlformats.org/drawingml/2006/main">
            <a:off x="9201150" y="3838575"/>
            <a:ext cx="99060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0">
                <a:solidFill>
                  <a:srgbClr val="4B5563"/>
                </a:solidFill>
              </a:defRPr>
            </a:pPr>
            <a:r>
              <a:rPr sz="825" b="0">
                <a:solidFill>
                  <a:srgbClr val="4B5563"/>
                </a:solidFill>
              </a:rPr>
              <a:t>retrospective 口径</a:t>
            </a:r>
          </a:p>
        </p:txBody>
      </p:sp>
      <p:sp>
        <p:nvSpPr>
          <p:cNvPr id="46" name="">
            <a:extLst xmlns:a="http://schemas.openxmlformats.org/drawingml/2006/main">
              <a:ext uri="{FF2B5EF4-FFF2-40B4-BE49-F238E27FC236}">
                <a16:creationId xmlns:a16="http://schemas.microsoft.com/office/drawing/2014/main" id="{BBFA0831-801C-41F3-A9D1-50FF839BB3E3}"/>
              </a:ext>
            </a:extLst>
          </p:cNvPr>
          <p:cNvSpPr>
            <a:spLocks xmlns:a="http://schemas.openxmlformats.org/drawingml/2006/main" noGrp="1"/>
          </p:cNvSpPr>
          <p:nvPr/>
        </p:nvSpPr>
        <p:spPr>
          <a:xfrm xmlns:a="http://schemas.openxmlformats.org/drawingml/2006/main">
            <a:off x="10325100" y="3114675"/>
            <a:ext cx="1257300" cy="1028700"/>
          </a:xfrm>
          <a:prstGeom xmlns:a="http://schemas.openxmlformats.org/drawingml/2006/main" prst="roundRect">
            <a:avLst>
              <a:gd name="adj" fmla="val 9000"/>
            </a:avLst>
          </a:prstGeom>
          <a:solidFill xmlns:a="http://schemas.openxmlformats.org/drawingml/2006/main">
            <a:srgbClr val="FFFFFF"/>
          </a:solidFill>
          <a:ln xmlns:a="http://schemas.openxmlformats.org/drawingml/2006/main" w="9525">
            <a:solidFill>
              <a:srgbClr val="D8E0EA"/>
            </a:solidFill>
          </a:ln>
        </p:spPr>
      </p:sp>
      <p:sp>
        <p:nvSpPr>
          <p:cNvPr id="47" name="">
            <a:extLst xmlns:a="http://schemas.openxmlformats.org/drawingml/2006/main">
              <a:ext uri="{FF2B5EF4-FFF2-40B4-BE49-F238E27FC236}">
                <a16:creationId xmlns:a16="http://schemas.microsoft.com/office/drawing/2014/main" id="{28A2BD47-8778-44F3-8354-642A28D44C87}"/>
              </a:ext>
            </a:extLst>
          </p:cNvPr>
          <p:cNvSpPr>
            <a:spLocks xmlns:a="http://schemas.openxmlformats.org/drawingml/2006/main" noGrp="1"/>
          </p:cNvSpPr>
          <p:nvPr/>
        </p:nvSpPr>
        <p:spPr>
          <a:xfrm xmlns:a="http://schemas.openxmlformats.org/drawingml/2006/main">
            <a:off x="10325100" y="3114675"/>
            <a:ext cx="1257300" cy="57150"/>
          </a:xfrm>
          <a:prstGeom xmlns:a="http://schemas.openxmlformats.org/drawingml/2006/main" prst="rect">
            <a:avLst/>
          </a:prstGeom>
          <a:solidFill xmlns:a="http://schemas.openxmlformats.org/drawingml/2006/main">
            <a:srgbClr val="E97132"/>
          </a:solidFill>
          <a:ln xmlns:a="http://schemas.openxmlformats.org/drawingml/2006/main" w="0">
            <a:solidFill>
              <a:srgbClr val="E97132"/>
            </a:solidFill>
          </a:ln>
        </p:spPr>
      </p:sp>
      <p:sp>
        <p:nvSpPr>
          <p:cNvPr id="48" name="">
            <a:extLst xmlns:a="http://schemas.openxmlformats.org/drawingml/2006/main">
              <a:ext uri="{FF2B5EF4-FFF2-40B4-BE49-F238E27FC236}">
                <a16:creationId xmlns:a16="http://schemas.microsoft.com/office/drawing/2014/main" id="{3D89F2F0-895D-4A41-90AD-6522DBCE1363}"/>
              </a:ext>
            </a:extLst>
          </p:cNvPr>
          <p:cNvSpPr>
            <a:spLocks xmlns:a="http://schemas.openxmlformats.org/drawingml/2006/main" noGrp="1"/>
          </p:cNvSpPr>
          <p:nvPr/>
        </p:nvSpPr>
        <p:spPr>
          <a:xfrm xmlns:a="http://schemas.openxmlformats.org/drawingml/2006/main">
            <a:off x="10458450" y="3276600"/>
            <a:ext cx="990600" cy="3048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87359"/>
          </a:bodyPr>
          <a:lstStyle xmlns:a="http://schemas.openxmlformats.org/drawingml/2006/main"/>
          <a:p xmlns:a="http://schemas.openxmlformats.org/drawingml/2006/main">
            <a:pPr algn="l">
              <a:defRPr sz="2250" b="1">
                <a:solidFill>
                  <a:srgbClr val="E97132"/>
                </a:solidFill>
              </a:defRPr>
            </a:pPr>
            <a:r>
              <a:rPr sz="2250" b="1">
                <a:solidFill>
                  <a:srgbClr val="E97132"/>
                </a:solidFill>
              </a:rPr>
              <a:t>4类</a:t>
            </a:r>
          </a:p>
        </p:txBody>
      </p:sp>
      <p:sp>
        <p:nvSpPr>
          <p:cNvPr id="49" name="">
            <a:extLst xmlns:a="http://schemas.openxmlformats.org/drawingml/2006/main">
              <a:ext uri="{FF2B5EF4-FFF2-40B4-BE49-F238E27FC236}">
                <a16:creationId xmlns:a16="http://schemas.microsoft.com/office/drawing/2014/main" id="{B129BFB3-354B-46AC-B70B-3AFD33591A7C}"/>
              </a:ext>
            </a:extLst>
          </p:cNvPr>
          <p:cNvSpPr>
            <a:spLocks xmlns:a="http://schemas.openxmlformats.org/drawingml/2006/main" noGrp="1"/>
          </p:cNvSpPr>
          <p:nvPr/>
        </p:nvSpPr>
        <p:spPr>
          <a:xfrm xmlns:a="http://schemas.openxmlformats.org/drawingml/2006/main">
            <a:off x="10458450" y="3619500"/>
            <a:ext cx="990600"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0E2841"/>
                </a:solidFill>
              </a:defRPr>
            </a:pPr>
            <a:r>
              <a:rPr sz="1125" b="1">
                <a:solidFill>
                  <a:srgbClr val="0E2841"/>
                </a:solidFill>
              </a:rPr>
              <a:t>结项交付</a:t>
            </a:r>
          </a:p>
        </p:txBody>
      </p:sp>
      <p:sp>
        <p:nvSpPr>
          <p:cNvPr id="50" name="">
            <a:extLst xmlns:a="http://schemas.openxmlformats.org/drawingml/2006/main">
              <a:ext uri="{FF2B5EF4-FFF2-40B4-BE49-F238E27FC236}">
                <a16:creationId xmlns:a16="http://schemas.microsoft.com/office/drawing/2014/main" id="{5B45A05D-2EFB-459E-8A56-99AEB99B1977}"/>
              </a:ext>
            </a:extLst>
          </p:cNvPr>
          <p:cNvSpPr>
            <a:spLocks xmlns:a="http://schemas.openxmlformats.org/drawingml/2006/main" noGrp="1"/>
          </p:cNvSpPr>
          <p:nvPr/>
        </p:nvSpPr>
        <p:spPr>
          <a:xfrm xmlns:a="http://schemas.openxmlformats.org/drawingml/2006/main">
            <a:off x="10458450" y="3838575"/>
            <a:ext cx="990600" cy="2476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0">
                <a:solidFill>
                  <a:srgbClr val="4B5563"/>
                </a:solidFill>
              </a:defRPr>
            </a:pPr>
            <a:r>
              <a:rPr sz="825" b="0">
                <a:solidFill>
                  <a:srgbClr val="4B5563"/>
                </a:solidFill>
              </a:rPr>
              <a:t>原型/报告/专利/汇编</a:t>
            </a:r>
          </a:p>
        </p:txBody>
      </p:sp>
      <p:sp>
        <p:nvSpPr>
          <p:cNvPr id="51" name="">
            <a:extLst xmlns:a="http://schemas.openxmlformats.org/drawingml/2006/main">
              <a:ext uri="{FF2B5EF4-FFF2-40B4-BE49-F238E27FC236}">
                <a16:creationId xmlns:a16="http://schemas.microsoft.com/office/drawing/2014/main" id="{C9B5F88F-2F77-4FC7-898D-7B6F654F2473}"/>
              </a:ext>
            </a:extLst>
          </p:cNvPr>
          <p:cNvSpPr>
            <a:spLocks xmlns:a="http://schemas.openxmlformats.org/drawingml/2006/main" noGrp="1"/>
          </p:cNvSpPr>
          <p:nvPr/>
        </p:nvSpPr>
        <p:spPr>
          <a:xfrm xmlns:a="http://schemas.openxmlformats.org/drawingml/2006/main">
            <a:off x="457200" y="4733925"/>
            <a:ext cx="1143000" cy="22860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0E2841"/>
                </a:solidFill>
              </a:defRPr>
            </a:pPr>
            <a:r>
              <a:rPr sz="1350" b="1">
                <a:solidFill>
                  <a:srgbClr val="0E2841"/>
                </a:solidFill>
              </a:rPr>
              <a:t>已经形成</a:t>
            </a:r>
          </a:p>
        </p:txBody>
      </p:sp>
      <p:sp>
        <p:nvSpPr>
          <p:cNvPr id="52" name="">
            <a:extLst xmlns:a="http://schemas.openxmlformats.org/drawingml/2006/main">
              <a:ext uri="{FF2B5EF4-FFF2-40B4-BE49-F238E27FC236}">
                <a16:creationId xmlns:a16="http://schemas.microsoft.com/office/drawing/2014/main" id="{3B31923C-2CB0-4EF7-BB8D-7764EC4C0949}"/>
              </a:ext>
            </a:extLst>
          </p:cNvPr>
          <p:cNvSpPr>
            <a:spLocks xmlns:a="http://schemas.openxmlformats.org/drawingml/2006/main" noGrp="1"/>
          </p:cNvSpPr>
          <p:nvPr/>
        </p:nvSpPr>
        <p:spPr>
          <a:xfrm xmlns:a="http://schemas.openxmlformats.org/drawingml/2006/main">
            <a:off x="457200" y="5095875"/>
            <a:ext cx="2419350" cy="742950"/>
          </a:xfrm>
          <a:prstGeom xmlns:a="http://schemas.openxmlformats.org/drawingml/2006/main" prst="roundRect">
            <a:avLst>
              <a:gd name="adj" fmla="val 9000"/>
            </a:avLst>
          </a:prstGeom>
          <a:solidFill xmlns:a="http://schemas.openxmlformats.org/drawingml/2006/main">
            <a:srgbClr val="FFFFFF"/>
          </a:solidFill>
          <a:ln xmlns:a="http://schemas.openxmlformats.org/drawingml/2006/main" w="9525">
            <a:solidFill>
              <a:srgbClr val="D8E0EA"/>
            </a:solidFill>
          </a:ln>
        </p:spPr>
      </p:sp>
      <p:sp>
        <p:nvSpPr>
          <p:cNvPr id="53" name="">
            <a:extLst xmlns:a="http://schemas.openxmlformats.org/drawingml/2006/main">
              <a:ext uri="{FF2B5EF4-FFF2-40B4-BE49-F238E27FC236}">
                <a16:creationId xmlns:a16="http://schemas.microsoft.com/office/drawing/2014/main" id="{56719833-4C94-4131-B55B-1C708BB42F7C}"/>
              </a:ext>
            </a:extLst>
          </p:cNvPr>
          <p:cNvSpPr>
            <a:spLocks xmlns:a="http://schemas.openxmlformats.org/drawingml/2006/main" noGrp="1"/>
          </p:cNvSpPr>
          <p:nvPr/>
        </p:nvSpPr>
        <p:spPr>
          <a:xfrm xmlns:a="http://schemas.openxmlformats.org/drawingml/2006/main">
            <a:off x="590550" y="5248275"/>
            <a:ext cx="304800" cy="304800"/>
          </a:xfrm>
          <a:prstGeom xmlns:a="http://schemas.openxmlformats.org/drawingml/2006/main" prst="ellipse">
            <a:avLst/>
          </a:prstGeom>
          <a:solidFill xmlns:a="http://schemas.openxmlformats.org/drawingml/2006/main">
            <a:srgbClr val="1D4F8C"/>
          </a:solidFill>
          <a:ln xmlns:a="http://schemas.openxmlformats.org/drawingml/2006/main" w="0">
            <a:solidFill>
              <a:srgbClr val="1D4F8C"/>
            </a:solidFill>
          </a:ln>
        </p:spPr>
      </p:sp>
      <p:sp>
        <p:nvSpPr>
          <p:cNvPr id="54" name="">
            <a:extLst xmlns:a="http://schemas.openxmlformats.org/drawingml/2006/main">
              <a:ext uri="{FF2B5EF4-FFF2-40B4-BE49-F238E27FC236}">
                <a16:creationId xmlns:a16="http://schemas.microsoft.com/office/drawing/2014/main" id="{BADAC137-8355-4337-8C89-BCEB3C0A7A3E}"/>
              </a:ext>
            </a:extLst>
          </p:cNvPr>
          <p:cNvSpPr>
            <a:spLocks xmlns:a="http://schemas.openxmlformats.org/drawingml/2006/main" noGrp="1"/>
          </p:cNvSpPr>
          <p:nvPr/>
        </p:nvSpPr>
        <p:spPr>
          <a:xfrm xmlns:a="http://schemas.openxmlformats.org/drawingml/2006/main">
            <a:off x="590550" y="5286375"/>
            <a:ext cx="304800"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FFFFFF"/>
                </a:solidFill>
              </a:defRPr>
            </a:pPr>
            <a:r>
              <a:rPr sz="975" b="1">
                <a:solidFill>
                  <a:srgbClr val="FFFFFF"/>
                </a:solidFill>
              </a:rPr>
              <a:t>01</a:t>
            </a:r>
          </a:p>
        </p:txBody>
      </p:sp>
      <p:sp>
        <p:nvSpPr>
          <p:cNvPr id="55" name="">
            <a:extLst xmlns:a="http://schemas.openxmlformats.org/drawingml/2006/main">
              <a:ext uri="{FF2B5EF4-FFF2-40B4-BE49-F238E27FC236}">
                <a16:creationId xmlns:a16="http://schemas.microsoft.com/office/drawing/2014/main" id="{A3958E1D-2ADF-46B3-B628-02FD0363136A}"/>
              </a:ext>
            </a:extLst>
          </p:cNvPr>
          <p:cNvSpPr>
            <a:spLocks xmlns:a="http://schemas.openxmlformats.org/drawingml/2006/main" noGrp="1"/>
          </p:cNvSpPr>
          <p:nvPr/>
        </p:nvSpPr>
        <p:spPr>
          <a:xfrm xmlns:a="http://schemas.openxmlformats.org/drawingml/2006/main">
            <a:off x="990600" y="5219700"/>
            <a:ext cx="1714500"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63" b="1">
                <a:solidFill>
                  <a:srgbClr val="0E2841"/>
                </a:solidFill>
              </a:defRPr>
            </a:pPr>
            <a:r>
              <a:rPr sz="1163" b="1">
                <a:solidFill>
                  <a:srgbClr val="0E2841"/>
                </a:solidFill>
              </a:rPr>
              <a:t>可运行原型</a:t>
            </a:r>
          </a:p>
        </p:txBody>
      </p:sp>
      <p:sp>
        <p:nvSpPr>
          <p:cNvPr id="56" name="">
            <a:extLst xmlns:a="http://schemas.openxmlformats.org/drawingml/2006/main">
              <a:ext uri="{FF2B5EF4-FFF2-40B4-BE49-F238E27FC236}">
                <a16:creationId xmlns:a16="http://schemas.microsoft.com/office/drawing/2014/main" id="{9ABD8DF7-4D5D-4CBB-B1F3-19EAACA5B19D}"/>
              </a:ext>
            </a:extLst>
          </p:cNvPr>
          <p:cNvSpPr>
            <a:spLocks xmlns:a="http://schemas.openxmlformats.org/drawingml/2006/main" noGrp="1"/>
          </p:cNvSpPr>
          <p:nvPr/>
        </p:nvSpPr>
        <p:spPr>
          <a:xfrm xmlns:a="http://schemas.openxmlformats.org/drawingml/2006/main">
            <a:off x="990600" y="5467350"/>
            <a:ext cx="1676400" cy="2857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63" b="0">
                <a:solidFill>
                  <a:srgbClr val="4B5563"/>
                </a:solidFill>
              </a:defRPr>
            </a:pPr>
            <a:r>
              <a:rPr sz="863" b="0">
                <a:solidFill>
                  <a:srgbClr val="4B5563"/>
                </a:solidFill>
              </a:rPr>
              <a:t>Stage R/A/B/C 链路与服务接口</a:t>
            </a:r>
          </a:p>
        </p:txBody>
      </p:sp>
      <p:sp>
        <p:nvSpPr>
          <p:cNvPr id="57" name="">
            <a:extLst xmlns:a="http://schemas.openxmlformats.org/drawingml/2006/main">
              <a:ext uri="{FF2B5EF4-FFF2-40B4-BE49-F238E27FC236}">
                <a16:creationId xmlns:a16="http://schemas.microsoft.com/office/drawing/2014/main" id="{69986487-FBB1-455F-B5C5-D6E25E50DEFB}"/>
              </a:ext>
            </a:extLst>
          </p:cNvPr>
          <p:cNvSpPr>
            <a:spLocks xmlns:a="http://schemas.openxmlformats.org/drawingml/2006/main" noGrp="1"/>
          </p:cNvSpPr>
          <p:nvPr/>
        </p:nvSpPr>
        <p:spPr>
          <a:xfrm xmlns:a="http://schemas.openxmlformats.org/drawingml/2006/main">
            <a:off x="3105150" y="5095875"/>
            <a:ext cx="2419350" cy="742950"/>
          </a:xfrm>
          <a:prstGeom xmlns:a="http://schemas.openxmlformats.org/drawingml/2006/main" prst="roundRect">
            <a:avLst>
              <a:gd name="adj" fmla="val 9000"/>
            </a:avLst>
          </a:prstGeom>
          <a:solidFill xmlns:a="http://schemas.openxmlformats.org/drawingml/2006/main">
            <a:srgbClr val="FFFFFF"/>
          </a:solidFill>
          <a:ln xmlns:a="http://schemas.openxmlformats.org/drawingml/2006/main" w="9525">
            <a:solidFill>
              <a:srgbClr val="D8E0EA"/>
            </a:solidFill>
          </a:ln>
        </p:spPr>
      </p:sp>
      <p:sp>
        <p:nvSpPr>
          <p:cNvPr id="58" name="">
            <a:extLst xmlns:a="http://schemas.openxmlformats.org/drawingml/2006/main">
              <a:ext uri="{FF2B5EF4-FFF2-40B4-BE49-F238E27FC236}">
                <a16:creationId xmlns:a16="http://schemas.microsoft.com/office/drawing/2014/main" id="{E271735A-6B4F-4112-BF5A-166457806E19}"/>
              </a:ext>
            </a:extLst>
          </p:cNvPr>
          <p:cNvSpPr>
            <a:spLocks xmlns:a="http://schemas.openxmlformats.org/drawingml/2006/main" noGrp="1"/>
          </p:cNvSpPr>
          <p:nvPr/>
        </p:nvSpPr>
        <p:spPr>
          <a:xfrm xmlns:a="http://schemas.openxmlformats.org/drawingml/2006/main">
            <a:off x="3238500" y="5248275"/>
            <a:ext cx="304800" cy="304800"/>
          </a:xfrm>
          <a:prstGeom xmlns:a="http://schemas.openxmlformats.org/drawingml/2006/main" prst="ellipse">
            <a:avLst/>
          </a:prstGeom>
          <a:solidFill xmlns:a="http://schemas.openxmlformats.org/drawingml/2006/main">
            <a:srgbClr val="156082"/>
          </a:solidFill>
          <a:ln xmlns:a="http://schemas.openxmlformats.org/drawingml/2006/main" w="0">
            <a:solidFill>
              <a:srgbClr val="156082"/>
            </a:solidFill>
          </a:ln>
        </p:spPr>
      </p:sp>
      <p:sp>
        <p:nvSpPr>
          <p:cNvPr id="59" name="">
            <a:extLst xmlns:a="http://schemas.openxmlformats.org/drawingml/2006/main">
              <a:ext uri="{FF2B5EF4-FFF2-40B4-BE49-F238E27FC236}">
                <a16:creationId xmlns:a16="http://schemas.microsoft.com/office/drawing/2014/main" id="{D882804A-ED54-4DAD-8832-A5293AFBC72A}"/>
              </a:ext>
            </a:extLst>
          </p:cNvPr>
          <p:cNvSpPr>
            <a:spLocks xmlns:a="http://schemas.openxmlformats.org/drawingml/2006/main" noGrp="1"/>
          </p:cNvSpPr>
          <p:nvPr/>
        </p:nvSpPr>
        <p:spPr>
          <a:xfrm xmlns:a="http://schemas.openxmlformats.org/drawingml/2006/main">
            <a:off x="3238500" y="5286375"/>
            <a:ext cx="304800"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FFFFFF"/>
                </a:solidFill>
              </a:defRPr>
            </a:pPr>
            <a:r>
              <a:rPr sz="975" b="1">
                <a:solidFill>
                  <a:srgbClr val="FFFFFF"/>
                </a:solidFill>
              </a:rPr>
              <a:t>02</a:t>
            </a:r>
          </a:p>
        </p:txBody>
      </p:sp>
      <p:sp>
        <p:nvSpPr>
          <p:cNvPr id="60" name="">
            <a:extLst xmlns:a="http://schemas.openxmlformats.org/drawingml/2006/main">
              <a:ext uri="{FF2B5EF4-FFF2-40B4-BE49-F238E27FC236}">
                <a16:creationId xmlns:a16="http://schemas.microsoft.com/office/drawing/2014/main" id="{06DEE6D2-23C4-4591-9563-E8B8F1FE18A6}"/>
              </a:ext>
            </a:extLst>
          </p:cNvPr>
          <p:cNvSpPr>
            <a:spLocks xmlns:a="http://schemas.openxmlformats.org/drawingml/2006/main" noGrp="1"/>
          </p:cNvSpPr>
          <p:nvPr/>
        </p:nvSpPr>
        <p:spPr>
          <a:xfrm xmlns:a="http://schemas.openxmlformats.org/drawingml/2006/main">
            <a:off x="3638550" y="5219700"/>
            <a:ext cx="1714500"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63" b="1">
                <a:solidFill>
                  <a:srgbClr val="0E2841"/>
                </a:solidFill>
              </a:defRPr>
            </a:pPr>
            <a:r>
              <a:rPr sz="1163" b="1">
                <a:solidFill>
                  <a:srgbClr val="0E2841"/>
                </a:solidFill>
              </a:rPr>
              <a:t>实验验证</a:t>
            </a:r>
          </a:p>
        </p:txBody>
      </p:sp>
      <p:sp>
        <p:nvSpPr>
          <p:cNvPr id="61" name="">
            <a:extLst xmlns:a="http://schemas.openxmlformats.org/drawingml/2006/main">
              <a:ext uri="{FF2B5EF4-FFF2-40B4-BE49-F238E27FC236}">
                <a16:creationId xmlns:a16="http://schemas.microsoft.com/office/drawing/2014/main" id="{08FF9D78-B8CE-4577-AB59-D69A0916B862}"/>
              </a:ext>
            </a:extLst>
          </p:cNvPr>
          <p:cNvSpPr>
            <a:spLocks xmlns:a="http://schemas.openxmlformats.org/drawingml/2006/main" noGrp="1"/>
          </p:cNvSpPr>
          <p:nvPr/>
        </p:nvSpPr>
        <p:spPr>
          <a:xfrm xmlns:a="http://schemas.openxmlformats.org/drawingml/2006/main">
            <a:off x="3638550" y="5467350"/>
            <a:ext cx="1676400" cy="2857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63" b="0">
                <a:solidFill>
                  <a:srgbClr val="4B5563"/>
                </a:solidFill>
              </a:defRPr>
            </a:pPr>
            <a:r>
              <a:rPr sz="863" b="0">
                <a:solidFill>
                  <a:srgbClr val="4B5563"/>
                </a:solidFill>
              </a:rPr>
              <a:t>fresh split + holdout + 消融分析</a:t>
            </a:r>
          </a:p>
        </p:txBody>
      </p:sp>
      <p:sp>
        <p:nvSpPr>
          <p:cNvPr id="62" name="">
            <a:extLst xmlns:a="http://schemas.openxmlformats.org/drawingml/2006/main">
              <a:ext uri="{FF2B5EF4-FFF2-40B4-BE49-F238E27FC236}">
                <a16:creationId xmlns:a16="http://schemas.microsoft.com/office/drawing/2014/main" id="{5924839B-806D-4BF4-A7E9-5010F4B7410A}"/>
              </a:ext>
            </a:extLst>
          </p:cNvPr>
          <p:cNvSpPr>
            <a:spLocks xmlns:a="http://schemas.openxmlformats.org/drawingml/2006/main" noGrp="1"/>
          </p:cNvSpPr>
          <p:nvPr/>
        </p:nvSpPr>
        <p:spPr>
          <a:xfrm xmlns:a="http://schemas.openxmlformats.org/drawingml/2006/main">
            <a:off x="5753100" y="5095875"/>
            <a:ext cx="2419350" cy="742950"/>
          </a:xfrm>
          <a:prstGeom xmlns:a="http://schemas.openxmlformats.org/drawingml/2006/main" prst="roundRect">
            <a:avLst>
              <a:gd name="adj" fmla="val 9000"/>
            </a:avLst>
          </a:prstGeom>
          <a:solidFill xmlns:a="http://schemas.openxmlformats.org/drawingml/2006/main">
            <a:srgbClr val="FFFFFF"/>
          </a:solidFill>
          <a:ln xmlns:a="http://schemas.openxmlformats.org/drawingml/2006/main" w="9525">
            <a:solidFill>
              <a:srgbClr val="D8E0EA"/>
            </a:solidFill>
          </a:ln>
        </p:spPr>
      </p:sp>
      <p:sp>
        <p:nvSpPr>
          <p:cNvPr id="63" name="">
            <a:extLst xmlns:a="http://schemas.openxmlformats.org/drawingml/2006/main">
              <a:ext uri="{FF2B5EF4-FFF2-40B4-BE49-F238E27FC236}">
                <a16:creationId xmlns:a16="http://schemas.microsoft.com/office/drawing/2014/main" id="{29FEE598-9205-42A6-A98D-79806F6C913D}"/>
              </a:ext>
            </a:extLst>
          </p:cNvPr>
          <p:cNvSpPr>
            <a:spLocks xmlns:a="http://schemas.openxmlformats.org/drawingml/2006/main" noGrp="1"/>
          </p:cNvSpPr>
          <p:nvPr/>
        </p:nvSpPr>
        <p:spPr>
          <a:xfrm xmlns:a="http://schemas.openxmlformats.org/drawingml/2006/main">
            <a:off x="5886450" y="5248275"/>
            <a:ext cx="304800" cy="304800"/>
          </a:xfrm>
          <a:prstGeom xmlns:a="http://schemas.openxmlformats.org/drawingml/2006/main" prst="ellipse">
            <a:avLst/>
          </a:prstGeom>
          <a:solidFill xmlns:a="http://schemas.openxmlformats.org/drawingml/2006/main">
            <a:srgbClr val="196B24"/>
          </a:solidFill>
          <a:ln xmlns:a="http://schemas.openxmlformats.org/drawingml/2006/main" w="0">
            <a:solidFill>
              <a:srgbClr val="196B24"/>
            </a:solidFill>
          </a:ln>
        </p:spPr>
      </p:sp>
      <p:sp>
        <p:nvSpPr>
          <p:cNvPr id="64" name="">
            <a:extLst xmlns:a="http://schemas.openxmlformats.org/drawingml/2006/main">
              <a:ext uri="{FF2B5EF4-FFF2-40B4-BE49-F238E27FC236}">
                <a16:creationId xmlns:a16="http://schemas.microsoft.com/office/drawing/2014/main" id="{9A6CB141-CB21-4F21-97C0-5307D8CB2C66}"/>
              </a:ext>
            </a:extLst>
          </p:cNvPr>
          <p:cNvSpPr>
            <a:spLocks xmlns:a="http://schemas.openxmlformats.org/drawingml/2006/main" noGrp="1"/>
          </p:cNvSpPr>
          <p:nvPr/>
        </p:nvSpPr>
        <p:spPr>
          <a:xfrm xmlns:a="http://schemas.openxmlformats.org/drawingml/2006/main">
            <a:off x="5886450" y="5286375"/>
            <a:ext cx="304800"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FFFFFF"/>
                </a:solidFill>
              </a:defRPr>
            </a:pPr>
            <a:r>
              <a:rPr sz="975" b="1">
                <a:solidFill>
                  <a:srgbClr val="FFFFFF"/>
                </a:solidFill>
              </a:rPr>
              <a:t>03</a:t>
            </a:r>
          </a:p>
        </p:txBody>
      </p:sp>
      <p:sp>
        <p:nvSpPr>
          <p:cNvPr id="65" name="">
            <a:extLst xmlns:a="http://schemas.openxmlformats.org/drawingml/2006/main">
              <a:ext uri="{FF2B5EF4-FFF2-40B4-BE49-F238E27FC236}">
                <a16:creationId xmlns:a16="http://schemas.microsoft.com/office/drawing/2014/main" id="{4DFF5A3B-BCB0-409E-B03A-B70E584FDCEF}"/>
              </a:ext>
            </a:extLst>
          </p:cNvPr>
          <p:cNvSpPr>
            <a:spLocks xmlns:a="http://schemas.openxmlformats.org/drawingml/2006/main" noGrp="1"/>
          </p:cNvSpPr>
          <p:nvPr/>
        </p:nvSpPr>
        <p:spPr>
          <a:xfrm xmlns:a="http://schemas.openxmlformats.org/drawingml/2006/main">
            <a:off x="6286500" y="5219700"/>
            <a:ext cx="1714500"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63" b="1">
                <a:solidFill>
                  <a:srgbClr val="0E2841"/>
                </a:solidFill>
              </a:defRPr>
            </a:pPr>
            <a:r>
              <a:rPr sz="1163" b="1">
                <a:solidFill>
                  <a:srgbClr val="0E2841"/>
                </a:solidFill>
              </a:rPr>
              <a:t>可信留痕</a:t>
            </a:r>
          </a:p>
        </p:txBody>
      </p:sp>
      <p:sp>
        <p:nvSpPr>
          <p:cNvPr id="66" name="">
            <a:extLst xmlns:a="http://schemas.openxmlformats.org/drawingml/2006/main">
              <a:ext uri="{FF2B5EF4-FFF2-40B4-BE49-F238E27FC236}">
                <a16:creationId xmlns:a16="http://schemas.microsoft.com/office/drawing/2014/main" id="{EB6212C1-FEA4-4209-BB2F-FAECC1DD4306}"/>
              </a:ext>
            </a:extLst>
          </p:cNvPr>
          <p:cNvSpPr>
            <a:spLocks xmlns:a="http://schemas.openxmlformats.org/drawingml/2006/main" noGrp="1"/>
          </p:cNvSpPr>
          <p:nvPr/>
        </p:nvSpPr>
        <p:spPr>
          <a:xfrm xmlns:a="http://schemas.openxmlformats.org/drawingml/2006/main">
            <a:off x="6286500" y="5467350"/>
            <a:ext cx="1676400" cy="2857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63" b="0">
                <a:solidFill>
                  <a:srgbClr val="4B5563"/>
                </a:solidFill>
              </a:defRPr>
            </a:pPr>
            <a:r>
              <a:rPr sz="863" b="0">
                <a:solidFill>
                  <a:srgbClr val="4B5563"/>
                </a:solidFill>
              </a:rPr>
              <a:t>候选快照、复核提案、授权来源</a:t>
            </a:r>
          </a:p>
        </p:txBody>
      </p:sp>
      <p:sp>
        <p:nvSpPr>
          <p:cNvPr id="67" name="">
            <a:extLst xmlns:a="http://schemas.openxmlformats.org/drawingml/2006/main">
              <a:ext uri="{FF2B5EF4-FFF2-40B4-BE49-F238E27FC236}">
                <a16:creationId xmlns:a16="http://schemas.microsoft.com/office/drawing/2014/main" id="{14E9031F-3035-4730-A1E6-5989DFB75BEB}"/>
              </a:ext>
            </a:extLst>
          </p:cNvPr>
          <p:cNvSpPr>
            <a:spLocks xmlns:a="http://schemas.openxmlformats.org/drawingml/2006/main" noGrp="1"/>
          </p:cNvSpPr>
          <p:nvPr/>
        </p:nvSpPr>
        <p:spPr>
          <a:xfrm xmlns:a="http://schemas.openxmlformats.org/drawingml/2006/main">
            <a:off x="8401050" y="5095875"/>
            <a:ext cx="2419350" cy="742950"/>
          </a:xfrm>
          <a:prstGeom xmlns:a="http://schemas.openxmlformats.org/drawingml/2006/main" prst="roundRect">
            <a:avLst>
              <a:gd name="adj" fmla="val 9000"/>
            </a:avLst>
          </a:prstGeom>
          <a:solidFill xmlns:a="http://schemas.openxmlformats.org/drawingml/2006/main">
            <a:srgbClr val="FFFFFF"/>
          </a:solidFill>
          <a:ln xmlns:a="http://schemas.openxmlformats.org/drawingml/2006/main" w="9525">
            <a:solidFill>
              <a:srgbClr val="D8E0EA"/>
            </a:solidFill>
          </a:ln>
        </p:spPr>
      </p:sp>
      <p:sp>
        <p:nvSpPr>
          <p:cNvPr id="68" name="">
            <a:extLst xmlns:a="http://schemas.openxmlformats.org/drawingml/2006/main">
              <a:ext uri="{FF2B5EF4-FFF2-40B4-BE49-F238E27FC236}">
                <a16:creationId xmlns:a16="http://schemas.microsoft.com/office/drawing/2014/main" id="{8F97D6FA-8001-4DF0-8955-B9A324B067D3}"/>
              </a:ext>
            </a:extLst>
          </p:cNvPr>
          <p:cNvSpPr>
            <a:spLocks xmlns:a="http://schemas.openxmlformats.org/drawingml/2006/main" noGrp="1"/>
          </p:cNvSpPr>
          <p:nvPr/>
        </p:nvSpPr>
        <p:spPr>
          <a:xfrm xmlns:a="http://schemas.openxmlformats.org/drawingml/2006/main">
            <a:off x="8534400" y="5248275"/>
            <a:ext cx="304800" cy="304800"/>
          </a:xfrm>
          <a:prstGeom xmlns:a="http://schemas.openxmlformats.org/drawingml/2006/main" prst="ellipse">
            <a:avLst/>
          </a:prstGeom>
          <a:solidFill xmlns:a="http://schemas.openxmlformats.org/drawingml/2006/main">
            <a:srgbClr val="E97132"/>
          </a:solidFill>
          <a:ln xmlns:a="http://schemas.openxmlformats.org/drawingml/2006/main" w="0">
            <a:solidFill>
              <a:srgbClr val="E97132"/>
            </a:solidFill>
          </a:ln>
        </p:spPr>
      </p:sp>
      <p:sp>
        <p:nvSpPr>
          <p:cNvPr id="69" name="">
            <a:extLst xmlns:a="http://schemas.openxmlformats.org/drawingml/2006/main">
              <a:ext uri="{FF2B5EF4-FFF2-40B4-BE49-F238E27FC236}">
                <a16:creationId xmlns:a16="http://schemas.microsoft.com/office/drawing/2014/main" id="{A457DCC5-B0E9-4184-A5B2-806B62C2ED67}"/>
              </a:ext>
            </a:extLst>
          </p:cNvPr>
          <p:cNvSpPr>
            <a:spLocks xmlns:a="http://schemas.openxmlformats.org/drawingml/2006/main" noGrp="1"/>
          </p:cNvSpPr>
          <p:nvPr/>
        </p:nvSpPr>
        <p:spPr>
          <a:xfrm xmlns:a="http://schemas.openxmlformats.org/drawingml/2006/main">
            <a:off x="8534400" y="5286375"/>
            <a:ext cx="304800"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FFFFFF"/>
                </a:solidFill>
              </a:defRPr>
            </a:pPr>
            <a:r>
              <a:rPr sz="975" b="1">
                <a:solidFill>
                  <a:srgbClr val="FFFFFF"/>
                </a:solidFill>
              </a:rPr>
              <a:t>04</a:t>
            </a:r>
          </a:p>
        </p:txBody>
      </p:sp>
      <p:sp>
        <p:nvSpPr>
          <p:cNvPr id="70" name="">
            <a:extLst xmlns:a="http://schemas.openxmlformats.org/drawingml/2006/main">
              <a:ext uri="{FF2B5EF4-FFF2-40B4-BE49-F238E27FC236}">
                <a16:creationId xmlns:a16="http://schemas.microsoft.com/office/drawing/2014/main" id="{ECBB9E16-A07A-4BAA-AA3E-F6129B5CA0E0}"/>
              </a:ext>
            </a:extLst>
          </p:cNvPr>
          <p:cNvSpPr>
            <a:spLocks xmlns:a="http://schemas.openxmlformats.org/drawingml/2006/main" noGrp="1"/>
          </p:cNvSpPr>
          <p:nvPr/>
        </p:nvSpPr>
        <p:spPr>
          <a:xfrm xmlns:a="http://schemas.openxmlformats.org/drawingml/2006/main">
            <a:off x="8934450" y="5219700"/>
            <a:ext cx="1714500"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63" b="1">
                <a:solidFill>
                  <a:srgbClr val="0E2841"/>
                </a:solidFill>
              </a:defRPr>
            </a:pPr>
            <a:r>
              <a:rPr sz="1163" b="1">
                <a:solidFill>
                  <a:srgbClr val="0E2841"/>
                </a:solidFill>
              </a:rPr>
              <a:t>成果材料</a:t>
            </a:r>
          </a:p>
        </p:txBody>
      </p:sp>
      <p:sp>
        <p:nvSpPr>
          <p:cNvPr id="71" name="">
            <a:extLst xmlns:a="http://schemas.openxmlformats.org/drawingml/2006/main">
              <a:ext uri="{FF2B5EF4-FFF2-40B4-BE49-F238E27FC236}">
                <a16:creationId xmlns:a16="http://schemas.microsoft.com/office/drawing/2014/main" id="{AA4F1D83-3CA3-4307-9D6C-8A7568AD53A2}"/>
              </a:ext>
            </a:extLst>
          </p:cNvPr>
          <p:cNvSpPr>
            <a:spLocks xmlns:a="http://schemas.openxmlformats.org/drawingml/2006/main" noGrp="1"/>
          </p:cNvSpPr>
          <p:nvPr/>
        </p:nvSpPr>
        <p:spPr>
          <a:xfrm xmlns:a="http://schemas.openxmlformats.org/drawingml/2006/main">
            <a:off x="8934450" y="5467350"/>
            <a:ext cx="1676400" cy="2857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63" b="0">
                <a:solidFill>
                  <a:srgbClr val="4B5563"/>
                </a:solidFill>
              </a:defRPr>
            </a:pPr>
            <a:r>
              <a:rPr sz="863" b="0">
                <a:solidFill>
                  <a:srgbClr val="4B5563"/>
                </a:solidFill>
              </a:rPr>
              <a:t>研究报告、专利交底与成果汇编</a:t>
            </a:r>
          </a:p>
        </p:txBody>
      </p:sp>
      <p:sp>
        <p:nvSpPr>
          <p:cNvPr id="72" name="">
            <a:extLst xmlns:a="http://schemas.openxmlformats.org/drawingml/2006/main">
              <a:ext uri="{FF2B5EF4-FFF2-40B4-BE49-F238E27FC236}">
                <a16:creationId xmlns:a16="http://schemas.microsoft.com/office/drawing/2014/main" id="{71A835F6-8754-4965-A3DA-16B823AE18A6}"/>
              </a:ext>
            </a:extLst>
          </p:cNvPr>
          <p:cNvSpPr>
            <a:spLocks xmlns:a="http://schemas.openxmlformats.org/drawingml/2006/main" noGrp="1"/>
          </p:cNvSpPr>
          <p:nvPr/>
        </p:nvSpPr>
        <p:spPr>
          <a:xfrm xmlns:a="http://schemas.openxmlformats.org/drawingml/2006/main">
            <a:off x="457200" y="6429375"/>
            <a:ext cx="7810500"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63" b="0">
                <a:solidFill>
                  <a:srgbClr val="64748B"/>
                </a:solidFill>
              </a:defRPr>
            </a:pPr>
            <a:r>
              <a:rPr sz="863" b="0">
                <a:solidFill>
                  <a:srgbClr val="64748B"/>
                </a:solidFill>
              </a:rPr>
              <a:t>项目负责人：邓斯宇    项目参与：邓斯宇、姚健康、李真辉、殷智勇、申旭刚</a:t>
            </a:r>
          </a:p>
        </p:txBody>
      </p:sp>
      <p:sp>
        <p:nvSpPr>
          <p:cNvPr id="73" name="">
            <a:extLst xmlns:a="http://schemas.openxmlformats.org/drawingml/2006/main">
              <a:ext uri="{FF2B5EF4-FFF2-40B4-BE49-F238E27FC236}">
                <a16:creationId xmlns:a16="http://schemas.microsoft.com/office/drawing/2014/main" id="{5FD4472E-A6B3-4787-BF86-B7C71A2293BC}"/>
              </a:ext>
            </a:extLst>
          </p:cNvPr>
          <p:cNvSpPr>
            <a:spLocks xmlns:a="http://schemas.openxmlformats.org/drawingml/2006/main" noGrp="1"/>
          </p:cNvSpPr>
          <p:nvPr/>
        </p:nvSpPr>
        <p:spPr>
          <a:xfrm xmlns:a="http://schemas.openxmlformats.org/drawingml/2006/main">
            <a:off x="10858500" y="6429375"/>
            <a:ext cx="857250" cy="209550"/>
          </a:xfrm>
          <a:prstGeom xmlns:a="http://schemas.openxmlformats.org/drawingml/2006/main" prst="rect">
            <a:avLst/>
          </a:prstGeom>
          <a:solidFill xmlns:a="http://schemas.openxmlformats.org/drawingml/2006/main">
            <a:srgbClr val="FFFFFF">
              <a:alpha val="0"/>
            </a:srgbClr>
          </a:solidFill>
          <a:ln xmlns:a="http://schemas.openxmlformats.org/drawingml/2006/main" w="0">
            <a:solidFill>
              <a:srgbClr val="FFFFFF">
                <a:alpha val="0"/>
              </a:srgbClr>
            </a:solid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63" b="0">
                <a:solidFill>
                  <a:srgbClr val="64748B"/>
                </a:solidFill>
              </a:defRPr>
            </a:pPr>
            <a:r>
              <a:rPr sz="863" b="0">
                <a:solidFill>
                  <a:srgbClr val="64748B"/>
                </a:solidFill>
              </a:rPr>
              <a:t>2026-04</a:t>
            </a:r>
          </a:p>
        </p:txBody>
      </p:sp>
    </p:spTree>
    <p:extLst>
      <p:ext uri="{BB962C8B-B14F-4D97-AF65-F5344CB8AC3E}">
        <p14:creationId xmlns:p14="http://schemas.microsoft.com/office/powerpoint/2010/main" val="211538463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4" name="矩形 13">
            <a:extLst xmlns:a="http://schemas.openxmlformats.org/drawingml/2006/main">
              <a:ext uri="{FF2B5EF4-FFF2-40B4-BE49-F238E27FC236}">
                <a16:creationId xmlns:a16="http://schemas.microsoft.com/office/drawing/2014/main" id="{39C6FE4B-F40B-9DFD-760C-A1E4E8CCF917}"/>
              </a:ext>
            </a:extLst>
          </p:cNvPr>
          <p:cNvSpPr>
            <a:spLocks xmlns:a="http://schemas.openxmlformats.org/drawingml/2006/main" noGrp="1"/>
          </p:cNvSpPr>
          <p:nvPr/>
        </p:nvSpPr>
        <p:spPr>
          <a:xfrm xmlns:a="http://schemas.openxmlformats.org/drawingml/2006/main">
            <a:off x="390760" y="677777"/>
            <a:ext cx="5463672" cy="5706653"/>
          </a:xfrm>
          <a:prstGeom xmlns:a="http://schemas.openxmlformats.org/drawingml/2006/main" prst="rect">
            <a:avLst/>
          </a:prstGeom>
          <a:noFill xmlns:a="http://schemas.openxmlformats.org/drawingml/2006/main"/>
          <a:ln xmlns:a="http://schemas.openxmlformats.org/drawingml/2006/main" w="22225"/>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15" name="图片 4"/>
          <p:cNvPicPr>
            <a:picLocks xmlns:a="http://schemas.openxmlformats.org/drawingml/2006/main" noChangeAspect="1"/>
          </p:cNvPicPr>
          <p:nvPr/>
        </p:nvPicPr>
        <p:blipFill>
          <a:blip xmlns:r="http://schemas.openxmlformats.org/officeDocument/2006/relationships" xmlns:a="http://schemas.openxmlformats.org/drawingml/2006/main" r:embed="R959fca2d6ee748e6"/>
          <a:srcRect xmlns:a="http://schemas.openxmlformats.org/drawingml/2006/main" l="0" t="8640" r="0" b="0"/>
          <a:stretch xmlns:a="http://schemas.openxmlformats.org/drawingml/2006/main">
            <a:fillRect l="0" t="0" r="0" b="0"/>
          </a:stretch>
        </p:blipFill>
        <p:spPr>
          <a:xfrm xmlns:a="http://schemas.openxmlformats.org/drawingml/2006/main">
            <a:off x="620576" y="782709"/>
            <a:ext cx="4805407" cy="4084280"/>
          </a:xfrm>
          <a:prstGeom xmlns:a="http://schemas.openxmlformats.org/drawingml/2006/main" prst="rect">
            <a:avLst/>
          </a:prstGeom>
        </p:spPr>
      </p:pic>
      <p:pic>
        <p:nvPicPr>
          <p:cNvPr id="16" name="图片 6"/>
          <p:cNvPicPr>
            <a:picLocks xmlns:a="http://schemas.openxmlformats.org/drawingml/2006/main" noChangeAspect="1"/>
          </p:cNvPicPr>
          <p:nvPr/>
        </p:nvPicPr>
        <p:blipFill>
          <a:blip xmlns:r="http://schemas.openxmlformats.org/officeDocument/2006/relationships" xmlns:a="http://schemas.openxmlformats.org/drawingml/2006/main" r:embed="Ra2649f0d7cfe43e9"/>
          <a:stretch xmlns:a="http://schemas.openxmlformats.org/drawingml/2006/main">
            <a:fillRect l="0" t="0" r="0" b="0"/>
          </a:stretch>
        </p:blipFill>
        <p:spPr>
          <a:xfrm xmlns:a="http://schemas.openxmlformats.org/drawingml/2006/main">
            <a:off x="6278003" y="2023615"/>
            <a:ext cx="5358604" cy="3638115"/>
          </a:xfrm>
          <a:prstGeom xmlns:a="http://schemas.openxmlformats.org/drawingml/2006/main" prst="rect">
            <a:avLst/>
          </a:prstGeom>
        </p:spPr>
      </p:pic>
      <p:pic>
        <p:nvPicPr>
          <p:cNvPr id="17" name="图片 8"/>
          <p:cNvPicPr>
            <a:picLocks xmlns:a="http://schemas.openxmlformats.org/drawingml/2006/main" noChangeAspect="1"/>
          </p:cNvPicPr>
          <p:nvPr/>
        </p:nvPicPr>
        <p:blipFill>
          <a:blip xmlns:r="http://schemas.openxmlformats.org/officeDocument/2006/relationships" xmlns:a="http://schemas.openxmlformats.org/drawingml/2006/main" r:embed="R8fa6ac3abe804c42"/>
          <a:stretch xmlns:a="http://schemas.openxmlformats.org/drawingml/2006/main">
            <a:fillRect l="0" t="0" r="0" b="0"/>
          </a:stretch>
        </p:blipFill>
        <p:spPr>
          <a:xfrm xmlns:a="http://schemas.openxmlformats.org/drawingml/2006/main">
            <a:off x="6449722" y="473569"/>
            <a:ext cx="4942803" cy="1550046"/>
          </a:xfrm>
          <a:prstGeom xmlns:a="http://schemas.openxmlformats.org/drawingml/2006/main" prst="rect">
            <a:avLst/>
          </a:prstGeom>
        </p:spPr>
      </p:pic>
      <p:sp>
        <p:nvSpPr>
          <p:cNvPr id="10" name="文本框 9">
            <a:extLst xmlns:a="http://schemas.openxmlformats.org/drawingml/2006/main">
              <a:ext uri="{FF2B5EF4-FFF2-40B4-BE49-F238E27FC236}">
                <a16:creationId xmlns:a16="http://schemas.microsoft.com/office/drawing/2014/main" id="{C9C3D6F3-B57B-084B-9E82-D951A044396E}"/>
              </a:ext>
            </a:extLst>
          </p:cNvPr>
          <p:cNvSpPr>
            <a:spLocks xmlns:a="http://schemas.openxmlformats.org/drawingml/2006/main" noGrp="1"/>
          </p:cNvSpPr>
          <p:nvPr/>
        </p:nvSpPr>
        <p:spPr>
          <a:xfrm xmlns:a="http://schemas.openxmlformats.org/drawingml/2006/main">
            <a:off x="481761" y="4723922"/>
            <a:ext cx="5372671" cy="160043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b="1">
                <a:latin typeface="Times New Roman"/>
                <a:ea typeface="Times New Roman"/>
                <a:cs typeface="Times New Roman"/>
              </a:rPr>
              <a:t>本项目提出了 </a:t>
            </a:r>
            <a:r>
              <a:rPr sz="1400" b="1">
                <a:latin typeface="Times New Roman"/>
                <a:ea typeface="Times New Roman"/>
                <a:cs typeface="Times New Roman"/>
              </a:rPr>
              <a:t>CHPMN </a:t>
            </a:r>
            <a:r>
              <a:rPr sz="1400" b="1">
                <a:latin typeface="Times New Roman"/>
                <a:ea typeface="Times New Roman"/>
                <a:cs typeface="Times New Roman"/>
              </a:rPr>
              <a:t>模型架构，用于提升 </a:t>
            </a:r>
            <a:r>
              <a:rPr sz="1400" b="1">
                <a:latin typeface="Times New Roman"/>
                <a:ea typeface="Times New Roman"/>
                <a:cs typeface="Times New Roman"/>
              </a:rPr>
              <a:t>DNS </a:t>
            </a:r>
            <a:r>
              <a:rPr sz="1400" b="1">
                <a:latin typeface="Times New Roman"/>
                <a:ea typeface="Times New Roman"/>
                <a:cs typeface="Times New Roman"/>
              </a:rPr>
              <a:t>流量识别与评估能力。它先把 </a:t>
            </a:r>
            <a:r>
              <a:rPr sz="1400" b="1">
                <a:latin typeface="Times New Roman"/>
                <a:ea typeface="Times New Roman"/>
                <a:cs typeface="Times New Roman"/>
              </a:rPr>
              <a:t>DNS </a:t>
            </a:r>
            <a:r>
              <a:rPr sz="1400" b="1">
                <a:latin typeface="Times New Roman"/>
                <a:ea typeface="Times New Roman"/>
                <a:cs typeface="Times New Roman"/>
              </a:rPr>
              <a:t>流量中的关键信息提取出来，再从不同维度进行综合分析，最后给出评估结果。</a:t>
            </a:r>
            <a:br/>
            <a:r>
              <a:rPr sz="1400">
                <a:latin typeface="Times New Roman"/>
                <a:ea typeface="Times New Roman"/>
                <a:cs typeface="Times New Roman"/>
              </a:rPr>
              <a:t>  首先，系统会对 </a:t>
            </a:r>
            <a:r>
              <a:rPr sz="1400">
                <a:latin typeface="Times New Roman"/>
                <a:ea typeface="Times New Roman"/>
                <a:cs typeface="Times New Roman"/>
              </a:rPr>
              <a:t>DNS </a:t>
            </a:r>
            <a:r>
              <a:rPr sz="1400">
                <a:latin typeface="Times New Roman"/>
                <a:ea typeface="Times New Roman"/>
                <a:cs typeface="Times New Roman"/>
              </a:rPr>
              <a:t>流量中的结构信息、特征信息和关联关系进行统一建模；</a:t>
            </a:r>
            <a:br/>
            <a:r>
              <a:rPr sz="1400">
                <a:latin typeface="Times New Roman"/>
                <a:ea typeface="Times New Roman"/>
                <a:cs typeface="Times New Roman"/>
              </a:rPr>
              <a:t>  然后，模型从多个维度提取典型模式，并进行综合分析与匹配；</a:t>
            </a:r>
            <a:br/>
            <a:r>
              <a:rPr sz="1400">
                <a:latin typeface="Times New Roman"/>
                <a:ea typeface="Times New Roman"/>
                <a:cs typeface="Times New Roman"/>
              </a:rPr>
              <a:t>  最后，输出评估结果，为异常识别和决策判断提供支持。</a:t>
            </a:r>
          </a:p>
        </p:txBody>
      </p:sp>
      <p:sp>
        <p:nvSpPr>
          <p:cNvPr id="11" name="文本框 10">
            <a:extLst xmlns:a="http://schemas.openxmlformats.org/drawingml/2006/main">
              <a:ext uri="{FF2B5EF4-FFF2-40B4-BE49-F238E27FC236}">
                <a16:creationId xmlns:a16="http://schemas.microsoft.com/office/drawing/2014/main" id="{BCC1AFE2-6D0A-AB59-2DC1-D9D3CD5BA415}"/>
              </a:ext>
            </a:extLst>
          </p:cNvPr>
          <p:cNvSpPr>
            <a:spLocks xmlns:a="http://schemas.openxmlformats.org/drawingml/2006/main" noGrp="1"/>
          </p:cNvSpPr>
          <p:nvPr/>
        </p:nvSpPr>
        <p:spPr>
          <a:xfrm xmlns:a="http://schemas.openxmlformats.org/drawingml/2006/main">
            <a:off x="260088" y="164308"/>
            <a:ext cx="4142156"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b="1">
                <a:latin typeface="Times New Roman"/>
                <a:ea typeface="Times New Roman"/>
                <a:cs typeface="Times New Roman"/>
              </a:rPr>
              <a:t>面向</a:t>
            </a:r>
            <a:r>
              <a:rPr b="1">
                <a:latin typeface="Times New Roman"/>
                <a:ea typeface="Times New Roman"/>
                <a:cs typeface="Times New Roman"/>
              </a:rPr>
              <a:t>DNS</a:t>
            </a:r>
            <a:r>
              <a:rPr b="1">
                <a:latin typeface="Times New Roman"/>
                <a:ea typeface="Times New Roman"/>
                <a:cs typeface="Times New Roman"/>
              </a:rPr>
              <a:t>流量场景的智能评估模型</a:t>
            </a:r>
          </a:p>
        </p:txBody>
      </p:sp>
      <p:sp>
        <p:nvSpPr>
          <p:cNvPr id="13" name="文本框 12">
            <a:extLst xmlns:a="http://schemas.openxmlformats.org/drawingml/2006/main">
              <a:ext uri="{FF2B5EF4-FFF2-40B4-BE49-F238E27FC236}">
                <a16:creationId xmlns:a16="http://schemas.microsoft.com/office/drawing/2014/main" id="{9552D0A9-2F73-A372-2513-BFA887252FBB}"/>
              </a:ext>
            </a:extLst>
          </p:cNvPr>
          <p:cNvSpPr>
            <a:spLocks xmlns:a="http://schemas.openxmlformats.org/drawingml/2006/main" noGrp="1"/>
          </p:cNvSpPr>
          <p:nvPr/>
        </p:nvSpPr>
        <p:spPr>
          <a:xfrm xmlns:a="http://schemas.openxmlformats.org/drawingml/2006/main">
            <a:off x="6337569" y="5861211"/>
            <a:ext cx="5358604"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b="1">
                <a:latin typeface="Times New Roman"/>
                <a:ea typeface="Times New Roman"/>
                <a:cs typeface="Times New Roman"/>
              </a:rPr>
              <a:t>从实验评估结果看，该模型在不同数据规模下都保持了较好的识别效果，整体表现更稳定，且准确率上升趋势高于现有对比方法。</a:t>
            </a:r>
          </a:p>
        </p:txBody>
      </p:sp>
    </p:spTree>
    <p:extLst>
      <p:ext uri="{BB962C8B-B14F-4D97-AF65-F5344CB8AC3E}">
        <p14:creationId xmlns:p14="http://schemas.microsoft.com/office/powerpoint/2010/main" val="6585504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6" name="Text 0">
            <a:extLst xmlns:a="http://schemas.openxmlformats.org/drawingml/2006/main">
              <a:ext uri="{FF2B5EF4-FFF2-40B4-BE49-F238E27FC236}">
                <a16:creationId xmlns:a16="http://schemas.microsoft.com/office/drawing/2014/main" id="{70EEE676-46C6-9C91-7042-018AC1817672}"/>
              </a:ext>
            </a:extLst>
          </p:cNvPr>
          <p:cNvSpPr>
            <a:spLocks xmlns:a="http://schemas.openxmlformats.org/drawingml/2006/main" noGrp="1"/>
          </p:cNvSpPr>
          <p:nvPr/>
        </p:nvSpPr>
        <p:spPr>
          <a:xfrm xmlns:a="http://schemas.openxmlformats.org/drawingml/2006/main">
            <a:off x="457200" y="256032"/>
            <a:ext cx="74980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b="1">
                <a:latin typeface="Times New Roman"/>
                <a:ea typeface="Times New Roman"/>
                <a:cs typeface="Times New Roman"/>
              </a:rPr>
              <a:t>基于 IETF 资料的知识库智能体</a:t>
            </a:r>
            <a:r>
              <a:rPr b="1">
                <a:latin typeface="Times New Roman"/>
                <a:ea typeface="Times New Roman"/>
                <a:cs typeface="Times New Roman"/>
              </a:rPr>
              <a:t>-</a:t>
            </a:r>
            <a:r>
              <a:rPr b="1">
                <a:latin typeface="Times New Roman"/>
                <a:ea typeface="Times New Roman"/>
                <a:cs typeface="Times New Roman"/>
              </a:rPr>
              <a:t>需求分析</a:t>
            </a:r>
          </a:p>
        </p:txBody>
      </p:sp>
      <p:pic>
        <p:nvPicPr>
          <p:cNvPr id="17" name="图片 18"/>
          <p:cNvPicPr>
            <a:picLocks xmlns:a="http://schemas.openxmlformats.org/drawingml/2006/main" noChangeAspect="1"/>
          </p:cNvPicPr>
          <p:nvPr/>
        </p:nvPicPr>
        <p:blipFill>
          <a:blip xmlns:r="http://schemas.openxmlformats.org/officeDocument/2006/relationships" xmlns:a="http://schemas.openxmlformats.org/drawingml/2006/main" r:embed="R42363d37bde54628"/>
          <a:stretch xmlns:a="http://schemas.openxmlformats.org/drawingml/2006/main">
            <a:fillRect l="0" t="0" r="0" b="0"/>
          </a:stretch>
        </p:blipFill>
        <p:spPr>
          <a:xfrm xmlns:a="http://schemas.openxmlformats.org/drawingml/2006/main">
            <a:off x="261532" y="872833"/>
            <a:ext cx="11681914" cy="2304082"/>
          </a:xfrm>
          <a:prstGeom xmlns:a="http://schemas.openxmlformats.org/drawingml/2006/main" prst="rect">
            <a:avLst/>
          </a:prstGeom>
        </p:spPr>
      </p:pic>
      <p:pic>
        <p:nvPicPr>
          <p:cNvPr id="18" name="图片 20"/>
          <p:cNvPicPr>
            <a:picLocks xmlns:a="http://schemas.openxmlformats.org/drawingml/2006/main" noChangeAspect="1"/>
          </p:cNvPicPr>
          <p:nvPr/>
        </p:nvPicPr>
        <p:blipFill>
          <a:blip xmlns:r="http://schemas.openxmlformats.org/officeDocument/2006/relationships" xmlns:a="http://schemas.openxmlformats.org/drawingml/2006/main" r:embed="R23ced2b140424815"/>
          <a:stretch xmlns:a="http://schemas.openxmlformats.org/drawingml/2006/main">
            <a:fillRect l="0" t="0" r="0" b="0"/>
          </a:stretch>
        </p:blipFill>
        <p:spPr>
          <a:xfrm xmlns:a="http://schemas.openxmlformats.org/drawingml/2006/main">
            <a:off x="457200" y="3510045"/>
            <a:ext cx="6170913" cy="2475122"/>
          </a:xfrm>
          <a:prstGeom xmlns:a="http://schemas.openxmlformats.org/drawingml/2006/main" prst="rect">
            <a:avLst/>
          </a:prstGeom>
        </p:spPr>
      </p:pic>
      <p:pic>
        <p:nvPicPr>
          <p:cNvPr id="19" name="图片 22"/>
          <p:cNvPicPr>
            <a:picLocks xmlns:a="http://schemas.openxmlformats.org/drawingml/2006/main" noChangeAspect="1"/>
          </p:cNvPicPr>
          <p:nvPr/>
        </p:nvPicPr>
        <p:blipFill>
          <a:blip xmlns:r="http://schemas.openxmlformats.org/officeDocument/2006/relationships" xmlns:a="http://schemas.openxmlformats.org/drawingml/2006/main" r:embed="R1392dcc8f1c64a7b"/>
          <a:stretch xmlns:a="http://schemas.openxmlformats.org/drawingml/2006/main">
            <a:fillRect l="0" t="0" r="0" b="0"/>
          </a:stretch>
        </p:blipFill>
        <p:spPr>
          <a:xfrm xmlns:a="http://schemas.openxmlformats.org/drawingml/2006/main">
            <a:off x="6841709" y="3510045"/>
            <a:ext cx="5284427" cy="2766685"/>
          </a:xfrm>
          <a:prstGeom xmlns:a="http://schemas.openxmlformats.org/drawingml/2006/main" prst="rect">
            <a:avLst/>
          </a:prstGeom>
        </p:spPr>
      </p:pic>
    </p:spTree>
    <p:extLst>
      <p:ext uri="{BB962C8B-B14F-4D97-AF65-F5344CB8AC3E}">
        <p14:creationId xmlns:p14="http://schemas.microsoft.com/office/powerpoint/2010/main" val="266891633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4" name="Text 0">
            <a:extLst xmlns:a="http://schemas.openxmlformats.org/drawingml/2006/main">
              <a:ext uri="{FF2B5EF4-FFF2-40B4-BE49-F238E27FC236}">
                <a16:creationId xmlns:a16="http://schemas.microsoft.com/office/drawing/2014/main" id="{2B111B12-905B-5940-F3C1-B6813B560773}"/>
              </a:ext>
            </a:extLst>
          </p:cNvPr>
          <p:cNvSpPr>
            <a:spLocks xmlns:a="http://schemas.openxmlformats.org/drawingml/2006/main" noGrp="1"/>
          </p:cNvSpPr>
          <p:nvPr/>
        </p:nvSpPr>
        <p:spPr>
          <a:xfrm xmlns:a="http://schemas.openxmlformats.org/drawingml/2006/main">
            <a:off x="457200" y="256032"/>
            <a:ext cx="74980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b="1">
                <a:latin typeface="Times New Roman"/>
                <a:ea typeface="Times New Roman"/>
                <a:cs typeface="Times New Roman"/>
              </a:rPr>
              <a:t>基于 IETF 资料的知识库智能体</a:t>
            </a:r>
            <a:r>
              <a:rPr b="1">
                <a:latin typeface="Times New Roman"/>
                <a:ea typeface="Times New Roman"/>
                <a:cs typeface="Times New Roman"/>
              </a:rPr>
              <a:t>-</a:t>
            </a:r>
            <a:r>
              <a:rPr b="1">
                <a:latin typeface="Times New Roman"/>
                <a:ea typeface="Times New Roman"/>
                <a:cs typeface="Times New Roman"/>
              </a:rPr>
              <a:t>架构设想</a:t>
            </a:r>
          </a:p>
        </p:txBody>
      </p:sp>
      <p:sp>
        <p:nvSpPr>
          <p:cNvPr id="8" name="Text 4">
            <a:extLst xmlns:a="http://schemas.openxmlformats.org/drawingml/2006/main">
              <a:ext uri="{FF2B5EF4-FFF2-40B4-BE49-F238E27FC236}">
                <a16:creationId xmlns:a16="http://schemas.microsoft.com/office/drawing/2014/main" id="{844FCCD2-BE5C-6D2C-C72E-A0E5D598788F}"/>
              </a:ext>
            </a:extLst>
          </p:cNvPr>
          <p:cNvSpPr>
            <a:spLocks xmlns:a="http://schemas.openxmlformats.org/drawingml/2006/main" noGrp="1"/>
          </p:cNvSpPr>
          <p:nvPr/>
        </p:nvSpPr>
        <p:spPr>
          <a:xfrm xmlns:a="http://schemas.openxmlformats.org/drawingml/2006/main">
            <a:off x="283464" y="1043722"/>
            <a:ext cx="612648" cy="6126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64748B"/>
                </a:solidFill>
                <a:latin typeface="SimSun"/>
                <a:ea typeface="SimSun"/>
                <a:cs typeface="SimSun"/>
              </a:rPr>
              <a:t>数据</a:t>
            </a:r>
          </a:p>
          <a:p xmlns:a="http://schemas.openxmlformats.org/drawingml/2006/main">
            <a:pPr marL="0" indent="0">
              <a:buNone/>
            </a:pPr>
            <a:r>
              <a:rPr sz="1600" b="1">
                <a:solidFill>
                  <a:srgbClr val="64748B"/>
                </a:solidFill>
                <a:latin typeface="SimSun"/>
                <a:ea typeface="SimSun"/>
                <a:cs typeface="SimSun"/>
              </a:rPr>
              <a:t>来源</a:t>
            </a:r>
          </a:p>
        </p:txBody>
      </p:sp>
      <p:sp>
        <p:nvSpPr>
          <p:cNvPr id="12" name="Shape 8">
            <a:extLst xmlns:a="http://schemas.openxmlformats.org/drawingml/2006/main">
              <a:ext uri="{FF2B5EF4-FFF2-40B4-BE49-F238E27FC236}">
                <a16:creationId xmlns:a16="http://schemas.microsoft.com/office/drawing/2014/main" id="{1160452F-13AB-444F-19F5-BB1999E1AECE}"/>
              </a:ext>
            </a:extLst>
          </p:cNvPr>
          <p:cNvSpPr>
            <a:spLocks xmlns:a="http://schemas.openxmlformats.org/drawingml/2006/main" noGrp="1"/>
          </p:cNvSpPr>
          <p:nvPr/>
        </p:nvSpPr>
        <p:spPr>
          <a:xfrm xmlns:a="http://schemas.openxmlformats.org/drawingml/2006/main">
            <a:off x="960120" y="960120"/>
            <a:ext cx="1920240" cy="749808"/>
          </a:xfrm>
          <a:prstGeom xmlns:a="http://schemas.openxmlformats.org/drawingml/2006/main" prst="roundRect">
            <a:avLst>
              <a:gd name="adj" fmla="val 9756"/>
            </a:avLst>
          </a:prstGeom>
          <a:solidFill xmlns:a="http://schemas.openxmlformats.org/drawingml/2006/main">
            <a:srgbClr val="EEF5FF"/>
          </a:solidFill>
          <a:ln xmlns:a="http://schemas.openxmlformats.org/drawingml/2006/main" w="12700">
            <a:solidFill>
              <a:srgbClr val="BFD7F6"/>
            </a:solidFill>
            <a:prstDash val="solid"/>
          </a:ln>
          <a:effectLst xmlns:a="http://schemas.openxmlformats.org/drawingml/2006/main">
            <a:outerShdw blurRad="12700" dist="12700" dir="27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3" name="Text 9">
            <a:extLst xmlns:a="http://schemas.openxmlformats.org/drawingml/2006/main">
              <a:ext uri="{FF2B5EF4-FFF2-40B4-BE49-F238E27FC236}">
                <a16:creationId xmlns:a16="http://schemas.microsoft.com/office/drawing/2014/main" id="{451ACBDC-561F-104B-63DF-04065499900D}"/>
              </a:ext>
            </a:extLst>
          </p:cNvPr>
          <p:cNvSpPr>
            <a:spLocks xmlns:a="http://schemas.openxmlformats.org/drawingml/2006/main" noGrp="1"/>
          </p:cNvSpPr>
          <p:nvPr/>
        </p:nvSpPr>
        <p:spPr>
          <a:xfrm xmlns:a="http://schemas.openxmlformats.org/drawingml/2006/main">
            <a:off x="1097280" y="1060704"/>
            <a:ext cx="164592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D4F8C"/>
                </a:solidFill>
                <a:latin typeface="Microsoft YaHei"/>
                <a:ea typeface="Microsoft YaHei"/>
                <a:cs typeface="Microsoft YaHei"/>
              </a:rPr>
              <a:t>IETF 标准资料</a:t>
            </a:r>
          </a:p>
        </p:txBody>
      </p:sp>
      <p:sp>
        <p:nvSpPr>
          <p:cNvPr id="14" name="Text 10">
            <a:extLst xmlns:a="http://schemas.openxmlformats.org/drawingml/2006/main">
              <a:ext uri="{FF2B5EF4-FFF2-40B4-BE49-F238E27FC236}">
                <a16:creationId xmlns:a16="http://schemas.microsoft.com/office/drawing/2014/main" id="{A3C33900-4C6B-7766-2B69-4465F5604616}"/>
              </a:ext>
            </a:extLst>
          </p:cNvPr>
          <p:cNvSpPr>
            <a:spLocks xmlns:a="http://schemas.openxmlformats.org/drawingml/2006/main" noGrp="1"/>
          </p:cNvSpPr>
          <p:nvPr/>
        </p:nvSpPr>
        <p:spPr>
          <a:xfrm xmlns:a="http://schemas.openxmlformats.org/drawingml/2006/main">
            <a:off x="1097280" y="1307592"/>
            <a:ext cx="1645920" cy="310896"/>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lnSpcReduction="10000"/>
          </a:bodyPr>
          <a:lstStyle xmlns:a="http://schemas.openxmlformats.org/drawingml/2006/main"/>
          <a:p xmlns:a="http://schemas.openxmlformats.org/drawingml/2006/main">
            <a:pPr marL="0" indent="0">
              <a:buNone/>
            </a:pPr>
            <a:r>
              <a:rPr sz="1050">
                <a:solidFill>
                  <a:srgbClr val="334155"/>
                </a:solidFill>
                <a:latin typeface="Microsoft YaHei"/>
                <a:ea typeface="Microsoft YaHei"/>
                <a:cs typeface="Microsoft YaHei"/>
              </a:rPr>
              <a:t>RFC、Internet-Draft、Datatracker 元数据</a:t>
            </a:r>
          </a:p>
        </p:txBody>
      </p:sp>
      <p:sp>
        <p:nvSpPr>
          <p:cNvPr id="15" name="Shape 11">
            <a:extLst xmlns:a="http://schemas.openxmlformats.org/drawingml/2006/main">
              <a:ext uri="{FF2B5EF4-FFF2-40B4-BE49-F238E27FC236}">
                <a16:creationId xmlns:a16="http://schemas.microsoft.com/office/drawing/2014/main" id="{CF8A26C0-7AD2-FA4D-7959-32AE45ACF7F9}"/>
              </a:ext>
            </a:extLst>
          </p:cNvPr>
          <p:cNvSpPr>
            <a:spLocks xmlns:a="http://schemas.openxmlformats.org/drawingml/2006/main" noGrp="1"/>
          </p:cNvSpPr>
          <p:nvPr/>
        </p:nvSpPr>
        <p:spPr>
          <a:xfrm xmlns:a="http://schemas.openxmlformats.org/drawingml/2006/main">
            <a:off x="3090672" y="960120"/>
            <a:ext cx="1920240" cy="749808"/>
          </a:xfrm>
          <a:prstGeom xmlns:a="http://schemas.openxmlformats.org/drawingml/2006/main" prst="roundRect">
            <a:avLst>
              <a:gd name="adj" fmla="val 9756"/>
            </a:avLst>
          </a:prstGeom>
          <a:solidFill xmlns:a="http://schemas.openxmlformats.org/drawingml/2006/main">
            <a:srgbClr val="EEF5FF"/>
          </a:solidFill>
          <a:ln xmlns:a="http://schemas.openxmlformats.org/drawingml/2006/main" w="12700">
            <a:solidFill>
              <a:srgbClr val="BFD7F6"/>
            </a:solidFill>
            <a:prstDash val="solid"/>
          </a:ln>
          <a:effectLst xmlns:a="http://schemas.openxmlformats.org/drawingml/2006/main">
            <a:outerShdw blurRad="12700" dist="12700" dir="27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6" name="Text 12">
            <a:extLst xmlns:a="http://schemas.openxmlformats.org/drawingml/2006/main">
              <a:ext uri="{FF2B5EF4-FFF2-40B4-BE49-F238E27FC236}">
                <a16:creationId xmlns:a16="http://schemas.microsoft.com/office/drawing/2014/main" id="{F6902BB6-B5EE-473A-3838-996AB00D03C7}"/>
              </a:ext>
            </a:extLst>
          </p:cNvPr>
          <p:cNvSpPr>
            <a:spLocks xmlns:a="http://schemas.openxmlformats.org/drawingml/2006/main" noGrp="1"/>
          </p:cNvSpPr>
          <p:nvPr/>
        </p:nvSpPr>
        <p:spPr>
          <a:xfrm xmlns:a="http://schemas.openxmlformats.org/drawingml/2006/main">
            <a:off x="3227832" y="1060704"/>
            <a:ext cx="164592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D4F8C"/>
                </a:solidFill>
                <a:latin typeface="Microsoft YaHei"/>
                <a:ea typeface="Microsoft YaHei"/>
                <a:cs typeface="Microsoft YaHei"/>
              </a:rPr>
              <a:t>邮件讨论资料</a:t>
            </a:r>
          </a:p>
        </p:txBody>
      </p:sp>
      <p:sp>
        <p:nvSpPr>
          <p:cNvPr id="17" name="Text 13">
            <a:extLst xmlns:a="http://schemas.openxmlformats.org/drawingml/2006/main">
              <a:ext uri="{FF2B5EF4-FFF2-40B4-BE49-F238E27FC236}">
                <a16:creationId xmlns:a16="http://schemas.microsoft.com/office/drawing/2014/main" id="{2B2039CB-4666-3238-75B5-E1D151AC2CFB}"/>
              </a:ext>
            </a:extLst>
          </p:cNvPr>
          <p:cNvSpPr>
            <a:spLocks xmlns:a="http://schemas.openxmlformats.org/drawingml/2006/main" noGrp="1"/>
          </p:cNvSpPr>
          <p:nvPr/>
        </p:nvSpPr>
        <p:spPr>
          <a:xfrm xmlns:a="http://schemas.openxmlformats.org/drawingml/2006/main">
            <a:off x="3227832" y="1307592"/>
            <a:ext cx="1645920" cy="310896"/>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lnSpcReduction="10000"/>
          </a:bodyPr>
          <a:lstStyle xmlns:a="http://schemas.openxmlformats.org/drawingml/2006/main"/>
          <a:p xmlns:a="http://schemas.openxmlformats.org/drawingml/2006/main">
            <a:pPr marL="0" indent="0">
              <a:buNone/>
            </a:pPr>
            <a:r>
              <a:rPr sz="1050">
                <a:solidFill>
                  <a:srgbClr val="334155"/>
                </a:solidFill>
                <a:latin typeface="Microsoft YaHei"/>
                <a:ea typeface="Microsoft YaHei"/>
                <a:cs typeface="Microsoft YaHei"/>
              </a:rPr>
              <a:t>Mailing Archive 中的议题讨论、意见分歧、演进过程</a:t>
            </a:r>
          </a:p>
        </p:txBody>
      </p:sp>
      <p:sp>
        <p:nvSpPr>
          <p:cNvPr id="18" name="Shape 14">
            <a:extLst xmlns:a="http://schemas.openxmlformats.org/drawingml/2006/main">
              <a:ext uri="{FF2B5EF4-FFF2-40B4-BE49-F238E27FC236}">
                <a16:creationId xmlns:a16="http://schemas.microsoft.com/office/drawing/2014/main" id="{BD99ABEE-776A-B663-77C2-890948FCE397}"/>
              </a:ext>
            </a:extLst>
          </p:cNvPr>
          <p:cNvSpPr>
            <a:spLocks xmlns:a="http://schemas.openxmlformats.org/drawingml/2006/main" noGrp="1"/>
          </p:cNvSpPr>
          <p:nvPr/>
        </p:nvSpPr>
        <p:spPr>
          <a:xfrm xmlns:a="http://schemas.openxmlformats.org/drawingml/2006/main">
            <a:off x="5238859" y="955549"/>
            <a:ext cx="1920240" cy="749808"/>
          </a:xfrm>
          <a:prstGeom xmlns:a="http://schemas.openxmlformats.org/drawingml/2006/main" prst="roundRect">
            <a:avLst>
              <a:gd name="adj" fmla="val 9756"/>
            </a:avLst>
          </a:prstGeom>
          <a:solidFill xmlns:a="http://schemas.openxmlformats.org/drawingml/2006/main">
            <a:srgbClr val="EEF5FF"/>
          </a:solidFill>
          <a:ln xmlns:a="http://schemas.openxmlformats.org/drawingml/2006/main" w="12700">
            <a:solidFill>
              <a:srgbClr val="BFD7F6"/>
            </a:solidFill>
            <a:prstDash val="solid"/>
          </a:ln>
          <a:effectLst xmlns:a="http://schemas.openxmlformats.org/drawingml/2006/main">
            <a:outerShdw blurRad="12700" dist="12700" dir="27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19" name="Text 15">
            <a:extLst xmlns:a="http://schemas.openxmlformats.org/drawingml/2006/main">
              <a:ext uri="{FF2B5EF4-FFF2-40B4-BE49-F238E27FC236}">
                <a16:creationId xmlns:a16="http://schemas.microsoft.com/office/drawing/2014/main" id="{B6FAAC05-D7DB-BE8A-AF5A-CD8D8EE93213}"/>
              </a:ext>
            </a:extLst>
          </p:cNvPr>
          <p:cNvSpPr>
            <a:spLocks xmlns:a="http://schemas.openxmlformats.org/drawingml/2006/main" noGrp="1"/>
          </p:cNvSpPr>
          <p:nvPr/>
        </p:nvSpPr>
        <p:spPr>
          <a:xfrm xmlns:a="http://schemas.openxmlformats.org/drawingml/2006/main">
            <a:off x="5504035" y="1046989"/>
            <a:ext cx="164592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D4F8C"/>
                </a:solidFill>
                <a:latin typeface="Microsoft YaHei"/>
                <a:ea typeface="Microsoft YaHei"/>
                <a:cs typeface="Microsoft YaHei"/>
              </a:rPr>
              <a:t>会议与补充材料</a:t>
            </a:r>
          </a:p>
        </p:txBody>
      </p:sp>
      <p:sp>
        <p:nvSpPr>
          <p:cNvPr id="20" name="Text 16">
            <a:extLst xmlns:a="http://schemas.openxmlformats.org/drawingml/2006/main">
              <a:ext uri="{FF2B5EF4-FFF2-40B4-BE49-F238E27FC236}">
                <a16:creationId xmlns:a16="http://schemas.microsoft.com/office/drawing/2014/main" id="{65E358AA-BD01-6542-9172-EC90BFA5B5A6}"/>
              </a:ext>
            </a:extLst>
          </p:cNvPr>
          <p:cNvSpPr>
            <a:spLocks xmlns:a="http://schemas.openxmlformats.org/drawingml/2006/main" noGrp="1"/>
          </p:cNvSpPr>
          <p:nvPr/>
        </p:nvSpPr>
        <p:spPr>
          <a:xfrm xmlns:a="http://schemas.openxmlformats.org/drawingml/2006/main">
            <a:off x="5504035" y="1293877"/>
            <a:ext cx="1645920" cy="310896"/>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lnSpcReduction="10000"/>
          </a:bodyPr>
          <a:lstStyle xmlns:a="http://schemas.openxmlformats.org/drawingml/2006/main"/>
          <a:p xmlns:a="http://schemas.openxmlformats.org/drawingml/2006/main">
            <a:pPr marL="0" indent="0">
              <a:buNone/>
            </a:pPr>
            <a:r>
              <a:rPr sz="1050">
                <a:solidFill>
                  <a:srgbClr val="334155"/>
                </a:solidFill>
                <a:latin typeface="Microsoft YaHei"/>
                <a:ea typeface="Microsoft YaHei"/>
                <a:cs typeface="Microsoft YaHei"/>
              </a:rPr>
              <a:t>BOF / Side Meeting / Slides / Transcript 等</a:t>
            </a:r>
          </a:p>
        </p:txBody>
      </p:sp>
      <p:sp>
        <p:nvSpPr>
          <p:cNvPr id="21" name="Text 17">
            <a:extLst xmlns:a="http://schemas.openxmlformats.org/drawingml/2006/main">
              <a:ext uri="{FF2B5EF4-FFF2-40B4-BE49-F238E27FC236}">
                <a16:creationId xmlns:a16="http://schemas.microsoft.com/office/drawing/2014/main" id="{FEB887A8-FA49-F303-C589-0BF69B6AFFC5}"/>
              </a:ext>
            </a:extLst>
          </p:cNvPr>
          <p:cNvSpPr>
            <a:spLocks xmlns:a="http://schemas.openxmlformats.org/drawingml/2006/main" noGrp="1"/>
          </p:cNvSpPr>
          <p:nvPr/>
        </p:nvSpPr>
        <p:spPr>
          <a:xfrm xmlns:a="http://schemas.openxmlformats.org/drawingml/2006/main">
            <a:off x="2880360" y="1271017"/>
            <a:ext cx="2011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94A3B8"/>
                </a:solidFill>
              </a:rPr>
              <a:t>→</a:t>
            </a:r>
          </a:p>
        </p:txBody>
      </p:sp>
      <p:sp>
        <p:nvSpPr>
          <p:cNvPr id="22" name="Text 18">
            <a:extLst xmlns:a="http://schemas.openxmlformats.org/drawingml/2006/main">
              <a:ext uri="{FF2B5EF4-FFF2-40B4-BE49-F238E27FC236}">
                <a16:creationId xmlns:a16="http://schemas.microsoft.com/office/drawing/2014/main" id="{7AAADE8B-CED9-1EA8-1BC8-F86BF00CEF1D}"/>
              </a:ext>
            </a:extLst>
          </p:cNvPr>
          <p:cNvSpPr>
            <a:spLocks xmlns:a="http://schemas.openxmlformats.org/drawingml/2006/main" noGrp="1"/>
          </p:cNvSpPr>
          <p:nvPr/>
        </p:nvSpPr>
        <p:spPr>
          <a:xfrm xmlns:a="http://schemas.openxmlformats.org/drawingml/2006/main">
            <a:off x="5010912" y="1310206"/>
            <a:ext cx="2011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94A3B8"/>
                </a:solidFill>
              </a:rPr>
              <a:t>→</a:t>
            </a:r>
          </a:p>
        </p:txBody>
      </p:sp>
      <p:sp>
        <p:nvSpPr>
          <p:cNvPr id="23" name="Text 19">
            <a:extLst xmlns:a="http://schemas.openxmlformats.org/drawingml/2006/main">
              <a:ext uri="{FF2B5EF4-FFF2-40B4-BE49-F238E27FC236}">
                <a16:creationId xmlns:a16="http://schemas.microsoft.com/office/drawing/2014/main" id="{E103E77A-B69A-C7B5-5FF2-8A5A32958370}"/>
              </a:ext>
            </a:extLst>
          </p:cNvPr>
          <p:cNvSpPr>
            <a:spLocks xmlns:a="http://schemas.openxmlformats.org/drawingml/2006/main" noGrp="1"/>
          </p:cNvSpPr>
          <p:nvPr/>
        </p:nvSpPr>
        <p:spPr>
          <a:xfrm xmlns:a="http://schemas.openxmlformats.org/drawingml/2006/main">
            <a:off x="7193716" y="1310206"/>
            <a:ext cx="2011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94A3B8"/>
                </a:solidFill>
              </a:rPr>
              <a:t>→</a:t>
            </a:r>
          </a:p>
        </p:txBody>
      </p:sp>
      <p:sp>
        <p:nvSpPr>
          <p:cNvPr id="24" name="Shape 20">
            <a:extLst xmlns:a="http://schemas.openxmlformats.org/drawingml/2006/main">
              <a:ext uri="{FF2B5EF4-FFF2-40B4-BE49-F238E27FC236}">
                <a16:creationId xmlns:a16="http://schemas.microsoft.com/office/drawing/2014/main" id="{62840D82-DB42-A0CE-1819-F6408C8915ED}"/>
              </a:ext>
            </a:extLst>
          </p:cNvPr>
          <p:cNvSpPr>
            <a:spLocks xmlns:a="http://schemas.openxmlformats.org/drawingml/2006/main" noGrp="1"/>
          </p:cNvSpPr>
          <p:nvPr/>
        </p:nvSpPr>
        <p:spPr>
          <a:xfrm xmlns:a="http://schemas.openxmlformats.org/drawingml/2006/main">
            <a:off x="7424275" y="854964"/>
            <a:ext cx="1874520" cy="932688"/>
          </a:xfrm>
          <a:prstGeom xmlns:a="http://schemas.openxmlformats.org/drawingml/2006/main" prst="roundRect">
            <a:avLst>
              <a:gd name="adj" fmla="val 7843"/>
            </a:avLst>
          </a:prstGeom>
          <a:solidFill xmlns:a="http://schemas.openxmlformats.org/drawingml/2006/main">
            <a:srgbClr val="F0FDF4"/>
          </a:solidFill>
          <a:ln xmlns:a="http://schemas.openxmlformats.org/drawingml/2006/main" w="12700">
            <a:solidFill>
              <a:srgbClr val="B9E6C7"/>
            </a:solidFill>
            <a:prstDash val="solid"/>
          </a:ln>
          <a:effectLst xmlns:a="http://schemas.openxmlformats.org/drawingml/2006/main">
            <a:outerShdw blurRad="12700" dist="12700" dir="27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25" name="Text 21">
            <a:extLst xmlns:a="http://schemas.openxmlformats.org/drawingml/2006/main">
              <a:ext uri="{FF2B5EF4-FFF2-40B4-BE49-F238E27FC236}">
                <a16:creationId xmlns:a16="http://schemas.microsoft.com/office/drawing/2014/main" id="{EBCD43B6-345E-5B7A-1F5A-A01BDC3DEFB6}"/>
              </a:ext>
            </a:extLst>
          </p:cNvPr>
          <p:cNvSpPr>
            <a:spLocks xmlns:a="http://schemas.openxmlformats.org/drawingml/2006/main" noGrp="1"/>
          </p:cNvSpPr>
          <p:nvPr/>
        </p:nvSpPr>
        <p:spPr>
          <a:xfrm xmlns:a="http://schemas.openxmlformats.org/drawingml/2006/main">
            <a:off x="7561435" y="955548"/>
            <a:ext cx="160020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56E3A"/>
                </a:solidFill>
                <a:latin typeface="Microsoft YaHei"/>
                <a:ea typeface="Microsoft YaHei"/>
                <a:cs typeface="Microsoft YaHei"/>
              </a:rPr>
              <a:t>统一采集与清洗</a:t>
            </a:r>
          </a:p>
        </p:txBody>
      </p:sp>
      <p:sp>
        <p:nvSpPr>
          <p:cNvPr id="26" name="Text 22">
            <a:extLst xmlns:a="http://schemas.openxmlformats.org/drawingml/2006/main">
              <a:ext uri="{FF2B5EF4-FFF2-40B4-BE49-F238E27FC236}">
                <a16:creationId xmlns:a16="http://schemas.microsoft.com/office/drawing/2014/main" id="{DE163BEC-DB8C-8490-07C3-191B421652B0}"/>
              </a:ext>
            </a:extLst>
          </p:cNvPr>
          <p:cNvSpPr>
            <a:spLocks xmlns:a="http://schemas.openxmlformats.org/drawingml/2006/main" noGrp="1"/>
          </p:cNvSpPr>
          <p:nvPr/>
        </p:nvSpPr>
        <p:spPr>
          <a:xfrm xmlns:a="http://schemas.openxmlformats.org/drawingml/2006/main">
            <a:off x="7561435" y="1202436"/>
            <a:ext cx="1600200" cy="493776"/>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050">
                <a:solidFill>
                  <a:srgbClr val="334155"/>
                </a:solidFill>
                <a:latin typeface="Microsoft YaHei"/>
                <a:ea typeface="Microsoft YaHei"/>
                <a:cs typeface="Microsoft YaHei"/>
              </a:rPr>
              <a:t>格式转换、去重、分段切块、主题标注、时间线关联</a:t>
            </a:r>
          </a:p>
        </p:txBody>
      </p:sp>
      <p:sp>
        <p:nvSpPr>
          <p:cNvPr id="27" name="Text 23">
            <a:extLst xmlns:a="http://schemas.openxmlformats.org/drawingml/2006/main">
              <a:ext uri="{FF2B5EF4-FFF2-40B4-BE49-F238E27FC236}">
                <a16:creationId xmlns:a16="http://schemas.microsoft.com/office/drawing/2014/main" id="{D5E72A66-1D3A-805D-1C5B-5A5F09DC4A11}"/>
              </a:ext>
            </a:extLst>
          </p:cNvPr>
          <p:cNvSpPr>
            <a:spLocks xmlns:a="http://schemas.openxmlformats.org/drawingml/2006/main" noGrp="1"/>
          </p:cNvSpPr>
          <p:nvPr/>
        </p:nvSpPr>
        <p:spPr>
          <a:xfrm xmlns:a="http://schemas.openxmlformats.org/drawingml/2006/main">
            <a:off x="9344515" y="1283427"/>
            <a:ext cx="219456"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94A3B8"/>
                </a:solidFill>
              </a:rPr>
              <a:t>→</a:t>
            </a:r>
          </a:p>
        </p:txBody>
      </p:sp>
      <p:sp>
        <p:nvSpPr>
          <p:cNvPr id="28" name="Shape 24">
            <a:extLst xmlns:a="http://schemas.openxmlformats.org/drawingml/2006/main">
              <a:ext uri="{FF2B5EF4-FFF2-40B4-BE49-F238E27FC236}">
                <a16:creationId xmlns:a16="http://schemas.microsoft.com/office/drawing/2014/main" id="{C4FB3A62-BB30-A4D1-EC76-298AB1FDF2F8}"/>
              </a:ext>
            </a:extLst>
          </p:cNvPr>
          <p:cNvSpPr>
            <a:spLocks xmlns:a="http://schemas.openxmlformats.org/drawingml/2006/main" noGrp="1"/>
          </p:cNvSpPr>
          <p:nvPr/>
        </p:nvSpPr>
        <p:spPr>
          <a:xfrm xmlns:a="http://schemas.openxmlformats.org/drawingml/2006/main">
            <a:off x="9591403" y="854964"/>
            <a:ext cx="1920240" cy="932688"/>
          </a:xfrm>
          <a:prstGeom xmlns:a="http://schemas.openxmlformats.org/drawingml/2006/main" prst="roundRect">
            <a:avLst>
              <a:gd name="adj" fmla="val 7843"/>
            </a:avLst>
          </a:prstGeom>
          <a:solidFill xmlns:a="http://schemas.openxmlformats.org/drawingml/2006/main">
            <a:srgbClr val="FFF7ED"/>
          </a:solidFill>
          <a:ln xmlns:a="http://schemas.openxmlformats.org/drawingml/2006/main" w="12700">
            <a:solidFill>
              <a:srgbClr val="F7CFA4"/>
            </a:solidFill>
            <a:prstDash val="solid"/>
          </a:ln>
          <a:effectLst xmlns:a="http://schemas.openxmlformats.org/drawingml/2006/main">
            <a:outerShdw blurRad="12700" dist="12700" dir="27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29" name="Text 25">
            <a:extLst xmlns:a="http://schemas.openxmlformats.org/drawingml/2006/main">
              <a:ext uri="{FF2B5EF4-FFF2-40B4-BE49-F238E27FC236}">
                <a16:creationId xmlns:a16="http://schemas.microsoft.com/office/drawing/2014/main" id="{EC58C993-D0E8-D0B7-DC4E-B1410815015E}"/>
              </a:ext>
            </a:extLst>
          </p:cNvPr>
          <p:cNvSpPr>
            <a:spLocks xmlns:a="http://schemas.openxmlformats.org/drawingml/2006/main" noGrp="1"/>
          </p:cNvSpPr>
          <p:nvPr/>
        </p:nvSpPr>
        <p:spPr>
          <a:xfrm xmlns:a="http://schemas.openxmlformats.org/drawingml/2006/main">
            <a:off x="9728563" y="955548"/>
            <a:ext cx="164592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A04D14"/>
                </a:solidFill>
                <a:latin typeface="Microsoft YaHei"/>
                <a:ea typeface="Microsoft YaHei"/>
                <a:cs typeface="Microsoft YaHei"/>
              </a:rPr>
              <a:t>知识底座</a:t>
            </a:r>
          </a:p>
        </p:txBody>
      </p:sp>
      <p:sp>
        <p:nvSpPr>
          <p:cNvPr id="30" name="Text 26">
            <a:extLst xmlns:a="http://schemas.openxmlformats.org/drawingml/2006/main">
              <a:ext uri="{FF2B5EF4-FFF2-40B4-BE49-F238E27FC236}">
                <a16:creationId xmlns:a16="http://schemas.microsoft.com/office/drawing/2014/main" id="{BDD0FE68-8034-733C-4330-C0658B39B446}"/>
              </a:ext>
            </a:extLst>
          </p:cNvPr>
          <p:cNvSpPr>
            <a:spLocks xmlns:a="http://schemas.openxmlformats.org/drawingml/2006/main" noGrp="1"/>
          </p:cNvSpPr>
          <p:nvPr/>
        </p:nvSpPr>
        <p:spPr>
          <a:xfrm xmlns:a="http://schemas.openxmlformats.org/drawingml/2006/main">
            <a:off x="9728563" y="1202436"/>
            <a:ext cx="1645920" cy="493776"/>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050">
                <a:solidFill>
                  <a:srgbClr val="334155"/>
                </a:solidFill>
                <a:latin typeface="Microsoft YaHei"/>
                <a:ea typeface="Microsoft YaHei"/>
                <a:cs typeface="Microsoft YaHei"/>
              </a:rPr>
              <a:t>结构化索引 + 向量索引</a:t>
            </a:r>
          </a:p>
          <a:p xmlns:a="http://schemas.openxmlformats.org/drawingml/2006/main">
            <a:pPr marL="0" indent="0">
              <a:buNone/>
            </a:pPr>
            <a:r>
              <a:rPr sz="1050">
                <a:solidFill>
                  <a:srgbClr val="334155"/>
                </a:solidFill>
                <a:latin typeface="Microsoft YaHei"/>
                <a:ea typeface="Microsoft YaHei"/>
                <a:cs typeface="Microsoft YaHei"/>
              </a:rPr>
              <a:t>形成可检索的专业知识库</a:t>
            </a:r>
          </a:p>
        </p:txBody>
      </p:sp>
      <p:sp>
        <p:nvSpPr>
          <p:cNvPr id="31" name="Shape 27">
            <a:extLst xmlns:a="http://schemas.openxmlformats.org/drawingml/2006/main">
              <a:ext uri="{FF2B5EF4-FFF2-40B4-BE49-F238E27FC236}">
                <a16:creationId xmlns:a16="http://schemas.microsoft.com/office/drawing/2014/main" id="{0B4F5879-953E-D755-D82E-5D106A61E6E4}"/>
              </a:ext>
            </a:extLst>
          </p:cNvPr>
          <p:cNvSpPr>
            <a:spLocks xmlns:a="http://schemas.openxmlformats.org/drawingml/2006/main" noGrp="1"/>
          </p:cNvSpPr>
          <p:nvPr/>
        </p:nvSpPr>
        <p:spPr>
          <a:xfrm xmlns:a="http://schemas.openxmlformats.org/drawingml/2006/main">
            <a:off x="904603" y="2044337"/>
            <a:ext cx="10469880" cy="0"/>
          </a:xfrm>
          <a:prstGeom xmlns:a="http://schemas.openxmlformats.org/drawingml/2006/main" prst="line">
            <a:avLst/>
          </a:prstGeom>
          <a:noFill xmlns:a="http://schemas.openxmlformats.org/drawingml/2006/main"/>
          <a:ln xmlns:a="http://schemas.openxmlformats.org/drawingml/2006/main" w="12700">
            <a:solidFill>
              <a:srgbClr val="D6DEE8"/>
            </a:solidFill>
            <a:prstDash val="solid"/>
          </a:ln>
        </p:spPr>
        <p:txBody>
          <a:bodyPr xmlns:a="http://schemas.openxmlformats.org/drawingml/2006/main"/>
          <a:lstStyle xmlns:a="http://schemas.openxmlformats.org/drawingml/2006/main"/>
          <a:p xmlns:a="http://schemas.openxmlformats.org/drawingml/2006/main"/>
        </p:txBody>
      </p:sp>
      <p:sp>
        <p:nvSpPr>
          <p:cNvPr id="32" name="Shape 28">
            <a:extLst xmlns:a="http://schemas.openxmlformats.org/drawingml/2006/main">
              <a:ext uri="{FF2B5EF4-FFF2-40B4-BE49-F238E27FC236}">
                <a16:creationId xmlns:a16="http://schemas.microsoft.com/office/drawing/2014/main" id="{072EC55E-EE03-E71A-817E-E3B0AB5B1F8A}"/>
              </a:ext>
            </a:extLst>
          </p:cNvPr>
          <p:cNvSpPr>
            <a:spLocks xmlns:a="http://schemas.openxmlformats.org/drawingml/2006/main" noGrp="1"/>
          </p:cNvSpPr>
          <p:nvPr/>
        </p:nvSpPr>
        <p:spPr>
          <a:xfrm xmlns:a="http://schemas.openxmlformats.org/drawingml/2006/main">
            <a:off x="960120" y="2331720"/>
            <a:ext cx="1600200" cy="896112"/>
          </a:xfrm>
          <a:prstGeom xmlns:a="http://schemas.openxmlformats.org/drawingml/2006/main" prst="roundRect">
            <a:avLst>
              <a:gd name="adj" fmla="val 8163"/>
            </a:avLst>
          </a:prstGeom>
          <a:solidFill xmlns:a="http://schemas.openxmlformats.org/drawingml/2006/main">
            <a:srgbClr val="FFFFFF"/>
          </a:solidFill>
          <a:ln xmlns:a="http://schemas.openxmlformats.org/drawingml/2006/main" w="12700">
            <a:solidFill>
              <a:srgbClr val="D8E1EA"/>
            </a:solidFill>
            <a:prstDash val="solid"/>
          </a:ln>
          <a:effectLst xmlns:a="http://schemas.openxmlformats.org/drawingml/2006/main">
            <a:outerShdw blurRad="12700" dist="12700" dir="27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33" name="Text 29">
            <a:extLst xmlns:a="http://schemas.openxmlformats.org/drawingml/2006/main">
              <a:ext uri="{FF2B5EF4-FFF2-40B4-BE49-F238E27FC236}">
                <a16:creationId xmlns:a16="http://schemas.microsoft.com/office/drawing/2014/main" id="{A25ABD44-E544-5362-845D-8D8F3CD1C9FA}"/>
              </a:ext>
            </a:extLst>
          </p:cNvPr>
          <p:cNvSpPr>
            <a:spLocks xmlns:a="http://schemas.openxmlformats.org/drawingml/2006/main" noGrp="1"/>
          </p:cNvSpPr>
          <p:nvPr/>
        </p:nvSpPr>
        <p:spPr>
          <a:xfrm xmlns:a="http://schemas.openxmlformats.org/drawingml/2006/main">
            <a:off x="1097280" y="2432304"/>
            <a:ext cx="132588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23B66"/>
                </a:solidFill>
                <a:latin typeface="Microsoft YaHei"/>
                <a:ea typeface="Microsoft YaHei"/>
                <a:cs typeface="Microsoft YaHei"/>
              </a:rPr>
              <a:t>用户问题</a:t>
            </a:r>
          </a:p>
        </p:txBody>
      </p:sp>
      <p:sp>
        <p:nvSpPr>
          <p:cNvPr id="34" name="Text 30">
            <a:extLst xmlns:a="http://schemas.openxmlformats.org/drawingml/2006/main">
              <a:ext uri="{FF2B5EF4-FFF2-40B4-BE49-F238E27FC236}">
                <a16:creationId xmlns:a16="http://schemas.microsoft.com/office/drawing/2014/main" id="{F8E536BD-83BC-C9F3-24BF-1BAF5953C1AF}"/>
              </a:ext>
            </a:extLst>
          </p:cNvPr>
          <p:cNvSpPr>
            <a:spLocks xmlns:a="http://schemas.openxmlformats.org/drawingml/2006/main" noGrp="1"/>
          </p:cNvSpPr>
          <p:nvPr/>
        </p:nvSpPr>
        <p:spPr>
          <a:xfrm xmlns:a="http://schemas.openxmlformats.org/drawingml/2006/main">
            <a:off x="1097280" y="2679192"/>
            <a:ext cx="1325880" cy="45720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fontScale="92500" lnSpcReduction="10000"/>
          </a:bodyPr>
          <a:lstStyle xmlns:a="http://schemas.openxmlformats.org/drawingml/2006/main"/>
          <a:p xmlns:a="http://schemas.openxmlformats.org/drawingml/2006/main">
            <a:pPr marL="0" indent="0">
              <a:buNone/>
            </a:pPr>
            <a:r>
              <a:rPr sz="1050">
                <a:solidFill>
                  <a:srgbClr val="334155"/>
                </a:solidFill>
                <a:latin typeface="Microsoft YaHei"/>
                <a:ea typeface="Microsoft YaHei"/>
                <a:cs typeface="Microsoft YaHei"/>
              </a:rPr>
              <a:t>如：某项协议为什么这样设计？</a:t>
            </a:r>
          </a:p>
          <a:p xmlns:a="http://schemas.openxmlformats.org/drawingml/2006/main">
            <a:pPr marL="0" indent="0">
              <a:buNone/>
            </a:pPr>
            <a:r>
              <a:rPr sz="1050">
                <a:solidFill>
                  <a:srgbClr val="334155"/>
                </a:solidFill>
                <a:latin typeface="Microsoft YaHei"/>
                <a:ea typeface="Microsoft YaHei"/>
                <a:cs typeface="Microsoft YaHei"/>
              </a:rPr>
              <a:t>近期讨论焦点是什么？</a:t>
            </a:r>
          </a:p>
        </p:txBody>
      </p:sp>
      <p:sp>
        <p:nvSpPr>
          <p:cNvPr id="35" name="Text 31">
            <a:extLst xmlns:a="http://schemas.openxmlformats.org/drawingml/2006/main">
              <a:ext uri="{FF2B5EF4-FFF2-40B4-BE49-F238E27FC236}">
                <a16:creationId xmlns:a16="http://schemas.microsoft.com/office/drawing/2014/main" id="{B8770270-1BDF-EBBD-CA16-7B8AD21C27E5}"/>
              </a:ext>
            </a:extLst>
          </p:cNvPr>
          <p:cNvSpPr>
            <a:spLocks xmlns:a="http://schemas.openxmlformats.org/drawingml/2006/main" noGrp="1"/>
          </p:cNvSpPr>
          <p:nvPr/>
        </p:nvSpPr>
        <p:spPr>
          <a:xfrm xmlns:a="http://schemas.openxmlformats.org/drawingml/2006/main">
            <a:off x="2615184" y="2688336"/>
            <a:ext cx="2011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94A3B8"/>
                </a:solidFill>
              </a:rPr>
              <a:t>→</a:t>
            </a:r>
          </a:p>
        </p:txBody>
      </p:sp>
      <p:sp>
        <p:nvSpPr>
          <p:cNvPr id="36" name="Shape 32">
            <a:extLst xmlns:a="http://schemas.openxmlformats.org/drawingml/2006/main">
              <a:ext uri="{FF2B5EF4-FFF2-40B4-BE49-F238E27FC236}">
                <a16:creationId xmlns:a16="http://schemas.microsoft.com/office/drawing/2014/main" id="{E51AA0E9-D01D-9110-1139-36CDBE36A900}"/>
              </a:ext>
            </a:extLst>
          </p:cNvPr>
          <p:cNvSpPr>
            <a:spLocks xmlns:a="http://schemas.openxmlformats.org/drawingml/2006/main" noGrp="1"/>
          </p:cNvSpPr>
          <p:nvPr/>
        </p:nvSpPr>
        <p:spPr>
          <a:xfrm xmlns:a="http://schemas.openxmlformats.org/drawingml/2006/main">
            <a:off x="2834640" y="2331720"/>
            <a:ext cx="1965960" cy="896112"/>
          </a:xfrm>
          <a:prstGeom xmlns:a="http://schemas.openxmlformats.org/drawingml/2006/main" prst="roundRect">
            <a:avLst>
              <a:gd name="adj" fmla="val 8163"/>
            </a:avLst>
          </a:prstGeom>
          <a:solidFill xmlns:a="http://schemas.openxmlformats.org/drawingml/2006/main">
            <a:srgbClr val="F5F3FF"/>
          </a:solidFill>
          <a:ln xmlns:a="http://schemas.openxmlformats.org/drawingml/2006/main" w="12700">
            <a:solidFill>
              <a:srgbClr val="D4C5F9"/>
            </a:solidFill>
            <a:prstDash val="solid"/>
          </a:ln>
          <a:effectLst xmlns:a="http://schemas.openxmlformats.org/drawingml/2006/main">
            <a:outerShdw blurRad="12700" dist="12700" dir="27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37" name="Text 33">
            <a:extLst xmlns:a="http://schemas.openxmlformats.org/drawingml/2006/main">
              <a:ext uri="{FF2B5EF4-FFF2-40B4-BE49-F238E27FC236}">
                <a16:creationId xmlns:a16="http://schemas.microsoft.com/office/drawing/2014/main" id="{8866CF6A-3F5C-7F2D-C362-0DE75B0352CD}"/>
              </a:ext>
            </a:extLst>
          </p:cNvPr>
          <p:cNvSpPr>
            <a:spLocks xmlns:a="http://schemas.openxmlformats.org/drawingml/2006/main" noGrp="1"/>
          </p:cNvSpPr>
          <p:nvPr/>
        </p:nvSpPr>
        <p:spPr>
          <a:xfrm xmlns:a="http://schemas.openxmlformats.org/drawingml/2006/main">
            <a:off x="2971800" y="2432304"/>
            <a:ext cx="169164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6D28D9"/>
                </a:solidFill>
                <a:latin typeface="Microsoft YaHei"/>
                <a:ea typeface="Microsoft YaHei"/>
                <a:cs typeface="Microsoft YaHei"/>
              </a:rPr>
              <a:t>检索增强层</a:t>
            </a:r>
          </a:p>
        </p:txBody>
      </p:sp>
      <p:sp>
        <p:nvSpPr>
          <p:cNvPr id="38" name="Text 34">
            <a:extLst xmlns:a="http://schemas.openxmlformats.org/drawingml/2006/main">
              <a:ext uri="{FF2B5EF4-FFF2-40B4-BE49-F238E27FC236}">
                <a16:creationId xmlns:a16="http://schemas.microsoft.com/office/drawing/2014/main" id="{7D84C3B5-5009-8BB8-6EFD-3E87817E3000}"/>
              </a:ext>
            </a:extLst>
          </p:cNvPr>
          <p:cNvSpPr>
            <a:spLocks xmlns:a="http://schemas.openxmlformats.org/drawingml/2006/main" noGrp="1"/>
          </p:cNvSpPr>
          <p:nvPr/>
        </p:nvSpPr>
        <p:spPr>
          <a:xfrm xmlns:a="http://schemas.openxmlformats.org/drawingml/2006/main">
            <a:off x="2971800" y="2679192"/>
            <a:ext cx="1691640" cy="45720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lnSpcReduction="10000"/>
          </a:bodyPr>
          <a:lstStyle xmlns:a="http://schemas.openxmlformats.org/drawingml/2006/main"/>
          <a:p xmlns:a="http://schemas.openxmlformats.org/drawingml/2006/main">
            <a:pPr marL="0" indent="0">
              <a:buNone/>
            </a:pPr>
            <a:r>
              <a:rPr sz="1050">
                <a:solidFill>
                  <a:srgbClr val="334155"/>
                </a:solidFill>
                <a:latin typeface="Microsoft YaHei"/>
                <a:ea typeface="Microsoft YaHei"/>
                <a:cs typeface="Microsoft YaHei"/>
              </a:rPr>
              <a:t>语义检索 + 关键词检索</a:t>
            </a:r>
          </a:p>
          <a:p xmlns:a="http://schemas.openxmlformats.org/drawingml/2006/main">
            <a:pPr marL="0" indent="0">
              <a:buNone/>
            </a:pPr>
            <a:r>
              <a:rPr sz="1050">
                <a:solidFill>
                  <a:srgbClr val="334155"/>
                </a:solidFill>
                <a:latin typeface="Microsoft YaHei"/>
                <a:ea typeface="Microsoft YaHei"/>
                <a:cs typeface="Microsoft YaHei"/>
              </a:rPr>
              <a:t>召回 RFC 条文、邮件线程、相关附件</a:t>
            </a:r>
          </a:p>
        </p:txBody>
      </p:sp>
      <p:sp>
        <p:nvSpPr>
          <p:cNvPr id="39" name="Text 35">
            <a:extLst xmlns:a="http://schemas.openxmlformats.org/drawingml/2006/main">
              <a:ext uri="{FF2B5EF4-FFF2-40B4-BE49-F238E27FC236}">
                <a16:creationId xmlns:a16="http://schemas.microsoft.com/office/drawing/2014/main" id="{0F29ED14-52E5-9B49-3CBA-D7622EBCD277}"/>
              </a:ext>
            </a:extLst>
          </p:cNvPr>
          <p:cNvSpPr>
            <a:spLocks xmlns:a="http://schemas.openxmlformats.org/drawingml/2006/main" noGrp="1"/>
          </p:cNvSpPr>
          <p:nvPr/>
        </p:nvSpPr>
        <p:spPr>
          <a:xfrm xmlns:a="http://schemas.openxmlformats.org/drawingml/2006/main">
            <a:off x="4846320" y="2688336"/>
            <a:ext cx="2011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94A3B8"/>
                </a:solidFill>
              </a:rPr>
              <a:t>→</a:t>
            </a:r>
          </a:p>
        </p:txBody>
      </p:sp>
      <p:sp>
        <p:nvSpPr>
          <p:cNvPr id="40" name="Shape 36">
            <a:extLst xmlns:a="http://schemas.openxmlformats.org/drawingml/2006/main">
              <a:ext uri="{FF2B5EF4-FFF2-40B4-BE49-F238E27FC236}">
                <a16:creationId xmlns:a16="http://schemas.microsoft.com/office/drawing/2014/main" id="{BF71DE38-BAA6-8C7F-D683-38F251AF4348}"/>
              </a:ext>
            </a:extLst>
          </p:cNvPr>
          <p:cNvSpPr>
            <a:spLocks xmlns:a="http://schemas.openxmlformats.org/drawingml/2006/main" noGrp="1"/>
          </p:cNvSpPr>
          <p:nvPr/>
        </p:nvSpPr>
        <p:spPr>
          <a:xfrm xmlns:a="http://schemas.openxmlformats.org/drawingml/2006/main">
            <a:off x="5065776" y="2331720"/>
            <a:ext cx="2057400" cy="896112"/>
          </a:xfrm>
          <a:prstGeom xmlns:a="http://schemas.openxmlformats.org/drawingml/2006/main" prst="roundRect">
            <a:avLst>
              <a:gd name="adj" fmla="val 8163"/>
            </a:avLst>
          </a:prstGeom>
          <a:solidFill xmlns:a="http://schemas.openxmlformats.org/drawingml/2006/main">
            <a:srgbClr val="F5F3FF"/>
          </a:solidFill>
          <a:ln xmlns:a="http://schemas.openxmlformats.org/drawingml/2006/main" w="12700">
            <a:solidFill>
              <a:srgbClr val="D4C5F9"/>
            </a:solidFill>
            <a:prstDash val="solid"/>
          </a:ln>
          <a:effectLst xmlns:a="http://schemas.openxmlformats.org/drawingml/2006/main">
            <a:outerShdw blurRad="12700" dist="12700" dir="27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41" name="Text 37">
            <a:extLst xmlns:a="http://schemas.openxmlformats.org/drawingml/2006/main">
              <a:ext uri="{FF2B5EF4-FFF2-40B4-BE49-F238E27FC236}">
                <a16:creationId xmlns:a16="http://schemas.microsoft.com/office/drawing/2014/main" id="{537C0746-9C46-9F67-5948-B322518DCDB8}"/>
              </a:ext>
            </a:extLst>
          </p:cNvPr>
          <p:cNvSpPr>
            <a:spLocks xmlns:a="http://schemas.openxmlformats.org/drawingml/2006/main" noGrp="1"/>
          </p:cNvSpPr>
          <p:nvPr/>
        </p:nvSpPr>
        <p:spPr>
          <a:xfrm xmlns:a="http://schemas.openxmlformats.org/drawingml/2006/main">
            <a:off x="5202936" y="2432304"/>
            <a:ext cx="178308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6D28D9"/>
                </a:solidFill>
                <a:latin typeface="Microsoft YaHei"/>
                <a:ea typeface="Microsoft YaHei"/>
                <a:cs typeface="Microsoft YaHei"/>
              </a:rPr>
              <a:t>证据组织层</a:t>
            </a:r>
          </a:p>
        </p:txBody>
      </p:sp>
      <p:sp>
        <p:nvSpPr>
          <p:cNvPr id="42" name="Text 38">
            <a:extLst xmlns:a="http://schemas.openxmlformats.org/drawingml/2006/main">
              <a:ext uri="{FF2B5EF4-FFF2-40B4-BE49-F238E27FC236}">
                <a16:creationId xmlns:a16="http://schemas.microsoft.com/office/drawing/2014/main" id="{96534CC2-7E7A-3122-4A9F-0BAD966F5063}"/>
              </a:ext>
            </a:extLst>
          </p:cNvPr>
          <p:cNvSpPr>
            <a:spLocks xmlns:a="http://schemas.openxmlformats.org/drawingml/2006/main" noGrp="1"/>
          </p:cNvSpPr>
          <p:nvPr/>
        </p:nvSpPr>
        <p:spPr>
          <a:xfrm xmlns:a="http://schemas.openxmlformats.org/drawingml/2006/main">
            <a:off x="5202936" y="2679192"/>
            <a:ext cx="1783080" cy="45720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050">
                <a:solidFill>
                  <a:srgbClr val="334155"/>
                </a:solidFill>
                <a:latin typeface="Microsoft YaHei"/>
                <a:ea typeface="Microsoft YaHei"/>
                <a:cs typeface="Microsoft YaHei"/>
              </a:rPr>
              <a:t>按“标准结论—讨论背景—时间演进”进行拼接与排序</a:t>
            </a:r>
          </a:p>
        </p:txBody>
      </p:sp>
      <p:sp>
        <p:nvSpPr>
          <p:cNvPr id="43" name="Text 39">
            <a:extLst xmlns:a="http://schemas.openxmlformats.org/drawingml/2006/main">
              <a:ext uri="{FF2B5EF4-FFF2-40B4-BE49-F238E27FC236}">
                <a16:creationId xmlns:a16="http://schemas.microsoft.com/office/drawing/2014/main" id="{3EDF1998-E64D-CD04-68FD-89BD1FC1349B}"/>
              </a:ext>
            </a:extLst>
          </p:cNvPr>
          <p:cNvSpPr>
            <a:spLocks xmlns:a="http://schemas.openxmlformats.org/drawingml/2006/main" noGrp="1"/>
          </p:cNvSpPr>
          <p:nvPr/>
        </p:nvSpPr>
        <p:spPr>
          <a:xfrm xmlns:a="http://schemas.openxmlformats.org/drawingml/2006/main">
            <a:off x="7178040" y="2688336"/>
            <a:ext cx="2011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94A3B8"/>
                </a:solidFill>
              </a:rPr>
              <a:t>→</a:t>
            </a:r>
          </a:p>
        </p:txBody>
      </p:sp>
      <p:sp>
        <p:nvSpPr>
          <p:cNvPr id="44" name="Shape 40">
            <a:extLst xmlns:a="http://schemas.openxmlformats.org/drawingml/2006/main">
              <a:ext uri="{FF2B5EF4-FFF2-40B4-BE49-F238E27FC236}">
                <a16:creationId xmlns:a16="http://schemas.microsoft.com/office/drawing/2014/main" id="{5518EAC5-428F-4318-1C00-F5DDB912B694}"/>
              </a:ext>
            </a:extLst>
          </p:cNvPr>
          <p:cNvSpPr>
            <a:spLocks xmlns:a="http://schemas.openxmlformats.org/drawingml/2006/main" noGrp="1"/>
          </p:cNvSpPr>
          <p:nvPr/>
        </p:nvSpPr>
        <p:spPr>
          <a:xfrm xmlns:a="http://schemas.openxmlformats.org/drawingml/2006/main">
            <a:off x="7388352" y="2331720"/>
            <a:ext cx="1965960" cy="896112"/>
          </a:xfrm>
          <a:prstGeom xmlns:a="http://schemas.openxmlformats.org/drawingml/2006/main" prst="roundRect">
            <a:avLst>
              <a:gd name="adj" fmla="val 8163"/>
            </a:avLst>
          </a:prstGeom>
          <a:solidFill xmlns:a="http://schemas.openxmlformats.org/drawingml/2006/main">
            <a:srgbClr val="FEF2F2"/>
          </a:solidFill>
          <a:ln xmlns:a="http://schemas.openxmlformats.org/drawingml/2006/main" w="12700">
            <a:solidFill>
              <a:srgbClr val="F6C5C5"/>
            </a:solidFill>
            <a:prstDash val="solid"/>
          </a:ln>
          <a:effectLst xmlns:a="http://schemas.openxmlformats.org/drawingml/2006/main">
            <a:outerShdw blurRad="12700" dist="12700" dir="27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45" name="Text 41">
            <a:extLst xmlns:a="http://schemas.openxmlformats.org/drawingml/2006/main">
              <a:ext uri="{FF2B5EF4-FFF2-40B4-BE49-F238E27FC236}">
                <a16:creationId xmlns:a16="http://schemas.microsoft.com/office/drawing/2014/main" id="{D29DD6AF-CBFD-0AE8-CD3D-D791BCF51A74}"/>
              </a:ext>
            </a:extLst>
          </p:cNvPr>
          <p:cNvSpPr>
            <a:spLocks xmlns:a="http://schemas.openxmlformats.org/drawingml/2006/main" noGrp="1"/>
          </p:cNvSpPr>
          <p:nvPr/>
        </p:nvSpPr>
        <p:spPr>
          <a:xfrm xmlns:a="http://schemas.openxmlformats.org/drawingml/2006/main">
            <a:off x="7525512" y="2432304"/>
            <a:ext cx="169164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B42318"/>
                </a:solidFill>
                <a:latin typeface="Microsoft YaHei"/>
                <a:ea typeface="Microsoft YaHei"/>
                <a:cs typeface="Microsoft YaHei"/>
              </a:rPr>
              <a:t>提示与规则约束</a:t>
            </a:r>
          </a:p>
        </p:txBody>
      </p:sp>
      <p:sp>
        <p:nvSpPr>
          <p:cNvPr id="46" name="Text 42">
            <a:extLst xmlns:a="http://schemas.openxmlformats.org/drawingml/2006/main">
              <a:ext uri="{FF2B5EF4-FFF2-40B4-BE49-F238E27FC236}">
                <a16:creationId xmlns:a16="http://schemas.microsoft.com/office/drawing/2014/main" id="{757BAA40-E15B-D65C-46EA-DC9A3C3ACE5B}"/>
              </a:ext>
            </a:extLst>
          </p:cNvPr>
          <p:cNvSpPr>
            <a:spLocks xmlns:a="http://schemas.openxmlformats.org/drawingml/2006/main" noGrp="1"/>
          </p:cNvSpPr>
          <p:nvPr/>
        </p:nvSpPr>
        <p:spPr>
          <a:xfrm xmlns:a="http://schemas.openxmlformats.org/drawingml/2006/main">
            <a:off x="7525512" y="2679192"/>
            <a:ext cx="1691640" cy="45720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lnSpcReduction="10000"/>
          </a:bodyPr>
          <a:lstStyle xmlns:a="http://schemas.openxmlformats.org/drawingml/2006/main"/>
          <a:p xmlns:a="http://schemas.openxmlformats.org/drawingml/2006/main">
            <a:pPr marL="0" indent="0">
              <a:buNone/>
            </a:pPr>
            <a:r>
              <a:rPr sz="1050">
                <a:solidFill>
                  <a:srgbClr val="334155"/>
                </a:solidFill>
                <a:latin typeface="Microsoft YaHei"/>
                <a:ea typeface="Microsoft YaHei"/>
                <a:cs typeface="Microsoft YaHei"/>
              </a:rPr>
              <a:t>限定回答边界，要求标注依据、识别冲突、证据不足时提示</a:t>
            </a:r>
          </a:p>
        </p:txBody>
      </p:sp>
      <p:sp>
        <p:nvSpPr>
          <p:cNvPr id="47" name="Text 43">
            <a:extLst xmlns:a="http://schemas.openxmlformats.org/drawingml/2006/main">
              <a:ext uri="{FF2B5EF4-FFF2-40B4-BE49-F238E27FC236}">
                <a16:creationId xmlns:a16="http://schemas.microsoft.com/office/drawing/2014/main" id="{6F133409-A03A-7FE3-E852-C1AD795E2906}"/>
              </a:ext>
            </a:extLst>
          </p:cNvPr>
          <p:cNvSpPr>
            <a:spLocks xmlns:a="http://schemas.openxmlformats.org/drawingml/2006/main" noGrp="1"/>
          </p:cNvSpPr>
          <p:nvPr/>
        </p:nvSpPr>
        <p:spPr>
          <a:xfrm xmlns:a="http://schemas.openxmlformats.org/drawingml/2006/main">
            <a:off x="9400032" y="2688336"/>
            <a:ext cx="2011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94A3B8"/>
                </a:solidFill>
              </a:rPr>
              <a:t>→</a:t>
            </a:r>
          </a:p>
        </p:txBody>
      </p:sp>
      <p:sp>
        <p:nvSpPr>
          <p:cNvPr id="48" name="Shape 44">
            <a:extLst xmlns:a="http://schemas.openxmlformats.org/drawingml/2006/main">
              <a:ext uri="{FF2B5EF4-FFF2-40B4-BE49-F238E27FC236}">
                <a16:creationId xmlns:a16="http://schemas.microsoft.com/office/drawing/2014/main" id="{F91FAB37-0B89-358C-8064-0ED47AA3C7A6}"/>
              </a:ext>
            </a:extLst>
          </p:cNvPr>
          <p:cNvSpPr>
            <a:spLocks xmlns:a="http://schemas.openxmlformats.org/drawingml/2006/main" noGrp="1"/>
          </p:cNvSpPr>
          <p:nvPr/>
        </p:nvSpPr>
        <p:spPr>
          <a:xfrm xmlns:a="http://schemas.openxmlformats.org/drawingml/2006/main">
            <a:off x="9619488" y="2331720"/>
            <a:ext cx="2011680" cy="896112"/>
          </a:xfrm>
          <a:prstGeom xmlns:a="http://schemas.openxmlformats.org/drawingml/2006/main" prst="roundRect">
            <a:avLst>
              <a:gd name="adj" fmla="val 8163"/>
            </a:avLst>
          </a:prstGeom>
          <a:solidFill xmlns:a="http://schemas.openxmlformats.org/drawingml/2006/main">
            <a:srgbClr val="EAF7FF"/>
          </a:solidFill>
          <a:ln xmlns:a="http://schemas.openxmlformats.org/drawingml/2006/main" w="12700">
            <a:solidFill>
              <a:srgbClr val="B9DCF7"/>
            </a:solidFill>
            <a:prstDash val="solid"/>
          </a:ln>
          <a:effectLst xmlns:a="http://schemas.openxmlformats.org/drawingml/2006/main">
            <a:outerShdw blurRad="12700" dist="12700" dir="27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49" name="Text 45">
            <a:extLst xmlns:a="http://schemas.openxmlformats.org/drawingml/2006/main">
              <a:ext uri="{FF2B5EF4-FFF2-40B4-BE49-F238E27FC236}">
                <a16:creationId xmlns:a16="http://schemas.microsoft.com/office/drawing/2014/main" id="{0E9D3E8D-7EBE-166C-5CB8-01D465F1A1C0}"/>
              </a:ext>
            </a:extLst>
          </p:cNvPr>
          <p:cNvSpPr>
            <a:spLocks xmlns:a="http://schemas.openxmlformats.org/drawingml/2006/main" noGrp="1"/>
          </p:cNvSpPr>
          <p:nvPr/>
        </p:nvSpPr>
        <p:spPr>
          <a:xfrm xmlns:a="http://schemas.openxmlformats.org/drawingml/2006/main">
            <a:off x="9756648" y="2432304"/>
            <a:ext cx="173736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F5E9C"/>
                </a:solidFill>
                <a:latin typeface="Microsoft YaHei"/>
                <a:ea typeface="Microsoft YaHei"/>
                <a:cs typeface="Microsoft YaHei"/>
              </a:rPr>
              <a:t>大模型分析</a:t>
            </a:r>
          </a:p>
        </p:txBody>
      </p:sp>
      <p:sp>
        <p:nvSpPr>
          <p:cNvPr id="50" name="Text 46">
            <a:extLst xmlns:a="http://schemas.openxmlformats.org/drawingml/2006/main">
              <a:ext uri="{FF2B5EF4-FFF2-40B4-BE49-F238E27FC236}">
                <a16:creationId xmlns:a16="http://schemas.microsoft.com/office/drawing/2014/main" id="{E26482DA-B5DC-08C0-4646-957CAF02F503}"/>
              </a:ext>
            </a:extLst>
          </p:cNvPr>
          <p:cNvSpPr>
            <a:spLocks xmlns:a="http://schemas.openxmlformats.org/drawingml/2006/main" noGrp="1"/>
          </p:cNvSpPr>
          <p:nvPr/>
        </p:nvSpPr>
        <p:spPr>
          <a:xfrm xmlns:a="http://schemas.openxmlformats.org/drawingml/2006/main">
            <a:off x="9756648" y="2679192"/>
            <a:ext cx="1737360" cy="45720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050">
                <a:solidFill>
                  <a:srgbClr val="334155"/>
                </a:solidFill>
                <a:latin typeface="Microsoft YaHei"/>
                <a:ea typeface="Microsoft YaHei"/>
                <a:cs typeface="Microsoft YaHei"/>
              </a:rPr>
              <a:t>基于已召回证据做归纳、对比、解释与逻辑串联</a:t>
            </a:r>
          </a:p>
        </p:txBody>
      </p:sp>
      <p:sp>
        <p:nvSpPr>
          <p:cNvPr id="53" name="Shape 49">
            <a:extLst xmlns:a="http://schemas.openxmlformats.org/drawingml/2006/main">
              <a:ext uri="{FF2B5EF4-FFF2-40B4-BE49-F238E27FC236}">
                <a16:creationId xmlns:a16="http://schemas.microsoft.com/office/drawing/2014/main" id="{74F0FF2F-6FF0-4A59-AF61-59FA0B6E13CE}"/>
              </a:ext>
            </a:extLst>
          </p:cNvPr>
          <p:cNvSpPr>
            <a:spLocks xmlns:a="http://schemas.openxmlformats.org/drawingml/2006/main" noGrp="1"/>
          </p:cNvSpPr>
          <p:nvPr/>
        </p:nvSpPr>
        <p:spPr>
          <a:xfrm xmlns:a="http://schemas.openxmlformats.org/drawingml/2006/main">
            <a:off x="912441" y="3844182"/>
            <a:ext cx="2351967" cy="1005840"/>
          </a:xfrm>
          <a:prstGeom xmlns:a="http://schemas.openxmlformats.org/drawingml/2006/main" prst="roundRect">
            <a:avLst>
              <a:gd name="adj" fmla="val 7273"/>
            </a:avLst>
          </a:prstGeom>
        </p:spPr>
        <p:style>
          <a:lnRef xmlns:a="http://schemas.openxmlformats.org/drawingml/2006/main" idx="2">
            <a:schemeClr val="accent2"/>
          </a:lnRef>
          <a:fillRef xmlns:a="http://schemas.openxmlformats.org/drawingml/2006/main" idx="1">
            <a:schemeClr val="lt1"/>
          </a:fillRef>
          <a:effectRef xmlns:a="http://schemas.openxmlformats.org/drawingml/2006/main" idx="0">
            <a:schemeClr val="accent2"/>
          </a:effectRef>
          <a:fontRef xmlns:a="http://schemas.openxmlformats.org/drawingml/2006/main" idx="minor">
            <a:schemeClr val="dk1"/>
          </a:fontRef>
        </p:style>
        <p:txBody>
          <a:bodyPr xmlns:a="http://schemas.openxmlformats.org/drawingml/2006/main"/>
          <a:lstStyle xmlns:a="http://schemas.openxmlformats.org/drawingml/2006/main"/>
          <a:p xmlns:a="http://schemas.openxmlformats.org/drawingml/2006/main"/>
        </p:txBody>
      </p:sp>
      <p:sp>
        <p:nvSpPr>
          <p:cNvPr id="54" name="Text 50">
            <a:extLst xmlns:a="http://schemas.openxmlformats.org/drawingml/2006/main">
              <a:ext uri="{FF2B5EF4-FFF2-40B4-BE49-F238E27FC236}">
                <a16:creationId xmlns:a16="http://schemas.microsoft.com/office/drawing/2014/main" id="{C03D3FAB-0749-9D13-7ECF-B3748C355635}"/>
              </a:ext>
            </a:extLst>
          </p:cNvPr>
          <p:cNvSpPr>
            <a:spLocks xmlns:a="http://schemas.openxmlformats.org/drawingml/2006/main" noGrp="1"/>
          </p:cNvSpPr>
          <p:nvPr/>
        </p:nvSpPr>
        <p:spPr>
          <a:xfrm xmlns:a="http://schemas.openxmlformats.org/drawingml/2006/main">
            <a:off x="1049601" y="3944766"/>
            <a:ext cx="251460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23B66"/>
                </a:solidFill>
                <a:latin typeface="Microsoft YaHei"/>
                <a:ea typeface="Microsoft YaHei"/>
                <a:cs typeface="Microsoft YaHei"/>
              </a:rPr>
              <a:t>专业回答结果</a:t>
            </a:r>
          </a:p>
        </p:txBody>
      </p:sp>
      <p:sp>
        <p:nvSpPr>
          <p:cNvPr id="55" name="Text 51">
            <a:extLst xmlns:a="http://schemas.openxmlformats.org/drawingml/2006/main">
              <a:ext uri="{FF2B5EF4-FFF2-40B4-BE49-F238E27FC236}">
                <a16:creationId xmlns:a16="http://schemas.microsoft.com/office/drawing/2014/main" id="{7E7155AB-B4E8-40A9-94D4-9C11C7CE9A72}"/>
              </a:ext>
            </a:extLst>
          </p:cNvPr>
          <p:cNvSpPr>
            <a:spLocks xmlns:a="http://schemas.openxmlformats.org/drawingml/2006/main" noGrp="1"/>
          </p:cNvSpPr>
          <p:nvPr/>
        </p:nvSpPr>
        <p:spPr>
          <a:xfrm xmlns:a="http://schemas.openxmlformats.org/drawingml/2006/main">
            <a:off x="1049601" y="4191654"/>
            <a:ext cx="2514600" cy="566928"/>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fontScale="92500" lnSpcReduction="10000"/>
          </a:bodyPr>
          <a:lstStyle xmlns:a="http://schemas.openxmlformats.org/drawingml/2006/main"/>
          <a:p xmlns:a="http://schemas.openxmlformats.org/drawingml/2006/main">
            <a:pPr marL="0" indent="0">
              <a:buNone/>
            </a:pPr>
            <a:r>
              <a:rPr sz="1050">
                <a:solidFill>
                  <a:srgbClr val="334155"/>
                </a:solidFill>
                <a:latin typeface="Microsoft YaHei"/>
                <a:ea typeface="Microsoft YaHei"/>
                <a:cs typeface="Microsoft YaHei"/>
              </a:rPr>
              <a:t>输出回答同时附带：</a:t>
            </a:r>
          </a:p>
          <a:p xmlns:a="http://schemas.openxmlformats.org/drawingml/2006/main">
            <a:pPr marL="0" indent="0">
              <a:buNone/>
            </a:pPr>
            <a:r>
              <a:rPr sz="1050">
                <a:solidFill>
                  <a:srgbClr val="334155"/>
                </a:solidFill>
                <a:latin typeface="Microsoft YaHei"/>
                <a:ea typeface="Microsoft YaHei"/>
                <a:cs typeface="Microsoft YaHei"/>
              </a:rPr>
              <a:t>- 对应 RFC / Draft</a:t>
            </a:r>
          </a:p>
          <a:p xmlns:a="http://schemas.openxmlformats.org/drawingml/2006/main">
            <a:pPr marL="0" indent="0">
              <a:buNone/>
            </a:pPr>
            <a:r>
              <a:rPr sz="1050">
                <a:solidFill>
                  <a:srgbClr val="334155"/>
                </a:solidFill>
                <a:latin typeface="Microsoft YaHei"/>
                <a:ea typeface="Microsoft YaHei"/>
                <a:cs typeface="Microsoft YaHei"/>
              </a:rPr>
              <a:t>- 相关邮件讨论依据</a:t>
            </a:r>
          </a:p>
          <a:p xmlns:a="http://schemas.openxmlformats.org/drawingml/2006/main">
            <a:pPr marL="0" indent="0">
              <a:buNone/>
            </a:pPr>
            <a:r>
              <a:rPr sz="1050">
                <a:solidFill>
                  <a:srgbClr val="334155"/>
                </a:solidFill>
                <a:latin typeface="Microsoft YaHei"/>
                <a:ea typeface="Microsoft YaHei"/>
                <a:cs typeface="Microsoft YaHei"/>
              </a:rPr>
              <a:t>- 不确定项与结论边界</a:t>
            </a:r>
          </a:p>
        </p:txBody>
      </p:sp>
      <p:sp>
        <p:nvSpPr>
          <p:cNvPr id="56" name="Shape 52">
            <a:extLst xmlns:a="http://schemas.openxmlformats.org/drawingml/2006/main">
              <a:ext uri="{FF2B5EF4-FFF2-40B4-BE49-F238E27FC236}">
                <a16:creationId xmlns:a16="http://schemas.microsoft.com/office/drawing/2014/main" id="{8C33AE4D-041B-023F-87E2-D2D3712931F5}"/>
              </a:ext>
            </a:extLst>
          </p:cNvPr>
          <p:cNvSpPr>
            <a:spLocks xmlns:a="http://schemas.openxmlformats.org/drawingml/2006/main" noGrp="1"/>
          </p:cNvSpPr>
          <p:nvPr/>
        </p:nvSpPr>
        <p:spPr>
          <a:xfrm xmlns:a="http://schemas.openxmlformats.org/drawingml/2006/main">
            <a:off x="3589020" y="3844182"/>
            <a:ext cx="2514600" cy="1005840"/>
          </a:xfrm>
          <a:prstGeom xmlns:a="http://schemas.openxmlformats.org/drawingml/2006/main" prst="roundRect">
            <a:avLst>
              <a:gd name="adj" fmla="val 7273"/>
            </a:avLst>
          </a:prstGeom>
        </p:spPr>
        <p:style>
          <a:lnRef xmlns:a="http://schemas.openxmlformats.org/drawingml/2006/main" idx="2">
            <a:schemeClr val="accent2"/>
          </a:lnRef>
          <a:fillRef xmlns:a="http://schemas.openxmlformats.org/drawingml/2006/main" idx="1">
            <a:schemeClr val="lt1"/>
          </a:fillRef>
          <a:effectRef xmlns:a="http://schemas.openxmlformats.org/drawingml/2006/main" idx="0">
            <a:schemeClr val="accent2"/>
          </a:effectRef>
          <a:fontRef xmlns:a="http://schemas.openxmlformats.org/drawingml/2006/main" idx="minor">
            <a:schemeClr val="dk1"/>
          </a:fontRef>
        </p:style>
        <p:txBody>
          <a:bodyPr xmlns:a="http://schemas.openxmlformats.org/drawingml/2006/main"/>
          <a:lstStyle xmlns:a="http://schemas.openxmlformats.org/drawingml/2006/main"/>
          <a:p xmlns:a="http://schemas.openxmlformats.org/drawingml/2006/main"/>
        </p:txBody>
      </p:sp>
      <p:sp>
        <p:nvSpPr>
          <p:cNvPr id="57" name="Text 53">
            <a:extLst xmlns:a="http://schemas.openxmlformats.org/drawingml/2006/main">
              <a:ext uri="{FF2B5EF4-FFF2-40B4-BE49-F238E27FC236}">
                <a16:creationId xmlns:a16="http://schemas.microsoft.com/office/drawing/2014/main" id="{7FA6010E-3601-21CA-150F-392F7FE9A5CE}"/>
              </a:ext>
            </a:extLst>
          </p:cNvPr>
          <p:cNvSpPr>
            <a:spLocks xmlns:a="http://schemas.openxmlformats.org/drawingml/2006/main" noGrp="1"/>
          </p:cNvSpPr>
          <p:nvPr/>
        </p:nvSpPr>
        <p:spPr>
          <a:xfrm xmlns:a="http://schemas.openxmlformats.org/drawingml/2006/main">
            <a:off x="3726180" y="3944766"/>
            <a:ext cx="224028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56E3A"/>
                </a:solidFill>
                <a:latin typeface="Microsoft YaHei"/>
                <a:ea typeface="Microsoft YaHei"/>
                <a:cs typeface="Microsoft YaHei"/>
              </a:rPr>
              <a:t>可追溯依据链</a:t>
            </a:r>
          </a:p>
        </p:txBody>
      </p:sp>
      <p:sp>
        <p:nvSpPr>
          <p:cNvPr id="58" name="Text 54">
            <a:extLst xmlns:a="http://schemas.openxmlformats.org/drawingml/2006/main">
              <a:ext uri="{FF2B5EF4-FFF2-40B4-BE49-F238E27FC236}">
                <a16:creationId xmlns:a16="http://schemas.microsoft.com/office/drawing/2014/main" id="{EB399E92-A57D-BB56-B62C-4CB0077055F6}"/>
              </a:ext>
            </a:extLst>
          </p:cNvPr>
          <p:cNvSpPr>
            <a:spLocks xmlns:a="http://schemas.openxmlformats.org/drawingml/2006/main" noGrp="1"/>
          </p:cNvSpPr>
          <p:nvPr/>
        </p:nvSpPr>
        <p:spPr>
          <a:xfrm xmlns:a="http://schemas.openxmlformats.org/drawingml/2006/main">
            <a:off x="3726180" y="4191654"/>
            <a:ext cx="2240280" cy="566928"/>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050">
                <a:solidFill>
                  <a:srgbClr val="334155"/>
                </a:solidFill>
                <a:latin typeface="Microsoft YaHei"/>
                <a:ea typeface="Microsoft YaHei"/>
                <a:cs typeface="Microsoft YaHei"/>
              </a:rPr>
              <a:t>支持回看原始文档、讨论线程和时间演进脉络，便于人工复核</a:t>
            </a:r>
          </a:p>
        </p:txBody>
      </p:sp>
      <p:sp>
        <p:nvSpPr>
          <p:cNvPr id="59" name="Shape 55">
            <a:extLst xmlns:a="http://schemas.openxmlformats.org/drawingml/2006/main">
              <a:ext uri="{FF2B5EF4-FFF2-40B4-BE49-F238E27FC236}">
                <a16:creationId xmlns:a16="http://schemas.microsoft.com/office/drawing/2014/main" id="{534B4573-1150-C161-149F-E91456FD7C64}"/>
              </a:ext>
            </a:extLst>
          </p:cNvPr>
          <p:cNvSpPr>
            <a:spLocks xmlns:a="http://schemas.openxmlformats.org/drawingml/2006/main" noGrp="1"/>
          </p:cNvSpPr>
          <p:nvPr/>
        </p:nvSpPr>
        <p:spPr>
          <a:xfrm xmlns:a="http://schemas.openxmlformats.org/drawingml/2006/main">
            <a:off x="6423660" y="3844182"/>
            <a:ext cx="2514600" cy="1005840"/>
          </a:xfrm>
          <a:prstGeom xmlns:a="http://schemas.openxmlformats.org/drawingml/2006/main" prst="roundRect">
            <a:avLst>
              <a:gd name="adj" fmla="val 7273"/>
            </a:avLst>
          </a:prstGeom>
        </p:spPr>
        <p:style>
          <a:lnRef xmlns:a="http://schemas.openxmlformats.org/drawingml/2006/main" idx="2">
            <a:schemeClr val="accent2"/>
          </a:lnRef>
          <a:fillRef xmlns:a="http://schemas.openxmlformats.org/drawingml/2006/main" idx="1">
            <a:schemeClr val="lt1"/>
          </a:fillRef>
          <a:effectRef xmlns:a="http://schemas.openxmlformats.org/drawingml/2006/main" idx="0">
            <a:schemeClr val="accent2"/>
          </a:effectRef>
          <a:fontRef xmlns:a="http://schemas.openxmlformats.org/drawingml/2006/main" idx="minor">
            <a:schemeClr val="dk1"/>
          </a:fontRef>
        </p:style>
        <p:txBody>
          <a:bodyPr xmlns:a="http://schemas.openxmlformats.org/drawingml/2006/main"/>
          <a:lstStyle xmlns:a="http://schemas.openxmlformats.org/drawingml/2006/main"/>
          <a:p xmlns:a="http://schemas.openxmlformats.org/drawingml/2006/main"/>
        </p:txBody>
      </p:sp>
      <p:sp>
        <p:nvSpPr>
          <p:cNvPr id="60" name="Text 56">
            <a:extLst xmlns:a="http://schemas.openxmlformats.org/drawingml/2006/main">
              <a:ext uri="{FF2B5EF4-FFF2-40B4-BE49-F238E27FC236}">
                <a16:creationId xmlns:a16="http://schemas.microsoft.com/office/drawing/2014/main" id="{CFBECB15-4C7F-55D5-C640-C3376A3882A9}"/>
              </a:ext>
            </a:extLst>
          </p:cNvPr>
          <p:cNvSpPr>
            <a:spLocks xmlns:a="http://schemas.openxmlformats.org/drawingml/2006/main" noGrp="1"/>
          </p:cNvSpPr>
          <p:nvPr/>
        </p:nvSpPr>
        <p:spPr>
          <a:xfrm xmlns:a="http://schemas.openxmlformats.org/drawingml/2006/main">
            <a:off x="6560820" y="3944766"/>
            <a:ext cx="224028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D4F8C"/>
                </a:solidFill>
                <a:latin typeface="Microsoft YaHei"/>
                <a:ea typeface="Microsoft YaHei"/>
                <a:cs typeface="Microsoft YaHei"/>
              </a:rPr>
              <a:t>可扩展智能体能力</a:t>
            </a:r>
          </a:p>
        </p:txBody>
      </p:sp>
      <p:sp>
        <p:nvSpPr>
          <p:cNvPr id="61" name="Text 57">
            <a:extLst xmlns:a="http://schemas.openxmlformats.org/drawingml/2006/main">
              <a:ext uri="{FF2B5EF4-FFF2-40B4-BE49-F238E27FC236}">
                <a16:creationId xmlns:a16="http://schemas.microsoft.com/office/drawing/2014/main" id="{38FBBF72-65E4-FADE-8062-345DF87140BE}"/>
              </a:ext>
            </a:extLst>
          </p:cNvPr>
          <p:cNvSpPr>
            <a:spLocks xmlns:a="http://schemas.openxmlformats.org/drawingml/2006/main" noGrp="1"/>
          </p:cNvSpPr>
          <p:nvPr/>
        </p:nvSpPr>
        <p:spPr>
          <a:xfrm xmlns:a="http://schemas.openxmlformats.org/drawingml/2006/main">
            <a:off x="6560820" y="4191654"/>
            <a:ext cx="2240280" cy="566928"/>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050">
                <a:solidFill>
                  <a:srgbClr val="334155"/>
                </a:solidFill>
                <a:latin typeface="Microsoft YaHei"/>
                <a:ea typeface="Microsoft YaHei"/>
                <a:cs typeface="Microsoft YaHei"/>
              </a:rPr>
              <a:t>后续可叠加摘要生成、议题对比、趋势跟踪、材料整理等能力</a:t>
            </a:r>
          </a:p>
        </p:txBody>
      </p:sp>
      <p:sp>
        <p:nvSpPr>
          <p:cNvPr id="62" name="Shape 58">
            <a:extLst xmlns:a="http://schemas.openxmlformats.org/drawingml/2006/main">
              <a:ext uri="{FF2B5EF4-FFF2-40B4-BE49-F238E27FC236}">
                <a16:creationId xmlns:a16="http://schemas.microsoft.com/office/drawing/2014/main" id="{03388F88-B486-0F06-FF96-A9780B16566D}"/>
              </a:ext>
            </a:extLst>
          </p:cNvPr>
          <p:cNvSpPr>
            <a:spLocks xmlns:a="http://schemas.openxmlformats.org/drawingml/2006/main" noGrp="1"/>
          </p:cNvSpPr>
          <p:nvPr/>
        </p:nvSpPr>
        <p:spPr>
          <a:xfrm xmlns:a="http://schemas.openxmlformats.org/drawingml/2006/main">
            <a:off x="960120" y="5394960"/>
            <a:ext cx="1828800" cy="822960"/>
          </a:xfrm>
          <a:prstGeom xmlns:a="http://schemas.openxmlformats.org/drawingml/2006/main" prst="roundRect">
            <a:avLst>
              <a:gd name="adj" fmla="val 8889"/>
            </a:avLst>
          </a:prstGeom>
          <a:solidFill xmlns:a="http://schemas.openxmlformats.org/drawingml/2006/main">
            <a:srgbClr val="F8FAFC"/>
          </a:solidFill>
          <a:ln xmlns:a="http://schemas.openxmlformats.org/drawingml/2006/main" w="12700">
            <a:solidFill>
              <a:srgbClr val="D8E1EA"/>
            </a:solidFill>
            <a:prstDash val="solid"/>
          </a:ln>
          <a:effectLst xmlns:a="http://schemas.openxmlformats.org/drawingml/2006/main">
            <a:outerShdw blurRad="12700" dist="12700" dir="27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63" name="Text 59">
            <a:extLst xmlns:a="http://schemas.openxmlformats.org/drawingml/2006/main">
              <a:ext uri="{FF2B5EF4-FFF2-40B4-BE49-F238E27FC236}">
                <a16:creationId xmlns:a16="http://schemas.microsoft.com/office/drawing/2014/main" id="{00B83231-9F46-AB5D-336B-EF5CF6419359}"/>
              </a:ext>
            </a:extLst>
          </p:cNvPr>
          <p:cNvSpPr>
            <a:spLocks xmlns:a="http://schemas.openxmlformats.org/drawingml/2006/main" noGrp="1"/>
          </p:cNvSpPr>
          <p:nvPr/>
        </p:nvSpPr>
        <p:spPr>
          <a:xfrm xmlns:a="http://schemas.openxmlformats.org/drawingml/2006/main">
            <a:off x="1097280" y="5495544"/>
            <a:ext cx="155448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23B66"/>
                </a:solidFill>
                <a:latin typeface="Microsoft YaHei"/>
                <a:ea typeface="Microsoft YaHei"/>
                <a:cs typeface="Microsoft YaHei"/>
              </a:rPr>
              <a:t>标准跟踪</a:t>
            </a:r>
          </a:p>
        </p:txBody>
      </p:sp>
      <p:sp>
        <p:nvSpPr>
          <p:cNvPr id="64" name="Text 60">
            <a:extLst xmlns:a="http://schemas.openxmlformats.org/drawingml/2006/main">
              <a:ext uri="{FF2B5EF4-FFF2-40B4-BE49-F238E27FC236}">
                <a16:creationId xmlns:a16="http://schemas.microsoft.com/office/drawing/2014/main" id="{898548B8-4A96-A148-FFC6-2840E3E7D732}"/>
              </a:ext>
            </a:extLst>
          </p:cNvPr>
          <p:cNvSpPr>
            <a:spLocks xmlns:a="http://schemas.openxmlformats.org/drawingml/2006/main" noGrp="1"/>
          </p:cNvSpPr>
          <p:nvPr/>
        </p:nvSpPr>
        <p:spPr>
          <a:xfrm xmlns:a="http://schemas.openxmlformats.org/drawingml/2006/main">
            <a:off x="1097280" y="5742432"/>
            <a:ext cx="1554480" cy="384048"/>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050">
                <a:solidFill>
                  <a:srgbClr val="334155"/>
                </a:solidFill>
                <a:latin typeface="Microsoft YaHei"/>
                <a:ea typeface="Microsoft YaHei"/>
                <a:cs typeface="Microsoft YaHei"/>
              </a:rPr>
              <a:t>跟踪讨论热点、把握议题演进</a:t>
            </a:r>
          </a:p>
        </p:txBody>
      </p:sp>
      <p:sp>
        <p:nvSpPr>
          <p:cNvPr id="65" name="Shape 61">
            <a:extLst xmlns:a="http://schemas.openxmlformats.org/drawingml/2006/main">
              <a:ext uri="{FF2B5EF4-FFF2-40B4-BE49-F238E27FC236}">
                <a16:creationId xmlns:a16="http://schemas.microsoft.com/office/drawing/2014/main" id="{3D62CABC-7195-613B-C9A0-7EFAB0465FDC}"/>
              </a:ext>
            </a:extLst>
          </p:cNvPr>
          <p:cNvSpPr>
            <a:spLocks xmlns:a="http://schemas.openxmlformats.org/drawingml/2006/main" noGrp="1"/>
          </p:cNvSpPr>
          <p:nvPr/>
        </p:nvSpPr>
        <p:spPr>
          <a:xfrm xmlns:a="http://schemas.openxmlformats.org/drawingml/2006/main">
            <a:off x="3127248" y="5394960"/>
            <a:ext cx="1828800" cy="822960"/>
          </a:xfrm>
          <a:prstGeom xmlns:a="http://schemas.openxmlformats.org/drawingml/2006/main" prst="roundRect">
            <a:avLst>
              <a:gd name="adj" fmla="val 8889"/>
            </a:avLst>
          </a:prstGeom>
          <a:solidFill xmlns:a="http://schemas.openxmlformats.org/drawingml/2006/main">
            <a:srgbClr val="F8FAFC"/>
          </a:solidFill>
          <a:ln xmlns:a="http://schemas.openxmlformats.org/drawingml/2006/main" w="12700">
            <a:solidFill>
              <a:srgbClr val="D8E1EA"/>
            </a:solidFill>
            <a:prstDash val="solid"/>
          </a:ln>
          <a:effectLst xmlns:a="http://schemas.openxmlformats.org/drawingml/2006/main">
            <a:outerShdw blurRad="12700" dist="12700" dir="27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66" name="Text 62">
            <a:extLst xmlns:a="http://schemas.openxmlformats.org/drawingml/2006/main">
              <a:ext uri="{FF2B5EF4-FFF2-40B4-BE49-F238E27FC236}">
                <a16:creationId xmlns:a16="http://schemas.microsoft.com/office/drawing/2014/main" id="{37FFCDCE-C1CD-F67E-F64C-305D46856D85}"/>
              </a:ext>
            </a:extLst>
          </p:cNvPr>
          <p:cNvSpPr>
            <a:spLocks xmlns:a="http://schemas.openxmlformats.org/drawingml/2006/main" noGrp="1"/>
          </p:cNvSpPr>
          <p:nvPr/>
        </p:nvSpPr>
        <p:spPr>
          <a:xfrm xmlns:a="http://schemas.openxmlformats.org/drawingml/2006/main">
            <a:off x="3264408" y="5495544"/>
            <a:ext cx="155448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23B66"/>
                </a:solidFill>
                <a:latin typeface="Microsoft YaHei"/>
                <a:ea typeface="Microsoft YaHei"/>
                <a:cs typeface="Microsoft YaHei"/>
              </a:rPr>
              <a:t>技术理解辅助</a:t>
            </a:r>
          </a:p>
        </p:txBody>
      </p:sp>
      <p:sp>
        <p:nvSpPr>
          <p:cNvPr id="67" name="Text 63">
            <a:extLst xmlns:a="http://schemas.openxmlformats.org/drawingml/2006/main">
              <a:ext uri="{FF2B5EF4-FFF2-40B4-BE49-F238E27FC236}">
                <a16:creationId xmlns:a16="http://schemas.microsoft.com/office/drawing/2014/main" id="{E69ED970-0D30-F060-76AA-484599B92CF6}"/>
              </a:ext>
            </a:extLst>
          </p:cNvPr>
          <p:cNvSpPr>
            <a:spLocks xmlns:a="http://schemas.openxmlformats.org/drawingml/2006/main" noGrp="1"/>
          </p:cNvSpPr>
          <p:nvPr/>
        </p:nvSpPr>
        <p:spPr>
          <a:xfrm xmlns:a="http://schemas.openxmlformats.org/drawingml/2006/main">
            <a:off x="3264408" y="5742432"/>
            <a:ext cx="1554480" cy="384048"/>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050">
                <a:solidFill>
                  <a:srgbClr val="334155"/>
                </a:solidFill>
                <a:latin typeface="Microsoft YaHei"/>
                <a:ea typeface="Microsoft YaHei"/>
                <a:cs typeface="Microsoft YaHei"/>
              </a:rPr>
              <a:t>帮助非长期参会人员快速入门</a:t>
            </a:r>
          </a:p>
        </p:txBody>
      </p:sp>
      <p:sp>
        <p:nvSpPr>
          <p:cNvPr id="68" name="Shape 64">
            <a:extLst xmlns:a="http://schemas.openxmlformats.org/drawingml/2006/main">
              <a:ext uri="{FF2B5EF4-FFF2-40B4-BE49-F238E27FC236}">
                <a16:creationId xmlns:a16="http://schemas.microsoft.com/office/drawing/2014/main" id="{64EE81E2-7A4D-8DA9-8758-859D8FF891E0}"/>
              </a:ext>
            </a:extLst>
          </p:cNvPr>
          <p:cNvSpPr>
            <a:spLocks xmlns:a="http://schemas.openxmlformats.org/drawingml/2006/main" noGrp="1"/>
          </p:cNvSpPr>
          <p:nvPr/>
        </p:nvSpPr>
        <p:spPr>
          <a:xfrm xmlns:a="http://schemas.openxmlformats.org/drawingml/2006/main">
            <a:off x="5294376" y="5394960"/>
            <a:ext cx="1828800" cy="822960"/>
          </a:xfrm>
          <a:prstGeom xmlns:a="http://schemas.openxmlformats.org/drawingml/2006/main" prst="roundRect">
            <a:avLst>
              <a:gd name="adj" fmla="val 8889"/>
            </a:avLst>
          </a:prstGeom>
          <a:solidFill xmlns:a="http://schemas.openxmlformats.org/drawingml/2006/main">
            <a:srgbClr val="F8FAFC"/>
          </a:solidFill>
          <a:ln xmlns:a="http://schemas.openxmlformats.org/drawingml/2006/main" w="12700">
            <a:solidFill>
              <a:srgbClr val="D8E1EA"/>
            </a:solidFill>
            <a:prstDash val="solid"/>
          </a:ln>
          <a:effectLst xmlns:a="http://schemas.openxmlformats.org/drawingml/2006/main">
            <a:outerShdw blurRad="12700" dist="12700" dir="27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69" name="Text 65">
            <a:extLst xmlns:a="http://schemas.openxmlformats.org/drawingml/2006/main">
              <a:ext uri="{FF2B5EF4-FFF2-40B4-BE49-F238E27FC236}">
                <a16:creationId xmlns:a16="http://schemas.microsoft.com/office/drawing/2014/main" id="{4D79C5F5-ABCB-3841-9815-CB9FBA57E5AF}"/>
              </a:ext>
            </a:extLst>
          </p:cNvPr>
          <p:cNvSpPr>
            <a:spLocks xmlns:a="http://schemas.openxmlformats.org/drawingml/2006/main" noGrp="1"/>
          </p:cNvSpPr>
          <p:nvPr/>
        </p:nvSpPr>
        <p:spPr>
          <a:xfrm xmlns:a="http://schemas.openxmlformats.org/drawingml/2006/main">
            <a:off x="5431536" y="5495544"/>
            <a:ext cx="155448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23B66"/>
                </a:solidFill>
                <a:latin typeface="Microsoft YaHei"/>
                <a:ea typeface="Microsoft YaHei"/>
                <a:cs typeface="Microsoft YaHei"/>
              </a:rPr>
              <a:t>专业问答</a:t>
            </a:r>
            <a:r>
              <a:rPr sz="1300" b="1">
                <a:solidFill>
                  <a:srgbClr val="123B66"/>
                </a:solidFill>
                <a:latin typeface="Microsoft YaHei"/>
                <a:ea typeface="Microsoft YaHei"/>
                <a:cs typeface="Microsoft YaHei"/>
              </a:rPr>
              <a:t>、写作辅助</a:t>
            </a:r>
          </a:p>
        </p:txBody>
      </p:sp>
      <p:sp>
        <p:nvSpPr>
          <p:cNvPr id="70" name="Text 66">
            <a:extLst xmlns:a="http://schemas.openxmlformats.org/drawingml/2006/main">
              <a:ext uri="{FF2B5EF4-FFF2-40B4-BE49-F238E27FC236}">
                <a16:creationId xmlns:a16="http://schemas.microsoft.com/office/drawing/2014/main" id="{CD7815F0-071B-A469-7C1E-10376E6FD4B1}"/>
              </a:ext>
            </a:extLst>
          </p:cNvPr>
          <p:cNvSpPr>
            <a:spLocks xmlns:a="http://schemas.openxmlformats.org/drawingml/2006/main" noGrp="1"/>
          </p:cNvSpPr>
          <p:nvPr/>
        </p:nvSpPr>
        <p:spPr>
          <a:xfrm xmlns:a="http://schemas.openxmlformats.org/drawingml/2006/main">
            <a:off x="5431536" y="5742432"/>
            <a:ext cx="1554480" cy="384048"/>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050">
                <a:solidFill>
                  <a:srgbClr val="334155"/>
                </a:solidFill>
                <a:latin typeface="Microsoft YaHei"/>
                <a:ea typeface="Microsoft YaHei"/>
                <a:cs typeface="Microsoft YaHei"/>
              </a:rPr>
              <a:t>限定知识范围内提供准确答复</a:t>
            </a:r>
          </a:p>
        </p:txBody>
      </p:sp>
      <p:sp>
        <p:nvSpPr>
          <p:cNvPr id="71" name="Shape 67">
            <a:extLst xmlns:a="http://schemas.openxmlformats.org/drawingml/2006/main">
              <a:ext uri="{FF2B5EF4-FFF2-40B4-BE49-F238E27FC236}">
                <a16:creationId xmlns:a16="http://schemas.microsoft.com/office/drawing/2014/main" id="{E6D638F7-BDE1-810B-B0DE-6DEEE007CB70}"/>
              </a:ext>
            </a:extLst>
          </p:cNvPr>
          <p:cNvSpPr>
            <a:spLocks xmlns:a="http://schemas.openxmlformats.org/drawingml/2006/main" noGrp="1"/>
          </p:cNvSpPr>
          <p:nvPr/>
        </p:nvSpPr>
        <p:spPr>
          <a:xfrm xmlns:a="http://schemas.openxmlformats.org/drawingml/2006/main">
            <a:off x="7461504" y="5394960"/>
            <a:ext cx="1828800" cy="822960"/>
          </a:xfrm>
          <a:prstGeom xmlns:a="http://schemas.openxmlformats.org/drawingml/2006/main" prst="roundRect">
            <a:avLst>
              <a:gd name="adj" fmla="val 8889"/>
            </a:avLst>
          </a:prstGeom>
          <a:solidFill xmlns:a="http://schemas.openxmlformats.org/drawingml/2006/main">
            <a:srgbClr val="F8FAFC"/>
          </a:solidFill>
          <a:ln xmlns:a="http://schemas.openxmlformats.org/drawingml/2006/main" w="12700">
            <a:solidFill>
              <a:srgbClr val="D8E1EA"/>
            </a:solidFill>
            <a:prstDash val="solid"/>
          </a:ln>
          <a:effectLst xmlns:a="http://schemas.openxmlformats.org/drawingml/2006/main">
            <a:outerShdw blurRad="12700" dist="12700" dir="27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72" name="Text 68">
            <a:extLst xmlns:a="http://schemas.openxmlformats.org/drawingml/2006/main">
              <a:ext uri="{FF2B5EF4-FFF2-40B4-BE49-F238E27FC236}">
                <a16:creationId xmlns:a16="http://schemas.microsoft.com/office/drawing/2014/main" id="{6FE9F508-3339-F0B4-14FA-27F5EA6732D6}"/>
              </a:ext>
            </a:extLst>
          </p:cNvPr>
          <p:cNvSpPr>
            <a:spLocks xmlns:a="http://schemas.openxmlformats.org/drawingml/2006/main" noGrp="1"/>
          </p:cNvSpPr>
          <p:nvPr/>
        </p:nvSpPr>
        <p:spPr>
          <a:xfrm xmlns:a="http://schemas.openxmlformats.org/drawingml/2006/main">
            <a:off x="7598664" y="5495544"/>
            <a:ext cx="155448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23B66"/>
                </a:solidFill>
                <a:latin typeface="Microsoft YaHei"/>
                <a:ea typeface="Microsoft YaHei"/>
                <a:cs typeface="Microsoft YaHei"/>
              </a:rPr>
              <a:t>简报与研判支撑</a:t>
            </a:r>
          </a:p>
        </p:txBody>
      </p:sp>
      <p:sp>
        <p:nvSpPr>
          <p:cNvPr id="73" name="Text 69">
            <a:extLst xmlns:a="http://schemas.openxmlformats.org/drawingml/2006/main">
              <a:ext uri="{FF2B5EF4-FFF2-40B4-BE49-F238E27FC236}">
                <a16:creationId xmlns:a16="http://schemas.microsoft.com/office/drawing/2014/main" id="{E2475B7F-E8BE-0083-B9A1-DA4CD07231C6}"/>
              </a:ext>
            </a:extLst>
          </p:cNvPr>
          <p:cNvSpPr>
            <a:spLocks xmlns:a="http://schemas.openxmlformats.org/drawingml/2006/main" noGrp="1"/>
          </p:cNvSpPr>
          <p:nvPr/>
        </p:nvSpPr>
        <p:spPr>
          <a:xfrm xmlns:a="http://schemas.openxmlformats.org/drawingml/2006/main">
            <a:off x="7598664" y="5742432"/>
            <a:ext cx="1554480" cy="384048"/>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050">
                <a:solidFill>
                  <a:srgbClr val="334155"/>
                </a:solidFill>
                <a:latin typeface="Microsoft YaHei"/>
                <a:ea typeface="Microsoft YaHei"/>
                <a:cs typeface="Microsoft YaHei"/>
              </a:rPr>
              <a:t>服务工作简报、前沿信息分析</a:t>
            </a:r>
          </a:p>
        </p:txBody>
      </p:sp>
      <p:sp>
        <p:nvSpPr>
          <p:cNvPr id="74" name="Shape 70">
            <a:extLst xmlns:a="http://schemas.openxmlformats.org/drawingml/2006/main">
              <a:ext uri="{FF2B5EF4-FFF2-40B4-BE49-F238E27FC236}">
                <a16:creationId xmlns:a16="http://schemas.microsoft.com/office/drawing/2014/main" id="{8F56FEE5-0C0A-84AC-2E12-1C9E75DFFE2E}"/>
              </a:ext>
            </a:extLst>
          </p:cNvPr>
          <p:cNvSpPr>
            <a:spLocks xmlns:a="http://schemas.openxmlformats.org/drawingml/2006/main" noGrp="1"/>
          </p:cNvSpPr>
          <p:nvPr/>
        </p:nvSpPr>
        <p:spPr>
          <a:xfrm xmlns:a="http://schemas.openxmlformats.org/drawingml/2006/main">
            <a:off x="9628632" y="5394960"/>
            <a:ext cx="1828800" cy="822960"/>
          </a:xfrm>
          <a:prstGeom xmlns:a="http://schemas.openxmlformats.org/drawingml/2006/main" prst="roundRect">
            <a:avLst>
              <a:gd name="adj" fmla="val 8889"/>
            </a:avLst>
          </a:prstGeom>
          <a:solidFill xmlns:a="http://schemas.openxmlformats.org/drawingml/2006/main">
            <a:srgbClr val="F8FAFC"/>
          </a:solidFill>
          <a:ln xmlns:a="http://schemas.openxmlformats.org/drawingml/2006/main" w="12700">
            <a:solidFill>
              <a:srgbClr val="D8E1EA"/>
            </a:solidFill>
            <a:prstDash val="solid"/>
          </a:ln>
          <a:effectLst xmlns:a="http://schemas.openxmlformats.org/drawingml/2006/main">
            <a:outerShdw blurRad="12700" dist="12700" dir="27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p:txBody>
      </p:sp>
      <p:sp>
        <p:nvSpPr>
          <p:cNvPr id="75" name="Text 71">
            <a:extLst xmlns:a="http://schemas.openxmlformats.org/drawingml/2006/main">
              <a:ext uri="{FF2B5EF4-FFF2-40B4-BE49-F238E27FC236}">
                <a16:creationId xmlns:a16="http://schemas.microsoft.com/office/drawing/2014/main" id="{EC2DD03B-92FE-1807-8B14-1FCBD211BBCB}"/>
              </a:ext>
            </a:extLst>
          </p:cNvPr>
          <p:cNvSpPr>
            <a:spLocks xmlns:a="http://schemas.openxmlformats.org/drawingml/2006/main" noGrp="1"/>
          </p:cNvSpPr>
          <p:nvPr/>
        </p:nvSpPr>
        <p:spPr>
          <a:xfrm xmlns:a="http://schemas.openxmlformats.org/drawingml/2006/main">
            <a:off x="9765792" y="5495544"/>
            <a:ext cx="155448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23B66"/>
                </a:solidFill>
                <a:latin typeface="Microsoft YaHei"/>
                <a:ea typeface="Microsoft YaHei"/>
                <a:cs typeface="Microsoft YaHei"/>
              </a:rPr>
              <a:t>后续业务拓展</a:t>
            </a:r>
          </a:p>
        </p:txBody>
      </p:sp>
      <p:sp>
        <p:nvSpPr>
          <p:cNvPr id="76" name="Text 72">
            <a:extLst xmlns:a="http://schemas.openxmlformats.org/drawingml/2006/main">
              <a:ext uri="{FF2B5EF4-FFF2-40B4-BE49-F238E27FC236}">
                <a16:creationId xmlns:a16="http://schemas.microsoft.com/office/drawing/2014/main" id="{4A0703B0-C8E6-79AD-3D2C-9CA40043190E}"/>
              </a:ext>
            </a:extLst>
          </p:cNvPr>
          <p:cNvSpPr>
            <a:spLocks xmlns:a="http://schemas.openxmlformats.org/drawingml/2006/main" noGrp="1"/>
          </p:cNvSpPr>
          <p:nvPr/>
        </p:nvSpPr>
        <p:spPr>
          <a:xfrm xmlns:a="http://schemas.openxmlformats.org/drawingml/2006/main">
            <a:off x="9765792" y="5742432"/>
            <a:ext cx="1554480" cy="384048"/>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050">
                <a:solidFill>
                  <a:srgbClr val="334155"/>
                </a:solidFill>
                <a:latin typeface="Microsoft YaHei"/>
                <a:ea typeface="Microsoft YaHei"/>
                <a:cs typeface="Microsoft YaHei"/>
              </a:rPr>
              <a:t>向互联网基础资源更多场景延伸</a:t>
            </a:r>
          </a:p>
        </p:txBody>
      </p:sp>
      <p:sp>
        <p:nvSpPr>
          <p:cNvPr id="77" name="Text 73">
            <a:extLst xmlns:a="http://schemas.openxmlformats.org/drawingml/2006/main">
              <a:ext uri="{FF2B5EF4-FFF2-40B4-BE49-F238E27FC236}">
                <a16:creationId xmlns:a16="http://schemas.microsoft.com/office/drawing/2014/main" id="{66C248D8-1E08-A396-D586-A3D1229AC616}"/>
              </a:ext>
            </a:extLst>
          </p:cNvPr>
          <p:cNvSpPr>
            <a:spLocks xmlns:a="http://schemas.openxmlformats.org/drawingml/2006/main" noGrp="1"/>
          </p:cNvSpPr>
          <p:nvPr/>
        </p:nvSpPr>
        <p:spPr>
          <a:xfrm xmlns:a="http://schemas.openxmlformats.org/drawingml/2006/main">
            <a:off x="2788920" y="5705856"/>
            <a:ext cx="201168"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94A3B8"/>
                </a:solidFill>
              </a:rPr>
              <a:t>→</a:t>
            </a:r>
          </a:p>
        </p:txBody>
      </p:sp>
      <p:sp>
        <p:nvSpPr>
          <p:cNvPr id="78" name="Text 74">
            <a:extLst xmlns:a="http://schemas.openxmlformats.org/drawingml/2006/main">
              <a:ext uri="{FF2B5EF4-FFF2-40B4-BE49-F238E27FC236}">
                <a16:creationId xmlns:a16="http://schemas.microsoft.com/office/drawing/2014/main" id="{EA3A84EC-1E66-7C04-CF9A-41305F9F8ABF}"/>
              </a:ext>
            </a:extLst>
          </p:cNvPr>
          <p:cNvSpPr>
            <a:spLocks xmlns:a="http://schemas.openxmlformats.org/drawingml/2006/main" noGrp="1"/>
          </p:cNvSpPr>
          <p:nvPr/>
        </p:nvSpPr>
        <p:spPr>
          <a:xfrm xmlns:a="http://schemas.openxmlformats.org/drawingml/2006/main">
            <a:off x="4956048" y="5705856"/>
            <a:ext cx="201168"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94A3B8"/>
                </a:solidFill>
              </a:rPr>
              <a:t>→</a:t>
            </a:r>
          </a:p>
        </p:txBody>
      </p:sp>
      <p:sp>
        <p:nvSpPr>
          <p:cNvPr id="79" name="Text 75">
            <a:extLst xmlns:a="http://schemas.openxmlformats.org/drawingml/2006/main">
              <a:ext uri="{FF2B5EF4-FFF2-40B4-BE49-F238E27FC236}">
                <a16:creationId xmlns:a16="http://schemas.microsoft.com/office/drawing/2014/main" id="{24CC7888-9D14-2652-517A-04563D64FCBA}"/>
              </a:ext>
            </a:extLst>
          </p:cNvPr>
          <p:cNvSpPr>
            <a:spLocks xmlns:a="http://schemas.openxmlformats.org/drawingml/2006/main" noGrp="1"/>
          </p:cNvSpPr>
          <p:nvPr/>
        </p:nvSpPr>
        <p:spPr>
          <a:xfrm xmlns:a="http://schemas.openxmlformats.org/drawingml/2006/main">
            <a:off x="7123176" y="5705856"/>
            <a:ext cx="201168"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94A3B8"/>
                </a:solidFill>
              </a:rPr>
              <a:t>→</a:t>
            </a:r>
          </a:p>
        </p:txBody>
      </p:sp>
      <p:sp>
        <p:nvSpPr>
          <p:cNvPr id="80" name="Text 76">
            <a:extLst xmlns:a="http://schemas.openxmlformats.org/drawingml/2006/main">
              <a:ext uri="{FF2B5EF4-FFF2-40B4-BE49-F238E27FC236}">
                <a16:creationId xmlns:a16="http://schemas.microsoft.com/office/drawing/2014/main" id="{D138438D-66CE-5074-963D-9FC9CC56ED80}"/>
              </a:ext>
            </a:extLst>
          </p:cNvPr>
          <p:cNvSpPr>
            <a:spLocks xmlns:a="http://schemas.openxmlformats.org/drawingml/2006/main" noGrp="1"/>
          </p:cNvSpPr>
          <p:nvPr/>
        </p:nvSpPr>
        <p:spPr>
          <a:xfrm xmlns:a="http://schemas.openxmlformats.org/drawingml/2006/main">
            <a:off x="9290304" y="5705856"/>
            <a:ext cx="201168"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94A3B8"/>
                </a:solidFill>
              </a:rPr>
              <a:t>→</a:t>
            </a:r>
          </a:p>
        </p:txBody>
      </p:sp>
      <p:sp>
        <p:nvSpPr>
          <p:cNvPr id="82" name="Text 4">
            <a:extLst xmlns:a="http://schemas.openxmlformats.org/drawingml/2006/main">
              <a:ext uri="{FF2B5EF4-FFF2-40B4-BE49-F238E27FC236}">
                <a16:creationId xmlns:a16="http://schemas.microsoft.com/office/drawing/2014/main" id="{50749C1C-0E2B-15E3-92A6-82DB48E339A8}"/>
              </a:ext>
            </a:extLst>
          </p:cNvPr>
          <p:cNvSpPr>
            <a:spLocks xmlns:a="http://schemas.openxmlformats.org/drawingml/2006/main" noGrp="1"/>
          </p:cNvSpPr>
          <p:nvPr/>
        </p:nvSpPr>
        <p:spPr>
          <a:xfrm xmlns:a="http://schemas.openxmlformats.org/drawingml/2006/main">
            <a:off x="265176" y="2432304"/>
            <a:ext cx="612648" cy="6126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64748B"/>
                </a:solidFill>
                <a:latin typeface="SimSun"/>
                <a:ea typeface="SimSun"/>
                <a:cs typeface="SimSun"/>
              </a:rPr>
              <a:t>知识加工</a:t>
            </a:r>
          </a:p>
        </p:txBody>
      </p:sp>
      <p:sp>
        <p:nvSpPr>
          <p:cNvPr id="83" name="Text 4">
            <a:extLst xmlns:a="http://schemas.openxmlformats.org/drawingml/2006/main">
              <a:ext uri="{FF2B5EF4-FFF2-40B4-BE49-F238E27FC236}">
                <a16:creationId xmlns:a16="http://schemas.microsoft.com/office/drawing/2014/main" id="{E6F4189A-39FB-0AAA-455E-6CBB13A78613}"/>
              </a:ext>
            </a:extLst>
          </p:cNvPr>
          <p:cNvSpPr>
            <a:spLocks xmlns:a="http://schemas.openxmlformats.org/drawingml/2006/main" noGrp="1"/>
          </p:cNvSpPr>
          <p:nvPr/>
        </p:nvSpPr>
        <p:spPr>
          <a:xfrm xmlns:a="http://schemas.openxmlformats.org/drawingml/2006/main">
            <a:off x="265176" y="4095642"/>
            <a:ext cx="612648" cy="6126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64748B"/>
                </a:solidFill>
                <a:latin typeface="SimSun"/>
                <a:ea typeface="SimSun"/>
                <a:cs typeface="SimSun"/>
              </a:rPr>
              <a:t>智能生成</a:t>
            </a:r>
          </a:p>
        </p:txBody>
      </p:sp>
      <p:sp>
        <p:nvSpPr>
          <p:cNvPr id="84" name="Text 4">
            <a:extLst xmlns:a="http://schemas.openxmlformats.org/drawingml/2006/main">
              <a:ext uri="{FF2B5EF4-FFF2-40B4-BE49-F238E27FC236}">
                <a16:creationId xmlns:a16="http://schemas.microsoft.com/office/drawing/2014/main" id="{3175050A-7040-482E-0851-4BF8117190AD}"/>
              </a:ext>
            </a:extLst>
          </p:cNvPr>
          <p:cNvSpPr>
            <a:spLocks xmlns:a="http://schemas.openxmlformats.org/drawingml/2006/main" noGrp="1"/>
          </p:cNvSpPr>
          <p:nvPr/>
        </p:nvSpPr>
        <p:spPr>
          <a:xfrm xmlns:a="http://schemas.openxmlformats.org/drawingml/2006/main">
            <a:off x="232519" y="5371447"/>
            <a:ext cx="612648" cy="6126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64748B"/>
                </a:solidFill>
                <a:latin typeface="SimSun"/>
                <a:ea typeface="SimSun"/>
                <a:cs typeface="SimSun"/>
              </a:rPr>
              <a:t>应用输出</a:t>
            </a:r>
          </a:p>
        </p:txBody>
      </p:sp>
      <p:sp>
        <p:nvSpPr>
          <p:cNvPr id="85" name="Shape 27">
            <a:extLst xmlns:a="http://schemas.openxmlformats.org/drawingml/2006/main">
              <a:ext uri="{FF2B5EF4-FFF2-40B4-BE49-F238E27FC236}">
                <a16:creationId xmlns:a16="http://schemas.microsoft.com/office/drawing/2014/main" id="{38479DDC-91BF-2B07-062B-7A979F36F126}"/>
              </a:ext>
            </a:extLst>
          </p:cNvPr>
          <p:cNvSpPr>
            <a:spLocks xmlns:a="http://schemas.openxmlformats.org/drawingml/2006/main" noGrp="1"/>
          </p:cNvSpPr>
          <p:nvPr/>
        </p:nvSpPr>
        <p:spPr>
          <a:xfrm xmlns:a="http://schemas.openxmlformats.org/drawingml/2006/main">
            <a:off x="904603" y="3610139"/>
            <a:ext cx="10469880" cy="0"/>
          </a:xfrm>
          <a:prstGeom xmlns:a="http://schemas.openxmlformats.org/drawingml/2006/main" prst="line">
            <a:avLst/>
          </a:prstGeom>
          <a:noFill xmlns:a="http://schemas.openxmlformats.org/drawingml/2006/main"/>
          <a:ln xmlns:a="http://schemas.openxmlformats.org/drawingml/2006/main" w="12700">
            <a:solidFill>
              <a:srgbClr val="D6DEE8"/>
            </a:solidFill>
            <a:prstDash val="solid"/>
          </a:ln>
        </p:spPr>
        <p:txBody>
          <a:bodyPr xmlns:a="http://schemas.openxmlformats.org/drawingml/2006/main"/>
          <a:lstStyle xmlns:a="http://schemas.openxmlformats.org/drawingml/2006/main"/>
          <a:p xmlns:a="http://schemas.openxmlformats.org/drawingml/2006/main"/>
        </p:txBody>
      </p:sp>
      <p:sp>
        <p:nvSpPr>
          <p:cNvPr id="87" name="Shape 27">
            <a:extLst xmlns:a="http://schemas.openxmlformats.org/drawingml/2006/main">
              <a:ext uri="{FF2B5EF4-FFF2-40B4-BE49-F238E27FC236}">
                <a16:creationId xmlns:a16="http://schemas.microsoft.com/office/drawing/2014/main" id="{B425E7A1-930F-3825-39E7-AD95B909ADF0}"/>
              </a:ext>
            </a:extLst>
          </p:cNvPr>
          <p:cNvSpPr>
            <a:spLocks xmlns:a="http://schemas.openxmlformats.org/drawingml/2006/main" noGrp="1"/>
          </p:cNvSpPr>
          <p:nvPr/>
        </p:nvSpPr>
        <p:spPr>
          <a:xfrm xmlns:a="http://schemas.openxmlformats.org/drawingml/2006/main">
            <a:off x="877824" y="5148427"/>
            <a:ext cx="10469880" cy="0"/>
          </a:xfrm>
          <a:prstGeom xmlns:a="http://schemas.openxmlformats.org/drawingml/2006/main" prst="line">
            <a:avLst/>
          </a:prstGeom>
          <a:noFill xmlns:a="http://schemas.openxmlformats.org/drawingml/2006/main"/>
          <a:ln xmlns:a="http://schemas.openxmlformats.org/drawingml/2006/main" w="12700">
            <a:solidFill>
              <a:srgbClr val="D6DEE8"/>
            </a:solidFill>
            <a:prstDash val="solid"/>
          </a:ln>
        </p:spPr>
        <p:txBody>
          <a:bodyPr xmlns:a="http://schemas.openxmlformats.org/drawingml/2006/main"/>
          <a:lstStyle xmlns:a="http://schemas.openxmlformats.org/drawingml/2006/main"/>
          <a:p xmlns:a="http://schemas.openxmlformats.org/drawingml/2006/main"/>
        </p:txBody>
      </p:sp>
    </p:spTree>
    <p:extLst>
      <p:ext uri="{BB962C8B-B14F-4D97-AF65-F5344CB8AC3E}">
        <p14:creationId xmlns:p14="http://schemas.microsoft.com/office/powerpoint/2010/main" val="284979189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4" name="Text 0">
            <a:extLst xmlns:a="http://schemas.openxmlformats.org/drawingml/2006/main">
              <a:ext uri="{FF2B5EF4-FFF2-40B4-BE49-F238E27FC236}">
                <a16:creationId xmlns:a16="http://schemas.microsoft.com/office/drawing/2014/main" id="{AA53BB11-0078-5A2B-B813-2F3027D73614}"/>
              </a:ext>
            </a:extLst>
          </p:cNvPr>
          <p:cNvSpPr>
            <a:spLocks xmlns:a="http://schemas.openxmlformats.org/drawingml/2006/main" noGrp="1"/>
          </p:cNvSpPr>
          <p:nvPr/>
        </p:nvSpPr>
        <p:spPr>
          <a:xfrm xmlns:a="http://schemas.openxmlformats.org/drawingml/2006/main">
            <a:off x="457200" y="256032"/>
            <a:ext cx="74980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b="1">
                <a:latin typeface="Times New Roman"/>
                <a:ea typeface="Times New Roman"/>
                <a:cs typeface="Times New Roman"/>
              </a:rPr>
              <a:t>基于 IETF 资料的知识库智能体</a:t>
            </a:r>
            <a:r>
              <a:rPr b="1">
                <a:latin typeface="Times New Roman"/>
                <a:ea typeface="Times New Roman"/>
                <a:cs typeface="Times New Roman"/>
              </a:rPr>
              <a:t>-</a:t>
            </a:r>
            <a:r>
              <a:rPr b="1">
                <a:latin typeface="Times New Roman"/>
                <a:ea typeface="Times New Roman"/>
                <a:cs typeface="Times New Roman"/>
              </a:rPr>
              <a:t>攻坚难点</a:t>
            </a:r>
          </a:p>
        </p:txBody>
      </p:sp>
      <p:sp>
        <p:nvSpPr>
          <p:cNvPr id="5" name="Shape 2">
            <a:extLst xmlns:a="http://schemas.openxmlformats.org/drawingml/2006/main">
              <a:ext uri="{FF2B5EF4-FFF2-40B4-BE49-F238E27FC236}">
                <a16:creationId xmlns:a16="http://schemas.microsoft.com/office/drawing/2014/main" id="{5B393BF1-AE9B-F581-A286-6CC01547B43C}"/>
              </a:ext>
            </a:extLst>
          </p:cNvPr>
          <p:cNvSpPr>
            <a:spLocks xmlns:a="http://schemas.openxmlformats.org/drawingml/2006/main" noGrp="1"/>
          </p:cNvSpPr>
          <p:nvPr/>
        </p:nvSpPr>
        <p:spPr>
          <a:xfrm xmlns:a="http://schemas.openxmlformats.org/drawingml/2006/main">
            <a:off x="502920" y="937260"/>
            <a:ext cx="11155680" cy="1417320"/>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12700">
            <a:solidFill>
              <a:srgbClr val="D8E0EA"/>
            </a:solidFill>
            <a:prstDash val="solid"/>
          </a:ln>
        </p:spPr>
        <p:txBody>
          <a:bodyPr xmlns:a="http://schemas.openxmlformats.org/drawingml/2006/main"/>
          <a:lstStyle xmlns:a="http://schemas.openxmlformats.org/drawingml/2006/main"/>
          <a:p xmlns:a="http://schemas.openxmlformats.org/drawingml/2006/main"/>
        </p:txBody>
      </p:sp>
      <p:pic>
        <p:nvPicPr>
          <p:cNvPr id="6" name="Image 0"/>
          <p:cNvPicPr>
            <a:picLocks xmlns:a="http://schemas.openxmlformats.org/drawingml/2006/main" noChangeAspect="1"/>
          </p:cNvPicPr>
          <p:nvPr/>
        </p:nvPicPr>
        <p:blipFill>
          <a:blip xmlns:r="http://schemas.openxmlformats.org/officeDocument/2006/relationships" xmlns:a="http://schemas.openxmlformats.org/drawingml/2006/main" r:embed="Re4de89ff39714eab"/>
          <a:stretch xmlns:a="http://schemas.openxmlformats.org/drawingml/2006/main">
            <a:fillRect l="0" t="0" r="0" b="0"/>
          </a:stretch>
        </p:blipFill>
        <p:spPr>
          <a:xfrm xmlns:a="http://schemas.openxmlformats.org/drawingml/2006/main">
            <a:off x="1790395" y="1092708"/>
            <a:ext cx="8580730" cy="1051560"/>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14343F3F-D427-F800-57F0-8F7B293AE490}"/>
              </a:ext>
            </a:extLst>
          </p:cNvPr>
          <p:cNvSpPr>
            <a:spLocks xmlns:a="http://schemas.openxmlformats.org/drawingml/2006/main" noGrp="1"/>
          </p:cNvSpPr>
          <p:nvPr/>
        </p:nvSpPr>
        <p:spPr>
          <a:xfrm xmlns:a="http://schemas.openxmlformats.org/drawingml/2006/main">
            <a:off x="917258" y="2711768"/>
            <a:ext cx="3154680" cy="3583305"/>
          </a:xfrm>
          <a:prstGeom xmlns:a="http://schemas.openxmlformats.org/drawingml/2006/main" prst="roundRect">
            <a:avLst>
              <a:gd name="adj" fmla="val 2516"/>
            </a:avLst>
          </a:prstGeom>
          <a:solidFill xmlns:a="http://schemas.openxmlformats.org/drawingml/2006/main">
            <a:srgbClr val="FFFFFF"/>
          </a:solidFill>
          <a:ln xmlns:a="http://schemas.openxmlformats.org/drawingml/2006/main" w="12700">
            <a:solidFill>
              <a:srgbClr val="D8E0EA"/>
            </a:solidFill>
            <a:prstDash val="solid"/>
          </a:ln>
        </p:spPr>
        <p:txBody>
          <a:bodyPr xmlns:a="http://schemas.openxmlformats.org/drawingml/2006/main"/>
          <a:lstStyle xmlns:a="http://schemas.openxmlformats.org/drawingml/2006/main"/>
          <a:p xmlns:a="http://schemas.openxmlformats.org/drawingml/2006/main"/>
        </p:txBody>
      </p:sp>
      <p:sp>
        <p:nvSpPr>
          <p:cNvPr id="11" name="Text 6">
            <a:extLst xmlns:a="http://schemas.openxmlformats.org/drawingml/2006/main">
              <a:ext uri="{FF2B5EF4-FFF2-40B4-BE49-F238E27FC236}">
                <a16:creationId xmlns:a16="http://schemas.microsoft.com/office/drawing/2014/main" id="{BD9E2350-1BAE-FC71-B7EC-7DDD15219FA1}"/>
              </a:ext>
            </a:extLst>
          </p:cNvPr>
          <p:cNvSpPr>
            <a:spLocks xmlns:a="http://schemas.openxmlformats.org/drawingml/2006/main" noGrp="1"/>
          </p:cNvSpPr>
          <p:nvPr/>
        </p:nvSpPr>
        <p:spPr>
          <a:xfrm xmlns:a="http://schemas.openxmlformats.org/drawingml/2006/main">
            <a:off x="1013270" y="2757489"/>
            <a:ext cx="2962656"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F2D3D"/>
                </a:solidFill>
                <a:latin typeface="Times New Roman"/>
                <a:ea typeface="Times New Roman"/>
                <a:cs typeface="Times New Roman"/>
              </a:rPr>
              <a:t>难点一：新鲜数据持续精准采集</a:t>
            </a:r>
          </a:p>
        </p:txBody>
      </p:sp>
      <p:sp>
        <p:nvSpPr>
          <p:cNvPr id="51" name="Text 7">
            <a:extLst xmlns:a="http://schemas.openxmlformats.org/drawingml/2006/main">
              <a:ext uri="{FF2B5EF4-FFF2-40B4-BE49-F238E27FC236}">
                <a16:creationId xmlns:a16="http://schemas.microsoft.com/office/drawing/2014/main" id="{4E0F0D70-1DCA-FC80-7714-F64BB0700930}"/>
              </a:ext>
            </a:extLst>
          </p:cNvPr>
          <p:cNvSpPr>
            <a:spLocks xmlns:a="http://schemas.openxmlformats.org/drawingml/2006/main" noGrp="1"/>
          </p:cNvSpPr>
          <p:nvPr/>
        </p:nvSpPr>
        <p:spPr>
          <a:xfrm xmlns:a="http://schemas.openxmlformats.org/drawingml/2006/main">
            <a:off x="1077849" y="3528442"/>
            <a:ext cx="2802636" cy="2458590"/>
          </a:xfrm>
          <a:prstGeom xmlns:a="http://schemas.openxmlformats.org/drawingml/2006/main" prst="rect">
            <a:avLst/>
          </a:prstGeom>
          <a:noFill xmlns:a="http://schemas.openxmlformats.org/drawingml/2006/main"/>
        </p:spPr>
        <p:txBody>
          <a:bodyPr xmlns:a="http://schemas.openxmlformats.org/drawingml/2006/main" wrap="square" lIns="381" tIns="381" rIns="381" bIns="381" anchor="t"/>
          <a:lstStyle xmlns:a="http://schemas.openxmlformats.org/drawingml/2006/main"/>
          <a:p xmlns:a="http://schemas.openxmlformats.org/drawingml/2006/main">
            <a:pPr>
              <a:buNone/>
            </a:pPr>
            <a:r>
              <a:rPr sz="1400">
                <a:solidFill>
                  <a:srgbClr val="4B5563"/>
                </a:solidFill>
                <a:latin typeface="Times New Roman"/>
                <a:ea typeface="Times New Roman"/>
                <a:cs typeface="Times New Roman"/>
              </a:rPr>
              <a:t>数据源分散：RFC、mailing archive、草案、会议材料形态不一</a:t>
            </a:r>
          </a:p>
          <a:p xmlns:a="http://schemas.openxmlformats.org/drawingml/2006/main">
            <a:pPr marL="127000" indent="-127000">
              <a:buChar char="•"/>
            </a:pPr>
          </a:p>
          <a:p xmlns:a="http://schemas.openxmlformats.org/drawingml/2006/main">
            <a:pPr>
              <a:buNone/>
            </a:pPr>
            <a:r>
              <a:rPr sz="1400">
                <a:solidFill>
                  <a:srgbClr val="4B5563"/>
                </a:solidFill>
                <a:latin typeface="Times New Roman"/>
                <a:ea typeface="Times New Roman"/>
                <a:cs typeface="Times New Roman"/>
              </a:rPr>
              <a:t>
 更新频繁：需要持续增量抓取，保证“新议题、新讨论”及时入库</a:t>
            </a:r>
          </a:p>
          <a:p xmlns:a="http://schemas.openxmlformats.org/drawingml/2006/main">
            <a:pPr marL="127000" indent="-127000">
              <a:buChar char="•"/>
            </a:pPr>
          </a:p>
          <a:p xmlns:a="http://schemas.openxmlformats.org/drawingml/2006/main">
            <a:pPr marL="127000" indent="-127000">
              <a:buChar char="•"/>
            </a:pPr>
          </a:p>
          <a:p xmlns:a="http://schemas.openxmlformats.org/drawingml/2006/main">
            <a:pPr>
              <a:buNone/>
            </a:pPr>
            <a:r>
              <a:rPr sz="1400">
                <a:solidFill>
                  <a:srgbClr val="4B5563"/>
                </a:solidFill>
                <a:latin typeface="Times New Roman"/>
                <a:ea typeface="Times New Roman"/>
                <a:cs typeface="Times New Roman"/>
              </a:rPr>
              <a:t>采集要准：去重、线程还原、版本对齐、元数据标注都要做好</a:t>
            </a:r>
          </a:p>
          <a:p xmlns:a="http://schemas.openxmlformats.org/drawingml/2006/main">
            <a:pPr>
              <a:buNone/>
            </a:pPr>
          </a:p>
        </p:txBody>
      </p:sp>
      <p:sp>
        <p:nvSpPr>
          <p:cNvPr id="52" name="Shape 8">
            <a:extLst xmlns:a="http://schemas.openxmlformats.org/drawingml/2006/main">
              <a:ext uri="{FF2B5EF4-FFF2-40B4-BE49-F238E27FC236}">
                <a16:creationId xmlns:a16="http://schemas.microsoft.com/office/drawing/2014/main" id="{ECAB09C1-7BE0-A8DC-B9F5-56C4AAFDE1EE}"/>
              </a:ext>
            </a:extLst>
          </p:cNvPr>
          <p:cNvSpPr>
            <a:spLocks xmlns:a="http://schemas.openxmlformats.org/drawingml/2006/main" noGrp="1"/>
          </p:cNvSpPr>
          <p:nvPr/>
        </p:nvSpPr>
        <p:spPr>
          <a:xfrm xmlns:a="http://schemas.openxmlformats.org/drawingml/2006/main">
            <a:off x="4419410" y="2711769"/>
            <a:ext cx="3154680" cy="3583304"/>
          </a:xfrm>
          <a:prstGeom xmlns:a="http://schemas.openxmlformats.org/drawingml/2006/main" prst="roundRect">
            <a:avLst>
              <a:gd name="adj" fmla="val 2516"/>
            </a:avLst>
          </a:prstGeom>
          <a:solidFill xmlns:a="http://schemas.openxmlformats.org/drawingml/2006/main">
            <a:srgbClr val="FFFFFF"/>
          </a:solidFill>
          <a:ln xmlns:a="http://schemas.openxmlformats.org/drawingml/2006/main" w="12700">
            <a:solidFill>
              <a:srgbClr val="D8E0EA"/>
            </a:solidFill>
            <a:prstDash val="solid"/>
          </a:ln>
        </p:spPr>
        <p:txBody>
          <a:bodyPr xmlns:a="http://schemas.openxmlformats.org/drawingml/2006/main"/>
          <a:lstStyle xmlns:a="http://schemas.openxmlformats.org/drawingml/2006/main"/>
          <a:p xmlns:a="http://schemas.openxmlformats.org/drawingml/2006/main"/>
        </p:txBody>
      </p:sp>
      <p:sp>
        <p:nvSpPr>
          <p:cNvPr id="86" name="Text 10">
            <a:extLst xmlns:a="http://schemas.openxmlformats.org/drawingml/2006/main">
              <a:ext uri="{FF2B5EF4-FFF2-40B4-BE49-F238E27FC236}">
                <a16:creationId xmlns:a16="http://schemas.microsoft.com/office/drawing/2014/main" id="{D3C6919E-C4CF-8527-C6A2-AAC6C17C2ABA}"/>
              </a:ext>
            </a:extLst>
          </p:cNvPr>
          <p:cNvSpPr>
            <a:spLocks xmlns:a="http://schemas.openxmlformats.org/drawingml/2006/main" noGrp="1"/>
          </p:cNvSpPr>
          <p:nvPr/>
        </p:nvSpPr>
        <p:spPr>
          <a:xfrm xmlns:a="http://schemas.openxmlformats.org/drawingml/2006/main">
            <a:off x="4904042" y="2899221"/>
            <a:ext cx="320040" cy="1097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b="1">
                <a:solidFill>
                  <a:srgbClr val="FFFFFF"/>
                </a:solidFill>
                <a:latin typeface="Times New Roman"/>
                <a:ea typeface="Times New Roman"/>
                <a:cs typeface="Times New Roman"/>
              </a:rPr>
              <a:t>02</a:t>
            </a:r>
          </a:p>
        </p:txBody>
      </p:sp>
      <p:sp>
        <p:nvSpPr>
          <p:cNvPr id="88" name="Text 11">
            <a:extLst xmlns:a="http://schemas.openxmlformats.org/drawingml/2006/main">
              <a:ext uri="{FF2B5EF4-FFF2-40B4-BE49-F238E27FC236}">
                <a16:creationId xmlns:a16="http://schemas.microsoft.com/office/drawing/2014/main" id="{021489E9-0414-39C5-51E4-B3A64454D42B}"/>
              </a:ext>
            </a:extLst>
          </p:cNvPr>
          <p:cNvSpPr>
            <a:spLocks xmlns:a="http://schemas.openxmlformats.org/drawingml/2006/main" noGrp="1"/>
          </p:cNvSpPr>
          <p:nvPr/>
        </p:nvSpPr>
        <p:spPr>
          <a:xfrm xmlns:a="http://schemas.openxmlformats.org/drawingml/2006/main">
            <a:off x="4611434" y="2758632"/>
            <a:ext cx="27432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F2D3D"/>
                </a:solidFill>
                <a:latin typeface="Times New Roman"/>
                <a:ea typeface="Times New Roman"/>
                <a:cs typeface="Times New Roman"/>
              </a:rPr>
              <a:t>难点二：模型训练与调参优化</a:t>
            </a:r>
          </a:p>
        </p:txBody>
      </p:sp>
      <p:sp>
        <p:nvSpPr>
          <p:cNvPr id="89" name="Text 12">
            <a:extLst xmlns:a="http://schemas.openxmlformats.org/drawingml/2006/main">
              <a:ext uri="{FF2B5EF4-FFF2-40B4-BE49-F238E27FC236}">
                <a16:creationId xmlns:a16="http://schemas.microsoft.com/office/drawing/2014/main" id="{BC6EA426-A9F0-5F63-2BC4-91BA78B5F099}"/>
              </a:ext>
            </a:extLst>
          </p:cNvPr>
          <p:cNvSpPr>
            <a:spLocks xmlns:a="http://schemas.openxmlformats.org/drawingml/2006/main" noGrp="1"/>
          </p:cNvSpPr>
          <p:nvPr/>
        </p:nvSpPr>
        <p:spPr>
          <a:xfrm xmlns:a="http://schemas.openxmlformats.org/drawingml/2006/main">
            <a:off x="4610863" y="3703037"/>
            <a:ext cx="2697480" cy="2150551"/>
          </a:xfrm>
          <a:prstGeom xmlns:a="http://schemas.openxmlformats.org/drawingml/2006/main" prst="rect">
            <a:avLst/>
          </a:prstGeom>
          <a:noFill xmlns:a="http://schemas.openxmlformats.org/drawingml/2006/main"/>
        </p:spPr>
        <p:txBody>
          <a:bodyPr xmlns:a="http://schemas.openxmlformats.org/drawingml/2006/main" wrap="square" lIns="381" tIns="381" rIns="381" bIns="381" anchor="t"/>
          <a:lstStyle xmlns:a="http://schemas.openxmlformats.org/drawingml/2006/main"/>
          <a:p xmlns:a="http://schemas.openxmlformats.org/drawingml/2006/main">
            <a:pPr>
              <a:buNone/>
            </a:pPr>
            <a:r>
              <a:rPr sz="1400">
                <a:solidFill>
                  <a:srgbClr val="4B5563"/>
                </a:solidFill>
                <a:latin typeface="Times New Roman"/>
                <a:ea typeface="Times New Roman"/>
                <a:cs typeface="Times New Roman"/>
              </a:rPr>
              <a:t>专业语料理解门槛高，需优化策略
</a:t>
            </a:r>
          </a:p>
          <a:p xmlns:a="http://schemas.openxmlformats.org/drawingml/2006/main">
            <a:pPr>
              <a:buNone/>
            </a:pPr>
          </a:p>
          <a:p xmlns:a="http://schemas.openxmlformats.org/drawingml/2006/main">
            <a:pPr>
              <a:buNone/>
            </a:pPr>
            <a:r>
              <a:rPr sz="1400">
                <a:solidFill>
                  <a:srgbClr val="4B5563"/>
                </a:solidFill>
                <a:latin typeface="Times New Roman"/>
                <a:ea typeface="Times New Roman"/>
                <a:cs typeface="Times New Roman"/>
              </a:rPr>
              <a:t>问答链路要兼顾事实性与推理性，避免只会检索、不会分析
</a:t>
            </a:r>
          </a:p>
          <a:p xmlns:a="http://schemas.openxmlformats.org/drawingml/2006/main">
            <a:pPr>
              <a:buNone/>
            </a:pPr>
          </a:p>
          <a:p xmlns:a="http://schemas.openxmlformats.org/drawingml/2006/main">
            <a:pPr>
              <a:buNone/>
            </a:pPr>
            <a:r>
              <a:rPr sz="1400">
                <a:solidFill>
                  <a:srgbClr val="4B5563"/>
                </a:solidFill>
                <a:latin typeface="Times New Roman"/>
                <a:ea typeface="Times New Roman"/>
                <a:cs typeface="Times New Roman"/>
              </a:rPr>
              <a:t>需要通过提示词、重排、评测集和参数迭代持续调优</a:t>
            </a:r>
          </a:p>
        </p:txBody>
      </p:sp>
      <p:sp>
        <p:nvSpPr>
          <p:cNvPr id="90" name="Shape 13">
            <a:extLst xmlns:a="http://schemas.openxmlformats.org/drawingml/2006/main">
              <a:ext uri="{FF2B5EF4-FFF2-40B4-BE49-F238E27FC236}">
                <a16:creationId xmlns:a16="http://schemas.microsoft.com/office/drawing/2014/main" id="{500F7971-66C2-8187-3A51-BAEAAB54221E}"/>
              </a:ext>
            </a:extLst>
          </p:cNvPr>
          <p:cNvSpPr>
            <a:spLocks xmlns:a="http://schemas.openxmlformats.org/drawingml/2006/main" noGrp="1"/>
          </p:cNvSpPr>
          <p:nvPr/>
        </p:nvSpPr>
        <p:spPr>
          <a:xfrm xmlns:a="http://schemas.openxmlformats.org/drawingml/2006/main">
            <a:off x="7921562" y="2711768"/>
            <a:ext cx="3154680" cy="3583303"/>
          </a:xfrm>
          <a:prstGeom xmlns:a="http://schemas.openxmlformats.org/drawingml/2006/main" prst="roundRect">
            <a:avLst>
              <a:gd name="adj" fmla="val 2516"/>
            </a:avLst>
          </a:prstGeom>
          <a:solidFill xmlns:a="http://schemas.openxmlformats.org/drawingml/2006/main">
            <a:srgbClr val="FFFFFF"/>
          </a:solidFill>
          <a:ln xmlns:a="http://schemas.openxmlformats.org/drawingml/2006/main" w="12700">
            <a:solidFill>
              <a:srgbClr val="D8E0EA"/>
            </a:solidFill>
            <a:prstDash val="solid"/>
          </a:ln>
        </p:spPr>
        <p:txBody>
          <a:bodyPr xmlns:a="http://schemas.openxmlformats.org/drawingml/2006/main"/>
          <a:lstStyle xmlns:a="http://schemas.openxmlformats.org/drawingml/2006/main"/>
          <a:p xmlns:a="http://schemas.openxmlformats.org/drawingml/2006/main"/>
        </p:txBody>
      </p:sp>
      <p:sp>
        <p:nvSpPr>
          <p:cNvPr id="92" name="Text 15">
            <a:extLst xmlns:a="http://schemas.openxmlformats.org/drawingml/2006/main">
              <a:ext uri="{FF2B5EF4-FFF2-40B4-BE49-F238E27FC236}">
                <a16:creationId xmlns:a16="http://schemas.microsoft.com/office/drawing/2014/main" id="{E642E938-6D03-3CC6-39C3-CEC1D1F313F5}"/>
              </a:ext>
            </a:extLst>
          </p:cNvPr>
          <p:cNvSpPr>
            <a:spLocks xmlns:a="http://schemas.openxmlformats.org/drawingml/2006/main" noGrp="1"/>
          </p:cNvSpPr>
          <p:nvPr/>
        </p:nvSpPr>
        <p:spPr>
          <a:xfrm xmlns:a="http://schemas.openxmlformats.org/drawingml/2006/main">
            <a:off x="8406194" y="2899221"/>
            <a:ext cx="320040" cy="10972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b="1">
                <a:solidFill>
                  <a:srgbClr val="FFFFFF"/>
                </a:solidFill>
                <a:latin typeface="Times New Roman"/>
                <a:ea typeface="Times New Roman"/>
                <a:cs typeface="Times New Roman"/>
              </a:rPr>
              <a:t>03</a:t>
            </a:r>
          </a:p>
        </p:txBody>
      </p:sp>
      <p:sp>
        <p:nvSpPr>
          <p:cNvPr id="93" name="Text 16">
            <a:extLst xmlns:a="http://schemas.openxmlformats.org/drawingml/2006/main">
              <a:ext uri="{FF2B5EF4-FFF2-40B4-BE49-F238E27FC236}">
                <a16:creationId xmlns:a16="http://schemas.microsoft.com/office/drawing/2014/main" id="{A934DA11-F366-65FA-7496-1A8FF5745D27}"/>
              </a:ext>
            </a:extLst>
          </p:cNvPr>
          <p:cNvSpPr>
            <a:spLocks xmlns:a="http://schemas.openxmlformats.org/drawingml/2006/main" noGrp="1"/>
          </p:cNvSpPr>
          <p:nvPr/>
        </p:nvSpPr>
        <p:spPr>
          <a:xfrm xmlns:a="http://schemas.openxmlformats.org/drawingml/2006/main">
            <a:off x="8333042" y="2770059"/>
            <a:ext cx="27432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F2D3D"/>
                </a:solidFill>
                <a:latin typeface="Times New Roman"/>
                <a:ea typeface="Times New Roman"/>
                <a:cs typeface="Times New Roman"/>
              </a:rPr>
              <a:t>难点三：在中心的落地形式</a:t>
            </a:r>
          </a:p>
        </p:txBody>
      </p:sp>
      <p:sp>
        <p:nvSpPr>
          <p:cNvPr id="94" name="Text 17">
            <a:extLst xmlns:a="http://schemas.openxmlformats.org/drawingml/2006/main">
              <a:ext uri="{FF2B5EF4-FFF2-40B4-BE49-F238E27FC236}">
                <a16:creationId xmlns:a16="http://schemas.microsoft.com/office/drawing/2014/main" id="{3678083D-0F23-5941-F48C-26BB06E1ECDD}"/>
              </a:ext>
            </a:extLst>
          </p:cNvPr>
          <p:cNvSpPr>
            <a:spLocks xmlns:a="http://schemas.openxmlformats.org/drawingml/2006/main" noGrp="1"/>
          </p:cNvSpPr>
          <p:nvPr/>
        </p:nvSpPr>
        <p:spPr>
          <a:xfrm xmlns:a="http://schemas.openxmlformats.org/drawingml/2006/main">
            <a:off x="8150162" y="3462150"/>
            <a:ext cx="2697480" cy="2458590"/>
          </a:xfrm>
          <a:prstGeom xmlns:a="http://schemas.openxmlformats.org/drawingml/2006/main" prst="rect">
            <a:avLst/>
          </a:prstGeom>
          <a:noFill xmlns:a="http://schemas.openxmlformats.org/drawingml/2006/main"/>
        </p:spPr>
        <p:txBody>
          <a:bodyPr xmlns:a="http://schemas.openxmlformats.org/drawingml/2006/main" wrap="square" lIns="381" tIns="381" rIns="381" bIns="381" anchor="t"/>
          <a:lstStyle xmlns:a="http://schemas.openxmlformats.org/drawingml/2006/main"/>
          <a:p xmlns:a="http://schemas.openxmlformats.org/drawingml/2006/main">
            <a:pPr>
              <a:buNone/>
            </a:pPr>
            <a:r>
              <a:rPr sz="1400">
                <a:solidFill>
                  <a:srgbClr val="4B5563"/>
                </a:solidFill>
                <a:latin typeface="Times New Roman"/>
                <a:ea typeface="Times New Roman"/>
                <a:cs typeface="Times New Roman"/>
              </a:rPr>
              <a:t>不能只做演示系统，要嵌入中心真实工作流和支撑场景</a:t>
            </a:r>
          </a:p>
          <a:p xmlns:a="http://schemas.openxmlformats.org/drawingml/2006/main">
            <a:pPr>
              <a:buNone/>
            </a:pPr>
          </a:p>
          <a:p xmlns:a="http://schemas.openxmlformats.org/drawingml/2006/main">
            <a:pPr>
              <a:buNone/>
            </a:pPr>
          </a:p>
          <a:p xmlns:a="http://schemas.openxmlformats.org/drawingml/2006/main">
            <a:pPr>
              <a:buNone/>
            </a:pPr>
            <a:r>
              <a:rPr sz="1400">
                <a:solidFill>
                  <a:srgbClr val="4B5563"/>
                </a:solidFill>
                <a:latin typeface="Times New Roman"/>
                <a:ea typeface="Times New Roman"/>
                <a:cs typeface="Times New Roman"/>
              </a:rPr>
              <a:t>需明确产品形态：问答助手、标准跟踪工具、简报支撑平台等</a:t>
            </a:r>
          </a:p>
          <a:p xmlns:a="http://schemas.openxmlformats.org/drawingml/2006/main">
            <a:pPr>
              <a:buNone/>
            </a:pPr>
          </a:p>
          <a:p xmlns:a="http://schemas.openxmlformats.org/drawingml/2006/main">
            <a:pPr>
              <a:buNone/>
            </a:pPr>
          </a:p>
          <a:p xmlns:a="http://schemas.openxmlformats.org/drawingml/2006/main">
            <a:pPr>
              <a:buNone/>
            </a:pPr>
            <a:r>
              <a:rPr sz="1400">
                <a:solidFill>
                  <a:srgbClr val="4B5563"/>
                </a:solidFill>
                <a:latin typeface="Times New Roman"/>
                <a:ea typeface="Times New Roman"/>
                <a:cs typeface="Times New Roman"/>
              </a:rPr>
              <a:t>还要考虑权限、部署、安全、运维和使用门槛</a:t>
            </a:r>
          </a:p>
        </p:txBody>
      </p:sp>
      <p:sp>
        <p:nvSpPr>
          <p:cNvPr id="98" name="右箭头 97">
            <a:extLst xmlns:a="http://schemas.openxmlformats.org/drawingml/2006/main">
              <a:ext uri="{FF2B5EF4-FFF2-40B4-BE49-F238E27FC236}">
                <a16:creationId xmlns:a16="http://schemas.microsoft.com/office/drawing/2014/main" id="{BA494F07-59DC-D2C4-5FBB-BBF15481A230}"/>
              </a:ext>
            </a:extLst>
          </p:cNvPr>
          <p:cNvSpPr>
            <a:spLocks xmlns:a="http://schemas.openxmlformats.org/drawingml/2006/main" noGrp="1"/>
          </p:cNvSpPr>
          <p:nvPr/>
        </p:nvSpPr>
        <p:spPr>
          <a:xfrm xmlns:a="http://schemas.openxmlformats.org/drawingml/2006/main">
            <a:off x="4071938" y="4371975"/>
            <a:ext cx="347472" cy="342900"/>
          </a:xfrm>
          <a:prstGeom xmlns:a="http://schemas.openxmlformats.org/drawingml/2006/main" prst="rightArrow">
            <a:avLst/>
          </a:prstGeom>
        </p:spPr>
        <p:style>
          <a:lnRef xmlns:a="http://schemas.openxmlformats.org/drawingml/2006/main" idx="2">
            <a:schemeClr val="accent4">
              <a:shade val="15000"/>
            </a:schemeClr>
          </a:lnRef>
          <a:fillRef xmlns:a="http://schemas.openxmlformats.org/drawingml/2006/main" idx="1">
            <a:schemeClr val="accent4"/>
          </a:fillRef>
          <a:effectRef xmlns:a="http://schemas.openxmlformats.org/drawingml/2006/main" idx="0">
            <a:schemeClr val="accent4"/>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9" name="右箭头 98">
            <a:extLst xmlns:a="http://schemas.openxmlformats.org/drawingml/2006/main">
              <a:ext uri="{FF2B5EF4-FFF2-40B4-BE49-F238E27FC236}">
                <a16:creationId xmlns:a16="http://schemas.microsoft.com/office/drawing/2014/main" id="{2A4E6D97-46D7-50E4-56F4-F061E680A257}"/>
              </a:ext>
            </a:extLst>
          </p:cNvPr>
          <p:cNvSpPr>
            <a:spLocks xmlns:a="http://schemas.openxmlformats.org/drawingml/2006/main" noGrp="1"/>
          </p:cNvSpPr>
          <p:nvPr/>
        </p:nvSpPr>
        <p:spPr>
          <a:xfrm xmlns:a="http://schemas.openxmlformats.org/drawingml/2006/main">
            <a:off x="7583805" y="4371975"/>
            <a:ext cx="347472" cy="342900"/>
          </a:xfrm>
          <a:prstGeom xmlns:a="http://schemas.openxmlformats.org/drawingml/2006/main" prst="rightArrow">
            <a:avLst/>
          </a:prstGeom>
        </p:spPr>
        <p:style>
          <a:lnRef xmlns:a="http://schemas.openxmlformats.org/drawingml/2006/main" idx="2">
            <a:schemeClr val="accent4">
              <a:shade val="15000"/>
            </a:schemeClr>
          </a:lnRef>
          <a:fillRef xmlns:a="http://schemas.openxmlformats.org/drawingml/2006/main" idx="1">
            <a:schemeClr val="accent4"/>
          </a:fillRef>
          <a:effectRef xmlns:a="http://schemas.openxmlformats.org/drawingml/2006/main" idx="0">
            <a:schemeClr val="accent4"/>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Tree>
    <p:extLst>
      <p:ext uri="{BB962C8B-B14F-4D97-AF65-F5344CB8AC3E}">
        <p14:creationId xmlns:p14="http://schemas.microsoft.com/office/powerpoint/2010/main" val="3611597941"/>
      </p:ext>
    </p:extLst>
  </p:cSld>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Office">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2026-04-20T03:24:02.9290000Z</dcterms:created>
  <dcterms:modified xsi:type="dcterms:W3CDTF">2026-04-20T03:24:02.9290000Z</dcterms:modified>
</coreProperties>
</file>