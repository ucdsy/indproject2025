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c4febdf213481a" /><Relationship Type="http://schemas.openxmlformats.org/officeDocument/2006/relationships/extended-properties" Target="/docProps/app.xml" Id="R48772dd724414c2d" /><Relationship Type="http://schemas.openxmlformats.org/officeDocument/2006/relationships/officeDocument" Target="/ppt/presentation.xml" Id="R6525aaebb2ba47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6569cc217547f7"/>
  </p:sldMasterIdLst>
  <p:notesMasterIdLst>
    <p:notesMasterId xmlns:r="http://schemas.openxmlformats.org/officeDocument/2006/relationships" r:id="R5c3a3811ade74187"/>
  </p:notesMasterIdLst>
  <p:sldIdLst>
    <p:sldId xmlns:r="http://schemas.openxmlformats.org/officeDocument/2006/relationships" id="256" r:id="Ra954608c8abe43ed"/>
    <p:sldId xmlns:r="http://schemas.openxmlformats.org/officeDocument/2006/relationships" id="257" r:id="R8a0017c87b3b4156"/>
    <p:sldId xmlns:r="http://schemas.openxmlformats.org/officeDocument/2006/relationships" id="258" r:id="R93f9026372194d40"/>
    <p:sldId xmlns:r="http://schemas.openxmlformats.org/officeDocument/2006/relationships" id="259" r:id="R32d118acaa4c4805"/>
    <p:sldId xmlns:r="http://schemas.openxmlformats.org/officeDocument/2006/relationships" id="260" r:id="Rddf0ca8cccb34dd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6569cc217547f7" /><Relationship Type="http://schemas.openxmlformats.org/officeDocument/2006/relationships/theme" Target="/ppt/theme/theme1.xml" Id="Rb030d43cb1d44585" /><Relationship Type="http://schemas.openxmlformats.org/officeDocument/2006/relationships/notesMaster" Target="/ppt/notesMasters/notesMaster1.xml" Id="R5c3a3811ade74187" /><Relationship Type="http://schemas.openxmlformats.org/officeDocument/2006/relationships/presProps" Target="/ppt/presProps.xml" Id="Re525fc2e42f644a0" /><Relationship Type="http://schemas.openxmlformats.org/officeDocument/2006/relationships/viewProps" Target="/ppt/viewProps.xml" Id="R9f1e2b44f9604a5c" /><Relationship Type="http://schemas.openxmlformats.org/officeDocument/2006/relationships/tableStyles" Target="/ppt/tableStyles.xml" Id="R72743199b4a94569" /><Relationship Type="http://schemas.openxmlformats.org/officeDocument/2006/relationships/slide" Target="/ppt/slides/slide1.xml" Id="Ra954608c8abe43ed" /><Relationship Type="http://schemas.openxmlformats.org/officeDocument/2006/relationships/slide" Target="/ppt/slides/slide2.xml" Id="R8a0017c87b3b4156" /><Relationship Type="http://schemas.openxmlformats.org/officeDocument/2006/relationships/slide" Target="/ppt/slides/slide3.xml" Id="R93f9026372194d40" /><Relationship Type="http://schemas.openxmlformats.org/officeDocument/2006/relationships/slide" Target="/ppt/slides/slide4.xml" Id="R32d118acaa4c4805" /><Relationship Type="http://schemas.openxmlformats.org/officeDocument/2006/relationships/slide" Target="/ppt/slides/slide5.xml" Id="Rddf0ca8cccb34d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60ce016ffff4e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3ef4ede37c45c7" /><Relationship Type="http://schemas.openxmlformats.org/officeDocument/2006/relationships/notesMaster" Target="/ppt/notesMasters/notesMaster1.xml" Id="Rf543bd8e07f948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126b51143a4f48" /><Relationship Type="http://schemas.openxmlformats.org/officeDocument/2006/relationships/notesMaster" Target="/ppt/notesMasters/notesMaster1.xml" Id="R316c1199b65d4a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254ccb4e9f46a7" /><Relationship Type="http://schemas.openxmlformats.org/officeDocument/2006/relationships/notesMaster" Target="/ppt/notesMasters/notesMaster1.xml" Id="R82f9e959e77346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9cca9bb5db4c0d" /><Relationship Type="http://schemas.openxmlformats.org/officeDocument/2006/relationships/notesMaster" Target="/ppt/notesMasters/notesMaster1.xml" Id="R2220423e9f1643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f4c849e4a54da9" /><Relationship Type="http://schemas.openxmlformats.org/officeDocument/2006/relationships/notesMaster" Target="/ppt/notesMasters/notesMaster1.xml" Id="Ree3b0c7908174c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本项目提出了 </a:t>
            </a:r>
            <a:r>
              <a:rPr b="1"/>
              <a:t>CHPMN </a:t>
            </a:r>
            <a:r>
              <a:rPr b="1"/>
              <a:t>智能分析模型，面向 </a:t>
            </a:r>
            <a:r>
              <a:rPr b="1"/>
              <a:t>DNS </a:t>
            </a:r>
            <a:r>
              <a:rPr b="1"/>
              <a:t>流量场景开展识别与评估。</a:t>
            </a:r>
            <a:br/>
            <a:r>
              <a:t>该模型首先对 </a:t>
            </a:r>
            <a:r>
              <a:t>DNS </a:t>
            </a:r>
            <a:r>
              <a:t>流量中的结构关系、行为特征及潜在关联进行统一建模；</a:t>
            </a:r>
            <a:br/>
            <a:r>
              <a:t>在此基础上，从拓扑特征、属性特征和因果关联等多个层面提取典型模式，并进行融合分析；</a:t>
            </a:r>
            <a:br/>
            <a:r>
              <a:t>最终形成评估结果，为异常流量识别和安全研判提供支撑。</a:t>
            </a:r>
          </a:p>
          <a:p xmlns:a="http://schemas.openxmlformats.org/drawingml/2006/main">
            <a:r>
              <a:rPr b="1"/>
              <a:t>从实验评估结果看，</a:t>
            </a:r>
            <a:r>
              <a:rPr b="1"/>
              <a:t>CHPMN </a:t>
            </a:r>
            <a:r>
              <a:rPr b="1"/>
              <a:t>模型在不同数据规模条件下均保持了较好的稳定性和识别能力，整体效果优于现有对比方法，体现出较强的应用价值。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这页大概展示了对</a:t>
            </a:r>
            <a:r>
              <a:t>DNSOP</a:t>
            </a:r>
            <a:r>
              <a:t>工作组历史邮件的统计数据情况</a:t>
            </a:r>
          </a:p>
          <a:p xmlns:a="http://schemas.openxmlformats.org/drawingml/2006/main"/>
          <a:p xmlns:a="http://schemas.openxmlformats.org/drawingml/2006/main">
            <a:r>
              <a:t>上图：每月几百封邮件，</a:t>
            </a:r>
            <a:r>
              <a:t>14</a:t>
            </a:r>
            <a:r>
              <a:t>年开始变多</a:t>
            </a:r>
          </a:p>
          <a:p xmlns:a="http://schemas.openxmlformats.org/drawingml/2006/main">
            <a:r>
              <a:t>左下：按人统计邮件长度（谁最爱码字）</a:t>
            </a:r>
          </a:p>
          <a:p xmlns:a="http://schemas.openxmlformats.org/drawingml/2006/main">
            <a:r>
              <a:t>右下：按人统计邮件数量（谁最爱发邮件）</a:t>
            </a:r>
          </a:p>
          <a:p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我们想做的不是一个什么都回答的大模型，而是一个基于 </a:t>
            </a:r>
            <a:r>
              <a:t>IETF </a:t>
            </a:r>
            <a:r>
              <a:t>邮件归档和 </a:t>
            </a:r>
            <a:r>
              <a:t>RFC </a:t>
            </a:r>
            <a:r>
              <a:t>的专业智能体。</a:t>
            </a:r>
            <a:br/>
            <a:r>
              <a:t>它的核心价值，是把“正式标准结论”和“形成结论前的讨论过程”结合起来，通过</a:t>
            </a:r>
            <a:r>
              <a:t>RAG</a:t>
            </a:r>
            <a:r>
              <a:t>让模型先找依据、再做受控分析，最后给出可追溯答案。</a:t>
            </a:r>
            <a:br/>
            <a:r>
              <a:t>这样既能提升专业问答和标准跟踪能力，也能通过“基于证据回答、证据不足就提示”的方式，尽量降低幻觉。</a:t>
            </a:r>
          </a:p>
          <a:p xmlns:a="http://schemas.openxmlformats.org/drawingml/2006/main"/>
          <a:p xmlns:a="http://schemas.openxmlformats.org/drawingml/2006/main">
            <a:r>
              <a:t>我们主要考虑以下场景：</a:t>
            </a:r>
          </a:p>
          <a:p xmlns:a="http://schemas.openxmlformats.org/drawingml/2006/main">
            <a:r>
              <a:t>以 </a:t>
            </a:r>
            <a:r>
              <a:t>IETF </a:t>
            </a:r>
            <a:r>
              <a:t>邮件归档、会议记录和 </a:t>
            </a:r>
            <a:r>
              <a:t>RFC </a:t>
            </a:r>
            <a:r>
              <a:t>为主要知识来源，做一个懂互联网标准、能围绕标准材料开展分析的专业智能体。它不只是回答“这份标准讲了什么”，还能够帮助我们理清一项技术是怎么讨论出来的、目前推进到了哪一步、后面有没有希望继续往前走；对新 </a:t>
            </a:r>
            <a:r>
              <a:t>draft</a:t>
            </a:r>
            <a:r>
              <a:t>，还可以辅助分析其形成 </a:t>
            </a:r>
            <a:r>
              <a:t>RFC </a:t>
            </a:r>
            <a:r>
              <a:t>的可能性，提前整理专家可能会追问的问题，帮助我们更高效地做标准跟踪、会议准备、信息分析和工作支撑。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0bd3a51293441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6376401d2c45d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b842f53f1e450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24afbdc0c547d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6164481f5047f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1bb6af9ab841f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d499e47975489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634c95b81e4c4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1a9b11837f419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13d2a5accb442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9aa3fb824d486f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A304954-ECAE-6739-98A8-89C663BA40CA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C813B23D-B9DE-8A27-0D6E-8E79B30FF728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BFC09C1-3E4D-1FEC-BCA2-0A6BDB8C1FAD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83A4F7A4-CA3E-03DA-C6CC-FEFC9E8FDCD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DB212B5-EF53-9A0D-D65F-9A5211969651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3C8B31D-629C-C373-4D63-A6D691F12F28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140985E-F433-251E-F5CD-79A8376C3078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606BBBB-0BE3-7460-1E2B-99B9F9B13F9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22BBB213-E159-7A34-25FF-54B2D59EF3D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BFEFA302-D8FF-94F4-A1E8-DD273827C9D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5289CBB-BFC5-5B8F-EBD8-4B78FDF2D4BD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7D76409-8447-BB2E-5D50-8ECBB0C2F86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83E195D-4445-1ED9-B459-2BED693CCA4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B448FF4-A0F7-C178-7E73-A6B5A0F57E0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1CAFAD6-E5B0-D783-24F6-1A64AC58BA5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B501D4A-31E0-D117-9FD2-48C9503CA641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EC84EFB4-2388-2E73-619C-7D2B1BF7A4F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5309E9E4-241D-3EDA-0285-D0D37756993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C07DC162-B8C0-3866-92A2-95F202CB3664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2E63984-836D-FBE9-1AE4-EF4DCC0C79DE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07DC3B2-9A13-8A03-B4EB-96B4CFAECE8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9931D67-AA92-8070-8EF7-0FFC4A450EE1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1CEFC3D-E919-74C5-C940-737C9E327749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AC52385-A5B6-5C45-2ADE-10F22D336911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6120A41F-33C1-1E01-CD99-789028CB05B7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06CAB4B5-1FB8-117C-4F9E-742AC22C494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72B07209-9F92-161D-1DB0-F354FFB1D1B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15DC0DC-1D7C-D2A1-EB8A-AB7B5DEDFBA5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8BD7F6F4-9DD7-9F24-6840-4189E32F2151}"/>
              </a:ext>
            </a:extLst>
          </p:cNvPr>
          <p:cNvSpPr/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9516854-E8DC-038F-03AF-C1281F3DDC1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E651532-4FEE-DEA2-DB7C-E53856BCDC6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490A84-9CD3-744C-0BCF-62BA43B19EA0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736FA12-36DF-4D92-E7FB-21F7D06348F1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2C412902-2CE0-5BD9-F3C4-6F57A45A533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6F922D8-A10C-BE09-57C7-6EB8CB2F344E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2BAEE742-C1D6-8349-0502-25F1F9AAF75B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A020A07-6F5A-DC59-B66C-55D3E33256BB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425A5E9-A88D-DB80-116C-A4F51C781ED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3CB7815-B06D-339C-C8AD-462CE159036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ffa97cff924ab1" /><Relationship Type="http://schemas.openxmlformats.org/officeDocument/2006/relationships/theme" Target="/ppt/theme/theme1.xml" Id="R00f4f81028084c37" /><Relationship Type="http://schemas.openxmlformats.org/officeDocument/2006/relationships/slideLayout" Target="/ppt/slideLayouts/slideLayout2.xml" Id="R0d06a05c94724be8" /><Relationship Type="http://schemas.openxmlformats.org/officeDocument/2006/relationships/slideLayout" Target="/ppt/slideLayouts/slideLayout3.xml" Id="Re0be01f3283a4137" /><Relationship Type="http://schemas.openxmlformats.org/officeDocument/2006/relationships/slideLayout" Target="/ppt/slideLayouts/slideLayout4.xml" Id="Rde986afac6dc472e" /><Relationship Type="http://schemas.openxmlformats.org/officeDocument/2006/relationships/slideLayout" Target="/ppt/slideLayouts/slideLayout5.xml" Id="R855370d0ebb9489d" /><Relationship Type="http://schemas.openxmlformats.org/officeDocument/2006/relationships/slideLayout" Target="/ppt/slideLayouts/slideLayout6.xml" Id="R57a782b34ee04742" /><Relationship Type="http://schemas.openxmlformats.org/officeDocument/2006/relationships/slideLayout" Target="/ppt/slideLayouts/slideLayout7.xml" Id="R8a0c645ae8684e99" /><Relationship Type="http://schemas.openxmlformats.org/officeDocument/2006/relationships/slideLayout" Target="/ppt/slideLayouts/slideLayout8.xml" Id="Ra75c844812034e5a" /><Relationship Type="http://schemas.openxmlformats.org/officeDocument/2006/relationships/slideLayout" Target="/ppt/slideLayouts/slideLayout9.xml" Id="R5609af029dcd440a" /><Relationship Type="http://schemas.openxmlformats.org/officeDocument/2006/relationships/slideLayout" Target="/ppt/slideLayouts/slideLayout10.xml" Id="Ra8c372a430934096" /><Relationship Type="http://schemas.openxmlformats.org/officeDocument/2006/relationships/slideLayout" Target="/ppt/slideLayouts/slideLayout11.xml" Id="R7f564c71cae041e9" /><Relationship Type="http://schemas.openxmlformats.org/officeDocument/2006/relationships/slideLayout" Target="/ppt/slideLayouts/slideLayout12.xml" Id="R829c854bae304b6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F7BFBC2-292F-AB71-C79D-508EE55FE08D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139257A-8875-823B-8818-C04E3B1AEAB1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DB65F45-3644-1B75-AB46-C1F8C531E571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D4F6BAE-1968-679C-29CE-E64B22D34568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E99AF3E-4F8C-73CD-476A-6D085BF54314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8" r:id="R1dffa97cff924ab1"/>
    <p:sldLayoutId xmlns:r="http://schemas.openxmlformats.org/officeDocument/2006/relationships" id="2147483649" r:id="R0d06a05c94724be8"/>
    <p:sldLayoutId xmlns:r="http://schemas.openxmlformats.org/officeDocument/2006/relationships" id="2147483650" r:id="Re0be01f3283a4137"/>
    <p:sldLayoutId xmlns:r="http://schemas.openxmlformats.org/officeDocument/2006/relationships" id="2147483651" r:id="Rde986afac6dc472e"/>
    <p:sldLayoutId xmlns:r="http://schemas.openxmlformats.org/officeDocument/2006/relationships" id="2147483652" r:id="R855370d0ebb9489d"/>
    <p:sldLayoutId xmlns:r="http://schemas.openxmlformats.org/officeDocument/2006/relationships" id="2147483653" r:id="R57a782b34ee04742"/>
    <p:sldLayoutId xmlns:r="http://schemas.openxmlformats.org/officeDocument/2006/relationships" id="2147483654" r:id="R8a0c645ae8684e99"/>
    <p:sldLayoutId xmlns:r="http://schemas.openxmlformats.org/officeDocument/2006/relationships" id="2147483655" r:id="Ra75c844812034e5a"/>
    <p:sldLayoutId xmlns:r="http://schemas.openxmlformats.org/officeDocument/2006/relationships" id="2147483656" r:id="R5609af029dcd440a"/>
    <p:sldLayoutId xmlns:r="http://schemas.openxmlformats.org/officeDocument/2006/relationships" id="2147483657" r:id="Ra8c372a430934096"/>
    <p:sldLayoutId xmlns:r="http://schemas.openxmlformats.org/officeDocument/2006/relationships" id="2147483658" r:id="R7f564c71cae041e9"/>
    <p:sldLayoutId xmlns:r="http://schemas.openxmlformats.org/officeDocument/2006/relationships" id="2147483659" r:id="R829c854bae304b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9887ac2d14e9a" /><Relationship Type="http://schemas.openxmlformats.org/officeDocument/2006/relationships/notesSlide" Target="/ppt/notesSlides/notesSlide1.xml" Id="Re8bbbb7752ba4e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089f8e3a214161" /><Relationship Type="http://schemas.openxmlformats.org/officeDocument/2006/relationships/image" Target="/ppt/media/image.png" Id="R44717d0bc97a4499" /><Relationship Type="http://schemas.openxmlformats.org/officeDocument/2006/relationships/image" Target="/ppt/media/image2.png" Id="Rf17b1236f79446a1" /><Relationship Type="http://schemas.openxmlformats.org/officeDocument/2006/relationships/image" Target="/ppt/media/image3.png" Id="R73bab5dd09c642c6" /><Relationship Type="http://schemas.openxmlformats.org/officeDocument/2006/relationships/notesSlide" Target="/ppt/notesSlides/notesSlide2.xml" Id="Rb2dc946e39a342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64d71060b6c4b24" /><Relationship Type="http://schemas.openxmlformats.org/officeDocument/2006/relationships/image" Target="/ppt/media/image4.png" Id="R9ea75608e3494e13" /><Relationship Type="http://schemas.openxmlformats.org/officeDocument/2006/relationships/image" Target="/ppt/media/image5.png" Id="R8d2fd9a546de40d5" /><Relationship Type="http://schemas.openxmlformats.org/officeDocument/2006/relationships/image" Target="/ppt/media/image6.png" Id="Rac1f669634ab448c" /><Relationship Type="http://schemas.openxmlformats.org/officeDocument/2006/relationships/notesSlide" Target="/ppt/notesSlides/notesSlide3.xml" Id="R1387c6c6c67940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e2c6eac49c04bd3" /><Relationship Type="http://schemas.openxmlformats.org/officeDocument/2006/relationships/notesSlide" Target="/ppt/notesSlides/notesSlide4.xml" Id="R2e09d01778ad4c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2d978d611ca4740" /><Relationship Type="http://schemas.openxmlformats.org/officeDocument/2006/relationships/image" Target="/ppt/media/image7.png" Id="R90487bf79b0945c0" /><Relationship Type="http://schemas.openxmlformats.org/officeDocument/2006/relationships/notesSlide" Target="/ppt/notesSlides/notesSlide5.xml" Id="R7c4ede2a718b4f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9436CD-132A-41B8-A2BA-1BD09512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2841"/>
                </a:solidFill>
              </a:defRPr>
            </a:pPr>
            <a:r>
              <a:rPr sz="1875" b="1">
                <a:solidFill>
                  <a:srgbClr val="0E2841"/>
                </a:solidFill>
              </a:rPr>
              <a:t>智能体方向前期研究及原型支撑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A810E3-E41F-4670-9B5C-261214DB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F8C"/>
          </a:solidFill>
          <a:ln xmlns:a="http://schemas.openxmlformats.org/drawingml/2006/main" w="0">
            <a:solidFill>
              <a:srgbClr val="1D4F8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BF0044-B5F1-48C6-8955-B576E4F5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88582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围绕未来大量智能程序的有序组织、发现、使用和治理，先做趋势研判，再形成原型探索和对外交流支撑。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F5085-CAA0-40A1-9CE4-036F4E35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4762500" cy="2000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5F9FF"/>
          </a:solidFill>
          <a:ln xmlns:a="http://schemas.openxmlformats.org/drawingml/2006/main" w="9525">
            <a:solidFill>
              <a:srgbClr val="BFD7F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AD8DBE-89BF-473E-AD55-2A5DF57E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E2841"/>
                </a:solidFill>
              </a:defRPr>
            </a:pPr>
            <a:r>
              <a:rPr sz="1425" b="1">
                <a:solidFill>
                  <a:srgbClr val="0E2841"/>
                </a:solidFill>
              </a:rPr>
              <a:t>前期研究看清一个基础问题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810284-627D-4629-A49E-0ADB3C9B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4191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D3D"/>
                </a:solidFill>
              </a:defRPr>
            </a:pPr>
            <a:r>
              <a:rPr sz="1125" b="0">
                <a:solidFill>
                  <a:srgbClr val="1F2D3D"/>
                </a:solidFill>
              </a:rPr>
              <a:t>我们不是简单跟踪技术热点，而是围绕智能体规模化以后真正要解决的问题展开系统研究：未来各类智能程序越来越多，关键不只是“有没有”，而是“怎么找、怎么用、怎么管”。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B2026D-1EA3-4527-B9B3-CA0F48D5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38450"/>
            <a:ext cx="9906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430E83-BABD-4BD8-8A5C-978DE108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33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F8C"/>
          </a:solidFill>
          <a:ln xmlns:a="http://schemas.openxmlformats.org/drawingml/2006/main" w="0">
            <a:solidFill>
              <a:srgbClr val="1D4F8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DC7995-3B44-4177-A40A-56F5BC9F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905125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E2841"/>
                </a:solidFill>
              </a:defRPr>
            </a:pPr>
            <a:r>
              <a:rPr sz="1013" b="1">
                <a:solidFill>
                  <a:srgbClr val="0E2841"/>
                </a:solidFill>
              </a:rPr>
              <a:t>怎么找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2BA408-B9D8-4181-BB53-BFE9C539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838450"/>
            <a:ext cx="9906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56E29E-9D63-4175-A2C0-E83CA734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933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B24"/>
          </a:solidFill>
          <a:ln xmlns:a="http://schemas.openxmlformats.org/drawingml/2006/main" w="0">
            <a:solidFill>
              <a:srgbClr val="196B2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37A48A-DCF6-4B1A-BB9F-B6933322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05125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E2841"/>
                </a:solidFill>
              </a:defRPr>
            </a:pPr>
            <a:r>
              <a:rPr sz="1013" b="1">
                <a:solidFill>
                  <a:srgbClr val="0E2841"/>
                </a:solidFill>
              </a:rPr>
              <a:t>怎么用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E68786-24C9-4357-8268-98B0ACBE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38450"/>
            <a:ext cx="9906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7F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5CCDE0-7E5B-4B49-BDAD-BDB1F847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933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solidFill>
              <a:srgbClr val="E9713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99564A-A2BA-4109-9226-E4EDC956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905125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E2841"/>
                </a:solidFill>
              </a:defRPr>
            </a:pPr>
            <a:r>
              <a:rPr sz="1013" b="1">
                <a:solidFill>
                  <a:srgbClr val="0E2841"/>
                </a:solidFill>
              </a:rPr>
              <a:t>怎么管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D1A6D1-603E-4D2E-A2A8-E65BC8FA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381125"/>
            <a:ext cx="6286500" cy="2000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3486AB-46A1-4F31-8C0A-439B46D8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5811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E2841"/>
                </a:solidFill>
              </a:defRPr>
            </a:pPr>
            <a:r>
              <a:rPr sz="1425" b="1">
                <a:solidFill>
                  <a:srgbClr val="0E2841"/>
                </a:solidFill>
              </a:rPr>
              <a:t>形成的基本判断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B6C7BB-C381-451E-9C9A-3C806C0C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971675"/>
            <a:ext cx="5505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D3D"/>
                </a:solidFill>
              </a:defRPr>
            </a:pPr>
            <a:r>
              <a:rPr sz="1125" b="0">
                <a:solidFill>
                  <a:srgbClr val="1F2D3D"/>
                </a:solidFill>
              </a:rPr>
              <a:t>如果缺少相对清晰的规则体系和组织方式，智能体数量上来后很容易出现：需要时找不准，找到后不好协同，投入使用后也不利于管理。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73ED88-DBBD-4E90-A0AE-C63EC6B9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619375"/>
            <a:ext cx="550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这看起来是新问题，本质上与中心长期开展的基础资源工作相通，都是解决网络空间中各类对象如何有序识别、可靠连接和规范运行。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AC5F12-77F3-4591-92B5-4238ABE0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57600"/>
            <a:ext cx="11258550" cy="12573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5F9FF"/>
          </a:solidFill>
          <a:ln xmlns:a="http://schemas.openxmlformats.org/drawingml/2006/main" w="9525">
            <a:solidFill>
              <a:srgbClr val="BFD7F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1826C2-D9CA-4831-A856-FE60AE4B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2841"/>
                </a:solidFill>
              </a:defRPr>
            </a:pPr>
            <a:r>
              <a:rPr sz="1350" b="1">
                <a:solidFill>
                  <a:srgbClr val="0E2841"/>
                </a:solidFill>
              </a:rPr>
              <a:t>从研究判断到原型支撑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2840F1-EC9A-4511-8E65-0F5C4A42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1809750" cy="4953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BFD7F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00FB79-2BCA-4792-BB2F-60A696F2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52925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D4F8C"/>
                </a:solidFill>
              </a:defRPr>
            </a:pPr>
            <a:r>
              <a:rPr sz="1163" b="1">
                <a:solidFill>
                  <a:srgbClr val="1D4F8C"/>
                </a:solidFill>
              </a:rPr>
              <a:t>前期研究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6AC509-2AF5-4E1F-B643-43C2D349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81525"/>
            <a:ext cx="15811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1228"/>
          </a:bodyPr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4B5563"/>
                </a:solidFill>
              </a:defRPr>
            </a:pPr>
            <a:r>
              <a:rPr sz="803" b="0">
                <a:solidFill>
                  <a:srgbClr val="4B5563"/>
                </a:solidFill>
              </a:rPr>
              <a:t>系统研究智能体方向，识别基础性问题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4316FB-7E96-4C3E-B699-BE21593C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40055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7F6"/>
          </a:solidFill>
          <a:ln xmlns:a="http://schemas.openxmlformats.org/drawingml/2006/main" w="0">
            <a:solidFill>
              <a:srgbClr val="BFD7F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6A3205-597C-4A54-9958-5EF1917E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257675"/>
            <a:ext cx="1809750" cy="4953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BFD7F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F5871B-805C-40FC-8070-0735EE15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352925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56082"/>
                </a:solidFill>
              </a:defRPr>
            </a:pPr>
            <a:r>
              <a:rPr sz="1163" b="1">
                <a:solidFill>
                  <a:srgbClr val="156082"/>
                </a:solidFill>
              </a:rPr>
              <a:t>基本判断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6E76B6-1FC0-480D-992F-58DC1352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581525"/>
            <a:ext cx="15811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70456"/>
          </a:bodyPr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4B5563"/>
                </a:solidFill>
              </a:defRPr>
            </a:pPr>
            <a:r>
              <a:rPr sz="803" b="0">
                <a:solidFill>
                  <a:srgbClr val="4B5563"/>
                </a:solidFill>
              </a:rPr>
              <a:t>需要规则体系和组织方式，支撑发现、协同、管理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B9816F-5946-46F4-805D-DED27F30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0055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7F6"/>
          </a:solidFill>
          <a:ln xmlns:a="http://schemas.openxmlformats.org/drawingml/2006/main" w="0">
            <a:solidFill>
              <a:srgbClr val="BFD7F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888DC1-56A7-4E81-8132-BD280B44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257675"/>
            <a:ext cx="1809750" cy="4953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BFD7F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CECDB4-1723-4DE6-B1E4-CA988B77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352925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96B24"/>
                </a:solidFill>
              </a:defRPr>
            </a:pPr>
            <a:r>
              <a:rPr sz="1163" b="1">
                <a:solidFill>
                  <a:srgbClr val="196B24"/>
                </a:solidFill>
              </a:rPr>
              <a:t>原型完善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27EA5C-EB5E-4C55-B883-B31A1495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581525"/>
            <a:ext cx="15811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77545"/>
          </a:bodyPr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4B5563"/>
                </a:solidFill>
              </a:defRPr>
            </a:pPr>
            <a:r>
              <a:rPr sz="803" b="0">
                <a:solidFill>
                  <a:srgbClr val="4B5563"/>
                </a:solidFill>
              </a:rPr>
              <a:t>结合中心工作基础，支撑智能体域名系统原型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746EA2-0ABF-4B2A-A04B-841CF2C3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0055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7F6"/>
          </a:solidFill>
          <a:ln xmlns:a="http://schemas.openxmlformats.org/drawingml/2006/main" w="0">
            <a:solidFill>
              <a:srgbClr val="BFD7F6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FD81E8-2558-4A55-AC4C-6F50C66F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57675"/>
            <a:ext cx="1809750" cy="4953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BFD7F6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387564-9BC3-4352-B3FD-5261F8F2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52925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E97132"/>
                </a:solidFill>
              </a:defRPr>
            </a:pPr>
            <a:r>
              <a:rPr sz="1163" b="1">
                <a:solidFill>
                  <a:srgbClr val="E97132"/>
                </a:solidFill>
              </a:rPr>
              <a:t>IETF125交流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3F577C-ADF7-4854-B845-E2EB9A4D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81525"/>
            <a:ext cx="15811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81608"/>
          </a:bodyPr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4B5563"/>
                </a:solidFill>
              </a:defRPr>
            </a:pPr>
            <a:r>
              <a:rPr sz="803" b="0">
                <a:solidFill>
                  <a:srgbClr val="4B5563"/>
                </a:solidFill>
              </a:rPr>
              <a:t>带出中心判断、方案和原型，展示技术积累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C58A9D-FD66-49FF-B5BC-517F3399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876675"/>
            <a:ext cx="1390650" cy="7239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EE93D4-5AA3-406D-A278-8D80EF10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038600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2841"/>
                </a:solidFill>
              </a:defRPr>
            </a:pPr>
            <a:r>
              <a:rPr sz="1350" b="1">
                <a:solidFill>
                  <a:srgbClr val="0E2841"/>
                </a:solidFill>
              </a:rPr>
              <a:t>先行一步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E4328F-4669-4670-9248-BC73677F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305300"/>
            <a:ext cx="1009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0808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做出原型</a:t>
            </a:r>
          </a:p>
          <a:p xmlns:a="http://schemas.openxmlformats.org/drawingml/2006/main">
            <a:pPr algn="ct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探索路径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22AB194-51B4-4A5A-A729-DA56F0D0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5302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2841"/>
                </a:solidFill>
              </a:defRPr>
            </a:pPr>
            <a:r>
              <a:rPr sz="1350" b="1">
                <a:solidFill>
                  <a:srgbClr val="0E2841"/>
                </a:solidFill>
              </a:rPr>
              <a:t>工作意义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E0526A-13D9-4855-9F63-FF9E7951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14975"/>
            <a:ext cx="2419350" cy="742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06F1A6B-E423-45F4-8155-BCC1FEC4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673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F8C"/>
          </a:solidFill>
          <a:ln xmlns:a="http://schemas.openxmlformats.org/drawingml/2006/main" w="0">
            <a:solidFill>
              <a:srgbClr val="1D4F8C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C628B80-99A4-4E48-B203-1508FF3A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05475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4065C5B-D683-49AA-8A4E-59DD4600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388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0E2841"/>
                </a:solidFill>
              </a:defRPr>
            </a:pPr>
            <a:r>
              <a:rPr sz="1163" b="1">
                <a:solidFill>
                  <a:srgbClr val="0E2841"/>
                </a:solidFill>
              </a:rPr>
              <a:t>主动研判趋势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9868B40-4404-4CFE-814D-78791DE1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8645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B5563"/>
                </a:solidFill>
              </a:defRPr>
            </a:pPr>
            <a:r>
              <a:rPr sz="863" b="0">
                <a:solidFill>
                  <a:srgbClr val="4B5563"/>
                </a:solidFill>
              </a:rPr>
              <a:t>不是被动跟热点，而是提前谋划布局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A3FF07F-98F9-4C72-BC8E-1EF32AF8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514975"/>
            <a:ext cx="2419350" cy="742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14718F6-5552-448A-95D9-2B58B2A8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6673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0">
            <a:solidFill>
              <a:srgbClr val="156082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0570DED-393C-42F6-AC7D-9B71451E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05475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566CC7C-0E2F-456A-8184-5AA3CF73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6388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0E2841"/>
                </a:solidFill>
              </a:defRPr>
            </a:pPr>
            <a:r>
              <a:rPr sz="1163" b="1">
                <a:solidFill>
                  <a:srgbClr val="0E2841"/>
                </a:solidFill>
              </a:rPr>
              <a:t>延伸基础资源能力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72D3AF6-C2D7-4AFC-A121-C4D92E90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88645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B5563"/>
                </a:solidFill>
              </a:defRPr>
            </a:pPr>
            <a:r>
              <a:rPr sz="863" b="0">
                <a:solidFill>
                  <a:srgbClr val="4B5563"/>
                </a:solidFill>
              </a:rPr>
              <a:t>立足已有积累，向智能体新方向拓展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2A4A3E8-6E4A-4C8F-9C5B-9F526FF7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514975"/>
            <a:ext cx="2419350" cy="742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76DB3F9-46DA-433F-A788-52481581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6673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B24"/>
          </a:solidFill>
          <a:ln xmlns:a="http://schemas.openxmlformats.org/drawingml/2006/main" w="0">
            <a:solidFill>
              <a:srgbClr val="196B24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AA17CD7-B01E-4B55-955A-5ED9D731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705475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ED1F47F-99BA-4969-A157-4211E844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388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0E2841"/>
                </a:solidFill>
              </a:defRPr>
            </a:pPr>
            <a:r>
              <a:rPr sz="1163" b="1">
                <a:solidFill>
                  <a:srgbClr val="0E2841"/>
                </a:solidFill>
              </a:rPr>
              <a:t>带着方案交流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F22286B-D26D-4EF6-B73B-40508F34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88645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B5563"/>
                </a:solidFill>
              </a:defRPr>
            </a:pPr>
            <a:r>
              <a:rPr sz="863" b="0">
                <a:solidFill>
                  <a:srgbClr val="4B5563"/>
                </a:solidFill>
              </a:rPr>
              <a:t>在国际场合展示自己的思考和原型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4D2C72D-0CD6-46C3-89F2-2ECFF71B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514975"/>
            <a:ext cx="3314700" cy="742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BFD7F6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AC77D8B-BC55-4878-9621-5525691C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65785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0E2841"/>
                </a:solidFill>
              </a:defRPr>
            </a:pPr>
            <a:r>
              <a:rPr sz="1163" b="1">
                <a:solidFill>
                  <a:srgbClr val="0E2841"/>
                </a:solidFill>
              </a:rPr>
              <a:t>最终目标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44F92BD-E6A0-4146-938D-982B31F1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895975"/>
            <a:ext cx="27051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7183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B5563"/>
                </a:solidFill>
              </a:defRPr>
            </a:pPr>
            <a:r>
              <a:rPr sz="938" b="0">
                <a:solidFill>
                  <a:srgbClr val="4B5563"/>
                </a:solidFill>
              </a:rPr>
              <a:t>通过提前研究智能体时代的一类基础性问题，为中心下一步抢占方向、形成影响打基础。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F8BBB59-583B-4672-91B9-66FD127B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</a:defRPr>
            </a:pPr>
            <a:r>
              <a:rPr sz="863" b="0">
                <a:solidFill>
                  <a:srgbClr val="64748B"/>
                </a:solidFill>
              </a:rPr>
              <a:t>支撑方向：智能体域名系统原型完善与 IETF125 相关活动交流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CFC5E6B-3BAE-47AC-B870-5CD9B639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64748B"/>
                </a:solidFill>
              </a:defRPr>
            </a:pPr>
            <a:r>
              <a:rPr sz="863" b="0">
                <a:solidFill>
                  <a:srgbClr val="64748B"/>
                </a:solidFill>
              </a:rPr>
              <a:t>2026-04</a:t>
            </a:r>
          </a:p>
        </p:txBody>
      </p:sp>
    </p:spTree>
    <p:extLst>
      <p:ext uri="{BB962C8B-B14F-4D97-AF65-F5344CB8AC3E}">
        <p14:creationId xmlns:p14="http://schemas.microsoft.com/office/powerpoint/2010/main" val="56789049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9C6FE4B-F40B-9DFD-760C-A1E4E8CC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60" y="677777"/>
            <a:ext cx="5463672" cy="5706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225"/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5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717d0bc97a4499"/>
          <a:srcRect xmlns:a="http://schemas.openxmlformats.org/drawingml/2006/main" l="0" t="864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0576" y="782709"/>
            <a:ext cx="4805407" cy="4084280"/>
          </a:xfrm>
          <a:prstGeom xmlns:a="http://schemas.openxmlformats.org/drawingml/2006/main" prst="rect">
            <a:avLst/>
          </a:prstGeom>
        </p:spPr>
      </p:pic>
      <p:pic>
        <p:nvPicPr>
          <p:cNvPr id="16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7b1236f79446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78003" y="2023615"/>
            <a:ext cx="5358604" cy="3638115"/>
          </a:xfrm>
          <a:prstGeom xmlns:a="http://schemas.openxmlformats.org/drawingml/2006/main" prst="rect">
            <a:avLst/>
          </a:prstGeom>
        </p:spPr>
      </p:pic>
      <p:pic>
        <p:nvPicPr>
          <p:cNvPr id="17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bab5dd09c642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49722" y="473569"/>
            <a:ext cx="4942803" cy="1550046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C9C3D6F3-B57B-084B-9E82-D951A044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761" y="4723922"/>
            <a:ext cx="5372671" cy="16004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latin typeface="Times New Roman"/>
                <a:ea typeface="Times New Roman"/>
                <a:cs typeface="Times New Roman"/>
              </a:rPr>
              <a:t>本项目提出了 </a:t>
            </a:r>
            <a:r>
              <a:rPr sz="1400" b="1">
                <a:latin typeface="Times New Roman"/>
                <a:ea typeface="Times New Roman"/>
                <a:cs typeface="Times New Roman"/>
              </a:rPr>
              <a:t>CHPMN </a:t>
            </a:r>
            <a:r>
              <a:rPr sz="1400" b="1">
                <a:latin typeface="Times New Roman"/>
                <a:ea typeface="Times New Roman"/>
                <a:cs typeface="Times New Roman"/>
              </a:rPr>
              <a:t>模型架构，用于提升 </a:t>
            </a:r>
            <a:r>
              <a:rPr sz="1400" b="1">
                <a:latin typeface="Times New Roman"/>
                <a:ea typeface="Times New Roman"/>
                <a:cs typeface="Times New Roman"/>
              </a:rPr>
              <a:t>DNS </a:t>
            </a:r>
            <a:r>
              <a:rPr sz="1400" b="1">
                <a:latin typeface="Times New Roman"/>
                <a:ea typeface="Times New Roman"/>
                <a:cs typeface="Times New Roman"/>
              </a:rPr>
              <a:t>流量识别与评估能力。它先把 </a:t>
            </a:r>
            <a:r>
              <a:rPr sz="1400" b="1">
                <a:latin typeface="Times New Roman"/>
                <a:ea typeface="Times New Roman"/>
                <a:cs typeface="Times New Roman"/>
              </a:rPr>
              <a:t>DNS </a:t>
            </a:r>
            <a:r>
              <a:rPr sz="1400" b="1">
                <a:latin typeface="Times New Roman"/>
                <a:ea typeface="Times New Roman"/>
                <a:cs typeface="Times New Roman"/>
              </a:rPr>
              <a:t>流量中的关键信息提取出来，再从不同维度进行综合分析，最后给出评估结果。</a:t>
            </a:r>
            <a:br/>
            <a:r>
              <a:rPr sz="1400">
                <a:latin typeface="Times New Roman"/>
                <a:ea typeface="Times New Roman"/>
                <a:cs typeface="Times New Roman"/>
              </a:rPr>
              <a:t>  首先，系统会对 </a:t>
            </a:r>
            <a:r>
              <a:rPr sz="1400">
                <a:latin typeface="Times New Roman"/>
                <a:ea typeface="Times New Roman"/>
                <a:cs typeface="Times New Roman"/>
              </a:rPr>
              <a:t>DNS </a:t>
            </a:r>
            <a:r>
              <a:rPr sz="1400">
                <a:latin typeface="Times New Roman"/>
                <a:ea typeface="Times New Roman"/>
                <a:cs typeface="Times New Roman"/>
              </a:rPr>
              <a:t>流量中的结构信息、特征信息和关联关系进行统一建模；</a:t>
            </a:r>
            <a:br/>
            <a:r>
              <a:rPr sz="1400">
                <a:latin typeface="Times New Roman"/>
                <a:ea typeface="Times New Roman"/>
                <a:cs typeface="Times New Roman"/>
              </a:rPr>
              <a:t>  然后，模型从多个维度提取典型模式，并进行综合分析与匹配；</a:t>
            </a:r>
            <a:br/>
            <a:r>
              <a:rPr sz="1400">
                <a:latin typeface="Times New Roman"/>
                <a:ea typeface="Times New Roman"/>
                <a:cs typeface="Times New Roman"/>
              </a:rPr>
              <a:t>  最后，输出评估结果，为异常识别和决策判断提供支持。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BCC1AFE2-6D0A-AB59-2DC1-D9D3CD5B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88" y="164308"/>
            <a:ext cx="414215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latin typeface="Times New Roman"/>
                <a:ea typeface="Times New Roman"/>
                <a:cs typeface="Times New Roman"/>
              </a:rPr>
              <a:t>面向</a:t>
            </a:r>
            <a:r>
              <a:rPr b="1">
                <a:latin typeface="Times New Roman"/>
                <a:ea typeface="Times New Roman"/>
                <a:cs typeface="Times New Roman"/>
              </a:rPr>
              <a:t>DNS</a:t>
            </a:r>
            <a:r>
              <a:rPr b="1">
                <a:latin typeface="Times New Roman"/>
                <a:ea typeface="Times New Roman"/>
                <a:cs typeface="Times New Roman"/>
              </a:rPr>
              <a:t>流量场景的智能评估模型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9552D0A9-2F73-A372-2513-BFA88725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569" y="5861211"/>
            <a:ext cx="5358604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latin typeface="Times New Roman"/>
                <a:ea typeface="Times New Roman"/>
                <a:cs typeface="Times New Roman"/>
              </a:rPr>
              <a:t>从实验评估结果看，该模型在不同数据规模下都保持了较好的识别效果，整体表现更稳定，且准确率上升趋势高于现有对比方法。</a:t>
            </a:r>
          </a:p>
        </p:txBody>
      </p:sp>
    </p:spTree>
    <p:extLst>
      <p:ext uri="{BB962C8B-B14F-4D97-AF65-F5344CB8AC3E}">
        <p14:creationId xmlns:p14="http://schemas.microsoft.com/office/powerpoint/2010/main" val="6585504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 0">
            <a:extLst xmlns:a="http://schemas.openxmlformats.org/drawingml/2006/main">
              <a:ext uri="{FF2B5EF4-FFF2-40B4-BE49-F238E27FC236}">
                <a16:creationId xmlns:a16="http://schemas.microsoft.com/office/drawing/2014/main" id="{70EEE676-46C6-9C91-7042-018AC181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7498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b="1">
                <a:latin typeface="Times New Roman"/>
                <a:ea typeface="Times New Roman"/>
                <a:cs typeface="Times New Roman"/>
              </a:rPr>
              <a:t>基于 IETF 资料的知识库智能体</a:t>
            </a:r>
            <a:r>
              <a:rPr b="1">
                <a:latin typeface="Times New Roman"/>
                <a:ea typeface="Times New Roman"/>
                <a:cs typeface="Times New Roman"/>
              </a:rPr>
              <a:t>-</a:t>
            </a:r>
            <a:r>
              <a:rPr b="1">
                <a:latin typeface="Times New Roman"/>
                <a:ea typeface="Times New Roman"/>
                <a:cs typeface="Times New Roman"/>
              </a:rPr>
              <a:t>需求分析</a:t>
            </a:r>
          </a:p>
        </p:txBody>
      </p:sp>
      <p:pic>
        <p:nvPicPr>
          <p:cNvPr id="17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a75608e3494e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1532" y="872833"/>
            <a:ext cx="11681914" cy="2304082"/>
          </a:xfrm>
          <a:prstGeom xmlns:a="http://schemas.openxmlformats.org/drawingml/2006/main" prst="rect">
            <a:avLst/>
          </a:prstGeom>
        </p:spPr>
      </p:pic>
      <p:pic>
        <p:nvPicPr>
          <p:cNvPr id="18" name="图片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2fd9a546de40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3510045"/>
            <a:ext cx="6170913" cy="2475122"/>
          </a:xfrm>
          <a:prstGeom xmlns:a="http://schemas.openxmlformats.org/drawingml/2006/main" prst="rect">
            <a:avLst/>
          </a:prstGeom>
        </p:spPr>
      </p:pic>
      <p:pic>
        <p:nvPicPr>
          <p:cNvPr id="19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1f669634ab44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41709" y="3510045"/>
            <a:ext cx="5284427" cy="276668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91633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2B111B12-905B-5940-F3C1-B6813B56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7498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b="1">
                <a:latin typeface="Times New Roman"/>
                <a:ea typeface="Times New Roman"/>
                <a:cs typeface="Times New Roman"/>
              </a:rPr>
              <a:t>基于 IETF 资料的知识库智能体</a:t>
            </a:r>
            <a:r>
              <a:rPr b="1">
                <a:latin typeface="Times New Roman"/>
                <a:ea typeface="Times New Roman"/>
                <a:cs typeface="Times New Roman"/>
              </a:rPr>
              <a:t>-</a:t>
            </a:r>
            <a:r>
              <a:rPr b="1">
                <a:latin typeface="Times New Roman"/>
                <a:ea typeface="Times New Roman"/>
                <a:cs typeface="Times New Roman"/>
              </a:rPr>
              <a:t>架构设想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844FCCD2-BE5C-6D2C-C72E-A0E5D598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1043722"/>
            <a:ext cx="612648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64748B"/>
                </a:solidFill>
                <a:latin typeface="SimSun"/>
                <a:ea typeface="SimSun"/>
                <a:cs typeface="SimSun"/>
              </a:rPr>
              <a:t>数据</a:t>
            </a:r>
          </a:p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64748B"/>
                </a:solidFill>
                <a:latin typeface="SimSun"/>
                <a:ea typeface="SimSun"/>
                <a:cs typeface="SimSun"/>
              </a:rPr>
              <a:t>来源</a:t>
            </a:r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1160452F-13AB-444F-19F5-BB1999E1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960120"/>
            <a:ext cx="1920240" cy="749808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2700">
            <a:solidFill>
              <a:srgbClr val="BFD7F6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451ACBDC-561F-104B-63DF-04065499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060704"/>
            <a:ext cx="1645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D4F8C"/>
                </a:solidFill>
                <a:latin typeface="Microsoft YaHei"/>
                <a:ea typeface="Microsoft YaHei"/>
                <a:cs typeface="Microsoft YaHei"/>
              </a:rPr>
              <a:t>IETF 标准资料</a:t>
            </a:r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3C33900-4C6B-7766-2B69-4465F560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30759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RFC、Internet-Draft、Datatracker 元数据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CF8A26C0-7AD2-FA4D-7959-32AE45AC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960120"/>
            <a:ext cx="1920240" cy="749808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2700">
            <a:solidFill>
              <a:srgbClr val="BFD7F6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F6902BB6-B5EE-473A-3838-996AB00D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832" y="1060704"/>
            <a:ext cx="1645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D4F8C"/>
                </a:solidFill>
                <a:latin typeface="Microsoft YaHei"/>
                <a:ea typeface="Microsoft YaHei"/>
                <a:cs typeface="Microsoft YaHei"/>
              </a:rPr>
              <a:t>邮件讨论资料</a:t>
            </a:r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2B2039CB-4666-3238-75B5-E1D151AC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832" y="130759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Mailing Archive 中的议题讨论、意见分歧、演进过程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BD99ABEE-776A-B663-77C2-890948FC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859" y="955549"/>
            <a:ext cx="1920240" cy="749808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2700">
            <a:solidFill>
              <a:srgbClr val="BFD7F6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B6FAAC05-D7DB-BE8A-AF5A-CD8D8EE9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035" y="1046989"/>
            <a:ext cx="1645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D4F8C"/>
                </a:solidFill>
                <a:latin typeface="Microsoft YaHei"/>
                <a:ea typeface="Microsoft YaHei"/>
                <a:cs typeface="Microsoft YaHei"/>
              </a:rPr>
              <a:t>会议与补充材料</a:t>
            </a:r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5E358AA-BD01-6542-9172-EC90BFA5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035" y="1293877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BOF / Side Meeting / Slides / Transcript 等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FEB887A8-FA49-F303-C589-0BF69B6A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1271017"/>
            <a:ext cx="20116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7AAADE8B-CED9-1EA8-1BC8-F86BF00C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1310206"/>
            <a:ext cx="20116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E103E77A-B69A-C7B5-5FF2-8A5A3295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716" y="1310206"/>
            <a:ext cx="20116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62840D82-DB42-A0CE-1819-F6408C89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275" y="854964"/>
            <a:ext cx="1874520" cy="932688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12700">
            <a:solidFill>
              <a:srgbClr val="B9E6C7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EBCD43B6-345E-5B7A-1F5A-A01BDC3D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1435" y="955548"/>
            <a:ext cx="16002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56E3A"/>
                </a:solidFill>
                <a:latin typeface="Microsoft YaHei"/>
                <a:ea typeface="Microsoft YaHei"/>
                <a:cs typeface="Microsoft YaHei"/>
              </a:rPr>
              <a:t>统一采集与清洗</a:t>
            </a: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DE163BEC-DB8C-8490-07C3-191B4216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1435" y="1202436"/>
            <a:ext cx="160020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格式转换、去重、分段切块、主题标注、时间线关联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D5E72A66-1D3A-805D-1C5B-5A5F09DC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515" y="1283427"/>
            <a:ext cx="21945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C4FB3A62-BB30-A4D1-EC76-298AB1FD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403" y="854964"/>
            <a:ext cx="1920240" cy="932688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2700">
            <a:solidFill>
              <a:srgbClr val="F7CFA4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EC58C993-D0E8-D0B7-DC4E-B1410815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563" y="955548"/>
            <a:ext cx="1645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A04D14"/>
                </a:solidFill>
                <a:latin typeface="Microsoft YaHei"/>
                <a:ea typeface="Microsoft YaHei"/>
                <a:cs typeface="Microsoft YaHei"/>
              </a:rPr>
              <a:t>知识底座</a:t>
            </a:r>
          </a:p>
        </p:txBody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BDD0FE68-8034-733C-4330-C0658B39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563" y="1202436"/>
            <a:ext cx="16459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结构化索引 + 向量索引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形成可检索的专业知识库</a:t>
            </a:r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0B4F5879-953E-D755-D82E-5D106A61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603" y="2044337"/>
            <a:ext cx="104698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072EC55E-EE03-E71A-817E-E3B0AB5B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331720"/>
            <a:ext cx="1600200" cy="896112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A25ABD44-E544-5362-845D-8D8F3CD1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432304"/>
            <a:ext cx="132588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23B66"/>
                </a:solidFill>
                <a:latin typeface="Microsoft YaHei"/>
                <a:ea typeface="Microsoft YaHei"/>
                <a:cs typeface="Microsoft YaHei"/>
              </a:rPr>
              <a:t>用户问题</a:t>
            </a:r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F8E536BD-83BC-C9F3-24BF-1BAF5953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79192"/>
            <a:ext cx="1325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如：某项协议为什么这样设计？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近期讨论焦点是什么？</a:t>
            </a:r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B8770270-1BDF-EBBD-CA16-7B8AD21C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184" y="2688336"/>
            <a:ext cx="20116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36" name="Shape 32">
            <a:extLst xmlns:a="http://schemas.openxmlformats.org/drawingml/2006/main">
              <a:ext uri="{FF2B5EF4-FFF2-40B4-BE49-F238E27FC236}">
                <a16:creationId xmlns:a16="http://schemas.microsoft.com/office/drawing/2014/main" id="{E51AA0E9-D01D-9110-1139-36CDBE36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331720"/>
            <a:ext cx="1965960" cy="896112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12700">
            <a:solidFill>
              <a:srgbClr val="D4C5F9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8866CF6A-3F5C-7F2D-C362-0DE75B03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32304"/>
            <a:ext cx="169164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检索增强层</a:t>
            </a:r>
          </a:p>
        </p:txBody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7D84C3B5-5009-8BB8-6EFD-3E87817E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79192"/>
            <a:ext cx="1691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语义检索 + 关键词检索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召回 RFC 条文、邮件线程、相关附件</a:t>
            </a:r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0F29ED14-52E5-9B49-3CBA-D7622EBC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88336"/>
            <a:ext cx="20116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BF71DE38-BAA6-8C7F-D683-38F251AF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5776" y="2331720"/>
            <a:ext cx="2057400" cy="896112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12700">
            <a:solidFill>
              <a:srgbClr val="D4C5F9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537C0746-9C46-9F67-5948-B322518D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936" y="2432304"/>
            <a:ext cx="178308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证据组织层</a:t>
            </a:r>
          </a:p>
        </p:txBody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96534CC2-7E7A-3122-4A9F-0BAD966F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936" y="2679192"/>
            <a:ext cx="1783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按“标准结论—讨论背景—时间演进”进行拼接与排序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3EDF1998-E64D-CD04-68FD-89BD1FC1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688336"/>
            <a:ext cx="20116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44" name="Shape 40">
            <a:extLst xmlns:a="http://schemas.openxmlformats.org/drawingml/2006/main">
              <a:ext uri="{FF2B5EF4-FFF2-40B4-BE49-F238E27FC236}">
                <a16:creationId xmlns:a16="http://schemas.microsoft.com/office/drawing/2014/main" id="{5518EAC5-428F-4318-1C00-F5DDB912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2331720"/>
            <a:ext cx="1965960" cy="896112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12700">
            <a:solidFill>
              <a:srgbClr val="F6C5C5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D29DD6AF-CBFD-0AE8-CD3D-D791BCF5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2" y="2432304"/>
            <a:ext cx="169164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提示与规则约束</a:t>
            </a:r>
          </a:p>
        </p:txBody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757BAA40-E15B-D65C-46EA-DC9A3C3A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2" y="2679192"/>
            <a:ext cx="1691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限定回答边界，要求标注依据、识别冲突、证据不足时提示</a:t>
            </a:r>
          </a:p>
        </p:txBody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6F133409-A03A-7FE3-E852-C1AD795E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032" y="2688336"/>
            <a:ext cx="20116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48" name="Shape 44">
            <a:extLst xmlns:a="http://schemas.openxmlformats.org/drawingml/2006/main">
              <a:ext uri="{FF2B5EF4-FFF2-40B4-BE49-F238E27FC236}">
                <a16:creationId xmlns:a16="http://schemas.microsoft.com/office/drawing/2014/main" id="{F91FAB37-0B89-358C-8064-0ED47AA3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2331720"/>
            <a:ext cx="2011680" cy="896112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AF7FF"/>
          </a:solidFill>
          <a:ln xmlns:a="http://schemas.openxmlformats.org/drawingml/2006/main" w="12700">
            <a:solidFill>
              <a:srgbClr val="B9DCF7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 45">
            <a:extLst xmlns:a="http://schemas.openxmlformats.org/drawingml/2006/main">
              <a:ext uri="{FF2B5EF4-FFF2-40B4-BE49-F238E27FC236}">
                <a16:creationId xmlns:a16="http://schemas.microsoft.com/office/drawing/2014/main" id="{0E9D3E8D-7EBE-166C-5CB8-01D465F1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648" y="2432304"/>
            <a:ext cx="173736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5E9C"/>
                </a:solidFill>
                <a:latin typeface="Microsoft YaHei"/>
                <a:ea typeface="Microsoft YaHei"/>
                <a:cs typeface="Microsoft YaHei"/>
              </a:rPr>
              <a:t>大模型分析</a:t>
            </a:r>
          </a:p>
        </p:txBody>
      </p:sp>
      <p:sp>
        <p:nvSpPr>
          <p:cNvPr id="50" name="Text 46">
            <a:extLst xmlns:a="http://schemas.openxmlformats.org/drawingml/2006/main">
              <a:ext uri="{FF2B5EF4-FFF2-40B4-BE49-F238E27FC236}">
                <a16:creationId xmlns:a16="http://schemas.microsoft.com/office/drawing/2014/main" id="{E26482DA-B5DC-08C0-4646-957CAF02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648" y="2679192"/>
            <a:ext cx="1737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基于已召回证据做归纳、对比、解释与逻辑串联</a:t>
            </a:r>
          </a:p>
        </p:txBody>
      </p:sp>
      <p:sp>
        <p:nvSpPr>
          <p:cNvPr id="53" name="Shape 49">
            <a:extLst xmlns:a="http://schemas.openxmlformats.org/drawingml/2006/main">
              <a:ext uri="{FF2B5EF4-FFF2-40B4-BE49-F238E27FC236}">
                <a16:creationId xmlns:a16="http://schemas.microsoft.com/office/drawing/2014/main" id="{74F0FF2F-6FF0-4A59-AF61-59FA0B6E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41" y="3844182"/>
            <a:ext cx="2351967" cy="1005840"/>
          </a:xfrm>
          <a:prstGeom xmlns:a="http://schemas.openxmlformats.org/drawingml/2006/main" prst="roundRect">
            <a:avLst>
              <a:gd name="adj" fmla="val 7273"/>
            </a:avLst>
          </a:prstGeom>
        </p:spPr>
        <p:style>
          <a:lnRef xmlns:a="http://schemas.openxmlformats.org/drawingml/2006/main" idx="2">
            <a:schemeClr val="accent2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0">
            <a:extLst xmlns:a="http://schemas.openxmlformats.org/drawingml/2006/main">
              <a:ext uri="{FF2B5EF4-FFF2-40B4-BE49-F238E27FC236}">
                <a16:creationId xmlns:a16="http://schemas.microsoft.com/office/drawing/2014/main" id="{C03D3FAB-0749-9D13-7ECF-B3748C35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01" y="3944766"/>
            <a:ext cx="25146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23B66"/>
                </a:solidFill>
                <a:latin typeface="Microsoft YaHei"/>
                <a:ea typeface="Microsoft YaHei"/>
                <a:cs typeface="Microsoft YaHei"/>
              </a:rPr>
              <a:t>专业回答结果</a:t>
            </a:r>
          </a:p>
        </p:txBody>
      </p:sp>
      <p:sp>
        <p:nvSpPr>
          <p:cNvPr id="55" name="Text 51">
            <a:extLst xmlns:a="http://schemas.openxmlformats.org/drawingml/2006/main">
              <a:ext uri="{FF2B5EF4-FFF2-40B4-BE49-F238E27FC236}">
                <a16:creationId xmlns:a16="http://schemas.microsoft.com/office/drawing/2014/main" id="{7E7155AB-B4E8-40A9-94D4-9C11C7CE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01" y="4191654"/>
            <a:ext cx="25146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输出回答同时附带：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- 对应 RFC / Draft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- 相关邮件讨论依据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- 不确定项与结论边界</a:t>
            </a:r>
          </a:p>
        </p:txBody>
      </p:sp>
      <p:sp>
        <p:nvSpPr>
          <p:cNvPr id="56" name="Shape 52">
            <a:extLst xmlns:a="http://schemas.openxmlformats.org/drawingml/2006/main">
              <a:ext uri="{FF2B5EF4-FFF2-40B4-BE49-F238E27FC236}">
                <a16:creationId xmlns:a16="http://schemas.microsoft.com/office/drawing/2014/main" id="{8C33AE4D-041B-023F-87E2-D2D37129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9020" y="3844182"/>
            <a:ext cx="2514600" cy="1005840"/>
          </a:xfrm>
          <a:prstGeom xmlns:a="http://schemas.openxmlformats.org/drawingml/2006/main" prst="roundRect">
            <a:avLst>
              <a:gd name="adj" fmla="val 7273"/>
            </a:avLst>
          </a:prstGeom>
        </p:spPr>
        <p:style>
          <a:lnRef xmlns:a="http://schemas.openxmlformats.org/drawingml/2006/main" idx="2">
            <a:schemeClr val="accent2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7" name="Text 53">
            <a:extLst xmlns:a="http://schemas.openxmlformats.org/drawingml/2006/main">
              <a:ext uri="{FF2B5EF4-FFF2-40B4-BE49-F238E27FC236}">
                <a16:creationId xmlns:a16="http://schemas.microsoft.com/office/drawing/2014/main" id="{7FA6010E-3601-21CA-150F-392F7FE9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6180" y="3944766"/>
            <a:ext cx="224028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56E3A"/>
                </a:solidFill>
                <a:latin typeface="Microsoft YaHei"/>
                <a:ea typeface="Microsoft YaHei"/>
                <a:cs typeface="Microsoft YaHei"/>
              </a:rPr>
              <a:t>可追溯依据链</a:t>
            </a:r>
          </a:p>
        </p:txBody>
      </p:sp>
      <p:sp>
        <p:nvSpPr>
          <p:cNvPr id="58" name="Text 54">
            <a:extLst xmlns:a="http://schemas.openxmlformats.org/drawingml/2006/main">
              <a:ext uri="{FF2B5EF4-FFF2-40B4-BE49-F238E27FC236}">
                <a16:creationId xmlns:a16="http://schemas.microsoft.com/office/drawing/2014/main" id="{EB399E92-A57D-BB56-B62C-4CB00770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6180" y="4191654"/>
            <a:ext cx="22402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支持回看原始文档、讨论线程和时间演进脉络，便于人工复核</a:t>
            </a:r>
          </a:p>
        </p:txBody>
      </p:sp>
      <p:sp>
        <p:nvSpPr>
          <p:cNvPr id="59" name="Shape 55">
            <a:extLst xmlns:a="http://schemas.openxmlformats.org/drawingml/2006/main">
              <a:ext uri="{FF2B5EF4-FFF2-40B4-BE49-F238E27FC236}">
                <a16:creationId xmlns:a16="http://schemas.microsoft.com/office/drawing/2014/main" id="{534B4573-1150-C161-149F-E91456FD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660" y="3844182"/>
            <a:ext cx="2514600" cy="1005840"/>
          </a:xfrm>
          <a:prstGeom xmlns:a="http://schemas.openxmlformats.org/drawingml/2006/main" prst="roundRect">
            <a:avLst>
              <a:gd name="adj" fmla="val 7273"/>
            </a:avLst>
          </a:prstGeom>
        </p:spPr>
        <p:style>
          <a:lnRef xmlns:a="http://schemas.openxmlformats.org/drawingml/2006/main" idx="2">
            <a:schemeClr val="accent2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" name="Text 56">
            <a:extLst xmlns:a="http://schemas.openxmlformats.org/drawingml/2006/main">
              <a:ext uri="{FF2B5EF4-FFF2-40B4-BE49-F238E27FC236}">
                <a16:creationId xmlns:a16="http://schemas.microsoft.com/office/drawing/2014/main" id="{CFBECB15-4C7F-55D5-C640-C3376A38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0820" y="3944766"/>
            <a:ext cx="224028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D4F8C"/>
                </a:solidFill>
                <a:latin typeface="Microsoft YaHei"/>
                <a:ea typeface="Microsoft YaHei"/>
                <a:cs typeface="Microsoft YaHei"/>
              </a:rPr>
              <a:t>可扩展智能体能力</a:t>
            </a:r>
          </a:p>
        </p:txBody>
      </p:sp>
      <p:sp>
        <p:nvSpPr>
          <p:cNvPr id="61" name="Text 57">
            <a:extLst xmlns:a="http://schemas.openxmlformats.org/drawingml/2006/main">
              <a:ext uri="{FF2B5EF4-FFF2-40B4-BE49-F238E27FC236}">
                <a16:creationId xmlns:a16="http://schemas.microsoft.com/office/drawing/2014/main" id="{38FBBF72-65E4-FADE-8062-345DF871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0820" y="4191654"/>
            <a:ext cx="22402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后续可叠加摘要生成、议题对比、趋势跟踪、材料整理等能力</a:t>
            </a:r>
          </a:p>
        </p:txBody>
      </p:sp>
      <p:sp>
        <p:nvSpPr>
          <p:cNvPr id="62" name="Shape 58">
            <a:extLst xmlns:a="http://schemas.openxmlformats.org/drawingml/2006/main">
              <a:ext uri="{FF2B5EF4-FFF2-40B4-BE49-F238E27FC236}">
                <a16:creationId xmlns:a16="http://schemas.microsoft.com/office/drawing/2014/main" id="{03388F88-B486-0F06-FF96-A9780B16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394960"/>
            <a:ext cx="182880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D8E1EA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3" name="Text 59">
            <a:extLst xmlns:a="http://schemas.openxmlformats.org/drawingml/2006/main">
              <a:ext uri="{FF2B5EF4-FFF2-40B4-BE49-F238E27FC236}">
                <a16:creationId xmlns:a16="http://schemas.microsoft.com/office/drawing/2014/main" id="{00B83231-9F46-AB5D-336B-EF5CF641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495544"/>
            <a:ext cx="155448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23B66"/>
                </a:solidFill>
                <a:latin typeface="Microsoft YaHei"/>
                <a:ea typeface="Microsoft YaHei"/>
                <a:cs typeface="Microsoft YaHei"/>
              </a:rPr>
              <a:t>标准跟踪</a:t>
            </a:r>
          </a:p>
        </p:txBody>
      </p:sp>
      <p:sp>
        <p:nvSpPr>
          <p:cNvPr id="64" name="Text 60">
            <a:extLst xmlns:a="http://schemas.openxmlformats.org/drawingml/2006/main">
              <a:ext uri="{FF2B5EF4-FFF2-40B4-BE49-F238E27FC236}">
                <a16:creationId xmlns:a16="http://schemas.microsoft.com/office/drawing/2014/main" id="{898548B8-4A96-A148-FFC6-2840E3E7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742432"/>
            <a:ext cx="1554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跟踪讨论热点、把握议题演进</a:t>
            </a:r>
          </a:p>
        </p:txBody>
      </p:sp>
      <p:sp>
        <p:nvSpPr>
          <p:cNvPr id="65" name="Shape 61">
            <a:extLst xmlns:a="http://schemas.openxmlformats.org/drawingml/2006/main">
              <a:ext uri="{FF2B5EF4-FFF2-40B4-BE49-F238E27FC236}">
                <a16:creationId xmlns:a16="http://schemas.microsoft.com/office/drawing/2014/main" id="{3D62CABC-7195-613B-C9A0-7EFAB046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5394960"/>
            <a:ext cx="182880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D8E1EA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6" name="Text 62">
            <a:extLst xmlns:a="http://schemas.openxmlformats.org/drawingml/2006/main">
              <a:ext uri="{FF2B5EF4-FFF2-40B4-BE49-F238E27FC236}">
                <a16:creationId xmlns:a16="http://schemas.microsoft.com/office/drawing/2014/main" id="{37FFCDCE-C1CD-F67E-F64C-305D4685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5495544"/>
            <a:ext cx="155448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23B66"/>
                </a:solidFill>
                <a:latin typeface="Microsoft YaHei"/>
                <a:ea typeface="Microsoft YaHei"/>
                <a:cs typeface="Microsoft YaHei"/>
              </a:rPr>
              <a:t>技术理解辅助</a:t>
            </a:r>
          </a:p>
        </p:txBody>
      </p:sp>
      <p:sp>
        <p:nvSpPr>
          <p:cNvPr id="67" name="Text 63">
            <a:extLst xmlns:a="http://schemas.openxmlformats.org/drawingml/2006/main">
              <a:ext uri="{FF2B5EF4-FFF2-40B4-BE49-F238E27FC236}">
                <a16:creationId xmlns:a16="http://schemas.microsoft.com/office/drawing/2014/main" id="{E69ED970-0D30-F060-76AA-484599B9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5742432"/>
            <a:ext cx="1554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帮助非长期参会人员快速入门</a:t>
            </a:r>
          </a:p>
        </p:txBody>
      </p:sp>
      <p:sp>
        <p:nvSpPr>
          <p:cNvPr id="68" name="Shape 64">
            <a:extLst xmlns:a="http://schemas.openxmlformats.org/drawingml/2006/main">
              <a:ext uri="{FF2B5EF4-FFF2-40B4-BE49-F238E27FC236}">
                <a16:creationId xmlns:a16="http://schemas.microsoft.com/office/drawing/2014/main" id="{64EE81E2-7A4D-8DA9-8758-859D8FF8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4376" y="5394960"/>
            <a:ext cx="182880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D8E1EA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9" name="Text 65">
            <a:extLst xmlns:a="http://schemas.openxmlformats.org/drawingml/2006/main">
              <a:ext uri="{FF2B5EF4-FFF2-40B4-BE49-F238E27FC236}">
                <a16:creationId xmlns:a16="http://schemas.microsoft.com/office/drawing/2014/main" id="{4D79C5F5-ABCB-3841-9815-CB9FBA57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1536" y="5495544"/>
            <a:ext cx="155448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23B66"/>
                </a:solidFill>
                <a:latin typeface="Microsoft YaHei"/>
                <a:ea typeface="Microsoft YaHei"/>
                <a:cs typeface="Microsoft YaHei"/>
              </a:rPr>
              <a:t>专业问答</a:t>
            </a:r>
            <a:r>
              <a:rPr sz="1300" b="1">
                <a:solidFill>
                  <a:srgbClr val="123B66"/>
                </a:solidFill>
                <a:latin typeface="Microsoft YaHei"/>
                <a:ea typeface="Microsoft YaHei"/>
                <a:cs typeface="Microsoft YaHei"/>
              </a:rPr>
              <a:t>、写作辅助</a:t>
            </a:r>
          </a:p>
        </p:txBody>
      </p:sp>
      <p:sp>
        <p:nvSpPr>
          <p:cNvPr id="70" name="Text 66">
            <a:extLst xmlns:a="http://schemas.openxmlformats.org/drawingml/2006/main">
              <a:ext uri="{FF2B5EF4-FFF2-40B4-BE49-F238E27FC236}">
                <a16:creationId xmlns:a16="http://schemas.microsoft.com/office/drawing/2014/main" id="{CD7815F0-071B-A469-7C1E-10376E6F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1536" y="5742432"/>
            <a:ext cx="1554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限定知识范围内提供准确答复</a:t>
            </a:r>
          </a:p>
        </p:txBody>
      </p:sp>
      <p:sp>
        <p:nvSpPr>
          <p:cNvPr id="71" name="Shape 67">
            <a:extLst xmlns:a="http://schemas.openxmlformats.org/drawingml/2006/main">
              <a:ext uri="{FF2B5EF4-FFF2-40B4-BE49-F238E27FC236}">
                <a16:creationId xmlns:a16="http://schemas.microsoft.com/office/drawing/2014/main" id="{E6D638F7-BDE1-810B-B0DE-6DEEE007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5394960"/>
            <a:ext cx="182880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D8E1EA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2" name="Text 68">
            <a:extLst xmlns:a="http://schemas.openxmlformats.org/drawingml/2006/main">
              <a:ext uri="{FF2B5EF4-FFF2-40B4-BE49-F238E27FC236}">
                <a16:creationId xmlns:a16="http://schemas.microsoft.com/office/drawing/2014/main" id="{6FE9F508-3339-F0B4-14FA-27F5EA67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664" y="5495544"/>
            <a:ext cx="155448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23B66"/>
                </a:solidFill>
                <a:latin typeface="Microsoft YaHei"/>
                <a:ea typeface="Microsoft YaHei"/>
                <a:cs typeface="Microsoft YaHei"/>
              </a:rPr>
              <a:t>简报与研判支撑</a:t>
            </a:r>
          </a:p>
        </p:txBody>
      </p:sp>
      <p:sp>
        <p:nvSpPr>
          <p:cNvPr id="73" name="Text 69">
            <a:extLst xmlns:a="http://schemas.openxmlformats.org/drawingml/2006/main">
              <a:ext uri="{FF2B5EF4-FFF2-40B4-BE49-F238E27FC236}">
                <a16:creationId xmlns:a16="http://schemas.microsoft.com/office/drawing/2014/main" id="{E2475B7F-E8BE-0083-B9A1-DA4CD072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664" y="5742432"/>
            <a:ext cx="1554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服务工作简报、前沿信息分析</a:t>
            </a:r>
          </a:p>
        </p:txBody>
      </p:sp>
      <p:sp>
        <p:nvSpPr>
          <p:cNvPr id="74" name="Shape 70">
            <a:extLst xmlns:a="http://schemas.openxmlformats.org/drawingml/2006/main">
              <a:ext uri="{FF2B5EF4-FFF2-40B4-BE49-F238E27FC236}">
                <a16:creationId xmlns:a16="http://schemas.microsoft.com/office/drawing/2014/main" id="{8F56FEE5-0C0A-84AC-2E12-1C9E75DF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632" y="5394960"/>
            <a:ext cx="182880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D8E1EA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5" name="Text 71">
            <a:extLst xmlns:a="http://schemas.openxmlformats.org/drawingml/2006/main">
              <a:ext uri="{FF2B5EF4-FFF2-40B4-BE49-F238E27FC236}">
                <a16:creationId xmlns:a16="http://schemas.microsoft.com/office/drawing/2014/main" id="{EC2DD03B-92FE-1807-8B14-1FCBD211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792" y="5495544"/>
            <a:ext cx="155448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23B66"/>
                </a:solidFill>
                <a:latin typeface="Microsoft YaHei"/>
                <a:ea typeface="Microsoft YaHei"/>
                <a:cs typeface="Microsoft YaHei"/>
              </a:rPr>
              <a:t>后续业务拓展</a:t>
            </a:r>
          </a:p>
        </p:txBody>
      </p:sp>
      <p:sp>
        <p:nvSpPr>
          <p:cNvPr id="76" name="Text 72">
            <a:extLst xmlns:a="http://schemas.openxmlformats.org/drawingml/2006/main">
              <a:ext uri="{FF2B5EF4-FFF2-40B4-BE49-F238E27FC236}">
                <a16:creationId xmlns:a16="http://schemas.microsoft.com/office/drawing/2014/main" id="{4A0703B0-C8E6-79AD-3D2C-9CA40043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792" y="5742432"/>
            <a:ext cx="1554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向互联网基础资源更多场景延伸</a:t>
            </a:r>
          </a:p>
        </p:txBody>
      </p:sp>
      <p:sp>
        <p:nvSpPr>
          <p:cNvPr id="77" name="Text 73">
            <a:extLst xmlns:a="http://schemas.openxmlformats.org/drawingml/2006/main">
              <a:ext uri="{FF2B5EF4-FFF2-40B4-BE49-F238E27FC236}">
                <a16:creationId xmlns:a16="http://schemas.microsoft.com/office/drawing/2014/main" id="{66C248D8-1E08-A396-D586-A3D1229A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5705856"/>
            <a:ext cx="201168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78" name="Text 74">
            <a:extLst xmlns:a="http://schemas.openxmlformats.org/drawingml/2006/main">
              <a:ext uri="{FF2B5EF4-FFF2-40B4-BE49-F238E27FC236}">
                <a16:creationId xmlns:a16="http://schemas.microsoft.com/office/drawing/2014/main" id="{EA3A84EC-1E66-7C04-CF9A-41305F9F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5705856"/>
            <a:ext cx="201168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79" name="Text 75">
            <a:extLst xmlns:a="http://schemas.openxmlformats.org/drawingml/2006/main">
              <a:ext uri="{FF2B5EF4-FFF2-40B4-BE49-F238E27FC236}">
                <a16:creationId xmlns:a16="http://schemas.microsoft.com/office/drawing/2014/main" id="{24CC7888-9D14-2652-517A-04563D64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3176" y="5705856"/>
            <a:ext cx="201168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80" name="Text 76">
            <a:extLst xmlns:a="http://schemas.openxmlformats.org/drawingml/2006/main">
              <a:ext uri="{FF2B5EF4-FFF2-40B4-BE49-F238E27FC236}">
                <a16:creationId xmlns:a16="http://schemas.microsoft.com/office/drawing/2014/main" id="{D138438D-66CE-5074-963D-9FC9CC56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5705856"/>
            <a:ext cx="201168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82" name="Text 4">
            <a:extLst xmlns:a="http://schemas.openxmlformats.org/drawingml/2006/main">
              <a:ext uri="{FF2B5EF4-FFF2-40B4-BE49-F238E27FC236}">
                <a16:creationId xmlns:a16="http://schemas.microsoft.com/office/drawing/2014/main" id="{50749C1C-0E2B-15E3-92A6-82DB48E3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" y="2432304"/>
            <a:ext cx="612648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64748B"/>
                </a:solidFill>
                <a:latin typeface="SimSun"/>
                <a:ea typeface="SimSun"/>
                <a:cs typeface="SimSun"/>
              </a:rPr>
              <a:t>知识加工</a:t>
            </a:r>
          </a:p>
        </p:txBody>
      </p:sp>
      <p:sp>
        <p:nvSpPr>
          <p:cNvPr id="83" name="Text 4">
            <a:extLst xmlns:a="http://schemas.openxmlformats.org/drawingml/2006/main">
              <a:ext uri="{FF2B5EF4-FFF2-40B4-BE49-F238E27FC236}">
                <a16:creationId xmlns:a16="http://schemas.microsoft.com/office/drawing/2014/main" id="{E6F4189A-39FB-0AAA-455E-6CBB13A7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" y="4095642"/>
            <a:ext cx="612648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64748B"/>
                </a:solidFill>
                <a:latin typeface="SimSun"/>
                <a:ea typeface="SimSun"/>
                <a:cs typeface="SimSun"/>
              </a:rPr>
              <a:t>智能生成</a:t>
            </a:r>
          </a:p>
        </p:txBody>
      </p:sp>
      <p:sp>
        <p:nvSpPr>
          <p:cNvPr id="84" name="Text 4">
            <a:extLst xmlns:a="http://schemas.openxmlformats.org/drawingml/2006/main">
              <a:ext uri="{FF2B5EF4-FFF2-40B4-BE49-F238E27FC236}">
                <a16:creationId xmlns:a16="http://schemas.microsoft.com/office/drawing/2014/main" id="{3175050A-7040-482E-0851-4BF81171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19" y="5371447"/>
            <a:ext cx="612648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64748B"/>
                </a:solidFill>
                <a:latin typeface="SimSun"/>
                <a:ea typeface="SimSun"/>
                <a:cs typeface="SimSun"/>
              </a:rPr>
              <a:t>应用输出</a:t>
            </a:r>
          </a:p>
        </p:txBody>
      </p:sp>
      <p:sp>
        <p:nvSpPr>
          <p:cNvPr id="85" name="Shape 27">
            <a:extLst xmlns:a="http://schemas.openxmlformats.org/drawingml/2006/main">
              <a:ext uri="{FF2B5EF4-FFF2-40B4-BE49-F238E27FC236}">
                <a16:creationId xmlns:a16="http://schemas.microsoft.com/office/drawing/2014/main" id="{38479DDC-91BF-2B07-062B-7A979F36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603" y="3610139"/>
            <a:ext cx="104698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7" name="Shape 27">
            <a:extLst xmlns:a="http://schemas.openxmlformats.org/drawingml/2006/main">
              <a:ext uri="{FF2B5EF4-FFF2-40B4-BE49-F238E27FC236}">
                <a16:creationId xmlns:a16="http://schemas.microsoft.com/office/drawing/2014/main" id="{B425E7A1-930F-3825-39E7-AD95B909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5148427"/>
            <a:ext cx="104698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84979189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AA53BB11-0078-5A2B-B813-2F3027D7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7498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b="1">
                <a:latin typeface="Times New Roman"/>
                <a:ea typeface="Times New Roman"/>
                <a:cs typeface="Times New Roman"/>
              </a:rPr>
              <a:t>基于 IETF 资料的知识库智能体</a:t>
            </a:r>
            <a:r>
              <a:rPr b="1">
                <a:latin typeface="Times New Roman"/>
                <a:ea typeface="Times New Roman"/>
                <a:cs typeface="Times New Roman"/>
              </a:rPr>
              <a:t>-</a:t>
            </a:r>
            <a:r>
              <a:rPr b="1">
                <a:latin typeface="Times New Roman"/>
                <a:ea typeface="Times New Roman"/>
                <a:cs typeface="Times New Roman"/>
              </a:rPr>
              <a:t>攻坚难点</a:t>
            </a:r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5B393BF1-AE9B-F581-A286-6CC01547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37260"/>
            <a:ext cx="1115568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487bf79b0945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90395" y="1092708"/>
            <a:ext cx="8580730" cy="1051560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14343F3F-D427-F800-57F0-8F7B293A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8" y="2711768"/>
            <a:ext cx="3154680" cy="3583305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BD9E2350-1BAE-FC71-B7EC-7DDD1521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270" y="2757489"/>
            <a:ext cx="296265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2D3D"/>
                </a:solidFill>
                <a:latin typeface="Times New Roman"/>
                <a:ea typeface="Times New Roman"/>
                <a:cs typeface="Times New Roman"/>
              </a:rPr>
              <a:t>难点一：新鲜数据持续精准采集</a:t>
            </a:r>
          </a:p>
        </p:txBody>
      </p:sp>
      <p:sp>
        <p:nvSpPr>
          <p:cNvPr id="51" name="Text 7">
            <a:extLst xmlns:a="http://schemas.openxmlformats.org/drawingml/2006/main">
              <a:ext uri="{FF2B5EF4-FFF2-40B4-BE49-F238E27FC236}">
                <a16:creationId xmlns:a16="http://schemas.microsoft.com/office/drawing/2014/main" id="{4E0F0D70-1DCA-FC80-7714-F64BB070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849" y="3528442"/>
            <a:ext cx="2802636" cy="2458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>
                <a:solidFill>
                  <a:srgbClr val="4B5563"/>
                </a:solidFill>
                <a:latin typeface="Times New Roman"/>
                <a:ea typeface="Times New Roman"/>
                <a:cs typeface="Times New Roman"/>
              </a:rPr>
              <a:t>数据源分散：RFC、mailing archive、草案、会议材料形态不一</a:t>
            </a:r>
          </a:p>
          <a:p xmlns:a="http://schemas.openxmlformats.org/drawingml/2006/main">
            <a:pPr marL="127000" indent="-127000">
              <a:buChar char="•"/>
            </a:pPr>
          </a:p>
          <a:p xmlns:a="http://schemas.openxmlformats.org/drawingml/2006/main">
            <a:pPr>
              <a:buNone/>
            </a:pPr>
            <a:r>
              <a:rPr sz="1400">
                <a:solidFill>
                  <a:srgbClr val="4B5563"/>
                </a:solidFill>
                <a:latin typeface="Times New Roman"/>
                <a:ea typeface="Times New Roman"/>
                <a:cs typeface="Times New Roman"/>
              </a:rPr>
              <a:t>
 更新频繁：需要持续增量抓取，保证“新议题、新讨论”及时入库</a:t>
            </a:r>
          </a:p>
          <a:p xmlns:a="http://schemas.openxmlformats.org/drawingml/2006/main">
            <a:pPr marL="127000" indent="-127000">
              <a:buChar char="•"/>
            </a:pPr>
          </a:p>
          <a:p xmlns:a="http://schemas.openxmlformats.org/drawingml/2006/main">
            <a:pPr marL="127000" indent="-127000">
              <a:buChar char="•"/>
            </a:pPr>
          </a:p>
          <a:p xmlns:a="http://schemas.openxmlformats.org/drawingml/2006/main">
            <a:pPr>
              <a:buNone/>
            </a:pPr>
            <a:r>
              <a:rPr sz="1400">
                <a:solidFill>
                  <a:srgbClr val="4B5563"/>
                </a:solidFill>
                <a:latin typeface="Times New Roman"/>
                <a:ea typeface="Times New Roman"/>
                <a:cs typeface="Times New Roman"/>
              </a:rPr>
              <a:t>采集要准：去重、线程还原、版本对齐、元数据标注都要做好</a:t>
            </a:r>
          </a:p>
          <a:p xmlns:a="http://schemas.openxmlformats.org/drawingml/2006/main">
            <a:pPr>
              <a:buNone/>
            </a:pPr>
          </a:p>
        </p:txBody>
      </p:sp>
      <p:sp>
        <p:nvSpPr>
          <p:cNvPr id="52" name="Shape 8">
            <a:extLst xmlns:a="http://schemas.openxmlformats.org/drawingml/2006/main">
              <a:ext uri="{FF2B5EF4-FFF2-40B4-BE49-F238E27FC236}">
                <a16:creationId xmlns:a16="http://schemas.microsoft.com/office/drawing/2014/main" id="{ECAB09C1-7BE0-A8DC-B9F5-56C4AAFD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410" y="2711769"/>
            <a:ext cx="3154680" cy="3583304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6" name="Text 10">
            <a:extLst xmlns:a="http://schemas.openxmlformats.org/drawingml/2006/main">
              <a:ext uri="{FF2B5EF4-FFF2-40B4-BE49-F238E27FC236}">
                <a16:creationId xmlns:a16="http://schemas.microsoft.com/office/drawing/2014/main" id="{D3C6919E-C4CF-8527-C6A2-AAC6C17C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4042" y="2899221"/>
            <a:ext cx="32004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88" name="Text 11">
            <a:extLst xmlns:a="http://schemas.openxmlformats.org/drawingml/2006/main">
              <a:ext uri="{FF2B5EF4-FFF2-40B4-BE49-F238E27FC236}">
                <a16:creationId xmlns:a16="http://schemas.microsoft.com/office/drawing/2014/main" id="{021489E9-0414-39C5-51E4-B3A64454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1434" y="2758632"/>
            <a:ext cx="2743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2D3D"/>
                </a:solidFill>
                <a:latin typeface="Times New Roman"/>
                <a:ea typeface="Times New Roman"/>
                <a:cs typeface="Times New Roman"/>
              </a:rPr>
              <a:t>难点二：模型训练与调参优化</a:t>
            </a:r>
          </a:p>
        </p:txBody>
      </p:sp>
      <p:sp>
        <p:nvSpPr>
          <p:cNvPr id="89" name="Text 12">
            <a:extLst xmlns:a="http://schemas.openxmlformats.org/drawingml/2006/main">
              <a:ext uri="{FF2B5EF4-FFF2-40B4-BE49-F238E27FC236}">
                <a16:creationId xmlns:a16="http://schemas.microsoft.com/office/drawing/2014/main" id="{BC6EA426-A9F0-5F63-2BC4-91BA78B5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863" y="3703037"/>
            <a:ext cx="2697480" cy="21505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>
                <a:solidFill>
                  <a:srgbClr val="4B5563"/>
                </a:solidFill>
                <a:latin typeface="Times New Roman"/>
                <a:ea typeface="Times New Roman"/>
                <a:cs typeface="Times New Roman"/>
              </a:rPr>
              <a:t>专业语料理解门槛高，需优化策略
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rPr sz="1400">
                <a:solidFill>
                  <a:srgbClr val="4B5563"/>
                </a:solidFill>
                <a:latin typeface="Times New Roman"/>
                <a:ea typeface="Times New Roman"/>
                <a:cs typeface="Times New Roman"/>
              </a:rPr>
              <a:t>问答链路要兼顾事实性与推理性，避免只会检索、不会分析
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rPr sz="1400">
                <a:solidFill>
                  <a:srgbClr val="4B5563"/>
                </a:solidFill>
                <a:latin typeface="Times New Roman"/>
                <a:ea typeface="Times New Roman"/>
                <a:cs typeface="Times New Roman"/>
              </a:rPr>
              <a:t>需要通过提示词、重排、评测集和参数迭代持续调优</a:t>
            </a:r>
          </a:p>
        </p:txBody>
      </p:sp>
      <p:sp>
        <p:nvSpPr>
          <p:cNvPr id="90" name="Shape 13">
            <a:extLst xmlns:a="http://schemas.openxmlformats.org/drawingml/2006/main">
              <a:ext uri="{FF2B5EF4-FFF2-40B4-BE49-F238E27FC236}">
                <a16:creationId xmlns:a16="http://schemas.microsoft.com/office/drawing/2014/main" id="{500F7971-66C2-8187-3A51-BAEAAB54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562" y="2711768"/>
            <a:ext cx="3154680" cy="3583303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2" name="Text 15">
            <a:extLst xmlns:a="http://schemas.openxmlformats.org/drawingml/2006/main">
              <a:ext uri="{FF2B5EF4-FFF2-40B4-BE49-F238E27FC236}">
                <a16:creationId xmlns:a16="http://schemas.microsoft.com/office/drawing/2014/main" id="{E642E938-6D03-3CC6-39C3-CEC1D1F3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6194" y="2899221"/>
            <a:ext cx="32004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93" name="Text 16">
            <a:extLst xmlns:a="http://schemas.openxmlformats.org/drawingml/2006/main">
              <a:ext uri="{FF2B5EF4-FFF2-40B4-BE49-F238E27FC236}">
                <a16:creationId xmlns:a16="http://schemas.microsoft.com/office/drawing/2014/main" id="{A934DA11-F366-65FA-7496-1A8FF574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042" y="2770059"/>
            <a:ext cx="2743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2D3D"/>
                </a:solidFill>
                <a:latin typeface="Times New Roman"/>
                <a:ea typeface="Times New Roman"/>
                <a:cs typeface="Times New Roman"/>
              </a:rPr>
              <a:t>难点三：在中心的落地形式</a:t>
            </a:r>
          </a:p>
        </p:txBody>
      </p:sp>
      <p:sp>
        <p:nvSpPr>
          <p:cNvPr id="94" name="Text 17">
            <a:extLst xmlns:a="http://schemas.openxmlformats.org/drawingml/2006/main">
              <a:ext uri="{FF2B5EF4-FFF2-40B4-BE49-F238E27FC236}">
                <a16:creationId xmlns:a16="http://schemas.microsoft.com/office/drawing/2014/main" id="{3678083D-0F23-5941-F48C-26BB06E1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162" y="3462150"/>
            <a:ext cx="2697480" cy="2458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>
                <a:solidFill>
                  <a:srgbClr val="4B5563"/>
                </a:solidFill>
                <a:latin typeface="Times New Roman"/>
                <a:ea typeface="Times New Roman"/>
                <a:cs typeface="Times New Roman"/>
              </a:rPr>
              <a:t>不能只做演示系统，要嵌入中心真实工作流和支撑场景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rPr sz="1400">
                <a:solidFill>
                  <a:srgbClr val="4B5563"/>
                </a:solidFill>
                <a:latin typeface="Times New Roman"/>
                <a:ea typeface="Times New Roman"/>
                <a:cs typeface="Times New Roman"/>
              </a:rPr>
              <a:t>需明确产品形态：问答助手、标准跟踪工具、简报支撑平台等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rPr sz="1400">
                <a:solidFill>
                  <a:srgbClr val="4B5563"/>
                </a:solidFill>
                <a:latin typeface="Times New Roman"/>
                <a:ea typeface="Times New Roman"/>
                <a:cs typeface="Times New Roman"/>
              </a:rPr>
              <a:t>还要考虑权限、部署、安全、运维和使用门槛</a:t>
            </a:r>
          </a:p>
        </p:txBody>
      </p:sp>
      <p:sp>
        <p:nvSpPr>
          <p:cNvPr id="98" name="右箭头 97">
            <a:extLst xmlns:a="http://schemas.openxmlformats.org/drawingml/2006/main">
              <a:ext uri="{FF2B5EF4-FFF2-40B4-BE49-F238E27FC236}">
                <a16:creationId xmlns:a16="http://schemas.microsoft.com/office/drawing/2014/main" id="{BA494F07-59DC-D2C4-5FBB-BBF15481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938" y="4371975"/>
            <a:ext cx="347472" cy="342900"/>
          </a:xfrm>
          <a:prstGeom xmlns:a="http://schemas.openxmlformats.org/drawingml/2006/main" prst="rightArrow">
            <a:avLst/>
          </a:prstGeom>
        </p:spPr>
        <p:style>
          <a:lnRef xmlns:a="http://schemas.openxmlformats.org/drawingml/2006/main" idx="2">
            <a:schemeClr val="accent4">
              <a:shade val="15000"/>
            </a:schemeClr>
          </a:lnRef>
          <a:fillRef xmlns:a="http://schemas.openxmlformats.org/drawingml/2006/main" idx="1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9" name="右箭头 98">
            <a:extLst xmlns:a="http://schemas.openxmlformats.org/drawingml/2006/main">
              <a:ext uri="{FF2B5EF4-FFF2-40B4-BE49-F238E27FC236}">
                <a16:creationId xmlns:a16="http://schemas.microsoft.com/office/drawing/2014/main" id="{2A4E6D97-46D7-50E4-56F4-F061E680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3805" y="4371975"/>
            <a:ext cx="347472" cy="342900"/>
          </a:xfrm>
          <a:prstGeom xmlns:a="http://schemas.openxmlformats.org/drawingml/2006/main" prst="rightArrow">
            <a:avLst/>
          </a:prstGeom>
        </p:spPr>
        <p:style>
          <a:lnRef xmlns:a="http://schemas.openxmlformats.org/drawingml/2006/main" idx="2">
            <a:schemeClr val="accent4">
              <a:shade val="15000"/>
            </a:schemeClr>
          </a:lnRef>
          <a:fillRef xmlns:a="http://schemas.openxmlformats.org/drawingml/2006/main" idx="1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611597941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2026-04-20T03:28:45.0290000Z</dcterms:created>
  <dcterms:modified xsi:type="dcterms:W3CDTF">2026-04-20T03:28:45.0290000Z</dcterms:modified>
</coreProperties>
</file>